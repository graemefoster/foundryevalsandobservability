
<file path=[Content_Types].xml><?xml version="1.0" encoding="utf-8"?>
<Types xmlns="http://schemas.openxmlformats.org/package/2006/content-types">
  <Default Extension="jpg" ContentType="image/jp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67"/>
    <p:restoredTop sz="94610"/>
  </p:normalViewPr>
  <p:slideViewPr>
    <p:cSldViewPr snapToGrid="0" snapToObjects="1">
      <p:cViewPr>
        <p:scale>
          <a:sx n="156" d="100"/>
          <a:sy n="156" d="100"/>
        </p:scale>
        <p:origin x="2048" y="1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Prompt to Production
Suggested timing: 1 minutes
KEY MESSAGE
Microsoft Foundry connects model choice, context, evaluation, optimisation and delivery.
DEFINITION
An agent combines a model, instructions, tools and context to work towards a goal.
TALK TRACK
Frame the session around a working purchasing agent. The question is how consistently it answers across real tasks, what each successful answer costs and how to improve it. Follow the same implementation through six saved checkpoints, using live questions and traces alongside completed evaluation and optimisation runs.
TRANSITION
Preview the agenda, starting with model choice.
SOURCES
Session framing.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Suggested timing: 1 minutes
KEY MESSAGE
Model Choice, Grounding, Observe, Evaluate, Optimise, Automate.
DEFINITION
These are the six topics we will cover, in presentation order.
TALK TRACK
Introduce the six topics and their corresponding stage folders. One shared agent implementation runs throughout; each stage records configuration, actions and evidence. Observe and Evaluate add visibility and measurement without requiring a different agent.
TRANSITION
First, meet the agent we'll use throughout the session.
SOURCES
Session structure.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agent
Suggested timing: 1 minutes
KEY MESSAGE
One purchasing advice agent and one question connect the demonstrations.
DEFINITION
The agent helps employees interpret purchasing guidance and identify the approvals they need.
TALK TRACK
Introduce the learning coordinator and read the Nova Learning question. The agent advises on purchasing; the employee follows the approval process. Use this question to establish the baseline, then expand to different dates, purchase types and incomplete requests when evaluating consistency.
TRANSITION
The first choice is normally which model to use.
SOURCES
Nova Learning scenario.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Choice
Suggested timing: 2 minutes
KEY MESSAGE
The first choice is normally which model to use.
DEFINITION
Quality, speed and cost are different priorities when choosing a model.
TALK TRACK
Model 1 handles complex reasoning, at higher cost and with slower responses. Model 2 prioritises speed but is less capable on complex tasks. Model 3 keeps high-volume work inexpensive but is less suited to nuanced requests. Compare the trade-offs in Foundry, then revisit the starting choice with task-specific evaluations.
TRANSITION
Open the Foundry portal to compare real models and see where Model Router fits.
SOURCES
Session framing.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Foundry Model Comparison
Suggested timing: 3 minutes
KEY MESSAGE
The first model choice is a hypothesis.
DEFINITION
A starting configuration is an engineering choice that must later be tested against the real business task.
TALK TRACK
Compare a small fixed-model shortlist and Model Router in Foundry. Record the starting model or routing configuration and explain the choice. Keep later baseline comparisons tied to that exact configuration.
DEMO CHECKPOINT
01-model-choice: save the starting model/configuration and portal comparison evidence. The stage playbook records prerequisites, commands, portal steps and the reset procedure.
TRANSITION
Now give the starting agent the organisational context it needs.
SOURCES
Microsoft Foundry model catalog and Model Router demonstration.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Suggested timing: 3 minutes
KEY MESSAGE
Different sources provide different kinds of organisational context.
DEFINITION
Foundry IQ provides institutional knowledge, Fabric IQ provides governed business entities and state, and Work IQ provides workplace context.
TALK TRACK
Return to the purchasing question and explain the three source types: institutional documents, business records and workplace conversations. Foundry IQ is connected, Fabric IQ is a conceptual spend example and Work IQ uses a sample adapter.
TRANSITION
Let's ask the agent and explore the context available to it.
SOURCES
Microsoft IQ concepts and fictional scenario.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Run the Starting Agent
Suggested timing: 5 minutes
KEY MESSAGE
Establish the working baseline and preserve its evidence.
DEFINITION
Instructions define the task and boundaries; tool descriptions explain when a source is useful and what it returns.
TALK TRACK
Run the opening question with Foundry IQ and the sample Work IQ adapter available. Read the actual answer, then inspect the policy and synthetic email: one quotation and Head of Learning approval by 30 November 2026. Save the configuration, source versions, question, answer and run ID. A correct first answer is the starting point for measuring consistency across cases.
DEMO CHECKPOINT
02-grounding: save a working baseline, source fixtures and the run ID. Use the saved run if the live service is unavailable, identifying it as a prepared run.
TRANSITION
Open the trace to inspect how the answer was produced.
SOURCES
Demo implementation to be rehearsed.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
Suggested timing: 2 minutes
KEY MESSAGE
Inspect the calls, inputs and outputs behind the answer.
DEFINITION
A trace records LLM calls, tool calls and timings, with captured prompts and responses.
TALK TRACK
Introduce the three things to inspect: call order, inputs and outputs, and duration. Explain how these let us reconstruct a run. Ask what evidence the audience would look for in the trace.
TRANSITION
Let's follow the run that produced this answer.
SOURCES
Microsoft Foundry observability concepts.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Inspect the Trace
Suggested timing: 4 minutes
KEY MESSAGE
Understand how the agent produced the answer and where it spent time.
DEFINITION
Tool-call inputs and outputs show what was requested and returned.
TALK TRACK
Open the saved baseline run and follow the LLM and tool calls, including both context sources when used. Inspect captured prompts, returned evidence, responses and timings. Discuss repeated calls or slow steps only where the trace shows them. Use the request and expected outcome as an evaluation case.
DEMO CHECKPOINT
03-observe: save the trace, call sequence and timing evidence. Keep the same agent configuration as stage 02.
TRANSITION
We've inspected one run. How consistently does the agent handle other purchasing situations?
SOURCES
Microsoft Foundry tracing demonstration.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Evaluate
Suggested timing: 3 minutes
KEY MESSAGE
Start with built-in evaluators, then add the criteria that matter for your task.
DEFINITION
Groundedness checks support from supplied context. Customer Satisfaction predicts satisfaction across the conversation. Rubric scores custom, weighted criteria using an LLM judge.
TALK TRACK
Introduce Groundedness and Customer Satisfaction, then the custom purchasing rubric. Explain how approval route, expiry, citations and an actionable next step are checked across different purchases, dates and missing information. Customer Satisfaction assesses helpfulness, completeness, clarity, tone, resolution and adaptability. Keep criteria fixed across versions. Customer Satisfaction and Rubric are in preview.
TRANSITION
Let's measure the starting agent against these criteria across purchasing cases.
SOURCES
Microsoft Learn, checked 24 September 2026: https://learn.microsoft.com/en-us/azure/foundry/concepts/evaluation-evaluators/rag-evaluators ; https://learn.microsoft.com/en-us/azure/foundry/concepts/evaluation-evaluators/agent-evaluators ; https://learn.microsoft.com/en-us/azure/foundry/concepts/evaluation-evaluators/rubric-evaluators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Evaluate Across Cases
Suggested timing: 6 minutes
KEY MESSAGE
Measure consistency across cases, not just the opening answer.
DEFINITION
Tokens are units of model input and output; response time is the user's end-to-end wait.
TALK TRACK
Open the baseline evaluation across valid and expired exceptions, different purchase types and missing information. Inspect per-case Groundedness, Customer Satisfaction and Rubric results alongside response time, tokens, tool calls and estimated cost. Repeat representative cases to assess variation. Identify measured opportunities: more consistent task completion, clearer responses or lower cost while preserving quality. Save the baseline before opening any Optimizer candidates.
DEMO CHECKPOINT
04-evaluate: freeze the baseline configuration, dataset, rubric and report. Record per-case results and operational metrics; choose the optimisation objective from this evidence.
TRANSITION
Use these results to set the optimisation goal, then keep the tests fixed.
SOURCES
Microsoft Foundry model comparison and evaluation demonstration.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Optimise
Suggested timing: 3 minutes
KEY MESSAGE
Compare candidate scores and configuration changes with the baseline.
DEFINITION
A baseline is the starting configuration; candidates are alternatives generated and evaluated by Agent Optimizer.
TALK TRACK
The primary experiment is more consistent answers across purchasing cases. Compare candidate instructions, tool descriptions and model choices against fixed criteria. Alongside quality, inspect response time and estimated cost. If the baseline already meets the quality requirement, investigate whether another configuration preserves it at lower cost.
TRANSITION
Let's open the Optimizer run and compare the candidates.
SOURCES
Microsoft Foundry Agent Optimizer concepts.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 Agent Optimizer
Suggested timing: 6 minutes
KEY MESSAGE
Inspect the evidence behind the recommended candidate.
DEFINITION
The optional validation dataset supplies separate evaluation cases within the optimisation run.
TALK TRACK
Show the stage playbook command azd ai agent optimize --config eval.yaml, then open its completed run. Compare per-case rubric results, built-in scores, response time and estimated cost with the frozen baseline. Inspect the actual configuration diff and optional validation dataset. Revisit the opening question and a changed date or purchase type. Apply a candidate only if the evidence supports the trade-off; otherwise keep the baseline.
DEMO CHECKPOINT
05-optimise: preserve the operation ID, candidate IDs, reports and configuration diff. Record azd ai agent optimize status OPERATION_ID --watch and azd ai agent optimize apply --candidate CANDIDATE_ID in the playbook. Applying selects configuration; release checks precede deployment.
TRANSITION
Carry the same evidence into the release process.
SOURCES
Microsoft Learn: Optimize agent instructions, skills, tools, and models; Agent optimizer cost and token usage overview. Checked 24 September 2026.</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
Suggested timing: 2 minutes
KEY MESSAGE
Check changes before release and keep checking after release.
DEFINITION
CI/CD automates repeatable change, evaluation and deployment steps; continuous evaluation monitors behaviour after deployment.
TALK TRACK
Explain how the chosen configuration moves through broader release tests, operational limits, approval and deployment. Include cases kept outside optimisation and candidate selection. Show where scheduled production evaluations fit. The pipeline preserves the quality requirement as the agent changes.
TRANSITION
Let's follow a change through the workflow.
SOURCES
Microsoft Foundry continuous evaluation and GitHub Actions concepts.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 Release Check
Suggested timing: 5 minutes
KEY MESSAGE
The workflow must show why a change stopped or advanced.
DEFINITION
Release gates check evaluation thresholds; approvals record the release decision.
TALK TRACK
Follow the selected configuration through a prepared GitHub Actions run. Inspect release-test evidence before revealing its gate result. Then introduce a separately labelled, deliberate configuration regression and inspect its check results. Keep this regression separate from the original baseline and Optimizer experiment. Finish with approvals, deployment, rollback and scheduled evaluation.
DEMO CHECKPOINT
06-automate: retain the selected configuration, release reports and workflow run IDs. Keep the deliberate regression as a separate resettable checkpoint with its exact diff and test evidence.
TRANSITION
Now put the release checks into the complete delivery process.
SOURCES
GitHub Actions release-check demonstration.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test cases to production
Suggested timing: 2 minutes
KEY MESSAGE
Production evidence improves the tests used for the next release.
DEFINITION
A golden dataset is a reviewed, versioned set of cases with agreed expected outcomes. It is a test asset, not a guarantee of correctness.
TALK TRACK
Read the top row left to right. Before launch, simulation establishes expected behaviour. Review generated examples before promoting them into the golden dataset. Follow the five CI/CD steps: pull request, build and test code and tool contracts, evaluate the agent against the release dataset, enforce pre-agreed quality and operational limits, then deploy and smoke-test the versioned release. Failed checks stop promotion. Keep the candidate artifact, source versions, dataset, rubric, judge configuration and reports pinned. In production, evaluate sampled traces and alert on defined thresholds. Follow the simple return path: production to Optimise, then back into the CI/CD pull request. Compare Agent Optimizer candidates against fixed criteria and retain the baseline if the evidence does not support a change. A selected candidate re-enters the same CI/CD checks; optimisation does not deploy directly. Review case outcomes rather than automatically accepting the agent's own response as ground truth. Keep optimisation and candidate-selection cases separate from final release cases; curate and version the datasets deliberately. Simulation and trace-to-dataset generation are preview capabilities; this slide describes the intended lifecycle, not extra completed demos. Gates, alert thresholds and orchestration must be wired explicitly in the application and workflow. Allow two minutes.
TRANSITION
Here are six related capabilities worth exploring beyond today's demonstrations.
SOURCES
Microsoft Learn and GitHub Docs, checked 24 September 2026: https://learn.microsoft.com/en-us/azure/foundry/observability/how-to/evaluation-dataset-synthetic ; https://learn.microsoft.com/en-us/azure/foundry/observability/how-to/evaluation-datasets ; https://learn.microsoft.com/en-us/azure/foundry/observability/how-to/traces-to-dataset ; https://learn.microsoft.com/en-us/azure/foundry/concepts/observability ; https://docs.github.com/en/actions/reference/workflows-and-actions/deployments-and-environments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exploring next
Suggested timing: 1 minutes
KEY MESSAGE
Six next steps for extending the purchasing agent.
DEFINITION
Human annotation assesses an answer; human approval authorises an action.
TALK TRACK
Spend no more than one minute signposting these topics. Human annotation captures expert assessments: explicitly curate that feedback into better criteria and tests rather than imply automatic learning. Synthetic data expands purchase types, dates and ambiguous requests; review generated cases. AI Red Teaming probes adversarial behaviour, while guardrails such as Prompt Shields help detect malicious instructions in requests and retrieved emails or documents. Identity and permissions limit real enterprise access. Human approval workflows are an extension beyond our advice-only agent: pause before submitting a purchase request and resume after an authorised decision. Human Evaluation, synthetic data generation and the documented long-running hosted-agent approval workflow are in preview; verify availability and agent support before implementation.
TRANSITION
Return to the complete process, then take questions.
SOURCES
Microsoft Learn, checked 24 September 2026: Human Evaluation https://learn.microsoft.com/en-us/azure/foundry/observability/how-to/human-evaluation ; Synthetic Test Data https://learn.microsoft.com/en-us/azure/foundry/observability/how-to/evaluation-dataset-synthetic ; AI Red Teaming https://learn.microsoft.com/en-us/azure/foundry/concepts/ai-red-teaming-agent ; Prompt Shields https://learn.microsoft.com/en-us/azure/foundry/openai/concepts/content-filter-prompt-shields ; Agent Identity https://learn.microsoft.com/en-us/azure/foundry/agents/concepts/agent-identity ; Human Approval https://learn.microsoft.com/en-us/azure/foundry/agents/how-to/add-human-in-the-loop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measure improve repeat
Suggested timing: 10 minutes
KEY MESSAGE
Build, measure, improve and repeat.
DEFINITION
No new definition. This slide summarises the complete process.
TALK TRACK
Close on one working agent, consistent answers, measured trade-offs and repeatable release checks. Return to the six stage playbooks: each records what changed, how it was run and the evidence collected. Discuss what the measured runs demonstrated and which configuration was retained, then take questions.
TRANSITION
Move into questions.
SOURCES
Session synthesis.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I Genius - ai-genius-title">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I Genius - ai-genius-content-minimal">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I Genius - ai-genius-content-fram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AI Genius - ai-genius-content-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I Genius - ai-genius-framed-green">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I Genius - ai-genius-content-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AI Genius - ai-genius-framed-red">
    <p:bg>
      <p:bgPr>
        <a:solidFill>
          <a:srgbClr val="000000"/>
        </a:solidFill>
        <a:effectLst/>
      </p:bgPr>
    </p:bg>
    <p:spTree>
      <p:nvGrpSpPr>
        <p:cNvPr id="1" name=""/>
        <p:cNvGrpSpPr/>
        <p:nvPr/>
      </p:nvGrpSpPr>
      <p:grpSpPr>
        <a:xfrm>
          <a:off x="0" y="0"/>
          <a:ext cx="0" cy="0"/>
          <a:chOff x="0" y="0"/>
          <a:chExt cx="0" cy="0"/>
        </a:xfrm>
      </p:grpSpPr>
      <p:pic>
        <p:nvPicPr>
          <p:cNvPr id="2" name="Image 0" descr="Official AI Genius template artwork"/>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10.svg"/><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From Prompt to Production">
    <p:spTree>
      <p:nvGrpSpPr>
        <p:cNvPr id="1" name=""/>
        <p:cNvGrpSpPr/>
        <p:nvPr/>
      </p:nvGrpSpPr>
      <p:grpSpPr>
        <a:xfrm>
          <a:off x="0" y="0"/>
          <a:ext cx="0" cy="0"/>
          <a:chOff x="0" y="0"/>
          <a:chExt cx="0" cy="0"/>
        </a:xfrm>
      </p:grpSpPr>
      <p:sp>
        <p:nvSpPr>
          <p:cNvPr id="2" name="static:0:text"/>
          <p:cNvSpPr/>
          <p:nvPr/>
        </p:nvSpPr>
        <p:spPr>
          <a:xfrm>
            <a:off x="975360" y="2199918"/>
            <a:ext cx="2768322"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AI GENIUS / SEASON 6 / EPISODE 2</a:t>
            </a:r>
            <a:endParaRPr lang="en-US" sz="960" dirty="0"/>
          </a:p>
        </p:txBody>
      </p:sp>
      <p:sp>
        <p:nvSpPr>
          <p:cNvPr id="3" name="static:1:text"/>
          <p:cNvSpPr/>
          <p:nvPr/>
        </p:nvSpPr>
        <p:spPr>
          <a:xfrm>
            <a:off x="975360" y="2359938"/>
            <a:ext cx="3810786" cy="807720"/>
          </a:xfrm>
          <a:prstGeom prst="rect">
            <a:avLst/>
          </a:prstGeom>
          <a:noFill/>
          <a:ln/>
        </p:spPr>
        <p:txBody>
          <a:bodyPr wrap="none" lIns="0" tIns="0" rIns="0" bIns="0" rtlCol="0" anchor="ctr"/>
          <a:lstStyle/>
          <a:p>
            <a:pPr marL="0" indent="0" algn="l">
              <a:buNone/>
            </a:pPr>
            <a:r>
              <a:rPr lang="en-US" sz="5280" b="1" kern="0" spc="-238" dirty="0">
                <a:solidFill>
                  <a:srgbClr val="DEDEDE"/>
                </a:solidFill>
                <a:latin typeface="Arial" pitchFamily="34" charset="0"/>
                <a:ea typeface="Arial" pitchFamily="34" charset="-122"/>
                <a:cs typeface="Arial" pitchFamily="34" charset="-120"/>
              </a:rPr>
              <a:t>From Prompt</a:t>
            </a:r>
            <a:endParaRPr lang="en-US" sz="5280" dirty="0"/>
          </a:p>
        </p:txBody>
      </p:sp>
      <p:sp>
        <p:nvSpPr>
          <p:cNvPr id="4" name="static:2:text"/>
          <p:cNvSpPr/>
          <p:nvPr/>
        </p:nvSpPr>
        <p:spPr>
          <a:xfrm>
            <a:off x="975360" y="3017044"/>
            <a:ext cx="3911275" cy="807720"/>
          </a:xfrm>
          <a:prstGeom prst="rect">
            <a:avLst/>
          </a:prstGeom>
          <a:noFill/>
          <a:ln/>
        </p:spPr>
        <p:txBody>
          <a:bodyPr wrap="none" lIns="0" tIns="0" rIns="0" bIns="0" rtlCol="0" anchor="ctr"/>
          <a:lstStyle/>
          <a:p>
            <a:pPr marL="0" indent="0" algn="l">
              <a:buNone/>
            </a:pPr>
            <a:r>
              <a:rPr lang="en-US" sz="5280" b="1" kern="0" spc="-238" dirty="0">
                <a:solidFill>
                  <a:srgbClr val="FBBF24"/>
                </a:solidFill>
                <a:latin typeface="Arial" pitchFamily="34" charset="0"/>
                <a:ea typeface="Arial" pitchFamily="34" charset="-122"/>
                <a:cs typeface="Arial" pitchFamily="34" charset="-120"/>
              </a:rPr>
              <a:t>to Production</a:t>
            </a:r>
            <a:endParaRPr lang="en-US" sz="5280" dirty="0"/>
          </a:p>
        </p:txBody>
      </p:sp>
      <p:sp>
        <p:nvSpPr>
          <p:cNvPr id="8" name="static:6:text"/>
          <p:cNvSpPr/>
          <p:nvPr/>
        </p:nvSpPr>
        <p:spPr>
          <a:xfrm>
            <a:off x="975360" y="4918591"/>
            <a:ext cx="819388" cy="144780"/>
          </a:xfrm>
          <a:prstGeom prst="rect">
            <a:avLst/>
          </a:prstGeom>
          <a:noFill/>
          <a:ln/>
        </p:spPr>
        <p:txBody>
          <a:bodyPr wrap="none" lIns="0" tIns="0" rIns="0" bIns="0" rtlCol="0" anchor="ctr"/>
          <a:lstStyle/>
          <a:p>
            <a:pPr marL="0" indent="0" algn="l">
              <a:buNone/>
            </a:pPr>
            <a:r>
              <a:rPr lang="en-US" sz="840" dirty="0">
                <a:solidFill>
                  <a:srgbClr val="919191"/>
                </a:solidFill>
                <a:latin typeface="Arial" pitchFamily="34" charset="0"/>
                <a:ea typeface="Arial" pitchFamily="34" charset="-122"/>
                <a:cs typeface="Arial" pitchFamily="34" charset="-120"/>
              </a:rPr>
              <a:t>Graeme Foster</a:t>
            </a:r>
            <a:endParaRPr lang="en-US" sz="840" dirty="0"/>
          </a:p>
        </p:txBody>
      </p:sp>
      <p:sp>
        <p:nvSpPr>
          <p:cNvPr id="21" name="static:1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2" name="static:20:text"/>
          <p:cNvSpPr/>
          <p:nvPr/>
        </p:nvSpPr>
        <p:spPr>
          <a:xfrm>
            <a:off x="972681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01</a:t>
            </a:r>
            <a:endParaRPr lang="en-US" sz="7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static:0:text"/>
          <p:cNvSpPr/>
          <p:nvPr/>
        </p:nvSpPr>
        <p:spPr>
          <a:xfrm>
            <a:off x="2727960" y="870109"/>
            <a:ext cx="255639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TODAY IN MICROSOFT FOUNDRY</a:t>
            </a:r>
            <a:endParaRPr lang="en-US" sz="960" dirty="0"/>
          </a:p>
        </p:txBody>
      </p:sp>
      <p:sp>
        <p:nvSpPr>
          <p:cNvPr id="3" name="static:1:text"/>
          <p:cNvSpPr/>
          <p:nvPr/>
        </p:nvSpPr>
        <p:spPr>
          <a:xfrm>
            <a:off x="975360" y="1068229"/>
            <a:ext cx="2515291"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What we'll cover.</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01</a:t>
            </a:r>
            <a:endParaRPr lang="en-US" sz="2000" dirty="0"/>
          </a:p>
        </p:txBody>
      </p:sp>
      <p:sp>
        <p:nvSpPr>
          <p:cNvPr id="5" name="static:3:text"/>
          <p:cNvSpPr/>
          <p:nvPr/>
        </p:nvSpPr>
        <p:spPr>
          <a:xfrm>
            <a:off x="975360" y="2578894"/>
            <a:ext cx="145684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Model Choice</a:t>
            </a:r>
            <a:endParaRPr lang="en-US" sz="2000" dirty="0"/>
          </a:p>
        </p:txBody>
      </p:sp>
      <p:sp>
        <p:nvSpPr>
          <p:cNvPr id="6" name="static:4:text"/>
          <p:cNvSpPr/>
          <p:nvPr/>
        </p:nvSpPr>
        <p:spPr>
          <a:xfrm>
            <a:off x="975360" y="2912626"/>
            <a:ext cx="2387560"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Model comparison + Model Router</a:t>
            </a:r>
            <a:endParaRPr lang="en-US" sz="1600" dirty="0"/>
          </a:p>
        </p:txBody>
      </p:sp>
      <p:sp>
        <p:nvSpPr>
          <p:cNvPr id="7" name="static:5:text"/>
          <p:cNvSpPr/>
          <p:nvPr/>
        </p:nvSpPr>
        <p:spPr>
          <a:xfrm>
            <a:off x="4535741" y="2265472"/>
            <a:ext cx="374690" cy="266700"/>
          </a:xfrm>
          <a:prstGeom prst="rect">
            <a:avLst/>
          </a:prstGeom>
          <a:noFill/>
          <a:ln/>
        </p:spPr>
        <p:txBody>
          <a:bodyPr wrap="none" lIns="0" tIns="0" rIns="0" bIns="0" rtlCol="0" anchor="ctr"/>
          <a:lstStyle/>
          <a:p>
            <a:pPr marL="0" indent="0" algn="l">
              <a:buNone/>
            </a:pPr>
            <a:r>
              <a:rPr lang="en-US" sz="2000" b="1" dirty="0">
                <a:solidFill>
                  <a:srgbClr val="FD8EA1"/>
                </a:solidFill>
                <a:latin typeface="Arial" pitchFamily="34" charset="0"/>
                <a:ea typeface="Arial" pitchFamily="34" charset="-122"/>
                <a:cs typeface="Arial" pitchFamily="34" charset="-120"/>
              </a:rPr>
              <a:t>02</a:t>
            </a:r>
            <a:endParaRPr lang="en-US" sz="2000" dirty="0"/>
          </a:p>
        </p:txBody>
      </p:sp>
      <p:sp>
        <p:nvSpPr>
          <p:cNvPr id="8" name="static:6:text"/>
          <p:cNvSpPr/>
          <p:nvPr/>
        </p:nvSpPr>
        <p:spPr>
          <a:xfrm>
            <a:off x="4535741" y="2593132"/>
            <a:ext cx="11428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Grounding</a:t>
            </a:r>
            <a:endParaRPr lang="en-US" sz="2000" dirty="0"/>
          </a:p>
        </p:txBody>
      </p:sp>
      <p:sp>
        <p:nvSpPr>
          <p:cNvPr id="9" name="static:7:text"/>
          <p:cNvSpPr/>
          <p:nvPr/>
        </p:nvSpPr>
        <p:spPr>
          <a:xfrm>
            <a:off x="4535741" y="2926864"/>
            <a:ext cx="2186583"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IQ, Fabric IQ + Work IQ</a:t>
            </a:r>
            <a:endParaRPr lang="en-US" sz="1600" dirty="0"/>
          </a:p>
        </p:txBody>
      </p:sp>
      <p:sp>
        <p:nvSpPr>
          <p:cNvPr id="16" name="static:14:text"/>
          <p:cNvSpPr/>
          <p:nvPr/>
        </p:nvSpPr>
        <p:spPr>
          <a:xfrm>
            <a:off x="4535741" y="3637072"/>
            <a:ext cx="378619" cy="266700"/>
          </a:xfrm>
          <a:prstGeom prst="rect">
            <a:avLst/>
          </a:prstGeom>
          <a:noFill/>
          <a:ln/>
        </p:spPr>
        <p:txBody>
          <a:bodyPr wrap="none" lIns="0" tIns="0" rIns="0" bIns="0" rtlCol="0" anchor="ctr"/>
          <a:lstStyle/>
          <a:p>
            <a:pPr marL="0" indent="0" algn="l">
              <a:buNone/>
            </a:pPr>
            <a:r>
              <a:rPr lang="en-US" sz="2000" b="1" dirty="0">
                <a:solidFill>
                  <a:srgbClr val="F87171"/>
                </a:solidFill>
                <a:latin typeface="Arial" pitchFamily="34" charset="0"/>
                <a:ea typeface="Arial" pitchFamily="34" charset="-122"/>
                <a:cs typeface="Arial" pitchFamily="34" charset="-120"/>
              </a:rPr>
              <a:t>05</a:t>
            </a:r>
            <a:endParaRPr lang="en-US" sz="2000" dirty="0"/>
          </a:p>
        </p:txBody>
      </p:sp>
      <p:sp>
        <p:nvSpPr>
          <p:cNvPr id="17" name="static:15:text"/>
          <p:cNvSpPr/>
          <p:nvPr/>
        </p:nvSpPr>
        <p:spPr>
          <a:xfrm>
            <a:off x="4535741" y="3964732"/>
            <a:ext cx="992981"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Optimise</a:t>
            </a:r>
            <a:endParaRPr lang="en-US" sz="2000" dirty="0"/>
          </a:p>
        </p:txBody>
      </p:sp>
      <p:sp>
        <p:nvSpPr>
          <p:cNvPr id="18" name="static:16:text"/>
          <p:cNvSpPr/>
          <p:nvPr/>
        </p:nvSpPr>
        <p:spPr>
          <a:xfrm>
            <a:off x="4535741" y="4298464"/>
            <a:ext cx="11735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Agent Optimizer</a:t>
            </a:r>
            <a:endParaRPr lang="en-US" sz="1600" dirty="0"/>
          </a:p>
        </p:txBody>
      </p:sp>
      <p:sp>
        <p:nvSpPr>
          <p:cNvPr id="19" name="static:17:text"/>
          <p:cNvSpPr/>
          <p:nvPr/>
        </p:nvSpPr>
        <p:spPr>
          <a:xfrm>
            <a:off x="7817460" y="3637072"/>
            <a:ext cx="385405" cy="266700"/>
          </a:xfrm>
          <a:prstGeom prst="rect">
            <a:avLst/>
          </a:prstGeom>
          <a:noFill/>
          <a:ln/>
        </p:spPr>
        <p:txBody>
          <a:bodyPr wrap="none" lIns="0" tIns="0" rIns="0" bIns="0" rtlCol="0" anchor="ctr"/>
          <a:lstStyle/>
          <a:p>
            <a:pPr marL="0" indent="0" algn="l">
              <a:buNone/>
            </a:pPr>
            <a:r>
              <a:rPr lang="en-US" sz="2000" b="1" dirty="0">
                <a:solidFill>
                  <a:srgbClr val="4DA6FF"/>
                </a:solidFill>
                <a:latin typeface="Arial" pitchFamily="34" charset="0"/>
                <a:ea typeface="Arial" pitchFamily="34" charset="-122"/>
                <a:cs typeface="Arial" pitchFamily="34" charset="-120"/>
              </a:rPr>
              <a:t>06</a:t>
            </a:r>
            <a:endParaRPr lang="en-US" sz="2000" dirty="0"/>
          </a:p>
        </p:txBody>
      </p:sp>
      <p:sp>
        <p:nvSpPr>
          <p:cNvPr id="20" name="static:18:text"/>
          <p:cNvSpPr/>
          <p:nvPr/>
        </p:nvSpPr>
        <p:spPr>
          <a:xfrm>
            <a:off x="7817460" y="3964732"/>
            <a:ext cx="1072039"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Automate</a:t>
            </a:r>
            <a:endParaRPr lang="en-US" sz="2000" dirty="0"/>
          </a:p>
        </p:txBody>
      </p:sp>
      <p:sp>
        <p:nvSpPr>
          <p:cNvPr id="21" name="static:19:text"/>
          <p:cNvSpPr/>
          <p:nvPr/>
        </p:nvSpPr>
        <p:spPr>
          <a:xfrm>
            <a:off x="7817460" y="4231432"/>
            <a:ext cx="3856380" cy="243294"/>
          </a:xfrm>
          <a:prstGeom prst="rect">
            <a:avLst/>
          </a:prstGeom>
          <a:noFill/>
          <a:ln/>
        </p:spPr>
        <p:txBody>
          <a:bodyPr wrap="none" lIns="0" tIns="0" rIns="0" bIns="0" rtlCol="0" anchor="ctr"/>
          <a:lstStyle/>
          <a:p>
            <a:r>
              <a:rPr lang="en-US" sz="1600" dirty="0">
                <a:solidFill>
                  <a:srgbClr val="B0B0B0"/>
                </a:solidFill>
                <a:latin typeface="Arial" pitchFamily="34" charset="0"/>
                <a:ea typeface="Arial" pitchFamily="34" charset="-122"/>
                <a:cs typeface="Arial" pitchFamily="34" charset="-120"/>
              </a:rPr>
              <a:t>Continuous evaluation + GitHub Actions</a:t>
            </a:r>
            <a:endParaRPr lang="en-US" sz="1600" dirty="0"/>
          </a:p>
        </p:txBody>
      </p:sp>
      <p:sp>
        <p:nvSpPr>
          <p:cNvPr id="22" name="static:20:text"/>
          <p:cNvSpPr/>
          <p:nvPr/>
        </p:nvSpPr>
        <p:spPr>
          <a:xfrm>
            <a:off x="7817460" y="4496584"/>
            <a:ext cx="1227296" cy="190500"/>
          </a:xfrm>
          <a:prstGeom prst="rect">
            <a:avLst/>
          </a:prstGeom>
          <a:noFill/>
          <a:ln/>
        </p:spPr>
        <p:txBody>
          <a:bodyPr wrap="none" lIns="0" tIns="0" rIns="0" bIns="0" rtlCol="0" anchor="ctr"/>
          <a:lstStyle/>
          <a:p>
            <a:pPr marL="0" indent="0" algn="l">
              <a:buNone/>
            </a:pPr>
            <a:endParaRPr lang="en-US" sz="1600" dirty="0"/>
          </a:p>
        </p:txBody>
      </p:sp>
      <p:sp>
        <p:nvSpPr>
          <p:cNvPr id="23" name="static:2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4" name="static:22:text"/>
          <p:cNvSpPr/>
          <p:nvPr/>
        </p:nvSpPr>
        <p:spPr>
          <a:xfrm>
            <a:off x="10445591" y="6461760"/>
            <a:ext cx="122824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02</a:t>
            </a:r>
            <a:endParaRPr lang="en-US" sz="720" dirty="0"/>
          </a:p>
        </p:txBody>
      </p:sp>
      <p:sp>
        <p:nvSpPr>
          <p:cNvPr id="25" name="static:11:text">
            <a:extLst>
              <a:ext uri="{FF2B5EF4-FFF2-40B4-BE49-F238E27FC236}">
                <a16:creationId xmlns:a16="http://schemas.microsoft.com/office/drawing/2014/main" id="{46F7BA72-CF14-DB79-C5D6-9262140E2D71}"/>
              </a:ext>
            </a:extLst>
          </p:cNvPr>
          <p:cNvSpPr/>
          <p:nvPr/>
        </p:nvSpPr>
        <p:spPr>
          <a:xfrm>
            <a:off x="7817460" y="2251234"/>
            <a:ext cx="385286" cy="266700"/>
          </a:xfrm>
          <a:prstGeom prst="rect">
            <a:avLst/>
          </a:prstGeom>
          <a:noFill/>
          <a:ln/>
        </p:spPr>
        <p:txBody>
          <a:bodyPr wrap="none" lIns="0" tIns="0" rIns="0" bIns="0" rtlCol="0" anchor="ctr"/>
          <a:lstStyle/>
          <a:p>
            <a:pPr marL="0" indent="0" algn="l">
              <a:buNone/>
            </a:pPr>
            <a:r>
              <a:rPr lang="en-US" sz="2000" b="1" dirty="0">
                <a:solidFill>
                  <a:srgbClr val="4ADE80"/>
                </a:solidFill>
                <a:latin typeface="Arial" pitchFamily="34" charset="0"/>
                <a:ea typeface="Arial" pitchFamily="34" charset="-122"/>
                <a:cs typeface="Arial" pitchFamily="34" charset="-120"/>
              </a:rPr>
              <a:t>03</a:t>
            </a:r>
            <a:endParaRPr lang="en-US" sz="2000" dirty="0"/>
          </a:p>
        </p:txBody>
      </p:sp>
      <p:sp>
        <p:nvSpPr>
          <p:cNvPr id="26" name="static:12:text">
            <a:extLst>
              <a:ext uri="{FF2B5EF4-FFF2-40B4-BE49-F238E27FC236}">
                <a16:creationId xmlns:a16="http://schemas.microsoft.com/office/drawing/2014/main" id="{DC9D1AEF-5283-3F46-85E0-99FD3B08DD09}"/>
              </a:ext>
            </a:extLst>
          </p:cNvPr>
          <p:cNvSpPr/>
          <p:nvPr/>
        </p:nvSpPr>
        <p:spPr>
          <a:xfrm>
            <a:off x="7817460" y="2578894"/>
            <a:ext cx="948214" cy="266700"/>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Evaluate</a:t>
            </a:r>
            <a:endParaRPr lang="en-US" sz="2000" dirty="0"/>
          </a:p>
        </p:txBody>
      </p:sp>
      <p:sp>
        <p:nvSpPr>
          <p:cNvPr id="27" name="static:13:text">
            <a:extLst>
              <a:ext uri="{FF2B5EF4-FFF2-40B4-BE49-F238E27FC236}">
                <a16:creationId xmlns:a16="http://schemas.microsoft.com/office/drawing/2014/main" id="{E094F1BF-7F3B-FF59-1E91-CAA7077A788D}"/>
              </a:ext>
            </a:extLst>
          </p:cNvPr>
          <p:cNvSpPr/>
          <p:nvPr/>
        </p:nvSpPr>
        <p:spPr>
          <a:xfrm>
            <a:off x="7817459" y="2912626"/>
            <a:ext cx="296576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Quality, safety, stays on-task</a:t>
            </a:r>
            <a:endParaRPr lang="en-US" sz="1600" dirty="0"/>
          </a:p>
        </p:txBody>
      </p:sp>
      <p:sp>
        <p:nvSpPr>
          <p:cNvPr id="28" name="static:8:text">
            <a:extLst>
              <a:ext uri="{FF2B5EF4-FFF2-40B4-BE49-F238E27FC236}">
                <a16:creationId xmlns:a16="http://schemas.microsoft.com/office/drawing/2014/main" id="{E56A732E-8F30-CD8D-7275-EA11D4A84FDF}"/>
              </a:ext>
            </a:extLst>
          </p:cNvPr>
          <p:cNvSpPr/>
          <p:nvPr/>
        </p:nvSpPr>
        <p:spPr>
          <a:xfrm>
            <a:off x="975360" y="3658806"/>
            <a:ext cx="380881" cy="266700"/>
          </a:xfrm>
          <a:prstGeom prst="rect">
            <a:avLst/>
          </a:prstGeom>
          <a:noFill/>
          <a:ln/>
        </p:spPr>
        <p:txBody>
          <a:bodyPr wrap="none" lIns="0" tIns="0" rIns="0" bIns="0" rtlCol="0" anchor="ctr"/>
          <a:lstStyle/>
          <a:p>
            <a:pPr marL="0" indent="0" algn="l">
              <a:buNone/>
            </a:pPr>
            <a:r>
              <a:rPr lang="en-US" sz="2000" b="1" dirty="0">
                <a:solidFill>
                  <a:srgbClr val="FBBF24"/>
                </a:solidFill>
                <a:latin typeface="Arial" pitchFamily="34" charset="0"/>
                <a:ea typeface="Arial" pitchFamily="34" charset="-122"/>
                <a:cs typeface="Arial" pitchFamily="34" charset="-120"/>
              </a:rPr>
              <a:t>03</a:t>
            </a:r>
            <a:endParaRPr lang="en-US" sz="2000" dirty="0"/>
          </a:p>
        </p:txBody>
      </p:sp>
      <p:sp>
        <p:nvSpPr>
          <p:cNvPr id="29" name="static:9:text">
            <a:extLst>
              <a:ext uri="{FF2B5EF4-FFF2-40B4-BE49-F238E27FC236}">
                <a16:creationId xmlns:a16="http://schemas.microsoft.com/office/drawing/2014/main" id="{20133A28-79B6-B053-E2A8-D6393DE731EE}"/>
              </a:ext>
            </a:extLst>
          </p:cNvPr>
          <p:cNvSpPr/>
          <p:nvPr/>
        </p:nvSpPr>
        <p:spPr>
          <a:xfrm>
            <a:off x="986511" y="3986466"/>
            <a:ext cx="1752600" cy="244966"/>
          </a:xfrm>
          <a:prstGeom prst="rect">
            <a:avLst/>
          </a:prstGeom>
          <a:noFill/>
          <a:ln/>
        </p:spPr>
        <p:txBody>
          <a:bodyPr wrap="none" lIns="0" tIns="0" rIns="0" bIns="0" rtlCol="0" anchor="ctr"/>
          <a:lstStyle/>
          <a:p>
            <a:pPr marL="0" indent="0" algn="l">
              <a:buNone/>
            </a:pPr>
            <a:r>
              <a:rPr lang="en-US" sz="2000" b="1" dirty="0">
                <a:solidFill>
                  <a:srgbClr val="DEDEDE"/>
                </a:solidFill>
                <a:latin typeface="Arial" pitchFamily="34" charset="0"/>
                <a:ea typeface="Arial" pitchFamily="34" charset="-122"/>
                <a:cs typeface="Arial" pitchFamily="34" charset="-120"/>
              </a:rPr>
              <a:t>Observability</a:t>
            </a:r>
            <a:endParaRPr lang="en-US" sz="2000" dirty="0"/>
          </a:p>
        </p:txBody>
      </p:sp>
      <p:sp>
        <p:nvSpPr>
          <p:cNvPr id="30" name="static:10:text">
            <a:extLst>
              <a:ext uri="{FF2B5EF4-FFF2-40B4-BE49-F238E27FC236}">
                <a16:creationId xmlns:a16="http://schemas.microsoft.com/office/drawing/2014/main" id="{BEA8599D-63C7-A5D6-7BCF-AEE8E0DE2EC6}"/>
              </a:ext>
            </a:extLst>
          </p:cNvPr>
          <p:cNvSpPr/>
          <p:nvPr/>
        </p:nvSpPr>
        <p:spPr>
          <a:xfrm>
            <a:off x="975360" y="4320198"/>
            <a:ext cx="1894999" cy="190500"/>
          </a:xfrm>
          <a:prstGeom prst="rect">
            <a:avLst/>
          </a:prstGeom>
          <a:noFill/>
          <a:ln/>
        </p:spPr>
        <p:txBody>
          <a:bodyPr wrap="none" lIns="0" tIns="0" rIns="0" bIns="0" rtlCol="0" anchor="ctr"/>
          <a:lstStyle/>
          <a:p>
            <a:pPr marL="0" indent="0" algn="l">
              <a:buNone/>
            </a:pPr>
            <a:r>
              <a:rPr lang="en-US" sz="1600" dirty="0">
                <a:solidFill>
                  <a:srgbClr val="B0B0B0"/>
                </a:solidFill>
                <a:latin typeface="Arial" pitchFamily="34" charset="0"/>
                <a:ea typeface="Arial" pitchFamily="34" charset="-122"/>
                <a:cs typeface="Arial" pitchFamily="34" charset="-120"/>
              </a:rPr>
              <a:t>Foundry tracing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Meet the agent">
    <p:spTree>
      <p:nvGrpSpPr>
        <p:cNvPr id="1" name=""/>
        <p:cNvGrpSpPr/>
        <p:nvPr/>
      </p:nvGrpSpPr>
      <p:grpSpPr>
        <a:xfrm>
          <a:off x="0" y="0"/>
          <a:ext cx="0" cy="0"/>
          <a:chOff x="0" y="0"/>
          <a:chExt cx="0" cy="0"/>
        </a:xfrm>
      </p:grpSpPr>
      <p:sp>
        <p:nvSpPr>
          <p:cNvPr id="2" name="static:0:text"/>
          <p:cNvSpPr/>
          <p:nvPr/>
        </p:nvSpPr>
        <p:spPr>
          <a:xfrm>
            <a:off x="2727960" y="870109"/>
            <a:ext cx="1179671"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OUR EXAMPLE</a:t>
            </a:r>
            <a:endParaRPr lang="en-US" sz="960" dirty="0"/>
          </a:p>
        </p:txBody>
      </p:sp>
      <p:sp>
        <p:nvSpPr>
          <p:cNvPr id="3" name="static:1:text"/>
          <p:cNvSpPr/>
          <p:nvPr/>
        </p:nvSpPr>
        <p:spPr>
          <a:xfrm>
            <a:off x="975360" y="1068229"/>
            <a:ext cx="2270379"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Meet the agent</a:t>
            </a:r>
            <a:endParaRPr lang="en-US" sz="2640" dirty="0"/>
          </a:p>
        </p:txBody>
      </p:sp>
      <p:pic>
        <p:nvPicPr>
          <p:cNvPr id="4" name="static:2:svg:vector-3-2" descr="Purchasing advice agen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80160" y="2088952"/>
            <a:ext cx="1676400" cy="1524000"/>
          </a:xfrm>
          <a:prstGeom prst="rect">
            <a:avLst/>
          </a:prstGeom>
        </p:spPr>
      </p:pic>
      <p:sp>
        <p:nvSpPr>
          <p:cNvPr id="5" name="static:3:text"/>
          <p:cNvSpPr/>
          <p:nvPr/>
        </p:nvSpPr>
        <p:spPr>
          <a:xfrm>
            <a:off x="1202531" y="3734872"/>
            <a:ext cx="192309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Purchasing advice</a:t>
            </a:r>
            <a:endParaRPr lang="en-US" sz="1680" dirty="0"/>
          </a:p>
        </p:txBody>
      </p:sp>
      <p:sp>
        <p:nvSpPr>
          <p:cNvPr id="6" name="static:4:text"/>
          <p:cNvSpPr/>
          <p:nvPr/>
        </p:nvSpPr>
        <p:spPr>
          <a:xfrm>
            <a:off x="1830705" y="3969544"/>
            <a:ext cx="666631"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agent</a:t>
            </a:r>
            <a:endParaRPr lang="en-US" sz="1680" dirty="0"/>
          </a:p>
        </p:txBody>
      </p:sp>
      <p:sp>
        <p:nvSpPr>
          <p:cNvPr id="7" name="static:5:text"/>
          <p:cNvSpPr/>
          <p:nvPr/>
        </p:nvSpPr>
        <p:spPr>
          <a:xfrm>
            <a:off x="1147882" y="4326136"/>
            <a:ext cx="203227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Helps employees understand</a:t>
            </a:r>
            <a:endParaRPr lang="en-US" sz="1200" dirty="0"/>
          </a:p>
        </p:txBody>
      </p:sp>
      <p:sp>
        <p:nvSpPr>
          <p:cNvPr id="8" name="static:6:text"/>
          <p:cNvSpPr/>
          <p:nvPr/>
        </p:nvSpPr>
        <p:spPr>
          <a:xfrm>
            <a:off x="1365885" y="4539496"/>
            <a:ext cx="159627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what they can buy and</a:t>
            </a:r>
            <a:endParaRPr lang="en-US" sz="1200" dirty="0"/>
          </a:p>
        </p:txBody>
      </p:sp>
      <p:sp>
        <p:nvSpPr>
          <p:cNvPr id="9" name="static:7:text"/>
          <p:cNvSpPr/>
          <p:nvPr/>
        </p:nvSpPr>
        <p:spPr>
          <a:xfrm>
            <a:off x="1211461" y="4752856"/>
            <a:ext cx="190523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which approvals they need.</a:t>
            </a:r>
            <a:endParaRPr lang="en-US" sz="1200" dirty="0"/>
          </a:p>
        </p:txBody>
      </p:sp>
      <p:sp>
        <p:nvSpPr>
          <p:cNvPr id="10" name="static:8:shape"/>
          <p:cNvSpPr/>
          <p:nvPr/>
        </p:nvSpPr>
        <p:spPr>
          <a:xfrm>
            <a:off x="3749040" y="2841784"/>
            <a:ext cx="6248400" cy="1516380"/>
          </a:xfrm>
          <a:prstGeom prst="roundRect">
            <a:avLst>
              <a:gd name="adj" fmla="val 8040"/>
            </a:avLst>
          </a:prstGeom>
          <a:solidFill>
            <a:srgbClr val="292929"/>
          </a:solidFill>
          <a:ln w="7620">
            <a:solidFill>
              <a:srgbClr val="474747"/>
            </a:solidFill>
            <a:prstDash val="solid"/>
          </a:ln>
        </p:spPr>
        <p:txBody>
          <a:bodyPr/>
          <a:lstStyle/>
          <a:p>
            <a:endParaRPr lang="en-US"/>
          </a:p>
        </p:txBody>
      </p:sp>
      <p:sp>
        <p:nvSpPr>
          <p:cNvPr id="11" name="static:9:text"/>
          <p:cNvSpPr/>
          <p:nvPr/>
        </p:nvSpPr>
        <p:spPr>
          <a:xfrm>
            <a:off x="4000500" y="3085624"/>
            <a:ext cx="2094667" cy="190500"/>
          </a:xfrm>
          <a:prstGeom prst="rect">
            <a:avLst/>
          </a:prstGeom>
          <a:noFill/>
          <a:ln/>
        </p:spPr>
        <p:txBody>
          <a:bodyPr wrap="none" lIns="0" tIns="0" rIns="0" bIns="0" rtlCol="0" anchor="ctr"/>
          <a:lstStyle/>
          <a:p>
            <a:pPr marL="0" indent="0" algn="l">
              <a:buNone/>
            </a:pPr>
            <a:r>
              <a:rPr lang="en-US" sz="1200" b="1" dirty="0">
                <a:solidFill>
                  <a:srgbClr val="4DA6FF"/>
                </a:solidFill>
                <a:latin typeface="Arial" pitchFamily="34" charset="0"/>
                <a:ea typeface="Arial" pitchFamily="34" charset="-122"/>
                <a:cs typeface="Arial" pitchFamily="34" charset="-120"/>
              </a:rPr>
              <a:t>A learning coordinator asks:</a:t>
            </a:r>
            <a:endParaRPr lang="en-US" sz="1200" dirty="0"/>
          </a:p>
        </p:txBody>
      </p:sp>
      <p:sp>
        <p:nvSpPr>
          <p:cNvPr id="12" name="static:10:text"/>
          <p:cNvSpPr/>
          <p:nvPr/>
        </p:nvSpPr>
        <p:spPr>
          <a:xfrm>
            <a:off x="4000500" y="3420904"/>
            <a:ext cx="5370076"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“Can I spend $6,250 on 25 Nova Learning</a:t>
            </a:r>
            <a:endParaRPr lang="en-US" sz="2160" dirty="0"/>
          </a:p>
        </p:txBody>
      </p:sp>
      <p:sp>
        <p:nvSpPr>
          <p:cNvPr id="13" name="static:11:text"/>
          <p:cNvSpPr/>
          <p:nvPr/>
        </p:nvSpPr>
        <p:spPr>
          <a:xfrm>
            <a:off x="4000500" y="3763804"/>
            <a:ext cx="5550218" cy="342900"/>
          </a:xfrm>
          <a:prstGeom prst="rect">
            <a:avLst/>
          </a:prstGeom>
          <a:noFill/>
          <a:ln/>
        </p:spPr>
        <p:txBody>
          <a:bodyPr wrap="none" lIns="0" tIns="0" rIns="0" bIns="0" rtlCol="0" anchor="ctr"/>
          <a:lstStyle/>
          <a:p>
            <a:pPr marL="0" indent="0" algn="l">
              <a:buNone/>
            </a:pPr>
            <a:r>
              <a:rPr lang="en-US" sz="2160" b="1" dirty="0">
                <a:solidFill>
                  <a:srgbClr val="DEDEDE"/>
                </a:solidFill>
                <a:latin typeface="Arial" pitchFamily="34" charset="0"/>
                <a:ea typeface="Arial" pitchFamily="34" charset="-122"/>
                <a:cs typeface="Arial" pitchFamily="34" charset="-120"/>
              </a:rPr>
              <a:t>licences for our new graduate employees?”</a:t>
            </a:r>
            <a:endParaRPr lang="en-US" sz="2160" dirty="0"/>
          </a:p>
        </p:txBody>
      </p:sp>
      <p:sp>
        <p:nvSpPr>
          <p:cNvPr id="14" name="static:12: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15" name="static:13:text"/>
          <p:cNvSpPr/>
          <p:nvPr/>
        </p:nvSpPr>
        <p:spPr>
          <a:xfrm>
            <a:off x="10443448" y="6461760"/>
            <a:ext cx="123039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03</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Model Choice">
    <p:spTree>
      <p:nvGrpSpPr>
        <p:cNvPr id="1" name=""/>
        <p:cNvGrpSpPr/>
        <p:nvPr/>
      </p:nvGrpSpPr>
      <p:grpSpPr>
        <a:xfrm>
          <a:off x="0" y="0"/>
          <a:ext cx="0" cy="0"/>
          <a:chOff x="0" y="0"/>
          <a:chExt cx="0" cy="0"/>
        </a:xfrm>
      </p:grpSpPr>
      <p:sp>
        <p:nvSpPr>
          <p:cNvPr id="2" name="static:0:text"/>
          <p:cNvSpPr/>
          <p:nvPr/>
        </p:nvSpPr>
        <p:spPr>
          <a:xfrm>
            <a:off x="2727960" y="870109"/>
            <a:ext cx="3541514"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DIFFERENT MODELS. DIFFERENT PRIORITIES.</a:t>
            </a:r>
            <a:endParaRPr lang="en-US" sz="960" dirty="0"/>
          </a:p>
        </p:txBody>
      </p:sp>
      <p:sp>
        <p:nvSpPr>
          <p:cNvPr id="3" name="static:1:text"/>
          <p:cNvSpPr/>
          <p:nvPr/>
        </p:nvSpPr>
        <p:spPr>
          <a:xfrm>
            <a:off x="975360" y="1068229"/>
            <a:ext cx="2083808"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Model Choice</a:t>
            </a:r>
            <a:endParaRPr lang="en-US" sz="2640" dirty="0"/>
          </a:p>
        </p:txBody>
      </p:sp>
      <p:grpSp>
        <p:nvGrpSpPr>
          <p:cNvPr id="36" name="Reveal 1"/>
          <p:cNvGrpSpPr/>
          <p:nvPr/>
        </p:nvGrpSpPr>
        <p:grpSpPr>
          <a:xfrm>
            <a:off x="975360" y="1949172"/>
            <a:ext cx="2834640" cy="3569137"/>
            <a:chOff x="975360" y="1949172"/>
            <a:chExt cx="2834640" cy="3569137"/>
          </a:xfrm>
        </p:grpSpPr>
        <p:sp>
          <p:nvSpPr>
            <p:cNvPr id="4" name="reveal-1:2:shape"/>
            <p:cNvSpPr/>
            <p:nvPr/>
          </p:nvSpPr>
          <p:spPr>
            <a:xfrm>
              <a:off x="97536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964412"/>
              <a:ext cx="2651760" cy="0"/>
            </a:xfrm>
            <a:prstGeom prst="line">
              <a:avLst/>
            </a:prstGeom>
            <a:noFill/>
            <a:ln w="30480">
              <a:solidFill>
                <a:srgbClr val="FBBF24"/>
              </a:solidFill>
              <a:prstDash val="solid"/>
              <a:headEnd type="none"/>
              <a:tailEnd type="none"/>
            </a:ln>
          </p:spPr>
          <p:txBody>
            <a:bodyPr/>
            <a:lstStyle/>
            <a:p>
              <a:endParaRPr lang="en-US"/>
            </a:p>
          </p:txBody>
        </p:sp>
        <p:pic>
          <p:nvPicPr>
            <p:cNvPr id="6" name="reveal-1:3:svg:vector-4-3" descr="Model 1: a robot with a connected reasoning diagram"/>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06880" y="2193012"/>
              <a:ext cx="1371600" cy="1249680"/>
            </a:xfrm>
            <a:prstGeom prst="rect">
              <a:avLst/>
            </a:prstGeom>
          </p:spPr>
        </p:pic>
        <p:sp>
          <p:nvSpPr>
            <p:cNvPr id="7" name="reveal-1:4:text"/>
            <p:cNvSpPr/>
            <p:nvPr/>
          </p:nvSpPr>
          <p:spPr>
            <a:xfrm>
              <a:off x="2064782" y="3549372"/>
              <a:ext cx="747236" cy="228600"/>
            </a:xfrm>
            <a:prstGeom prst="rect">
              <a:avLst/>
            </a:prstGeom>
            <a:noFill/>
            <a:ln/>
          </p:spPr>
          <p:txBody>
            <a:bodyPr wrap="none" lIns="0" tIns="0" rIns="0" bIns="0" rtlCol="0" anchor="ctr"/>
            <a:lstStyle/>
            <a:p>
              <a:pPr marL="0" indent="0" algn="l">
                <a:buNone/>
              </a:pPr>
              <a:r>
                <a:rPr lang="en-US" sz="1440" b="1" dirty="0">
                  <a:solidFill>
                    <a:srgbClr val="FBBF24"/>
                  </a:solidFill>
                  <a:latin typeface="Arial" pitchFamily="34" charset="0"/>
                  <a:ea typeface="Arial" pitchFamily="34" charset="-122"/>
                  <a:cs typeface="Arial" pitchFamily="34" charset="-120"/>
                </a:rPr>
                <a:t>Model 1</a:t>
              </a:r>
              <a:endParaRPr lang="en-US" sz="1440" dirty="0"/>
            </a:p>
          </p:txBody>
        </p:sp>
        <p:sp>
          <p:nvSpPr>
            <p:cNvPr id="8" name="reveal-1:5:text"/>
            <p:cNvSpPr/>
            <p:nvPr/>
          </p:nvSpPr>
          <p:spPr>
            <a:xfrm>
              <a:off x="1414820" y="3857149"/>
              <a:ext cx="204704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quality</a:t>
              </a:r>
              <a:endParaRPr lang="en-US" sz="1560" dirty="0"/>
            </a:p>
          </p:txBody>
        </p:sp>
        <p:sp>
          <p:nvSpPr>
            <p:cNvPr id="9" name="reveal-1:6:text"/>
            <p:cNvSpPr/>
            <p:nvPr/>
          </p:nvSpPr>
          <p:spPr>
            <a:xfrm>
              <a:off x="1751528" y="4192429"/>
              <a:ext cx="1373624"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Complex reasoning</a:t>
              </a:r>
              <a:endParaRPr lang="en-US" sz="1200" dirty="0"/>
            </a:p>
          </p:txBody>
        </p:sp>
        <p:sp>
          <p:nvSpPr>
            <p:cNvPr id="10" name="reveal-1:7:text"/>
            <p:cNvSpPr/>
            <p:nvPr/>
          </p:nvSpPr>
          <p:spPr>
            <a:xfrm>
              <a:off x="1713309" y="4398169"/>
              <a:ext cx="14501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multi-step tasks</a:t>
              </a:r>
              <a:endParaRPr lang="en-US" sz="1200" dirty="0"/>
            </a:p>
          </p:txBody>
        </p:sp>
        <p:sp>
          <p:nvSpPr>
            <p:cNvPr id="11" name="reveal-1:8:shape"/>
            <p:cNvSpPr/>
            <p:nvPr/>
          </p:nvSpPr>
          <p:spPr>
            <a:xfrm>
              <a:off x="119634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12" name="reveal-1:9:text"/>
            <p:cNvSpPr/>
            <p:nvPr/>
          </p:nvSpPr>
          <p:spPr>
            <a:xfrm>
              <a:off x="1909643" y="4832509"/>
              <a:ext cx="1057394"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a:t>
              </a:r>
              <a:endParaRPr lang="en-US" sz="1080" dirty="0"/>
            </a:p>
          </p:txBody>
        </p:sp>
        <p:sp>
          <p:nvSpPr>
            <p:cNvPr id="13" name="reveal-1:10:text"/>
            <p:cNvSpPr/>
            <p:nvPr/>
          </p:nvSpPr>
          <p:spPr>
            <a:xfrm>
              <a:off x="1811417" y="5003959"/>
              <a:ext cx="1253966"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Slower responses</a:t>
              </a:r>
              <a:endParaRPr lang="en-US" sz="1080" dirty="0"/>
            </a:p>
          </p:txBody>
        </p:sp>
      </p:grpSp>
      <p:grpSp>
        <p:nvGrpSpPr>
          <p:cNvPr id="37" name="Reveal 2"/>
          <p:cNvGrpSpPr/>
          <p:nvPr/>
        </p:nvGrpSpPr>
        <p:grpSpPr>
          <a:xfrm>
            <a:off x="3992880" y="1949172"/>
            <a:ext cx="2834640" cy="3569137"/>
            <a:chOff x="3992880" y="1949172"/>
            <a:chExt cx="2834640" cy="3569137"/>
          </a:xfrm>
        </p:grpSpPr>
        <p:sp>
          <p:nvSpPr>
            <p:cNvPr id="14" name="reveal-2:11:shape"/>
            <p:cNvSpPr/>
            <p:nvPr/>
          </p:nvSpPr>
          <p:spPr>
            <a:xfrm>
              <a:off x="399288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084320" y="1964412"/>
              <a:ext cx="2651760" cy="0"/>
            </a:xfrm>
            <a:prstGeom prst="line">
              <a:avLst/>
            </a:prstGeom>
            <a:noFill/>
            <a:ln w="30480">
              <a:solidFill>
                <a:srgbClr val="4DA6FF"/>
              </a:solidFill>
              <a:prstDash val="solid"/>
              <a:headEnd type="none"/>
              <a:tailEnd type="none"/>
            </a:ln>
          </p:spPr>
          <p:txBody>
            <a:bodyPr/>
            <a:lstStyle/>
            <a:p>
              <a:endParaRPr lang="en-US"/>
            </a:p>
          </p:txBody>
        </p:sp>
        <p:pic>
          <p:nvPicPr>
            <p:cNvPr id="16" name="reveal-2:12:svg:vector-4-12" descr="Model 2: a robot with a lightning bolt and speed lin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24400" y="2193012"/>
              <a:ext cx="1371600" cy="1249680"/>
            </a:xfrm>
            <a:prstGeom prst="rect">
              <a:avLst/>
            </a:prstGeom>
          </p:spPr>
        </p:pic>
        <p:sp>
          <p:nvSpPr>
            <p:cNvPr id="17" name="reveal-2:13:text"/>
            <p:cNvSpPr/>
            <p:nvPr/>
          </p:nvSpPr>
          <p:spPr>
            <a:xfrm>
              <a:off x="5070872" y="3549372"/>
              <a:ext cx="770096" cy="228600"/>
            </a:xfrm>
            <a:prstGeom prst="rect">
              <a:avLst/>
            </a:prstGeom>
            <a:noFill/>
            <a:ln/>
          </p:spPr>
          <p:txBody>
            <a:bodyPr wrap="none" lIns="0" tIns="0" rIns="0" bIns="0" rtlCol="0" anchor="ctr"/>
            <a:lstStyle/>
            <a:p>
              <a:pPr marL="0" indent="0" algn="l">
                <a:buNone/>
              </a:pPr>
              <a:r>
                <a:rPr lang="en-US" sz="1440" b="1" dirty="0">
                  <a:solidFill>
                    <a:srgbClr val="4DA6FF"/>
                  </a:solidFill>
                  <a:latin typeface="Arial" pitchFamily="34" charset="0"/>
                  <a:ea typeface="Arial" pitchFamily="34" charset="-122"/>
                  <a:cs typeface="Arial" pitchFamily="34" charset="-120"/>
                </a:rPr>
                <a:t>Model 2</a:t>
              </a:r>
              <a:endParaRPr lang="en-US" sz="1440" dirty="0"/>
            </a:p>
          </p:txBody>
        </p:sp>
        <p:sp>
          <p:nvSpPr>
            <p:cNvPr id="18" name="reveal-2:14:text"/>
            <p:cNvSpPr/>
            <p:nvPr/>
          </p:nvSpPr>
          <p:spPr>
            <a:xfrm>
              <a:off x="4464368" y="3857149"/>
              <a:ext cx="1983105"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speed</a:t>
              </a:r>
              <a:endParaRPr lang="en-US" sz="1560" dirty="0"/>
            </a:p>
          </p:txBody>
        </p:sp>
        <p:sp>
          <p:nvSpPr>
            <p:cNvPr id="19" name="reveal-2:15:text"/>
            <p:cNvSpPr/>
            <p:nvPr/>
          </p:nvSpPr>
          <p:spPr>
            <a:xfrm>
              <a:off x="4862393" y="4192429"/>
              <a:ext cx="118705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Responsive chat</a:t>
              </a:r>
              <a:endParaRPr lang="en-US" sz="1200" dirty="0"/>
            </a:p>
          </p:txBody>
        </p:sp>
        <p:sp>
          <p:nvSpPr>
            <p:cNvPr id="20" name="reveal-2:16:text"/>
            <p:cNvSpPr/>
            <p:nvPr/>
          </p:nvSpPr>
          <p:spPr>
            <a:xfrm>
              <a:off x="4676894" y="4398169"/>
              <a:ext cx="1557933"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and quick interactions</a:t>
              </a:r>
              <a:endParaRPr lang="en-US" sz="1200" dirty="0"/>
            </a:p>
          </p:txBody>
        </p:sp>
        <p:sp>
          <p:nvSpPr>
            <p:cNvPr id="21" name="reveal-2:17:shape"/>
            <p:cNvSpPr/>
            <p:nvPr/>
          </p:nvSpPr>
          <p:spPr>
            <a:xfrm>
              <a:off x="421386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22" name="reveal-2:18:text"/>
            <p:cNvSpPr/>
            <p:nvPr/>
          </p:nvSpPr>
          <p:spPr>
            <a:xfrm>
              <a:off x="4654272" y="4832509"/>
              <a:ext cx="160317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capable</a:t>
              </a:r>
              <a:endParaRPr lang="en-US" sz="1080" dirty="0"/>
            </a:p>
          </p:txBody>
        </p:sp>
        <p:sp>
          <p:nvSpPr>
            <p:cNvPr id="23" name="reveal-2:19:text"/>
            <p:cNvSpPr/>
            <p:nvPr/>
          </p:nvSpPr>
          <p:spPr>
            <a:xfrm>
              <a:off x="4841677" y="5003959"/>
              <a:ext cx="1228487"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on complex tasks</a:t>
              </a:r>
              <a:endParaRPr lang="en-US" sz="1080" dirty="0"/>
            </a:p>
          </p:txBody>
        </p:sp>
      </p:grpSp>
      <p:grpSp>
        <p:nvGrpSpPr>
          <p:cNvPr id="38" name="Reveal 3"/>
          <p:cNvGrpSpPr/>
          <p:nvPr/>
        </p:nvGrpSpPr>
        <p:grpSpPr>
          <a:xfrm>
            <a:off x="7010400" y="1949172"/>
            <a:ext cx="2834640" cy="3569137"/>
            <a:chOff x="7010400" y="1949172"/>
            <a:chExt cx="2834640" cy="3569137"/>
          </a:xfrm>
        </p:grpSpPr>
        <p:sp>
          <p:nvSpPr>
            <p:cNvPr id="24" name="reveal-3:20:shape"/>
            <p:cNvSpPr/>
            <p:nvPr/>
          </p:nvSpPr>
          <p:spPr>
            <a:xfrm>
              <a:off x="7010400" y="1949172"/>
              <a:ext cx="2834640" cy="3569137"/>
            </a:xfrm>
            <a:prstGeom prst="roundRect">
              <a:avLst>
                <a:gd name="adj" fmla="val 4839"/>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101840" y="1964412"/>
              <a:ext cx="2651760" cy="0"/>
            </a:xfrm>
            <a:prstGeom prst="line">
              <a:avLst/>
            </a:prstGeom>
            <a:noFill/>
            <a:ln w="30480">
              <a:solidFill>
                <a:srgbClr val="4ADE80"/>
              </a:solidFill>
              <a:prstDash val="solid"/>
              <a:headEnd type="none"/>
              <a:tailEnd type="none"/>
            </a:ln>
          </p:spPr>
          <p:txBody>
            <a:bodyPr/>
            <a:lstStyle/>
            <a:p>
              <a:endParaRPr lang="en-US"/>
            </a:p>
          </p:txBody>
        </p:sp>
        <p:pic>
          <p:nvPicPr>
            <p:cNvPr id="26" name="reveal-3:21:svg:vector-4-21" descr="Model 3: a compact robot beside a stack of coin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41920" y="2193012"/>
              <a:ext cx="1371600" cy="1249680"/>
            </a:xfrm>
            <a:prstGeom prst="rect">
              <a:avLst/>
            </a:prstGeom>
          </p:spPr>
        </p:pic>
        <p:sp>
          <p:nvSpPr>
            <p:cNvPr id="27" name="reveal-3:22:text"/>
            <p:cNvSpPr/>
            <p:nvPr/>
          </p:nvSpPr>
          <p:spPr>
            <a:xfrm>
              <a:off x="8086011" y="3549372"/>
              <a:ext cx="774859" cy="228600"/>
            </a:xfrm>
            <a:prstGeom prst="rect">
              <a:avLst/>
            </a:prstGeom>
            <a:noFill/>
            <a:ln/>
          </p:spPr>
          <p:txBody>
            <a:bodyPr wrap="none" lIns="0" tIns="0" rIns="0" bIns="0" rtlCol="0" anchor="ctr"/>
            <a:lstStyle/>
            <a:p>
              <a:pPr marL="0" indent="0" algn="l">
                <a:buNone/>
              </a:pPr>
              <a:r>
                <a:rPr lang="en-US" sz="1440" b="1" dirty="0">
                  <a:solidFill>
                    <a:srgbClr val="4ADE80"/>
                  </a:solidFill>
                  <a:latin typeface="Arial" pitchFamily="34" charset="0"/>
                  <a:ea typeface="Arial" pitchFamily="34" charset="-122"/>
                  <a:cs typeface="Arial" pitchFamily="34" charset="-120"/>
                </a:rPr>
                <a:t>Model 3</a:t>
              </a:r>
              <a:endParaRPr lang="en-US" sz="1440" dirty="0"/>
            </a:p>
          </p:txBody>
        </p:sp>
        <p:sp>
          <p:nvSpPr>
            <p:cNvPr id="28" name="reveal-3:23:text"/>
            <p:cNvSpPr/>
            <p:nvPr/>
          </p:nvSpPr>
          <p:spPr>
            <a:xfrm>
              <a:off x="7565469" y="3857149"/>
              <a:ext cx="1815822" cy="243840"/>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Optimised for cost</a:t>
              </a:r>
              <a:endParaRPr lang="en-US" sz="1560" dirty="0"/>
            </a:p>
          </p:txBody>
        </p:sp>
        <p:sp>
          <p:nvSpPr>
            <p:cNvPr id="29" name="reveal-3:24:text"/>
            <p:cNvSpPr/>
            <p:nvPr/>
          </p:nvSpPr>
          <p:spPr>
            <a:xfrm>
              <a:off x="7977188" y="4192429"/>
              <a:ext cx="99238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High-volume,</a:t>
              </a:r>
              <a:endParaRPr lang="en-US" sz="1200" dirty="0"/>
            </a:p>
          </p:txBody>
        </p:sp>
        <p:sp>
          <p:nvSpPr>
            <p:cNvPr id="30" name="reveal-3:25:text"/>
            <p:cNvSpPr/>
            <p:nvPr/>
          </p:nvSpPr>
          <p:spPr>
            <a:xfrm>
              <a:off x="7878961" y="4398169"/>
              <a:ext cx="1188958"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repeatable tasks</a:t>
              </a:r>
              <a:endParaRPr lang="en-US" sz="1200" dirty="0"/>
            </a:p>
          </p:txBody>
        </p:sp>
        <p:sp>
          <p:nvSpPr>
            <p:cNvPr id="31" name="reveal-3:26:shape"/>
            <p:cNvSpPr/>
            <p:nvPr/>
          </p:nvSpPr>
          <p:spPr>
            <a:xfrm>
              <a:off x="7231380" y="4748689"/>
              <a:ext cx="2392680" cy="548640"/>
            </a:xfrm>
            <a:prstGeom prst="roundRect">
              <a:avLst>
                <a:gd name="adj" fmla="val 13889"/>
              </a:avLst>
            </a:prstGeom>
            <a:solidFill>
              <a:srgbClr val="2E2E2E"/>
            </a:solidFill>
            <a:ln w="12700">
              <a:solidFill>
                <a:srgbClr val="333333">
                  <a:alpha val="0"/>
                </a:srgbClr>
              </a:solidFill>
              <a:prstDash val="solid"/>
            </a:ln>
          </p:spPr>
          <p:txBody>
            <a:bodyPr/>
            <a:lstStyle/>
            <a:p>
              <a:endParaRPr lang="en-US"/>
            </a:p>
          </p:txBody>
        </p:sp>
        <p:sp>
          <p:nvSpPr>
            <p:cNvPr id="32" name="reveal-3:27:text"/>
            <p:cNvSpPr/>
            <p:nvPr/>
          </p:nvSpPr>
          <p:spPr>
            <a:xfrm>
              <a:off x="7726204" y="4832509"/>
              <a:ext cx="149435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Trade-off: less suited</a:t>
              </a:r>
              <a:endParaRPr lang="en-US" sz="1080" dirty="0"/>
            </a:p>
          </p:txBody>
        </p:sp>
        <p:sp>
          <p:nvSpPr>
            <p:cNvPr id="33" name="reveal-3:28:text"/>
            <p:cNvSpPr/>
            <p:nvPr/>
          </p:nvSpPr>
          <p:spPr>
            <a:xfrm>
              <a:off x="7756684" y="5003959"/>
              <a:ext cx="1433393" cy="175260"/>
            </a:xfrm>
            <a:prstGeom prst="rect">
              <a:avLst/>
            </a:prstGeom>
            <a:noFill/>
            <a:ln/>
          </p:spPr>
          <p:txBody>
            <a:bodyPr wrap="none" lIns="0" tIns="0" rIns="0" bIns="0" rtlCol="0" anchor="ctr"/>
            <a:lstStyle/>
            <a:p>
              <a:pPr marL="0" indent="0" algn="l">
                <a:buNone/>
              </a:pPr>
              <a:r>
                <a:rPr lang="en-US" sz="1080" b="1" dirty="0">
                  <a:solidFill>
                    <a:srgbClr val="DEDEDE"/>
                  </a:solidFill>
                  <a:latin typeface="Arial" pitchFamily="34" charset="0"/>
                  <a:ea typeface="Arial" pitchFamily="34" charset="-122"/>
                  <a:cs typeface="Arial" pitchFamily="34" charset="-120"/>
                </a:rPr>
                <a:t>to nuanced requests</a:t>
              </a:r>
              <a:endParaRPr lang="en-US" sz="1080" dirty="0"/>
            </a:p>
          </p:txBody>
        </p:sp>
      </p:grpSp>
      <p:sp>
        <p:nvSpPr>
          <p:cNvPr id="34" name="static:29: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5" name="static:30:text"/>
          <p:cNvSpPr/>
          <p:nvPr/>
        </p:nvSpPr>
        <p:spPr>
          <a:xfrm>
            <a:off x="10441900" y="6461760"/>
            <a:ext cx="12319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04</a:t>
            </a:r>
            <a:endParaRPr lang="en-US" sz="720" dirty="0"/>
          </a:p>
        </p:txBody>
      </p:sp>
      <p:sp>
        <p:nvSpPr>
          <p:cNvPr id="39" name="reveal-1:5:text">
            <a:extLst>
              <a:ext uri="{FF2B5EF4-FFF2-40B4-BE49-F238E27FC236}">
                <a16:creationId xmlns:a16="http://schemas.microsoft.com/office/drawing/2014/main" id="{331D5248-8C74-A1DD-589D-B0FEC9852322}"/>
              </a:ext>
            </a:extLst>
          </p:cNvPr>
          <p:cNvSpPr/>
          <p:nvPr/>
        </p:nvSpPr>
        <p:spPr>
          <a:xfrm>
            <a:off x="3461862" y="5686247"/>
            <a:ext cx="4633703" cy="311824"/>
          </a:xfrm>
          <a:prstGeom prst="rect">
            <a:avLst/>
          </a:prstGeom>
          <a:noFill/>
          <a:ln/>
        </p:spPr>
        <p:txBody>
          <a:bodyPr wrap="none" lIns="0" tIns="0" rIns="0" bIns="0" rtlCol="0" anchor="ctr"/>
          <a:lstStyle/>
          <a:p>
            <a:pPr marL="0" indent="0" algn="l">
              <a:buNone/>
            </a:pPr>
            <a:r>
              <a:rPr lang="en-US" sz="1560" b="1" dirty="0">
                <a:solidFill>
                  <a:srgbClr val="DEDEDE"/>
                </a:solidFill>
                <a:latin typeface="Arial" pitchFamily="34" charset="0"/>
                <a:ea typeface="Arial" pitchFamily="34" charset="-122"/>
                <a:cs typeface="Arial" pitchFamily="34" charset="-120"/>
              </a:rPr>
              <a:t>Or a model which can decide on the fly?</a:t>
            </a:r>
            <a:endParaRPr lang="en-US" sz="156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Demo 1 - Foundry Model Comparison">
    <p:spTree>
      <p:nvGrpSpPr>
        <p:cNvPr id="1" name=""/>
        <p:cNvGrpSpPr/>
        <p:nvPr/>
      </p:nvGrpSpPr>
      <p:grpSpPr>
        <a:xfrm>
          <a:off x="0" y="0"/>
          <a:ext cx="0" cy="0"/>
          <a:chOff x="0" y="0"/>
          <a:chExt cx="0" cy="0"/>
        </a:xfrm>
      </p:grpSpPr>
      <p:sp>
        <p:nvSpPr>
          <p:cNvPr id="2" name="static:0:text"/>
          <p:cNvSpPr/>
          <p:nvPr/>
        </p:nvSpPr>
        <p:spPr>
          <a:xfrm>
            <a:off x="975360" y="2343626"/>
            <a:ext cx="788432"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1</a:t>
            </a:r>
            <a:endParaRPr lang="en-US" sz="1200" dirty="0"/>
          </a:p>
        </p:txBody>
      </p:sp>
      <p:sp>
        <p:nvSpPr>
          <p:cNvPr id="3" name="static:1:text"/>
          <p:cNvSpPr/>
          <p:nvPr/>
        </p:nvSpPr>
        <p:spPr>
          <a:xfrm>
            <a:off x="975360" y="2640806"/>
            <a:ext cx="625716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Foundry Model Comparison</a:t>
            </a:r>
            <a:endParaRPr lang="en-US" sz="4080" dirty="0"/>
          </a:p>
        </p:txBody>
      </p:sp>
      <p:sp>
        <p:nvSpPr>
          <p:cNvPr id="4" name="static:2:text"/>
          <p:cNvSpPr/>
          <p:nvPr/>
        </p:nvSpPr>
        <p:spPr>
          <a:xfrm>
            <a:off x="975360" y="3387566"/>
            <a:ext cx="5726549"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fixed models and Model Router, then choose a starting</a:t>
            </a:r>
            <a:endParaRPr lang="en-US" sz="1620" dirty="0"/>
          </a:p>
        </p:txBody>
      </p:sp>
      <p:sp>
        <p:nvSpPr>
          <p:cNvPr id="5" name="static:3:text"/>
          <p:cNvSpPr/>
          <p:nvPr/>
        </p:nvSpPr>
        <p:spPr>
          <a:xfrm>
            <a:off x="975360" y="3665220"/>
            <a:ext cx="130861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44282" y="6461760"/>
            <a:ext cx="122955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05</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Grounding">
    <p:spTree>
      <p:nvGrpSpPr>
        <p:cNvPr id="1" name=""/>
        <p:cNvGrpSpPr/>
        <p:nvPr/>
      </p:nvGrpSpPr>
      <p:grpSpPr>
        <a:xfrm>
          <a:off x="0" y="0"/>
          <a:ext cx="0" cy="0"/>
          <a:chOff x="0" y="0"/>
          <a:chExt cx="0" cy="0"/>
        </a:xfrm>
      </p:grpSpPr>
      <p:sp>
        <p:nvSpPr>
          <p:cNvPr id="2" name="static:0:text"/>
          <p:cNvSpPr/>
          <p:nvPr/>
        </p:nvSpPr>
        <p:spPr>
          <a:xfrm>
            <a:off x="2727960" y="870109"/>
            <a:ext cx="1215033" cy="152400"/>
          </a:xfrm>
          <a:prstGeom prst="rect">
            <a:avLst/>
          </a:prstGeom>
          <a:noFill/>
          <a:ln/>
        </p:spPr>
        <p:txBody>
          <a:bodyPr wrap="none" lIns="0" tIns="0" rIns="0" bIns="0" rtlCol="0" anchor="ctr"/>
          <a:lstStyle/>
          <a:p>
            <a:pPr marL="0" indent="0" algn="l">
              <a:buNone/>
            </a:pPr>
            <a:r>
              <a:rPr lang="en-US" sz="960" b="1" kern="0" spc="154" dirty="0">
                <a:solidFill>
                  <a:srgbClr val="FBBF24"/>
                </a:solidFill>
                <a:latin typeface="Arial" pitchFamily="34" charset="0"/>
                <a:ea typeface="Arial" pitchFamily="34" charset="-122"/>
                <a:cs typeface="Arial" pitchFamily="34" charset="-120"/>
              </a:rPr>
              <a:t>MICROSOFT IQ</a:t>
            </a:r>
            <a:endParaRPr lang="en-US" sz="960" dirty="0"/>
          </a:p>
        </p:txBody>
      </p:sp>
      <p:sp>
        <p:nvSpPr>
          <p:cNvPr id="3" name="static:1:text"/>
          <p:cNvSpPr/>
          <p:nvPr/>
        </p:nvSpPr>
        <p:spPr>
          <a:xfrm>
            <a:off x="975360" y="1068229"/>
            <a:ext cx="163101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Grounding</a:t>
            </a:r>
            <a:endParaRPr lang="en-US" sz="2640" dirty="0"/>
          </a:p>
        </p:txBody>
      </p:sp>
      <p:grpSp>
        <p:nvGrpSpPr>
          <p:cNvPr id="38"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7" name="reveal-1:4:text"/>
            <p:cNvSpPr/>
            <p:nvPr/>
          </p:nvSpPr>
          <p:spPr>
            <a:xfrm>
              <a:off x="1265873" y="2207419"/>
              <a:ext cx="333256"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FIQ</a:t>
              </a:r>
              <a:endParaRPr lang="en-US" sz="1200" dirty="0"/>
            </a:p>
          </p:txBody>
        </p:sp>
        <p:sp>
          <p:nvSpPr>
            <p:cNvPr id="8" name="reveal-1:5:text"/>
            <p:cNvSpPr/>
            <p:nvPr/>
          </p:nvSpPr>
          <p:spPr>
            <a:xfrm>
              <a:off x="1181100" y="2698909"/>
              <a:ext cx="1185148"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Foundry IQ</a:t>
              </a:r>
              <a:endParaRPr lang="en-US" sz="1680" dirty="0"/>
            </a:p>
          </p:txBody>
        </p:sp>
        <p:sp>
          <p:nvSpPr>
            <p:cNvPr id="9" name="reveal-1:6:text"/>
            <p:cNvSpPr/>
            <p:nvPr/>
          </p:nvSpPr>
          <p:spPr>
            <a:xfrm>
              <a:off x="1181100" y="3047881"/>
              <a:ext cx="269045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Institutional knowledge and authoritative</a:t>
              </a:r>
              <a:endParaRPr lang="en-US" sz="1140" dirty="0"/>
            </a:p>
          </p:txBody>
        </p:sp>
        <p:sp>
          <p:nvSpPr>
            <p:cNvPr id="10" name="reveal-1:7:text"/>
            <p:cNvSpPr/>
            <p:nvPr/>
          </p:nvSpPr>
          <p:spPr>
            <a:xfrm>
              <a:off x="1181100" y="3243263"/>
              <a:ext cx="62293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content.</a:t>
              </a:r>
              <a:endParaRPr lang="en-US" sz="1140" dirty="0"/>
            </a:p>
          </p:txBody>
        </p:sp>
        <p:sp>
          <p:nvSpPr>
            <p:cNvPr id="11" name="reveal-1:8:shape"/>
            <p:cNvSpPr/>
            <p:nvPr/>
          </p:nvSpPr>
          <p:spPr>
            <a:xfrm>
              <a:off x="11811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03037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Policies, procedures and reference</a:t>
              </a:r>
              <a:endParaRPr lang="en-US" sz="900" dirty="0"/>
            </a:p>
          </p:txBody>
        </p:sp>
        <p:sp>
          <p:nvSpPr>
            <p:cNvPr id="13" name="reveal-1:10:text"/>
            <p:cNvSpPr/>
            <p:nvPr/>
          </p:nvSpPr>
          <p:spPr>
            <a:xfrm>
              <a:off x="1287780" y="3884414"/>
              <a:ext cx="75580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documents.</a:t>
              </a:r>
              <a:endParaRPr lang="en-US" sz="900" dirty="0"/>
            </a:p>
          </p:txBody>
        </p:sp>
        <p:sp>
          <p:nvSpPr>
            <p:cNvPr id="14" name="reveal-1:11:text"/>
            <p:cNvSpPr/>
            <p:nvPr/>
          </p:nvSpPr>
          <p:spPr>
            <a:xfrm>
              <a:off x="1287780" y="4071104"/>
              <a:ext cx="148149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CONNECTED IN THIS DEMO</a:t>
              </a:r>
              <a:endParaRPr lang="en-US" sz="720" dirty="0"/>
            </a:p>
          </p:txBody>
        </p:sp>
      </p:grpSp>
      <p:grpSp>
        <p:nvGrpSpPr>
          <p:cNvPr id="39" name="Reveal 2"/>
          <p:cNvGrpSpPr/>
          <p:nvPr/>
        </p:nvGrpSpPr>
        <p:grpSpPr>
          <a:xfrm>
            <a:off x="4348401" y="1868329"/>
            <a:ext cx="3220760" cy="3791902"/>
            <a:chOff x="4348401" y="1868329"/>
            <a:chExt cx="3220760" cy="3791902"/>
          </a:xfrm>
        </p:grpSpPr>
        <p:sp>
          <p:nvSpPr>
            <p:cNvPr id="15" name="reveal-2:12: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6" name="reveal-2:12: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7" name="reveal-2:13: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8" name="reveal-2:14:text"/>
            <p:cNvSpPr/>
            <p:nvPr/>
          </p:nvSpPr>
          <p:spPr>
            <a:xfrm>
              <a:off x="4631174" y="2207419"/>
              <a:ext cx="348734"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BIQ</a:t>
              </a:r>
              <a:endParaRPr lang="en-US" sz="1200" dirty="0"/>
            </a:p>
          </p:txBody>
        </p:sp>
        <p:sp>
          <p:nvSpPr>
            <p:cNvPr id="19" name="reveal-2:15:text"/>
            <p:cNvSpPr/>
            <p:nvPr/>
          </p:nvSpPr>
          <p:spPr>
            <a:xfrm>
              <a:off x="4554141" y="2698909"/>
              <a:ext cx="97857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Fabric IQ</a:t>
              </a:r>
              <a:endParaRPr lang="en-US" sz="1680" dirty="0"/>
            </a:p>
          </p:txBody>
        </p:sp>
        <p:sp>
          <p:nvSpPr>
            <p:cNvPr id="20" name="reveal-2:16:text"/>
            <p:cNvSpPr/>
            <p:nvPr/>
          </p:nvSpPr>
          <p:spPr>
            <a:xfrm>
              <a:off x="4554141" y="3047881"/>
              <a:ext cx="260973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Governed business entities and current</a:t>
              </a:r>
              <a:endParaRPr lang="en-US" sz="1140" dirty="0"/>
            </a:p>
          </p:txBody>
        </p:sp>
        <p:sp>
          <p:nvSpPr>
            <p:cNvPr id="21" name="reveal-2:17:text"/>
            <p:cNvSpPr/>
            <p:nvPr/>
          </p:nvSpPr>
          <p:spPr>
            <a:xfrm>
              <a:off x="4554141" y="3243263"/>
              <a:ext cx="105644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business state.</a:t>
              </a:r>
              <a:endParaRPr lang="en-US" sz="1140" dirty="0"/>
            </a:p>
          </p:txBody>
        </p:sp>
        <p:sp>
          <p:nvSpPr>
            <p:cNvPr id="22" name="reveal-2:18:shape"/>
            <p:cNvSpPr/>
            <p:nvPr/>
          </p:nvSpPr>
          <p:spPr>
            <a:xfrm>
              <a:off x="4554141" y="3652004"/>
              <a:ext cx="2809280"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23" name="reveal-2:19:text"/>
            <p:cNvSpPr/>
            <p:nvPr/>
          </p:nvSpPr>
          <p:spPr>
            <a:xfrm>
              <a:off x="4660821" y="3735824"/>
              <a:ext cx="2595086"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Spend so far, remaining budget and business</a:t>
              </a:r>
              <a:endParaRPr lang="en-US" sz="900" dirty="0"/>
            </a:p>
          </p:txBody>
        </p:sp>
        <p:sp>
          <p:nvSpPr>
            <p:cNvPr id="24" name="reveal-2:20:text"/>
            <p:cNvSpPr/>
            <p:nvPr/>
          </p:nvSpPr>
          <p:spPr>
            <a:xfrm>
              <a:off x="4660821" y="3884414"/>
              <a:ext cx="5594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records.</a:t>
              </a:r>
              <a:endParaRPr lang="en-US" sz="900" dirty="0"/>
            </a:p>
          </p:txBody>
        </p:sp>
        <p:sp>
          <p:nvSpPr>
            <p:cNvPr id="25" name="reveal-2:21:text"/>
            <p:cNvSpPr/>
            <p:nvPr/>
          </p:nvSpPr>
          <p:spPr>
            <a:xfrm>
              <a:off x="4660821" y="4071104"/>
              <a:ext cx="21652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CONCEPTUAL / NOT USED IN THIS DEMO</a:t>
              </a:r>
              <a:endParaRPr lang="en-US" sz="720" dirty="0"/>
            </a:p>
          </p:txBody>
        </p:sp>
      </p:grpSp>
      <p:grpSp>
        <p:nvGrpSpPr>
          <p:cNvPr id="41" name="Group 40">
            <a:extLst>
              <a:ext uri="{FF2B5EF4-FFF2-40B4-BE49-F238E27FC236}">
                <a16:creationId xmlns:a16="http://schemas.microsoft.com/office/drawing/2014/main" id="{AE4E581A-2C22-B249-A8A6-1CDB33248A80}"/>
              </a:ext>
            </a:extLst>
          </p:cNvPr>
          <p:cNvGrpSpPr/>
          <p:nvPr/>
        </p:nvGrpSpPr>
        <p:grpSpPr>
          <a:xfrm>
            <a:off x="7721560" y="1868329"/>
            <a:ext cx="3220641" cy="3791902"/>
            <a:chOff x="7721560" y="1868329"/>
            <a:chExt cx="3220641" cy="3791902"/>
          </a:xfrm>
        </p:grpSpPr>
        <p:sp>
          <p:nvSpPr>
            <p:cNvPr id="26" name="reveal-3:22: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7" name="reveal-3:22: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8" name="reveal-3:23: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9" name="reveal-3:24:text"/>
            <p:cNvSpPr/>
            <p:nvPr/>
          </p:nvSpPr>
          <p:spPr>
            <a:xfrm>
              <a:off x="7979926" y="2207419"/>
              <a:ext cx="397550"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WIQ</a:t>
              </a:r>
              <a:endParaRPr lang="en-US" sz="1200" dirty="0"/>
            </a:p>
          </p:txBody>
        </p:sp>
        <p:sp>
          <p:nvSpPr>
            <p:cNvPr id="30" name="reveal-3:25:text"/>
            <p:cNvSpPr/>
            <p:nvPr/>
          </p:nvSpPr>
          <p:spPr>
            <a:xfrm>
              <a:off x="7927300" y="2698909"/>
              <a:ext cx="87915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Work IQ</a:t>
              </a:r>
              <a:endParaRPr lang="en-US" sz="1680" dirty="0"/>
            </a:p>
          </p:txBody>
        </p:sp>
        <p:sp>
          <p:nvSpPr>
            <p:cNvPr id="31" name="reveal-3:26:text"/>
            <p:cNvSpPr/>
            <p:nvPr/>
          </p:nvSpPr>
          <p:spPr>
            <a:xfrm>
              <a:off x="7927300" y="3047881"/>
              <a:ext cx="288988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People, collaboration and workflow context.</a:t>
              </a:r>
              <a:endParaRPr lang="en-US" sz="1140" dirty="0"/>
            </a:p>
          </p:txBody>
        </p:sp>
        <p:sp>
          <p:nvSpPr>
            <p:cNvPr id="32" name="reveal-3:27:shape"/>
            <p:cNvSpPr/>
            <p:nvPr/>
          </p:nvSpPr>
          <p:spPr>
            <a:xfrm>
              <a:off x="7927300" y="3652004"/>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3" name="reveal-3:28:text"/>
            <p:cNvSpPr/>
            <p:nvPr/>
          </p:nvSpPr>
          <p:spPr>
            <a:xfrm>
              <a:off x="8033980" y="3735824"/>
              <a:ext cx="212812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Recent decisions, conversations and</a:t>
              </a:r>
              <a:endParaRPr lang="en-US" sz="900" dirty="0"/>
            </a:p>
          </p:txBody>
        </p:sp>
        <p:sp>
          <p:nvSpPr>
            <p:cNvPr id="34" name="reveal-3:29:text"/>
            <p:cNvSpPr/>
            <p:nvPr/>
          </p:nvSpPr>
          <p:spPr>
            <a:xfrm>
              <a:off x="8033980" y="3884414"/>
              <a:ext cx="67591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approvals.</a:t>
              </a:r>
              <a:endParaRPr lang="en-US" sz="900" dirty="0"/>
            </a:p>
          </p:txBody>
        </p:sp>
        <p:sp>
          <p:nvSpPr>
            <p:cNvPr id="35" name="reveal-3:30:text"/>
            <p:cNvSpPr/>
            <p:nvPr/>
          </p:nvSpPr>
          <p:spPr>
            <a:xfrm>
              <a:off x="8033980" y="4071104"/>
              <a:ext cx="220718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SYNTHETIC EMAIL VIA SAMPLE ADAPTER</a:t>
              </a:r>
              <a:endParaRPr lang="en-US" sz="720" dirty="0"/>
            </a:p>
          </p:txBody>
        </p:sp>
      </p:grpSp>
      <p:sp>
        <p:nvSpPr>
          <p:cNvPr id="36" name="static:31: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7" name="static:32: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06</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Demo 2 - Run the Starting Agent">
    <p:spTree>
      <p:nvGrpSpPr>
        <p:cNvPr id="1" name=""/>
        <p:cNvGrpSpPr/>
        <p:nvPr/>
      </p:nvGrpSpPr>
      <p:grpSpPr>
        <a:xfrm>
          <a:off x="0" y="0"/>
          <a:ext cx="0" cy="0"/>
          <a:chOff x="0" y="0"/>
          <a:chExt cx="0" cy="0"/>
        </a:xfrm>
      </p:grpSpPr>
      <p:sp>
        <p:nvSpPr>
          <p:cNvPr id="2" name="static:0:text"/>
          <p:cNvSpPr/>
          <p:nvPr/>
        </p:nvSpPr>
        <p:spPr>
          <a:xfrm>
            <a:off x="975360" y="2343626"/>
            <a:ext cx="807839" cy="190500"/>
          </a:xfrm>
          <a:prstGeom prst="rect">
            <a:avLst/>
          </a:prstGeom>
          <a:noFill/>
          <a:ln/>
        </p:spPr>
        <p:txBody>
          <a:bodyPr wrap="none" lIns="0" tIns="0" rIns="0" bIns="0" rtlCol="0" anchor="ctr"/>
          <a:lstStyle/>
          <a:p>
            <a:pPr marL="0" indent="0" algn="l">
              <a:buNone/>
            </a:pPr>
            <a:r>
              <a:rPr lang="en-US" sz="1200" b="1" kern="0" spc="180" dirty="0">
                <a:solidFill>
                  <a:srgbClr val="FBBF24"/>
                </a:solidFill>
                <a:latin typeface="Arial" pitchFamily="34" charset="0"/>
                <a:ea typeface="Arial" pitchFamily="34" charset="-122"/>
                <a:cs typeface="Arial" pitchFamily="34" charset="-120"/>
              </a:rPr>
              <a:t>DEMO 2</a:t>
            </a:r>
            <a:endParaRPr lang="en-US" sz="1200" dirty="0"/>
          </a:p>
        </p:txBody>
      </p:sp>
      <p:sp>
        <p:nvSpPr>
          <p:cNvPr id="3" name="static:1:text"/>
          <p:cNvSpPr/>
          <p:nvPr/>
        </p:nvSpPr>
        <p:spPr>
          <a:xfrm>
            <a:off x="975360" y="2640806"/>
            <a:ext cx="512904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Run the Starting Agent</a:t>
            </a:r>
            <a:endParaRPr lang="en-US" sz="4080" dirty="0"/>
          </a:p>
        </p:txBody>
      </p:sp>
      <p:sp>
        <p:nvSpPr>
          <p:cNvPr id="4" name="static:2:text"/>
          <p:cNvSpPr/>
          <p:nvPr/>
        </p:nvSpPr>
        <p:spPr>
          <a:xfrm>
            <a:off x="975360" y="3387566"/>
            <a:ext cx="627507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Ask the purchasing question, explore its sources and save the baseline</a:t>
            </a:r>
            <a:endParaRPr lang="en-US" sz="1620" dirty="0"/>
          </a:p>
        </p:txBody>
      </p:sp>
      <p:sp>
        <p:nvSpPr>
          <p:cNvPr id="5" name="static:3:text"/>
          <p:cNvSpPr/>
          <p:nvPr/>
        </p:nvSpPr>
        <p:spPr>
          <a:xfrm>
            <a:off x="975360" y="3665220"/>
            <a:ext cx="42743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run.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0473" y="6461760"/>
            <a:ext cx="1223367"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07</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Observe">
    <p:spTree>
      <p:nvGrpSpPr>
        <p:cNvPr id="1" name=""/>
        <p:cNvGrpSpPr/>
        <p:nvPr/>
      </p:nvGrpSpPr>
      <p:grpSpPr>
        <a:xfrm>
          <a:off x="0" y="0"/>
          <a:ext cx="0" cy="0"/>
          <a:chOff x="0" y="0"/>
          <a:chExt cx="0" cy="0"/>
        </a:xfrm>
      </p:grpSpPr>
      <p:sp>
        <p:nvSpPr>
          <p:cNvPr id="2" name="static:0:text"/>
          <p:cNvSpPr/>
          <p:nvPr/>
        </p:nvSpPr>
        <p:spPr>
          <a:xfrm>
            <a:off x="2727960" y="870109"/>
            <a:ext cx="1305997"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OBSERVABILITY</a:t>
            </a:r>
            <a:endParaRPr lang="en-US" sz="960" dirty="0"/>
          </a:p>
        </p:txBody>
      </p:sp>
      <p:sp>
        <p:nvSpPr>
          <p:cNvPr id="3" name="static:1:text"/>
          <p:cNvSpPr/>
          <p:nvPr/>
        </p:nvSpPr>
        <p:spPr>
          <a:xfrm>
            <a:off x="975360" y="1068229"/>
            <a:ext cx="133383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Observe</a:t>
            </a:r>
            <a:endParaRPr lang="en-US" sz="2640" dirty="0"/>
          </a:p>
        </p:txBody>
      </p:sp>
      <p:grpSp>
        <p:nvGrpSpPr>
          <p:cNvPr id="31"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587454"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Calls</a:t>
              </a:r>
              <a:endParaRPr lang="en-US" sz="1680" dirty="0"/>
            </a:p>
          </p:txBody>
        </p:sp>
        <p:sp>
          <p:nvSpPr>
            <p:cNvPr id="9" name="reveal-1:6:text"/>
            <p:cNvSpPr/>
            <p:nvPr/>
          </p:nvSpPr>
          <p:spPr>
            <a:xfrm>
              <a:off x="1181100" y="3047881"/>
              <a:ext cx="2065139"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Follow LLM calls and tool calls.</a:t>
              </a:r>
              <a:endParaRPr lang="en-US" sz="1140" dirty="0"/>
            </a:p>
          </p:txBody>
        </p:sp>
        <p:sp>
          <p:nvSpPr>
            <p:cNvPr id="10" name="reveal-1:7:shape"/>
            <p:cNvSpPr/>
            <p:nvPr/>
          </p:nvSpPr>
          <p:spPr>
            <a:xfrm>
              <a:off x="11811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1" name="reveal-1:8:text"/>
            <p:cNvSpPr/>
            <p:nvPr/>
          </p:nvSpPr>
          <p:spPr>
            <a:xfrm>
              <a:off x="1287780" y="3540443"/>
              <a:ext cx="2099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was called, and in what order?</a:t>
              </a:r>
              <a:endParaRPr lang="en-US" sz="900" dirty="0"/>
            </a:p>
          </p:txBody>
        </p:sp>
      </p:grpSp>
      <p:grpSp>
        <p:nvGrpSpPr>
          <p:cNvPr id="32" name="Reveal 2"/>
          <p:cNvGrpSpPr/>
          <p:nvPr/>
        </p:nvGrpSpPr>
        <p:grpSpPr>
          <a:xfrm>
            <a:off x="4348401" y="1868329"/>
            <a:ext cx="3220760" cy="3791902"/>
            <a:chOff x="4348401" y="1868329"/>
            <a:chExt cx="3220760" cy="3791902"/>
          </a:xfrm>
        </p:grpSpPr>
        <p:sp>
          <p:nvSpPr>
            <p:cNvPr id="12" name="reveal-2:9: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3" name="reveal-2:9: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4" name="reveal-2:10: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5" name="reveal-2:11: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6" name="reveal-2:12:text"/>
            <p:cNvSpPr/>
            <p:nvPr/>
          </p:nvSpPr>
          <p:spPr>
            <a:xfrm>
              <a:off x="4554141" y="2698909"/>
              <a:ext cx="174295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Inputs &amp; outputs</a:t>
              </a:r>
              <a:endParaRPr lang="en-US" sz="1680" dirty="0"/>
            </a:p>
          </p:txBody>
        </p:sp>
        <p:sp>
          <p:nvSpPr>
            <p:cNvPr id="17" name="reveal-2:13:text"/>
            <p:cNvSpPr/>
            <p:nvPr/>
          </p:nvSpPr>
          <p:spPr>
            <a:xfrm>
              <a:off x="4554141" y="3047881"/>
              <a:ext cx="27739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Inspect captured prompts, responses and</a:t>
              </a:r>
              <a:endParaRPr lang="en-US" sz="1140" dirty="0"/>
            </a:p>
          </p:txBody>
        </p:sp>
        <p:sp>
          <p:nvSpPr>
            <p:cNvPr id="18" name="reveal-2:14:text"/>
            <p:cNvSpPr/>
            <p:nvPr/>
          </p:nvSpPr>
          <p:spPr>
            <a:xfrm>
              <a:off x="4554141" y="3243263"/>
              <a:ext cx="7121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evidence.</a:t>
              </a:r>
              <a:endParaRPr lang="en-US" sz="1140" dirty="0"/>
            </a:p>
          </p:txBody>
        </p:sp>
        <p:sp>
          <p:nvSpPr>
            <p:cNvPr id="19" name="reveal-2:15: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0" name="reveal-2:16:text"/>
            <p:cNvSpPr/>
            <p:nvPr/>
          </p:nvSpPr>
          <p:spPr>
            <a:xfrm>
              <a:off x="4660821" y="3735824"/>
              <a:ext cx="263247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What information passed between each step?</a:t>
              </a:r>
              <a:endParaRPr lang="en-US" sz="900" dirty="0"/>
            </a:p>
          </p:txBody>
        </p:sp>
      </p:grpSp>
      <p:grpSp>
        <p:nvGrpSpPr>
          <p:cNvPr id="33" name="Reveal 3"/>
          <p:cNvGrpSpPr/>
          <p:nvPr/>
        </p:nvGrpSpPr>
        <p:grpSpPr>
          <a:xfrm>
            <a:off x="7721560" y="1868329"/>
            <a:ext cx="3220641" cy="3791902"/>
            <a:chOff x="7721560" y="1868329"/>
            <a:chExt cx="3220641" cy="3791902"/>
          </a:xfrm>
        </p:grpSpPr>
        <p:sp>
          <p:nvSpPr>
            <p:cNvPr id="21" name="reveal-3:17: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2" name="reveal-3:17: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3" name="reveal-3:18: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4" name="reveal-3:19: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5" name="reveal-3:20:text"/>
            <p:cNvSpPr/>
            <p:nvPr/>
          </p:nvSpPr>
          <p:spPr>
            <a:xfrm>
              <a:off x="7927300" y="2698909"/>
              <a:ext cx="76902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Timing</a:t>
              </a:r>
              <a:endParaRPr lang="en-US" sz="1680" dirty="0"/>
            </a:p>
          </p:txBody>
        </p:sp>
        <p:sp>
          <p:nvSpPr>
            <p:cNvPr id="26" name="reveal-3:21:text"/>
            <p:cNvSpPr/>
            <p:nvPr/>
          </p:nvSpPr>
          <p:spPr>
            <a:xfrm>
              <a:off x="7927300" y="3047881"/>
              <a:ext cx="195834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See the duration of each call.</a:t>
              </a:r>
              <a:endParaRPr lang="en-US" sz="1140" dirty="0"/>
            </a:p>
          </p:txBody>
        </p:sp>
        <p:sp>
          <p:nvSpPr>
            <p:cNvPr id="27" name="reveal-3:22:shape"/>
            <p:cNvSpPr/>
            <p:nvPr/>
          </p:nvSpPr>
          <p:spPr>
            <a:xfrm>
              <a:off x="7927300" y="3456623"/>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8" name="reveal-3:23:text"/>
            <p:cNvSpPr/>
            <p:nvPr/>
          </p:nvSpPr>
          <p:spPr>
            <a:xfrm>
              <a:off x="8033980" y="3540443"/>
              <a:ext cx="2094428"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Where did the agent spend its time?</a:t>
              </a:r>
              <a:endParaRPr lang="en-US" sz="900" dirty="0"/>
            </a:p>
          </p:txBody>
        </p:sp>
      </p:grpSp>
      <p:sp>
        <p:nvSpPr>
          <p:cNvPr id="29" name="static:2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0" name="static:25:text"/>
          <p:cNvSpPr/>
          <p:nvPr/>
        </p:nvSpPr>
        <p:spPr>
          <a:xfrm>
            <a:off x="7394377" y="6461760"/>
            <a:ext cx="123146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08</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Demo 3 - Inspect the Trace">
    <p:spTree>
      <p:nvGrpSpPr>
        <p:cNvPr id="1" name=""/>
        <p:cNvGrpSpPr/>
        <p:nvPr/>
      </p:nvGrpSpPr>
      <p:grpSpPr>
        <a:xfrm>
          <a:off x="0" y="0"/>
          <a:ext cx="0" cy="0"/>
          <a:chOff x="0" y="0"/>
          <a:chExt cx="0" cy="0"/>
        </a:xfrm>
      </p:grpSpPr>
      <p:sp>
        <p:nvSpPr>
          <p:cNvPr id="2" name="static:0:text"/>
          <p:cNvSpPr/>
          <p:nvPr/>
        </p:nvSpPr>
        <p:spPr>
          <a:xfrm>
            <a:off x="975360" y="2482453"/>
            <a:ext cx="812006"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3</a:t>
            </a:r>
            <a:endParaRPr lang="en-US" sz="1200" dirty="0"/>
          </a:p>
        </p:txBody>
      </p:sp>
      <p:sp>
        <p:nvSpPr>
          <p:cNvPr id="3" name="static:1:text"/>
          <p:cNvSpPr/>
          <p:nvPr/>
        </p:nvSpPr>
        <p:spPr>
          <a:xfrm>
            <a:off x="975360" y="2779633"/>
            <a:ext cx="3926753"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Inspect the Trace</a:t>
            </a:r>
            <a:endParaRPr lang="en-US" sz="4080" dirty="0"/>
          </a:p>
        </p:txBody>
      </p:sp>
      <p:sp>
        <p:nvSpPr>
          <p:cNvPr id="4" name="static:2:text"/>
          <p:cNvSpPr/>
          <p:nvPr/>
        </p:nvSpPr>
        <p:spPr>
          <a:xfrm>
            <a:off x="975360" y="3526393"/>
            <a:ext cx="5107900"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calls, evidence and timings behind the answer.</a:t>
            </a:r>
            <a:endParaRPr lang="en-US" sz="1620" dirty="0"/>
          </a:p>
        </p:txBody>
      </p:sp>
      <p:sp>
        <p:nvSpPr>
          <p:cNvPr id="5" name="static:3: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6" name="static:4:text"/>
          <p:cNvSpPr/>
          <p:nvPr/>
        </p:nvSpPr>
        <p:spPr>
          <a:xfrm>
            <a:off x="10442615" y="6461760"/>
            <a:ext cx="1231225"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09</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Evaluate">
    <p:spTree>
      <p:nvGrpSpPr>
        <p:cNvPr id="1" name=""/>
        <p:cNvGrpSpPr/>
        <p:nvPr/>
      </p:nvGrpSpPr>
      <p:grpSpPr>
        <a:xfrm>
          <a:off x="0" y="0"/>
          <a:ext cx="0" cy="0"/>
          <a:chOff x="0" y="0"/>
          <a:chExt cx="0" cy="0"/>
        </a:xfrm>
      </p:grpSpPr>
      <p:sp>
        <p:nvSpPr>
          <p:cNvPr id="2" name="static:0:text"/>
          <p:cNvSpPr/>
          <p:nvPr/>
        </p:nvSpPr>
        <p:spPr>
          <a:xfrm>
            <a:off x="2727960" y="870109"/>
            <a:ext cx="3464719" cy="152400"/>
          </a:xfrm>
          <a:prstGeom prst="rect">
            <a:avLst/>
          </a:prstGeom>
          <a:noFill/>
          <a:ln/>
        </p:spPr>
        <p:txBody>
          <a:bodyPr wrap="none" lIns="0" tIns="0" rIns="0" bIns="0" rtlCol="0" anchor="ctr"/>
          <a:lstStyle/>
          <a:p>
            <a:pPr marL="0" indent="0" algn="l">
              <a:buNone/>
            </a:pPr>
            <a:r>
              <a:rPr lang="en-US" sz="960" b="1" kern="0" spc="154" dirty="0">
                <a:solidFill>
                  <a:srgbClr val="4ADE80"/>
                </a:solidFill>
                <a:latin typeface="Arial" pitchFamily="34" charset="0"/>
                <a:ea typeface="Arial" pitchFamily="34" charset="-122"/>
                <a:cs typeface="Arial" pitchFamily="34" charset="-120"/>
              </a:rPr>
              <a:t>CONSISTENCY ACROSS PURCHASING TASKS</a:t>
            </a:r>
            <a:endParaRPr lang="en-US" sz="960" dirty="0"/>
          </a:p>
        </p:txBody>
      </p:sp>
      <p:sp>
        <p:nvSpPr>
          <p:cNvPr id="3" name="static:1:text"/>
          <p:cNvSpPr/>
          <p:nvPr/>
        </p:nvSpPr>
        <p:spPr>
          <a:xfrm>
            <a:off x="975360" y="1068229"/>
            <a:ext cx="1338596"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Evaluate</a:t>
            </a:r>
            <a:endParaRPr lang="en-US" sz="2640" dirty="0"/>
          </a:p>
        </p:txBody>
      </p:sp>
      <p:grpSp>
        <p:nvGrpSpPr>
          <p:cNvPr id="37"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7" name="reveal-1:4:text"/>
            <p:cNvSpPr/>
            <p:nvPr/>
          </p:nvSpPr>
          <p:spPr>
            <a:xfrm>
              <a:off x="1332071" y="2207419"/>
              <a:ext cx="200858"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G</a:t>
              </a:r>
              <a:endParaRPr lang="en-US" sz="1200" dirty="0"/>
            </a:p>
          </p:txBody>
        </p:sp>
        <p:sp>
          <p:nvSpPr>
            <p:cNvPr id="8" name="reveal-1:5:text"/>
            <p:cNvSpPr/>
            <p:nvPr/>
          </p:nvSpPr>
          <p:spPr>
            <a:xfrm>
              <a:off x="1181100" y="2698909"/>
              <a:ext cx="155733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Groundedness</a:t>
              </a:r>
              <a:endParaRPr lang="en-US" sz="1680" dirty="0"/>
            </a:p>
          </p:txBody>
        </p:sp>
        <p:sp>
          <p:nvSpPr>
            <p:cNvPr id="9" name="reveal-1:6:text"/>
            <p:cNvSpPr/>
            <p:nvPr/>
          </p:nvSpPr>
          <p:spPr>
            <a:xfrm>
              <a:off x="1181100" y="3285649"/>
              <a:ext cx="266152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Is the answer supported by the supplied</a:t>
              </a:r>
              <a:endParaRPr lang="en-US" sz="1140" dirty="0"/>
            </a:p>
          </p:txBody>
        </p:sp>
        <p:sp>
          <p:nvSpPr>
            <p:cNvPr id="10" name="reveal-1:7:text"/>
            <p:cNvSpPr/>
            <p:nvPr/>
          </p:nvSpPr>
          <p:spPr>
            <a:xfrm>
              <a:off x="1181100" y="3481030"/>
              <a:ext cx="64377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context?</a:t>
              </a:r>
              <a:endParaRPr lang="en-US" sz="1140" dirty="0"/>
            </a:p>
          </p:txBody>
        </p:sp>
        <p:sp>
          <p:nvSpPr>
            <p:cNvPr id="11" name="reveal-1:8:shape"/>
            <p:cNvSpPr/>
            <p:nvPr/>
          </p:nvSpPr>
          <p:spPr>
            <a:xfrm>
              <a:off x="1181100" y="3889772"/>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973592"/>
              <a:ext cx="2112883"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Checks claims against the evidence.</a:t>
              </a:r>
              <a:endParaRPr lang="en-US" sz="900" dirty="0"/>
            </a:p>
          </p:txBody>
        </p:sp>
        <p:sp>
          <p:nvSpPr>
            <p:cNvPr id="13" name="reveal-1:10:text"/>
            <p:cNvSpPr/>
            <p:nvPr/>
          </p:nvSpPr>
          <p:spPr>
            <a:xfrm>
              <a:off x="1287780" y="4160282"/>
              <a:ext cx="118860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BUILT-IN EVALUATOR</a:t>
              </a:r>
              <a:endParaRPr lang="en-US" sz="720" dirty="0"/>
            </a:p>
          </p:txBody>
        </p:sp>
      </p:grpSp>
      <p:grpSp>
        <p:nvGrpSpPr>
          <p:cNvPr id="38"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4DA6FF"/>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17" name="reveal-2:13:text"/>
            <p:cNvSpPr/>
            <p:nvPr/>
          </p:nvSpPr>
          <p:spPr>
            <a:xfrm>
              <a:off x="4651772" y="2207419"/>
              <a:ext cx="30753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UX</a:t>
              </a:r>
              <a:endParaRPr lang="en-US" sz="1200" dirty="0"/>
            </a:p>
          </p:txBody>
        </p:sp>
        <p:sp>
          <p:nvSpPr>
            <p:cNvPr id="18" name="reveal-2:14:text"/>
            <p:cNvSpPr/>
            <p:nvPr/>
          </p:nvSpPr>
          <p:spPr>
            <a:xfrm>
              <a:off x="4554141" y="2698909"/>
              <a:ext cx="2320528"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Customer Satisfaction</a:t>
              </a:r>
              <a:endParaRPr lang="en-US" sz="1680" dirty="0"/>
            </a:p>
          </p:txBody>
        </p:sp>
        <p:sp>
          <p:nvSpPr>
            <p:cNvPr id="19" name="reveal-2:15:text"/>
            <p:cNvSpPr/>
            <p:nvPr/>
          </p:nvSpPr>
          <p:spPr>
            <a:xfrm>
              <a:off x="4554141" y="3285649"/>
              <a:ext cx="269295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How satisfied would the user be with the</a:t>
              </a:r>
              <a:endParaRPr lang="en-US" sz="1140" dirty="0"/>
            </a:p>
          </p:txBody>
        </p:sp>
        <p:sp>
          <p:nvSpPr>
            <p:cNvPr id="20" name="reveal-2:16:text"/>
            <p:cNvSpPr/>
            <p:nvPr/>
          </p:nvSpPr>
          <p:spPr>
            <a:xfrm>
              <a:off x="4554141" y="3481030"/>
              <a:ext cx="986790"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conversation?</a:t>
              </a:r>
              <a:endParaRPr lang="en-US" sz="1140" dirty="0"/>
            </a:p>
          </p:txBody>
        </p:sp>
        <p:sp>
          <p:nvSpPr>
            <p:cNvPr id="21" name="reveal-2:17:shape"/>
            <p:cNvSpPr/>
            <p:nvPr/>
          </p:nvSpPr>
          <p:spPr>
            <a:xfrm>
              <a:off x="4554141" y="3889772"/>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973592"/>
              <a:ext cx="257925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Assesses helpfulness, clarity and resolution.</a:t>
              </a:r>
              <a:endParaRPr lang="en-US" sz="900" dirty="0"/>
            </a:p>
          </p:txBody>
        </p:sp>
        <p:sp>
          <p:nvSpPr>
            <p:cNvPr id="23" name="reveal-2:19:text"/>
            <p:cNvSpPr/>
            <p:nvPr/>
          </p:nvSpPr>
          <p:spPr>
            <a:xfrm>
              <a:off x="4660821" y="4160282"/>
              <a:ext cx="1751171"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BUILT-IN EVALUATOR / PREVIEW</a:t>
              </a:r>
              <a:endParaRPr lang="en-US" sz="720" dirty="0"/>
            </a:p>
          </p:txBody>
        </p:sp>
      </p:grpSp>
      <p:grpSp>
        <p:nvGrpSpPr>
          <p:cNvPr id="39"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7" name="reveal-3:22:text"/>
            <p:cNvSpPr/>
            <p:nvPr/>
          </p:nvSpPr>
          <p:spPr>
            <a:xfrm>
              <a:off x="8082677" y="2207419"/>
              <a:ext cx="192048"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R</a:t>
              </a:r>
              <a:endParaRPr lang="en-US" sz="1200" dirty="0"/>
            </a:p>
          </p:txBody>
        </p:sp>
        <p:sp>
          <p:nvSpPr>
            <p:cNvPr id="28" name="reveal-3:23:text"/>
            <p:cNvSpPr/>
            <p:nvPr/>
          </p:nvSpPr>
          <p:spPr>
            <a:xfrm>
              <a:off x="7927300" y="2698909"/>
              <a:ext cx="741045"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Rubric</a:t>
              </a:r>
              <a:endParaRPr lang="en-US" sz="1680" dirty="0"/>
            </a:p>
          </p:txBody>
        </p:sp>
        <p:sp>
          <p:nvSpPr>
            <p:cNvPr id="29" name="reveal-3:24:text"/>
            <p:cNvSpPr/>
            <p:nvPr/>
          </p:nvSpPr>
          <p:spPr>
            <a:xfrm>
              <a:off x="7927300" y="3285649"/>
              <a:ext cx="2825115"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Does the answer meet the requirements of</a:t>
              </a:r>
              <a:endParaRPr lang="en-US" sz="1140" dirty="0"/>
            </a:p>
          </p:txBody>
        </p:sp>
        <p:sp>
          <p:nvSpPr>
            <p:cNvPr id="30" name="reveal-3:25:text"/>
            <p:cNvSpPr/>
            <p:nvPr/>
          </p:nvSpPr>
          <p:spPr>
            <a:xfrm>
              <a:off x="7927300" y="3481030"/>
              <a:ext cx="701397"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this task?</a:t>
              </a:r>
              <a:endParaRPr lang="en-US" sz="1140" dirty="0"/>
            </a:p>
          </p:txBody>
        </p:sp>
        <p:sp>
          <p:nvSpPr>
            <p:cNvPr id="31" name="reveal-3:26:shape"/>
            <p:cNvSpPr/>
            <p:nvPr/>
          </p:nvSpPr>
          <p:spPr>
            <a:xfrm>
              <a:off x="7927300" y="3889772"/>
              <a:ext cx="2809161" cy="636984"/>
            </a:xfrm>
            <a:prstGeom prst="roundRect">
              <a:avLst>
                <a:gd name="adj" fmla="val 11963"/>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973592"/>
              <a:ext cx="260615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Your criteria: approval route, expiry, citations</a:t>
              </a:r>
              <a:endParaRPr lang="en-US" sz="900" dirty="0"/>
            </a:p>
          </p:txBody>
        </p:sp>
        <p:sp>
          <p:nvSpPr>
            <p:cNvPr id="33" name="reveal-3:28:text"/>
            <p:cNvSpPr/>
            <p:nvPr/>
          </p:nvSpPr>
          <p:spPr>
            <a:xfrm>
              <a:off x="8033980" y="4122182"/>
              <a:ext cx="98429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and next action.</a:t>
              </a:r>
              <a:endParaRPr lang="en-US" sz="900" dirty="0"/>
            </a:p>
          </p:txBody>
        </p:sp>
        <p:sp>
          <p:nvSpPr>
            <p:cNvPr id="34" name="reveal-3:29:text"/>
            <p:cNvSpPr/>
            <p:nvPr/>
          </p:nvSpPr>
          <p:spPr>
            <a:xfrm>
              <a:off x="8033980" y="4308872"/>
              <a:ext cx="1616035" cy="129540"/>
            </a:xfrm>
            <a:prstGeom prst="rect">
              <a:avLst/>
            </a:prstGeom>
            <a:noFill/>
            <a:ln/>
          </p:spPr>
          <p:txBody>
            <a:bodyPr wrap="none" lIns="0" tIns="0" rIns="0" bIns="0" rtlCol="0" anchor="ctr"/>
            <a:lstStyle/>
            <a:p>
              <a:pPr marL="0" indent="0" algn="l">
                <a:buNone/>
              </a:pPr>
              <a:r>
                <a:rPr lang="en-US" sz="720" b="1" kern="0" spc="43" dirty="0">
                  <a:solidFill>
                    <a:srgbClr val="B0B0B0"/>
                  </a:solidFill>
                  <a:latin typeface="Arial" pitchFamily="34" charset="0"/>
                  <a:ea typeface="Arial" pitchFamily="34" charset="-122"/>
                  <a:cs typeface="Arial" pitchFamily="34" charset="-120"/>
                </a:rPr>
                <a:t>CUSTOM CRITERIA / PREVIEW</a:t>
              </a:r>
              <a:endParaRPr lang="en-US" sz="720" dirty="0"/>
            </a:p>
          </p:txBody>
        </p:sp>
      </p:grpSp>
      <p:sp>
        <p:nvSpPr>
          <p:cNvPr id="35" name="static:3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6" name="static:31:text"/>
          <p:cNvSpPr/>
          <p:nvPr/>
        </p:nvSpPr>
        <p:spPr>
          <a:xfrm>
            <a:off x="7410331" y="6461760"/>
            <a:ext cx="12155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10</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Demo 4 - Evaluate Across Cases">
    <p:spTree>
      <p:nvGrpSpPr>
        <p:cNvPr id="1" name=""/>
        <p:cNvGrpSpPr/>
        <p:nvPr/>
      </p:nvGrpSpPr>
      <p:grpSpPr>
        <a:xfrm>
          <a:off x="0" y="0"/>
          <a:ext cx="0" cy="0"/>
          <a:chOff x="0" y="0"/>
          <a:chExt cx="0" cy="0"/>
        </a:xfrm>
      </p:grpSpPr>
      <p:sp>
        <p:nvSpPr>
          <p:cNvPr id="2" name="static:0:text"/>
          <p:cNvSpPr/>
          <p:nvPr/>
        </p:nvSpPr>
        <p:spPr>
          <a:xfrm>
            <a:off x="975360" y="2343626"/>
            <a:ext cx="814864" cy="190500"/>
          </a:xfrm>
          <a:prstGeom prst="rect">
            <a:avLst/>
          </a:prstGeom>
          <a:noFill/>
          <a:ln/>
        </p:spPr>
        <p:txBody>
          <a:bodyPr wrap="none" lIns="0" tIns="0" rIns="0" bIns="0" rtlCol="0" anchor="ctr"/>
          <a:lstStyle/>
          <a:p>
            <a:pPr marL="0" indent="0" algn="l">
              <a:buNone/>
            </a:pPr>
            <a:r>
              <a:rPr lang="en-US" sz="1200" b="1" kern="0" spc="180" dirty="0">
                <a:solidFill>
                  <a:srgbClr val="4ADE80"/>
                </a:solidFill>
                <a:latin typeface="Arial" pitchFamily="34" charset="0"/>
                <a:ea typeface="Arial" pitchFamily="34" charset="-122"/>
                <a:cs typeface="Arial" pitchFamily="34" charset="-120"/>
              </a:rPr>
              <a:t>DEMO 4</a:t>
            </a:r>
            <a:endParaRPr lang="en-US" sz="1200" dirty="0"/>
          </a:p>
        </p:txBody>
      </p:sp>
      <p:sp>
        <p:nvSpPr>
          <p:cNvPr id="3" name="static:1:text"/>
          <p:cNvSpPr/>
          <p:nvPr/>
        </p:nvSpPr>
        <p:spPr>
          <a:xfrm>
            <a:off x="975360" y="2640806"/>
            <a:ext cx="5144524"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Evaluate Across Cases</a:t>
            </a:r>
            <a:endParaRPr lang="en-US" sz="4080" dirty="0"/>
          </a:p>
        </p:txBody>
      </p:sp>
      <p:sp>
        <p:nvSpPr>
          <p:cNvPr id="4" name="static:2:text"/>
          <p:cNvSpPr/>
          <p:nvPr/>
        </p:nvSpPr>
        <p:spPr>
          <a:xfrm>
            <a:off x="975360" y="3387566"/>
            <a:ext cx="631900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How consistently does the agent handle different purchases, dates and</a:t>
            </a:r>
            <a:endParaRPr lang="en-US" sz="1620" dirty="0"/>
          </a:p>
        </p:txBody>
      </p:sp>
      <p:sp>
        <p:nvSpPr>
          <p:cNvPr id="5" name="static:3:text"/>
          <p:cNvSpPr/>
          <p:nvPr/>
        </p:nvSpPr>
        <p:spPr>
          <a:xfrm>
            <a:off x="975360" y="3665220"/>
            <a:ext cx="1919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missing information?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73571" y="6461760"/>
            <a:ext cx="120026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11</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Optimise">
    <p:spTree>
      <p:nvGrpSpPr>
        <p:cNvPr id="1" name=""/>
        <p:cNvGrpSpPr/>
        <p:nvPr/>
      </p:nvGrpSpPr>
      <p:grpSpPr>
        <a:xfrm>
          <a:off x="0" y="0"/>
          <a:ext cx="0" cy="0"/>
          <a:chOff x="0" y="0"/>
          <a:chExt cx="0" cy="0"/>
        </a:xfrm>
      </p:grpSpPr>
      <p:sp>
        <p:nvSpPr>
          <p:cNvPr id="2" name="static:0:text"/>
          <p:cNvSpPr/>
          <p:nvPr/>
        </p:nvSpPr>
        <p:spPr>
          <a:xfrm>
            <a:off x="2727960" y="870109"/>
            <a:ext cx="1497568" cy="152400"/>
          </a:xfrm>
          <a:prstGeom prst="rect">
            <a:avLst/>
          </a:prstGeom>
          <a:noFill/>
          <a:ln/>
        </p:spPr>
        <p:txBody>
          <a:bodyPr wrap="none" lIns="0" tIns="0" rIns="0" bIns="0" rtlCol="0" anchor="ctr"/>
          <a:lstStyle/>
          <a:p>
            <a:pPr marL="0" indent="0" algn="l">
              <a:buNone/>
            </a:pPr>
            <a:r>
              <a:rPr lang="en-US" sz="960" b="1" kern="0" spc="154" dirty="0">
                <a:solidFill>
                  <a:srgbClr val="F87171"/>
                </a:solidFill>
                <a:latin typeface="Arial" pitchFamily="34" charset="0"/>
                <a:ea typeface="Arial" pitchFamily="34" charset="-122"/>
                <a:cs typeface="Arial" pitchFamily="34" charset="-120"/>
              </a:rPr>
              <a:t>AGENT OPTIMIZER</a:t>
            </a:r>
            <a:endParaRPr lang="en-US" sz="960" dirty="0"/>
          </a:p>
        </p:txBody>
      </p:sp>
      <p:sp>
        <p:nvSpPr>
          <p:cNvPr id="3" name="static:1:text"/>
          <p:cNvSpPr/>
          <p:nvPr/>
        </p:nvSpPr>
        <p:spPr>
          <a:xfrm>
            <a:off x="975360" y="1068229"/>
            <a:ext cx="1408962"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Optimise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F87171"/>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F87171"/>
              </a:solidFill>
              <a:prstDash val="solid"/>
            </a:ln>
          </p:spPr>
          <p:txBody>
            <a:bodyPr/>
            <a:lstStyle/>
            <a:p>
              <a:endParaRPr lang="en-US"/>
            </a:p>
          </p:txBody>
        </p:sp>
        <p:sp>
          <p:nvSpPr>
            <p:cNvPr id="7" name="reveal-1:4:text"/>
            <p:cNvSpPr/>
            <p:nvPr/>
          </p:nvSpPr>
          <p:spPr>
            <a:xfrm>
              <a:off x="1336715" y="2207419"/>
              <a:ext cx="191572" cy="190500"/>
            </a:xfrm>
            <a:prstGeom prst="rect">
              <a:avLst/>
            </a:prstGeom>
            <a:noFill/>
            <a:ln/>
          </p:spPr>
          <p:txBody>
            <a:bodyPr wrap="none" lIns="0" tIns="0" rIns="0" bIns="0" rtlCol="0" anchor="ctr"/>
            <a:lstStyle/>
            <a:p>
              <a:pPr marL="0" indent="0" algn="l">
                <a:buNone/>
              </a:pPr>
              <a:r>
                <a:rPr lang="en-US" sz="1200" b="1" kern="0" spc="-24" dirty="0">
                  <a:solidFill>
                    <a:srgbClr val="F87171"/>
                  </a:solidFill>
                  <a:latin typeface="Arial" pitchFamily="34" charset="0"/>
                  <a:ea typeface="Arial" pitchFamily="34" charset="-122"/>
                  <a:cs typeface="Arial" pitchFamily="34" charset="-120"/>
                </a:rPr>
                <a:t>B</a:t>
              </a:r>
              <a:endParaRPr lang="en-US" sz="1200" dirty="0"/>
            </a:p>
          </p:txBody>
        </p:sp>
        <p:sp>
          <p:nvSpPr>
            <p:cNvPr id="8" name="reveal-1:5:text"/>
            <p:cNvSpPr/>
            <p:nvPr/>
          </p:nvSpPr>
          <p:spPr>
            <a:xfrm>
              <a:off x="1181100" y="2698909"/>
              <a:ext cx="940713"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Baseline</a:t>
              </a:r>
              <a:endParaRPr lang="en-US" sz="1680" dirty="0"/>
            </a:p>
          </p:txBody>
        </p:sp>
        <p:sp>
          <p:nvSpPr>
            <p:cNvPr id="9" name="reveal-1:6:text"/>
            <p:cNvSpPr/>
            <p:nvPr/>
          </p:nvSpPr>
          <p:spPr>
            <a:xfrm>
              <a:off x="1181100" y="3047881"/>
              <a:ext cx="248757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Record the starting configuration and</a:t>
              </a:r>
              <a:endParaRPr lang="en-US" sz="1140" dirty="0"/>
            </a:p>
          </p:txBody>
        </p:sp>
        <p:sp>
          <p:nvSpPr>
            <p:cNvPr id="10" name="reveal-1:7:text"/>
            <p:cNvSpPr/>
            <p:nvPr/>
          </p:nvSpPr>
          <p:spPr>
            <a:xfrm>
              <a:off x="1181100" y="3243263"/>
              <a:ext cx="125170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evaluation results.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238136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How consistently does the starting agent</a:t>
              </a:r>
              <a:endParaRPr lang="en-US" sz="900" dirty="0"/>
            </a:p>
          </p:txBody>
        </p:sp>
        <p:sp>
          <p:nvSpPr>
            <p:cNvPr id="13" name="reveal-1:10:text"/>
            <p:cNvSpPr/>
            <p:nvPr/>
          </p:nvSpPr>
          <p:spPr>
            <a:xfrm>
              <a:off x="1287780" y="3884414"/>
              <a:ext cx="101036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meet the rubric?</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4" name="reveal-2:11: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5" name="reveal-2:11:shape:border-0"/>
            <p:cNvSpPr/>
            <p:nvPr/>
          </p:nvSpPr>
          <p:spPr>
            <a:xfrm>
              <a:off x="4439841" y="1883569"/>
              <a:ext cx="3037880" cy="0"/>
            </a:xfrm>
            <a:prstGeom prst="line">
              <a:avLst/>
            </a:prstGeom>
            <a:noFill/>
            <a:ln w="30480">
              <a:solidFill>
                <a:srgbClr val="FBBF24"/>
              </a:solidFill>
              <a:prstDash val="solid"/>
              <a:headEnd type="none"/>
              <a:tailEnd type="none"/>
            </a:ln>
          </p:spPr>
          <p:txBody>
            <a:bodyPr/>
            <a:lstStyle/>
            <a:p>
              <a:endParaRPr lang="en-US"/>
            </a:p>
          </p:txBody>
        </p:sp>
        <p:sp>
          <p:nvSpPr>
            <p:cNvPr id="16" name="reveal-2:12:shape"/>
            <p:cNvSpPr/>
            <p:nvPr/>
          </p:nvSpPr>
          <p:spPr>
            <a:xfrm>
              <a:off x="4554141"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17" name="reveal-2:13:text"/>
            <p:cNvSpPr/>
            <p:nvPr/>
          </p:nvSpPr>
          <p:spPr>
            <a:xfrm>
              <a:off x="4706183" y="2207419"/>
              <a:ext cx="19883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C</a:t>
              </a:r>
              <a:endParaRPr lang="en-US" sz="1200" dirty="0"/>
            </a:p>
          </p:txBody>
        </p:sp>
        <p:sp>
          <p:nvSpPr>
            <p:cNvPr id="18" name="reveal-2:14:text"/>
            <p:cNvSpPr/>
            <p:nvPr/>
          </p:nvSpPr>
          <p:spPr>
            <a:xfrm>
              <a:off x="4554141" y="2698909"/>
              <a:ext cx="1236702"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Candidates</a:t>
              </a:r>
              <a:endParaRPr lang="en-US" sz="1680" dirty="0"/>
            </a:p>
          </p:txBody>
        </p:sp>
        <p:sp>
          <p:nvSpPr>
            <p:cNvPr id="19" name="reveal-2:15:text"/>
            <p:cNvSpPr/>
            <p:nvPr/>
          </p:nvSpPr>
          <p:spPr>
            <a:xfrm>
              <a:off x="4554141" y="3047881"/>
              <a:ext cx="221920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Test changes to instructions, tool</a:t>
              </a:r>
              <a:endParaRPr lang="en-US" sz="1140" dirty="0"/>
            </a:p>
          </p:txBody>
        </p:sp>
        <p:sp>
          <p:nvSpPr>
            <p:cNvPr id="20" name="reveal-2:16:text"/>
            <p:cNvSpPr/>
            <p:nvPr/>
          </p:nvSpPr>
          <p:spPr>
            <a:xfrm>
              <a:off x="4554141" y="3243263"/>
              <a:ext cx="209752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descriptions and model choice.</a:t>
              </a:r>
              <a:endParaRPr lang="en-US" sz="1140" dirty="0"/>
            </a:p>
          </p:txBody>
        </p:sp>
        <p:sp>
          <p:nvSpPr>
            <p:cNvPr id="21" name="reveal-2:17: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2" name="reveal-2:18:text"/>
            <p:cNvSpPr/>
            <p:nvPr/>
          </p:nvSpPr>
          <p:spPr>
            <a:xfrm>
              <a:off x="4660821" y="3735824"/>
              <a:ext cx="2422684"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Which changes improve the results on the</a:t>
              </a:r>
              <a:endParaRPr lang="en-US" sz="900" dirty="0"/>
            </a:p>
          </p:txBody>
        </p:sp>
        <p:sp>
          <p:nvSpPr>
            <p:cNvPr id="23" name="reveal-2:19:text"/>
            <p:cNvSpPr/>
            <p:nvPr/>
          </p:nvSpPr>
          <p:spPr>
            <a:xfrm>
              <a:off x="4660821" y="3884414"/>
              <a:ext cx="763667"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same tests?</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4" name="reveal-3:20: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5" name="reveal-3:20:shape:border-0"/>
            <p:cNvSpPr/>
            <p:nvPr/>
          </p:nvSpPr>
          <p:spPr>
            <a:xfrm>
              <a:off x="7813000" y="1883569"/>
              <a:ext cx="3037761" cy="0"/>
            </a:xfrm>
            <a:prstGeom prst="line">
              <a:avLst/>
            </a:prstGeom>
            <a:noFill/>
            <a:ln w="30480">
              <a:solidFill>
                <a:srgbClr val="4ADE80"/>
              </a:solidFill>
              <a:prstDash val="solid"/>
              <a:headEnd type="none"/>
              <a:tailEnd type="none"/>
            </a:ln>
          </p:spPr>
          <p:txBody>
            <a:bodyPr/>
            <a:lstStyle/>
            <a:p>
              <a:endParaRPr lang="en-US"/>
            </a:p>
          </p:txBody>
        </p:sp>
        <p:sp>
          <p:nvSpPr>
            <p:cNvPr id="26" name="reveal-3:21:shape"/>
            <p:cNvSpPr/>
            <p:nvPr/>
          </p:nvSpPr>
          <p:spPr>
            <a:xfrm>
              <a:off x="7927300"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27" name="reveal-3:22: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3</a:t>
              </a:r>
              <a:endParaRPr lang="en-US" sz="1200" dirty="0"/>
            </a:p>
          </p:txBody>
        </p:sp>
        <p:sp>
          <p:nvSpPr>
            <p:cNvPr id="28" name="reveal-3:23:text"/>
            <p:cNvSpPr/>
            <p:nvPr/>
          </p:nvSpPr>
          <p:spPr>
            <a:xfrm>
              <a:off x="7927300" y="2698909"/>
              <a:ext cx="1006078"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Compare</a:t>
              </a:r>
              <a:endParaRPr lang="en-US" sz="1680" dirty="0"/>
            </a:p>
          </p:txBody>
        </p:sp>
        <p:sp>
          <p:nvSpPr>
            <p:cNvPr id="29" name="reveal-3:24:text"/>
            <p:cNvSpPr/>
            <p:nvPr/>
          </p:nvSpPr>
          <p:spPr>
            <a:xfrm>
              <a:off x="7927300" y="3047881"/>
              <a:ext cx="2311122"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Compare scores and configuration</a:t>
              </a:r>
              <a:endParaRPr lang="en-US" sz="1140" dirty="0"/>
            </a:p>
          </p:txBody>
        </p:sp>
        <p:sp>
          <p:nvSpPr>
            <p:cNvPr id="30" name="reveal-3:25:text"/>
            <p:cNvSpPr/>
            <p:nvPr/>
          </p:nvSpPr>
          <p:spPr>
            <a:xfrm>
              <a:off x="7927300" y="3243263"/>
              <a:ext cx="67841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changes.</a:t>
              </a:r>
              <a:endParaRPr lang="en-US" sz="1140" dirty="0"/>
            </a:p>
          </p:txBody>
        </p:sp>
        <p:sp>
          <p:nvSpPr>
            <p:cNvPr id="31" name="reveal-3:26: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2" name="reveal-3:27:text"/>
            <p:cNvSpPr/>
            <p:nvPr/>
          </p:nvSpPr>
          <p:spPr>
            <a:xfrm>
              <a:off x="8033980" y="3735824"/>
              <a:ext cx="2520910"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quality improve, or hold at lower cost?</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7412831" y="6461760"/>
            <a:ext cx="1213009"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12</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Demo 5 - Agent Optimizer">
    <p:spTree>
      <p:nvGrpSpPr>
        <p:cNvPr id="1" name=""/>
        <p:cNvGrpSpPr/>
        <p:nvPr/>
      </p:nvGrpSpPr>
      <p:grpSpPr>
        <a:xfrm>
          <a:off x="0" y="0"/>
          <a:ext cx="0" cy="0"/>
          <a:chOff x="0" y="0"/>
          <a:chExt cx="0" cy="0"/>
        </a:xfrm>
      </p:grpSpPr>
      <p:sp>
        <p:nvSpPr>
          <p:cNvPr id="2" name="static:0:text"/>
          <p:cNvSpPr/>
          <p:nvPr/>
        </p:nvSpPr>
        <p:spPr>
          <a:xfrm>
            <a:off x="975360" y="2343626"/>
            <a:ext cx="811292" cy="190500"/>
          </a:xfrm>
          <a:prstGeom prst="rect">
            <a:avLst/>
          </a:prstGeom>
          <a:noFill/>
          <a:ln/>
        </p:spPr>
        <p:txBody>
          <a:bodyPr wrap="none" lIns="0" tIns="0" rIns="0" bIns="0" rtlCol="0" anchor="ctr"/>
          <a:lstStyle/>
          <a:p>
            <a:pPr marL="0" indent="0" algn="l">
              <a:buNone/>
            </a:pPr>
            <a:r>
              <a:rPr lang="en-US" sz="1200" b="1" kern="0" spc="180" dirty="0">
                <a:solidFill>
                  <a:srgbClr val="F87171"/>
                </a:solidFill>
                <a:latin typeface="Arial" pitchFamily="34" charset="0"/>
                <a:ea typeface="Arial" pitchFamily="34" charset="-122"/>
                <a:cs typeface="Arial" pitchFamily="34" charset="-120"/>
              </a:rPr>
              <a:t>DEMO 5</a:t>
            </a:r>
            <a:endParaRPr lang="en-US" sz="1200" dirty="0"/>
          </a:p>
        </p:txBody>
      </p:sp>
      <p:sp>
        <p:nvSpPr>
          <p:cNvPr id="3" name="static:1:text"/>
          <p:cNvSpPr/>
          <p:nvPr/>
        </p:nvSpPr>
        <p:spPr>
          <a:xfrm>
            <a:off x="975360" y="2640806"/>
            <a:ext cx="3743516"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Agent Optimizer</a:t>
            </a:r>
            <a:endParaRPr lang="en-US" sz="4080" dirty="0"/>
          </a:p>
        </p:txBody>
      </p:sp>
      <p:sp>
        <p:nvSpPr>
          <p:cNvPr id="4" name="static:2:text"/>
          <p:cNvSpPr/>
          <p:nvPr/>
        </p:nvSpPr>
        <p:spPr>
          <a:xfrm>
            <a:off x="975360" y="3387566"/>
            <a:ext cx="5626656"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Compare answer consistency, speed and cost, then inspect the</a:t>
            </a:r>
            <a:endParaRPr lang="en-US" sz="1620" dirty="0"/>
          </a:p>
        </p:txBody>
      </p:sp>
      <p:sp>
        <p:nvSpPr>
          <p:cNvPr id="5" name="static:3:text"/>
          <p:cNvSpPr/>
          <p:nvPr/>
        </p:nvSpPr>
        <p:spPr>
          <a:xfrm>
            <a:off x="975360" y="3665220"/>
            <a:ext cx="2113002"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configuration changes.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8688" y="6461760"/>
            <a:ext cx="1215152"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13</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utomate">
    <p:spTree>
      <p:nvGrpSpPr>
        <p:cNvPr id="1" name=""/>
        <p:cNvGrpSpPr/>
        <p:nvPr/>
      </p:nvGrpSpPr>
      <p:grpSpPr>
        <a:xfrm>
          <a:off x="0" y="0"/>
          <a:ext cx="0" cy="0"/>
          <a:chOff x="0" y="0"/>
          <a:chExt cx="0" cy="0"/>
        </a:xfrm>
      </p:grpSpPr>
      <p:sp>
        <p:nvSpPr>
          <p:cNvPr id="2" name="static:0:text"/>
          <p:cNvSpPr/>
          <p:nvPr/>
        </p:nvSpPr>
        <p:spPr>
          <a:xfrm>
            <a:off x="2727960" y="870109"/>
            <a:ext cx="299525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CONTINUOUS EVALUATION AND CI/CD</a:t>
            </a:r>
            <a:endParaRPr lang="en-US" sz="960" dirty="0"/>
          </a:p>
        </p:txBody>
      </p:sp>
      <p:sp>
        <p:nvSpPr>
          <p:cNvPr id="3" name="static:1:text"/>
          <p:cNvSpPr/>
          <p:nvPr/>
        </p:nvSpPr>
        <p:spPr>
          <a:xfrm>
            <a:off x="975360" y="1068229"/>
            <a:ext cx="153326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Automate</a:t>
            </a:r>
            <a:endParaRPr lang="en-US" sz="2640" dirty="0"/>
          </a:p>
        </p:txBody>
      </p:sp>
      <p:grpSp>
        <p:nvGrpSpPr>
          <p:cNvPr id="35" name="Reveal 1"/>
          <p:cNvGrpSpPr/>
          <p:nvPr/>
        </p:nvGrpSpPr>
        <p:grpSpPr>
          <a:xfrm>
            <a:off x="975360" y="1868329"/>
            <a:ext cx="3220641" cy="3791902"/>
            <a:chOff x="975360" y="1868329"/>
            <a:chExt cx="3220641" cy="3791902"/>
          </a:xfrm>
        </p:grpSpPr>
        <p:sp>
          <p:nvSpPr>
            <p:cNvPr id="4" name="reveal-1:2:shape"/>
            <p:cNvSpPr/>
            <p:nvPr/>
          </p:nvSpPr>
          <p:spPr>
            <a:xfrm>
              <a:off x="9753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5" name="reveal-1:2:shape:border-0"/>
            <p:cNvSpPr/>
            <p:nvPr/>
          </p:nvSpPr>
          <p:spPr>
            <a:xfrm>
              <a:off x="1066800" y="1883569"/>
              <a:ext cx="3037761" cy="0"/>
            </a:xfrm>
            <a:prstGeom prst="line">
              <a:avLst/>
            </a:prstGeom>
            <a:noFill/>
            <a:ln w="30480">
              <a:solidFill>
                <a:srgbClr val="4DA6FF"/>
              </a:solidFill>
              <a:prstDash val="solid"/>
              <a:headEnd type="none"/>
              <a:tailEnd type="none"/>
            </a:ln>
          </p:spPr>
          <p:txBody>
            <a:bodyPr/>
            <a:lstStyle/>
            <a:p>
              <a:endParaRPr lang="en-US"/>
            </a:p>
          </p:txBody>
        </p:sp>
        <p:sp>
          <p:nvSpPr>
            <p:cNvPr id="6" name="reveal-1:3:shape"/>
            <p:cNvSpPr/>
            <p:nvPr/>
          </p:nvSpPr>
          <p:spPr>
            <a:xfrm>
              <a:off x="1181100" y="2096929"/>
              <a:ext cx="411480" cy="411480"/>
            </a:xfrm>
            <a:prstGeom prst="roundRect">
              <a:avLst>
                <a:gd name="adj" fmla="val 25926"/>
              </a:avLst>
            </a:prstGeom>
            <a:solidFill>
              <a:srgbClr val="000000">
                <a:alpha val="0"/>
              </a:srgbClr>
            </a:solidFill>
            <a:ln w="15240">
              <a:solidFill>
                <a:srgbClr val="4DA6FF"/>
              </a:solidFill>
              <a:prstDash val="solid"/>
            </a:ln>
          </p:spPr>
          <p:txBody>
            <a:bodyPr/>
            <a:lstStyle/>
            <a:p>
              <a:endParaRPr lang="en-US"/>
            </a:p>
          </p:txBody>
        </p:sp>
        <p:sp>
          <p:nvSpPr>
            <p:cNvPr id="7" name="reveal-1:4:text"/>
            <p:cNvSpPr/>
            <p:nvPr/>
          </p:nvSpPr>
          <p:spPr>
            <a:xfrm>
              <a:off x="1349812" y="2207419"/>
              <a:ext cx="165378" cy="190500"/>
            </a:xfrm>
            <a:prstGeom prst="rect">
              <a:avLst/>
            </a:prstGeom>
            <a:noFill/>
            <a:ln/>
          </p:spPr>
          <p:txBody>
            <a:bodyPr wrap="none" lIns="0" tIns="0" rIns="0" bIns="0" rtlCol="0" anchor="ctr"/>
            <a:lstStyle/>
            <a:p>
              <a:pPr marL="0" indent="0" algn="l">
                <a:buNone/>
              </a:pPr>
              <a:r>
                <a:rPr lang="en-US" sz="1200" b="1" kern="0" spc="-24" dirty="0">
                  <a:solidFill>
                    <a:srgbClr val="4DA6FF"/>
                  </a:solidFill>
                  <a:latin typeface="Arial" pitchFamily="34" charset="0"/>
                  <a:ea typeface="Arial" pitchFamily="34" charset="-122"/>
                  <a:cs typeface="Arial" pitchFamily="34" charset="-120"/>
                </a:rPr>
                <a:t>1</a:t>
              </a:r>
              <a:endParaRPr lang="en-US" sz="1200" dirty="0"/>
            </a:p>
          </p:txBody>
        </p:sp>
        <p:sp>
          <p:nvSpPr>
            <p:cNvPr id="8" name="reveal-1:5:text"/>
            <p:cNvSpPr/>
            <p:nvPr/>
          </p:nvSpPr>
          <p:spPr>
            <a:xfrm>
              <a:off x="1181100" y="2698909"/>
              <a:ext cx="804386"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Trigger</a:t>
              </a:r>
              <a:endParaRPr lang="en-US" sz="1680" dirty="0"/>
            </a:p>
          </p:txBody>
        </p:sp>
        <p:sp>
          <p:nvSpPr>
            <p:cNvPr id="9" name="reveal-1:6:text"/>
            <p:cNvSpPr/>
            <p:nvPr/>
          </p:nvSpPr>
          <p:spPr>
            <a:xfrm>
              <a:off x="1181100" y="3047881"/>
              <a:ext cx="240458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Agent changes, source updates and</a:t>
              </a:r>
              <a:endParaRPr lang="en-US" sz="1140" dirty="0"/>
            </a:p>
          </p:txBody>
        </p:sp>
        <p:sp>
          <p:nvSpPr>
            <p:cNvPr id="10" name="reveal-1:7:text"/>
            <p:cNvSpPr/>
            <p:nvPr/>
          </p:nvSpPr>
          <p:spPr>
            <a:xfrm>
              <a:off x="1181100" y="3243263"/>
              <a:ext cx="129206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scheduled checks.</a:t>
              </a:r>
              <a:endParaRPr lang="en-US" sz="1140" dirty="0"/>
            </a:p>
          </p:txBody>
        </p:sp>
        <p:sp>
          <p:nvSpPr>
            <p:cNvPr id="11" name="reveal-1:8:shape"/>
            <p:cNvSpPr/>
            <p:nvPr/>
          </p:nvSpPr>
          <p:spPr>
            <a:xfrm>
              <a:off x="11811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12" name="reveal-1:9:text"/>
            <p:cNvSpPr/>
            <p:nvPr/>
          </p:nvSpPr>
          <p:spPr>
            <a:xfrm>
              <a:off x="1287780" y="3735824"/>
              <a:ext cx="1728192"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When should the checks run?</a:t>
              </a:r>
              <a:endParaRPr lang="en-US" sz="900" dirty="0"/>
            </a:p>
          </p:txBody>
        </p:sp>
      </p:grpSp>
      <p:grpSp>
        <p:nvGrpSpPr>
          <p:cNvPr id="36" name="Reveal 2"/>
          <p:cNvGrpSpPr/>
          <p:nvPr/>
        </p:nvGrpSpPr>
        <p:grpSpPr>
          <a:xfrm>
            <a:off x="4348401" y="1868329"/>
            <a:ext cx="3220760" cy="3791902"/>
            <a:chOff x="4348401" y="1868329"/>
            <a:chExt cx="3220760" cy="3791902"/>
          </a:xfrm>
        </p:grpSpPr>
        <p:sp>
          <p:nvSpPr>
            <p:cNvPr id="13" name="reveal-2:10:shape"/>
            <p:cNvSpPr/>
            <p:nvPr/>
          </p:nvSpPr>
          <p:spPr>
            <a:xfrm>
              <a:off x="4348401" y="1868329"/>
              <a:ext cx="3220760" cy="3791902"/>
            </a:xfrm>
            <a:prstGeom prst="roundRect">
              <a:avLst>
                <a:gd name="adj" fmla="val 3785"/>
              </a:avLst>
            </a:prstGeom>
            <a:solidFill>
              <a:srgbClr val="292929"/>
            </a:solidFill>
            <a:ln w="7620">
              <a:solidFill>
                <a:srgbClr val="474747"/>
              </a:solidFill>
              <a:prstDash val="solid"/>
            </a:ln>
          </p:spPr>
          <p:txBody>
            <a:bodyPr/>
            <a:lstStyle/>
            <a:p>
              <a:endParaRPr lang="en-US"/>
            </a:p>
          </p:txBody>
        </p:sp>
        <p:sp>
          <p:nvSpPr>
            <p:cNvPr id="14" name="reveal-2:10:shape:border-0"/>
            <p:cNvSpPr/>
            <p:nvPr/>
          </p:nvSpPr>
          <p:spPr>
            <a:xfrm>
              <a:off x="4439841" y="1883569"/>
              <a:ext cx="3037880" cy="0"/>
            </a:xfrm>
            <a:prstGeom prst="line">
              <a:avLst/>
            </a:prstGeom>
            <a:noFill/>
            <a:ln w="30480">
              <a:solidFill>
                <a:srgbClr val="4ADE80"/>
              </a:solidFill>
              <a:prstDash val="solid"/>
              <a:headEnd type="none"/>
              <a:tailEnd type="none"/>
            </a:ln>
          </p:spPr>
          <p:txBody>
            <a:bodyPr/>
            <a:lstStyle/>
            <a:p>
              <a:endParaRPr lang="en-US"/>
            </a:p>
          </p:txBody>
        </p:sp>
        <p:sp>
          <p:nvSpPr>
            <p:cNvPr id="15" name="reveal-2:11:shape"/>
            <p:cNvSpPr/>
            <p:nvPr/>
          </p:nvSpPr>
          <p:spPr>
            <a:xfrm>
              <a:off x="4554141" y="2096929"/>
              <a:ext cx="411480" cy="411480"/>
            </a:xfrm>
            <a:prstGeom prst="roundRect">
              <a:avLst>
                <a:gd name="adj" fmla="val 25926"/>
              </a:avLst>
            </a:prstGeom>
            <a:solidFill>
              <a:srgbClr val="000000">
                <a:alpha val="0"/>
              </a:srgbClr>
            </a:solidFill>
            <a:ln w="15240">
              <a:solidFill>
                <a:srgbClr val="4ADE80"/>
              </a:solidFill>
              <a:prstDash val="solid"/>
            </a:ln>
          </p:spPr>
          <p:txBody>
            <a:bodyPr/>
            <a:lstStyle/>
            <a:p>
              <a:endParaRPr lang="en-US"/>
            </a:p>
          </p:txBody>
        </p:sp>
        <p:sp>
          <p:nvSpPr>
            <p:cNvPr id="16" name="reveal-2:12:text"/>
            <p:cNvSpPr/>
            <p:nvPr/>
          </p:nvSpPr>
          <p:spPr>
            <a:xfrm>
              <a:off x="4713327" y="2207419"/>
              <a:ext cx="184547" cy="190500"/>
            </a:xfrm>
            <a:prstGeom prst="rect">
              <a:avLst/>
            </a:prstGeom>
            <a:noFill/>
            <a:ln/>
          </p:spPr>
          <p:txBody>
            <a:bodyPr wrap="none" lIns="0" tIns="0" rIns="0" bIns="0" rtlCol="0" anchor="ctr"/>
            <a:lstStyle/>
            <a:p>
              <a:pPr marL="0" indent="0" algn="l">
                <a:buNone/>
              </a:pPr>
              <a:r>
                <a:rPr lang="en-US" sz="1200" b="1" kern="0" spc="-24" dirty="0">
                  <a:solidFill>
                    <a:srgbClr val="4ADE80"/>
                  </a:solidFill>
                  <a:latin typeface="Arial" pitchFamily="34" charset="0"/>
                  <a:ea typeface="Arial" pitchFamily="34" charset="-122"/>
                  <a:cs typeface="Arial" pitchFamily="34" charset="-120"/>
                </a:rPr>
                <a:t>2</a:t>
              </a:r>
              <a:endParaRPr lang="en-US" sz="1200" dirty="0"/>
            </a:p>
          </p:txBody>
        </p:sp>
        <p:sp>
          <p:nvSpPr>
            <p:cNvPr id="17" name="reveal-2:13:text"/>
            <p:cNvSpPr/>
            <p:nvPr/>
          </p:nvSpPr>
          <p:spPr>
            <a:xfrm>
              <a:off x="4554141" y="2698909"/>
              <a:ext cx="948214"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Evaluate</a:t>
              </a:r>
              <a:endParaRPr lang="en-US" sz="1680" dirty="0"/>
            </a:p>
          </p:txBody>
        </p:sp>
        <p:sp>
          <p:nvSpPr>
            <p:cNvPr id="18" name="reveal-2:14:text"/>
            <p:cNvSpPr/>
            <p:nvPr/>
          </p:nvSpPr>
          <p:spPr>
            <a:xfrm>
              <a:off x="4554141" y="3047881"/>
              <a:ext cx="2782491"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Run the release test suite, including cases</a:t>
              </a:r>
              <a:endParaRPr lang="en-US" sz="1140" dirty="0"/>
            </a:p>
          </p:txBody>
        </p:sp>
        <p:sp>
          <p:nvSpPr>
            <p:cNvPr id="19" name="reveal-2:15:text"/>
            <p:cNvSpPr/>
            <p:nvPr/>
          </p:nvSpPr>
          <p:spPr>
            <a:xfrm>
              <a:off x="4554141" y="3243263"/>
              <a:ext cx="1430417"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outside optimisation.</a:t>
              </a:r>
              <a:endParaRPr lang="en-US" sz="1140" dirty="0"/>
            </a:p>
          </p:txBody>
        </p:sp>
        <p:sp>
          <p:nvSpPr>
            <p:cNvPr id="20" name="reveal-2:16:shape"/>
            <p:cNvSpPr/>
            <p:nvPr/>
          </p:nvSpPr>
          <p:spPr>
            <a:xfrm>
              <a:off x="4554141" y="3652004"/>
              <a:ext cx="2809280"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21" name="reveal-2:17:text"/>
            <p:cNvSpPr/>
            <p:nvPr/>
          </p:nvSpPr>
          <p:spPr>
            <a:xfrm>
              <a:off x="4660821" y="3735824"/>
              <a:ext cx="2289691"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Evaluate sampled production runs after</a:t>
              </a:r>
              <a:endParaRPr lang="en-US" sz="900" dirty="0"/>
            </a:p>
          </p:txBody>
        </p:sp>
        <p:sp>
          <p:nvSpPr>
            <p:cNvPr id="22" name="reveal-2:18:text"/>
            <p:cNvSpPr/>
            <p:nvPr/>
          </p:nvSpPr>
          <p:spPr>
            <a:xfrm>
              <a:off x="4660821" y="3884414"/>
              <a:ext cx="79307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deployment.</a:t>
              </a:r>
              <a:endParaRPr lang="en-US" sz="900" dirty="0"/>
            </a:p>
          </p:txBody>
        </p:sp>
      </p:grpSp>
      <p:grpSp>
        <p:nvGrpSpPr>
          <p:cNvPr id="37" name="Reveal 3"/>
          <p:cNvGrpSpPr/>
          <p:nvPr/>
        </p:nvGrpSpPr>
        <p:grpSpPr>
          <a:xfrm>
            <a:off x="7721560" y="1868329"/>
            <a:ext cx="3220641" cy="3791902"/>
            <a:chOff x="7721560" y="1868329"/>
            <a:chExt cx="3220641" cy="3791902"/>
          </a:xfrm>
        </p:grpSpPr>
        <p:sp>
          <p:nvSpPr>
            <p:cNvPr id="23" name="reveal-3:19:shape"/>
            <p:cNvSpPr/>
            <p:nvPr/>
          </p:nvSpPr>
          <p:spPr>
            <a:xfrm>
              <a:off x="7721560" y="1868329"/>
              <a:ext cx="3220641" cy="3791902"/>
            </a:xfrm>
            <a:prstGeom prst="roundRect">
              <a:avLst>
                <a:gd name="adj" fmla="val 3786"/>
              </a:avLst>
            </a:prstGeom>
            <a:solidFill>
              <a:srgbClr val="292929"/>
            </a:solidFill>
            <a:ln w="7620">
              <a:solidFill>
                <a:srgbClr val="474747"/>
              </a:solidFill>
              <a:prstDash val="solid"/>
            </a:ln>
          </p:spPr>
          <p:txBody>
            <a:bodyPr/>
            <a:lstStyle/>
            <a:p>
              <a:endParaRPr lang="en-US"/>
            </a:p>
          </p:txBody>
        </p:sp>
        <p:sp>
          <p:nvSpPr>
            <p:cNvPr id="24" name="reveal-3:19:shape:border-0"/>
            <p:cNvSpPr/>
            <p:nvPr/>
          </p:nvSpPr>
          <p:spPr>
            <a:xfrm>
              <a:off x="7813000" y="1883569"/>
              <a:ext cx="3037761" cy="0"/>
            </a:xfrm>
            <a:prstGeom prst="line">
              <a:avLst/>
            </a:prstGeom>
            <a:noFill/>
            <a:ln w="30480">
              <a:solidFill>
                <a:srgbClr val="FBBF24"/>
              </a:solidFill>
              <a:prstDash val="solid"/>
              <a:headEnd type="none"/>
              <a:tailEnd type="none"/>
            </a:ln>
          </p:spPr>
          <p:txBody>
            <a:bodyPr/>
            <a:lstStyle/>
            <a:p>
              <a:endParaRPr lang="en-US"/>
            </a:p>
          </p:txBody>
        </p:sp>
        <p:sp>
          <p:nvSpPr>
            <p:cNvPr id="25" name="reveal-3:20:shape"/>
            <p:cNvSpPr/>
            <p:nvPr/>
          </p:nvSpPr>
          <p:spPr>
            <a:xfrm>
              <a:off x="7927300" y="2096929"/>
              <a:ext cx="411480" cy="411480"/>
            </a:xfrm>
            <a:prstGeom prst="roundRect">
              <a:avLst>
                <a:gd name="adj" fmla="val 25926"/>
              </a:avLst>
            </a:prstGeom>
            <a:solidFill>
              <a:srgbClr val="000000">
                <a:alpha val="0"/>
              </a:srgbClr>
            </a:solidFill>
            <a:ln w="15240">
              <a:solidFill>
                <a:srgbClr val="FBBF24"/>
              </a:solidFill>
              <a:prstDash val="solid"/>
            </a:ln>
          </p:spPr>
          <p:txBody>
            <a:bodyPr/>
            <a:lstStyle/>
            <a:p>
              <a:endParaRPr lang="en-US"/>
            </a:p>
          </p:txBody>
        </p:sp>
        <p:sp>
          <p:nvSpPr>
            <p:cNvPr id="26" name="reveal-3:21:text"/>
            <p:cNvSpPr/>
            <p:nvPr/>
          </p:nvSpPr>
          <p:spPr>
            <a:xfrm>
              <a:off x="8084344" y="2207419"/>
              <a:ext cx="188714" cy="190500"/>
            </a:xfrm>
            <a:prstGeom prst="rect">
              <a:avLst/>
            </a:prstGeom>
            <a:noFill/>
            <a:ln/>
          </p:spPr>
          <p:txBody>
            <a:bodyPr wrap="none" lIns="0" tIns="0" rIns="0" bIns="0" rtlCol="0" anchor="ctr"/>
            <a:lstStyle/>
            <a:p>
              <a:pPr marL="0" indent="0" algn="l">
                <a:buNone/>
              </a:pPr>
              <a:r>
                <a:rPr lang="en-US" sz="1200" b="1" kern="0" spc="-24" dirty="0">
                  <a:solidFill>
                    <a:srgbClr val="FBBF24"/>
                  </a:solidFill>
                  <a:latin typeface="Arial" pitchFamily="34" charset="0"/>
                  <a:ea typeface="Arial" pitchFamily="34" charset="-122"/>
                  <a:cs typeface="Arial" pitchFamily="34" charset="-120"/>
                </a:rPr>
                <a:t>3</a:t>
              </a:r>
              <a:endParaRPr lang="en-US" sz="1200" dirty="0"/>
            </a:p>
          </p:txBody>
        </p:sp>
        <p:sp>
          <p:nvSpPr>
            <p:cNvPr id="27" name="reveal-3:22:text"/>
            <p:cNvSpPr/>
            <p:nvPr/>
          </p:nvSpPr>
          <p:spPr>
            <a:xfrm>
              <a:off x="7927300" y="2698909"/>
              <a:ext cx="881063"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Release</a:t>
              </a:r>
              <a:endParaRPr lang="en-US" sz="1680" dirty="0"/>
            </a:p>
          </p:txBody>
        </p:sp>
        <p:sp>
          <p:nvSpPr>
            <p:cNvPr id="28" name="reveal-3:23:text"/>
            <p:cNvSpPr/>
            <p:nvPr/>
          </p:nvSpPr>
          <p:spPr>
            <a:xfrm>
              <a:off x="7927300" y="3047881"/>
              <a:ext cx="273867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Review, gate, deploy and retain a rollback</a:t>
              </a:r>
              <a:endParaRPr lang="en-US" sz="1140" dirty="0"/>
            </a:p>
          </p:txBody>
        </p:sp>
        <p:sp>
          <p:nvSpPr>
            <p:cNvPr id="29" name="reveal-3:24:text"/>
            <p:cNvSpPr/>
            <p:nvPr/>
          </p:nvSpPr>
          <p:spPr>
            <a:xfrm>
              <a:off x="7927300" y="3243263"/>
              <a:ext cx="41957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path.</a:t>
              </a:r>
              <a:endParaRPr lang="en-US" sz="1140" dirty="0"/>
            </a:p>
          </p:txBody>
        </p:sp>
        <p:sp>
          <p:nvSpPr>
            <p:cNvPr id="30" name="reveal-3:25:shape"/>
            <p:cNvSpPr/>
            <p:nvPr/>
          </p:nvSpPr>
          <p:spPr>
            <a:xfrm>
              <a:off x="7927300" y="3652004"/>
              <a:ext cx="2809161" cy="548640"/>
            </a:xfrm>
            <a:prstGeom prst="roundRect">
              <a:avLst>
                <a:gd name="adj" fmla="val 13889"/>
              </a:avLst>
            </a:prstGeom>
            <a:solidFill>
              <a:srgbClr val="FFFFFF">
                <a:alpha val="3000"/>
              </a:srgbClr>
            </a:solidFill>
            <a:ln w="12700">
              <a:solidFill>
                <a:srgbClr val="333333">
                  <a:alpha val="0"/>
                </a:srgbClr>
              </a:solidFill>
              <a:prstDash val="solid"/>
            </a:ln>
          </p:spPr>
          <p:txBody>
            <a:bodyPr/>
            <a:lstStyle/>
            <a:p>
              <a:endParaRPr lang="en-US"/>
            </a:p>
          </p:txBody>
        </p:sp>
        <p:sp>
          <p:nvSpPr>
            <p:cNvPr id="31" name="reveal-3:26:text"/>
            <p:cNvSpPr/>
            <p:nvPr/>
          </p:nvSpPr>
          <p:spPr>
            <a:xfrm>
              <a:off x="8033980" y="3735824"/>
              <a:ext cx="2254925"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Does the change preserve the required</a:t>
              </a:r>
              <a:endParaRPr lang="en-US" sz="900" dirty="0"/>
            </a:p>
          </p:txBody>
        </p:sp>
        <p:sp>
          <p:nvSpPr>
            <p:cNvPr id="32" name="reveal-3:27:text"/>
            <p:cNvSpPr/>
            <p:nvPr/>
          </p:nvSpPr>
          <p:spPr>
            <a:xfrm>
              <a:off x="8033980" y="3884414"/>
              <a:ext cx="536019" cy="152400"/>
            </a:xfrm>
            <a:prstGeom prst="rect">
              <a:avLst/>
            </a:prstGeom>
            <a:noFill/>
            <a:ln/>
          </p:spPr>
          <p:txBody>
            <a:bodyPr wrap="none" lIns="0" tIns="0" rIns="0" bIns="0" rtlCol="0" anchor="ctr"/>
            <a:lstStyle/>
            <a:p>
              <a:pPr marL="0" indent="0" algn="l">
                <a:buNone/>
              </a:pPr>
              <a:r>
                <a:rPr lang="en-US" sz="900" b="1" dirty="0">
                  <a:solidFill>
                    <a:srgbClr val="DEDEDE"/>
                  </a:solidFill>
                  <a:latin typeface="Arial" pitchFamily="34" charset="0"/>
                  <a:ea typeface="Arial" pitchFamily="34" charset="-122"/>
                  <a:cs typeface="Arial" pitchFamily="34" charset="-120"/>
                </a:rPr>
                <a:t>quality?</a:t>
              </a:r>
              <a:endParaRPr lang="en-US" sz="900" dirty="0"/>
            </a:p>
          </p:txBody>
        </p:sp>
      </p:grpSp>
      <p:sp>
        <p:nvSpPr>
          <p:cNvPr id="33" name="static:28: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34" name="static:29:text"/>
          <p:cNvSpPr/>
          <p:nvPr/>
        </p:nvSpPr>
        <p:spPr>
          <a:xfrm>
            <a:off x="10457140" y="6461760"/>
            <a:ext cx="121670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14</a:t>
            </a:r>
            <a:endParaRPr lang="en-US" sz="72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Demo 6 - Release Check">
    <p:spTree>
      <p:nvGrpSpPr>
        <p:cNvPr id="1" name=""/>
        <p:cNvGrpSpPr/>
        <p:nvPr/>
      </p:nvGrpSpPr>
      <p:grpSpPr>
        <a:xfrm>
          <a:off x="0" y="0"/>
          <a:ext cx="0" cy="0"/>
          <a:chOff x="0" y="0"/>
          <a:chExt cx="0" cy="0"/>
        </a:xfrm>
      </p:grpSpPr>
      <p:sp>
        <p:nvSpPr>
          <p:cNvPr id="2" name="static:0:text"/>
          <p:cNvSpPr/>
          <p:nvPr/>
        </p:nvSpPr>
        <p:spPr>
          <a:xfrm>
            <a:off x="975360" y="2343626"/>
            <a:ext cx="814626"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DEMO 6</a:t>
            </a:r>
            <a:endParaRPr lang="en-US" sz="1200" dirty="0"/>
          </a:p>
        </p:txBody>
      </p:sp>
      <p:sp>
        <p:nvSpPr>
          <p:cNvPr id="3" name="static:1:text"/>
          <p:cNvSpPr/>
          <p:nvPr/>
        </p:nvSpPr>
        <p:spPr>
          <a:xfrm>
            <a:off x="975360" y="2640806"/>
            <a:ext cx="3428238"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Release Check</a:t>
            </a:r>
            <a:endParaRPr lang="en-US" sz="4080" dirty="0"/>
          </a:p>
        </p:txBody>
      </p:sp>
      <p:sp>
        <p:nvSpPr>
          <p:cNvPr id="4" name="static:2:text"/>
          <p:cNvSpPr/>
          <p:nvPr/>
        </p:nvSpPr>
        <p:spPr>
          <a:xfrm>
            <a:off x="975360" y="3387566"/>
            <a:ext cx="6111835"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Follow the selected configuration through release checks, then test a</a:t>
            </a:r>
            <a:endParaRPr lang="en-US" sz="1620" dirty="0"/>
          </a:p>
        </p:txBody>
      </p:sp>
      <p:sp>
        <p:nvSpPr>
          <p:cNvPr id="5" name="static:3:text"/>
          <p:cNvSpPr/>
          <p:nvPr/>
        </p:nvSpPr>
        <p:spPr>
          <a:xfrm>
            <a:off x="975360" y="3665220"/>
            <a:ext cx="1984653"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deliberate regression.</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9403" y="6461760"/>
            <a:ext cx="1214438"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15</a:t>
            </a:r>
            <a:endParaRPr lang="en-US" sz="7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From test cases to production">
    <p:spTree>
      <p:nvGrpSpPr>
        <p:cNvPr id="1" name=""/>
        <p:cNvGrpSpPr/>
        <p:nvPr/>
      </p:nvGrpSpPr>
      <p:grpSpPr>
        <a:xfrm>
          <a:off x="0" y="0"/>
          <a:ext cx="0" cy="0"/>
          <a:chOff x="0" y="0"/>
          <a:chExt cx="0" cy="0"/>
        </a:xfrm>
      </p:grpSpPr>
      <p:sp>
        <p:nvSpPr>
          <p:cNvPr id="2" name="static:0:text"/>
          <p:cNvSpPr/>
          <p:nvPr/>
        </p:nvSpPr>
        <p:spPr>
          <a:xfrm>
            <a:off x="2727960" y="870109"/>
            <a:ext cx="2821900"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THE COMPLETE DELIVERY PROCESS</a:t>
            </a:r>
            <a:endParaRPr lang="en-US" sz="960" dirty="0"/>
          </a:p>
        </p:txBody>
      </p:sp>
      <p:sp>
        <p:nvSpPr>
          <p:cNvPr id="3" name="static:1:text"/>
          <p:cNvSpPr/>
          <p:nvPr/>
        </p:nvSpPr>
        <p:spPr>
          <a:xfrm>
            <a:off x="975360" y="1068229"/>
            <a:ext cx="4356473"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From test cases to production</a:t>
            </a:r>
            <a:endParaRPr lang="en-US" sz="2640" dirty="0"/>
          </a:p>
        </p:txBody>
      </p:sp>
      <p:sp>
        <p:nvSpPr>
          <p:cNvPr id="4" name="static:2:shape"/>
          <p:cNvSpPr/>
          <p:nvPr/>
        </p:nvSpPr>
        <p:spPr>
          <a:xfrm>
            <a:off x="975360" y="1768316"/>
            <a:ext cx="2574608" cy="3002280"/>
          </a:xfrm>
          <a:prstGeom prst="roundRect">
            <a:avLst>
              <a:gd name="adj" fmla="val 4735"/>
            </a:avLst>
          </a:prstGeom>
          <a:solidFill>
            <a:srgbClr val="292929"/>
          </a:solidFill>
          <a:ln w="7620">
            <a:solidFill>
              <a:srgbClr val="474747"/>
            </a:solidFill>
            <a:prstDash val="solid"/>
          </a:ln>
        </p:spPr>
        <p:txBody>
          <a:bodyPr/>
          <a:lstStyle/>
          <a:p>
            <a:endParaRPr lang="en-US"/>
          </a:p>
        </p:txBody>
      </p:sp>
      <p:sp>
        <p:nvSpPr>
          <p:cNvPr id="5" name="static:3:text"/>
          <p:cNvSpPr/>
          <p:nvPr/>
        </p:nvSpPr>
        <p:spPr>
          <a:xfrm>
            <a:off x="1135380" y="1920716"/>
            <a:ext cx="1308735" cy="137160"/>
          </a:xfrm>
          <a:prstGeom prst="rect">
            <a:avLst/>
          </a:prstGeom>
          <a:noFill/>
          <a:ln/>
        </p:spPr>
        <p:txBody>
          <a:bodyPr wrap="none" lIns="0" tIns="0" rIns="0" bIns="0" rtlCol="0" anchor="ctr"/>
          <a:lstStyle/>
          <a:p>
            <a:pPr marL="0" indent="0" algn="l">
              <a:buNone/>
            </a:pPr>
            <a:r>
              <a:rPr lang="en-US" sz="780" b="1" kern="0" spc="62" dirty="0">
                <a:solidFill>
                  <a:srgbClr val="4DA6FF"/>
                </a:solidFill>
                <a:latin typeface="Arial" pitchFamily="34" charset="0"/>
                <a:ea typeface="Arial" pitchFamily="34" charset="-122"/>
                <a:cs typeface="Arial" pitchFamily="34" charset="-120"/>
              </a:rPr>
              <a:t>BUILD / PRE-LAUNCH</a:t>
            </a:r>
            <a:endParaRPr lang="en-US" sz="780" dirty="0"/>
          </a:p>
        </p:txBody>
      </p:sp>
      <p:sp>
        <p:nvSpPr>
          <p:cNvPr id="6" name="static:4:text"/>
          <p:cNvSpPr/>
          <p:nvPr/>
        </p:nvSpPr>
        <p:spPr>
          <a:xfrm>
            <a:off x="1135380" y="2149316"/>
            <a:ext cx="1154668"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Simulation</a:t>
            </a:r>
            <a:endParaRPr lang="en-US" sz="1680" dirty="0"/>
          </a:p>
        </p:txBody>
      </p:sp>
      <p:sp>
        <p:nvSpPr>
          <p:cNvPr id="7" name="static:5:text"/>
          <p:cNvSpPr/>
          <p:nvPr/>
        </p:nvSpPr>
        <p:spPr>
          <a:xfrm>
            <a:off x="1135380" y="2528768"/>
            <a:ext cx="1967984"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Explore behaviour before real</a:t>
            </a:r>
            <a:endParaRPr lang="en-US" sz="1140" dirty="0"/>
          </a:p>
        </p:txBody>
      </p:sp>
      <p:sp>
        <p:nvSpPr>
          <p:cNvPr id="8" name="static:6:text"/>
          <p:cNvSpPr/>
          <p:nvPr/>
        </p:nvSpPr>
        <p:spPr>
          <a:xfrm>
            <a:off x="1135380" y="2724150"/>
            <a:ext cx="87844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users arrive.</a:t>
            </a:r>
            <a:endParaRPr lang="en-US" sz="1140" dirty="0"/>
          </a:p>
        </p:txBody>
      </p:sp>
      <p:sp>
        <p:nvSpPr>
          <p:cNvPr id="9" name="static:7:shape"/>
          <p:cNvSpPr/>
          <p:nvPr/>
        </p:nvSpPr>
        <p:spPr>
          <a:xfrm>
            <a:off x="1135380" y="3655933"/>
            <a:ext cx="2254568" cy="954643"/>
          </a:xfrm>
          <a:prstGeom prst="roundRect">
            <a:avLst>
              <a:gd name="adj" fmla="val 7982"/>
            </a:avLst>
          </a:prstGeom>
          <a:solidFill>
            <a:srgbClr val="2E2E2E"/>
          </a:solidFill>
          <a:ln w="7620">
            <a:solidFill>
              <a:srgbClr val="474747"/>
            </a:solidFill>
            <a:prstDash val="solid"/>
          </a:ln>
        </p:spPr>
        <p:txBody>
          <a:bodyPr/>
          <a:lstStyle/>
          <a:p>
            <a:endParaRPr lang="en-US"/>
          </a:p>
        </p:txBody>
      </p:sp>
      <p:sp>
        <p:nvSpPr>
          <p:cNvPr id="10" name="static:8:text"/>
          <p:cNvSpPr/>
          <p:nvPr/>
        </p:nvSpPr>
        <p:spPr>
          <a:xfrm>
            <a:off x="1280160" y="3793093"/>
            <a:ext cx="1281708" cy="213360"/>
          </a:xfrm>
          <a:prstGeom prst="rect">
            <a:avLst/>
          </a:prstGeom>
          <a:noFill/>
          <a:ln/>
        </p:spPr>
        <p:txBody>
          <a:bodyPr wrap="none" lIns="0" tIns="0" rIns="0" bIns="0" rtlCol="0" anchor="ctr"/>
          <a:lstStyle/>
          <a:p>
            <a:pPr marL="0" indent="0" algn="l">
              <a:buNone/>
            </a:pPr>
            <a:r>
              <a:rPr lang="en-US" sz="1320" b="1" dirty="0">
                <a:solidFill>
                  <a:srgbClr val="4DA6FF"/>
                </a:solidFill>
                <a:latin typeface="Arial" pitchFamily="34" charset="0"/>
                <a:ea typeface="Arial" pitchFamily="34" charset="-122"/>
                <a:cs typeface="Arial" pitchFamily="34" charset="-120"/>
              </a:rPr>
              <a:t>Golden dataset</a:t>
            </a:r>
            <a:endParaRPr lang="en-US" sz="1320" dirty="0"/>
          </a:p>
        </p:txBody>
      </p:sp>
      <p:sp>
        <p:nvSpPr>
          <p:cNvPr id="11" name="static:9:text"/>
          <p:cNvSpPr/>
          <p:nvPr/>
        </p:nvSpPr>
        <p:spPr>
          <a:xfrm>
            <a:off x="1280160" y="4075033"/>
            <a:ext cx="18982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Review expected outcomes.</a:t>
            </a:r>
            <a:endParaRPr lang="en-US" sz="1140" dirty="0"/>
          </a:p>
        </p:txBody>
      </p:sp>
      <p:sp>
        <p:nvSpPr>
          <p:cNvPr id="12" name="static:10:text"/>
          <p:cNvSpPr/>
          <p:nvPr/>
        </p:nvSpPr>
        <p:spPr>
          <a:xfrm>
            <a:off x="1280160" y="4270415"/>
            <a:ext cx="195345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Version the cases and rubric.</a:t>
            </a:r>
            <a:endParaRPr lang="en-US" sz="1140" dirty="0"/>
          </a:p>
        </p:txBody>
      </p:sp>
      <p:sp>
        <p:nvSpPr>
          <p:cNvPr id="13" name="static:11:arrow"/>
          <p:cNvSpPr/>
          <p:nvPr/>
        </p:nvSpPr>
        <p:spPr>
          <a:xfrm>
            <a:off x="3603308" y="3376136"/>
            <a:ext cx="160020" cy="0"/>
          </a:xfrm>
          <a:prstGeom prst="line">
            <a:avLst/>
          </a:prstGeom>
          <a:noFill/>
          <a:ln w="15240">
            <a:solidFill>
              <a:srgbClr val="B0B0B0"/>
            </a:solidFill>
            <a:prstDash val="solid"/>
            <a:headEnd type="none"/>
            <a:tailEnd type="triangle"/>
          </a:ln>
        </p:spPr>
        <p:txBody>
          <a:bodyPr/>
          <a:lstStyle/>
          <a:p>
            <a:endParaRPr lang="en-US"/>
          </a:p>
        </p:txBody>
      </p:sp>
      <p:sp>
        <p:nvSpPr>
          <p:cNvPr id="14" name="static:12:shape"/>
          <p:cNvSpPr/>
          <p:nvPr/>
        </p:nvSpPr>
        <p:spPr>
          <a:xfrm>
            <a:off x="3824288" y="1768316"/>
            <a:ext cx="4543425" cy="3002280"/>
          </a:xfrm>
          <a:prstGeom prst="roundRect">
            <a:avLst>
              <a:gd name="adj" fmla="val 4061"/>
            </a:avLst>
          </a:prstGeom>
          <a:solidFill>
            <a:srgbClr val="292929"/>
          </a:solidFill>
          <a:ln w="7620">
            <a:solidFill>
              <a:srgbClr val="474747"/>
            </a:solidFill>
            <a:prstDash val="solid"/>
          </a:ln>
        </p:spPr>
        <p:txBody>
          <a:bodyPr/>
          <a:lstStyle/>
          <a:p>
            <a:endParaRPr lang="en-US"/>
          </a:p>
        </p:txBody>
      </p:sp>
      <p:sp>
        <p:nvSpPr>
          <p:cNvPr id="15" name="static:13:text"/>
          <p:cNvSpPr/>
          <p:nvPr/>
        </p:nvSpPr>
        <p:spPr>
          <a:xfrm>
            <a:off x="3984308" y="1920716"/>
            <a:ext cx="1620560" cy="137160"/>
          </a:xfrm>
          <a:prstGeom prst="rect">
            <a:avLst/>
          </a:prstGeom>
          <a:noFill/>
          <a:ln/>
        </p:spPr>
        <p:txBody>
          <a:bodyPr wrap="none" lIns="0" tIns="0" rIns="0" bIns="0" rtlCol="0" anchor="ctr"/>
          <a:lstStyle/>
          <a:p>
            <a:pPr marL="0" indent="0" algn="l">
              <a:buNone/>
            </a:pPr>
            <a:r>
              <a:rPr lang="en-US" sz="780" b="1" kern="0" spc="62" dirty="0">
                <a:solidFill>
                  <a:srgbClr val="4ADE80"/>
                </a:solidFill>
                <a:latin typeface="Arial" pitchFamily="34" charset="0"/>
                <a:ea typeface="Arial" pitchFamily="34" charset="-122"/>
                <a:cs typeface="Arial" pitchFamily="34" charset="-120"/>
              </a:rPr>
              <a:t>ON EVERY CHANGE / CI/CD</a:t>
            </a:r>
            <a:endParaRPr lang="en-US" sz="780" dirty="0"/>
          </a:p>
        </p:txBody>
      </p:sp>
      <p:sp>
        <p:nvSpPr>
          <p:cNvPr id="16" name="static:14:shape"/>
          <p:cNvSpPr/>
          <p:nvPr/>
        </p:nvSpPr>
        <p:spPr>
          <a:xfrm>
            <a:off x="3984308" y="217217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17" name="static:15:text"/>
          <p:cNvSpPr/>
          <p:nvPr/>
        </p:nvSpPr>
        <p:spPr>
          <a:xfrm>
            <a:off x="4075748" y="2286476"/>
            <a:ext cx="167164"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1</a:t>
            </a:r>
            <a:endParaRPr lang="en-US" sz="1200" dirty="0"/>
          </a:p>
        </p:txBody>
      </p:sp>
      <p:sp>
        <p:nvSpPr>
          <p:cNvPr id="18" name="static:16:text"/>
          <p:cNvSpPr/>
          <p:nvPr/>
        </p:nvSpPr>
        <p:spPr>
          <a:xfrm>
            <a:off x="4380548" y="2291001"/>
            <a:ext cx="914281"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Pull request</a:t>
            </a:r>
            <a:endParaRPr lang="en-US" sz="1140" dirty="0"/>
          </a:p>
        </p:txBody>
      </p:sp>
      <p:sp>
        <p:nvSpPr>
          <p:cNvPr id="19" name="static:17:arrow"/>
          <p:cNvSpPr/>
          <p:nvPr/>
        </p:nvSpPr>
        <p:spPr>
          <a:xfrm>
            <a:off x="4212908" y="2606516"/>
            <a:ext cx="0" cy="60960"/>
          </a:xfrm>
          <a:prstGeom prst="line">
            <a:avLst/>
          </a:prstGeom>
          <a:noFill/>
          <a:ln w="7620">
            <a:solidFill>
              <a:srgbClr val="B0B0B0"/>
            </a:solidFill>
            <a:prstDash val="solid"/>
            <a:headEnd type="none"/>
            <a:tailEnd type="triangle"/>
          </a:ln>
        </p:spPr>
        <p:txBody>
          <a:bodyPr/>
          <a:lstStyle/>
          <a:p>
            <a:endParaRPr lang="en-US"/>
          </a:p>
        </p:txBody>
      </p:sp>
      <p:sp>
        <p:nvSpPr>
          <p:cNvPr id="20" name="static:18:shape"/>
          <p:cNvSpPr/>
          <p:nvPr/>
        </p:nvSpPr>
        <p:spPr>
          <a:xfrm>
            <a:off x="3984308" y="267509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21" name="static:19:text"/>
          <p:cNvSpPr/>
          <p:nvPr/>
        </p:nvSpPr>
        <p:spPr>
          <a:xfrm>
            <a:off x="4075748" y="2789396"/>
            <a:ext cx="186571"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2</a:t>
            </a:r>
            <a:endParaRPr lang="en-US" sz="1200" dirty="0"/>
          </a:p>
        </p:txBody>
      </p:sp>
      <p:sp>
        <p:nvSpPr>
          <p:cNvPr id="22" name="static:20:text"/>
          <p:cNvSpPr/>
          <p:nvPr/>
        </p:nvSpPr>
        <p:spPr>
          <a:xfrm>
            <a:off x="4380548" y="2793921"/>
            <a:ext cx="882134"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Build &amp; test</a:t>
            </a:r>
            <a:endParaRPr lang="en-US" sz="1140" dirty="0"/>
          </a:p>
        </p:txBody>
      </p:sp>
      <p:sp>
        <p:nvSpPr>
          <p:cNvPr id="23" name="static:21:arrow"/>
          <p:cNvSpPr/>
          <p:nvPr/>
        </p:nvSpPr>
        <p:spPr>
          <a:xfrm>
            <a:off x="4212908" y="3109436"/>
            <a:ext cx="0" cy="60960"/>
          </a:xfrm>
          <a:prstGeom prst="line">
            <a:avLst/>
          </a:prstGeom>
          <a:noFill/>
          <a:ln w="7620">
            <a:solidFill>
              <a:srgbClr val="B0B0B0"/>
            </a:solidFill>
            <a:prstDash val="solid"/>
            <a:headEnd type="none"/>
            <a:tailEnd type="triangle"/>
          </a:ln>
        </p:spPr>
        <p:txBody>
          <a:bodyPr/>
          <a:lstStyle/>
          <a:p>
            <a:endParaRPr lang="en-US"/>
          </a:p>
        </p:txBody>
      </p:sp>
      <p:sp>
        <p:nvSpPr>
          <p:cNvPr id="24" name="static:22:shape"/>
          <p:cNvSpPr/>
          <p:nvPr/>
        </p:nvSpPr>
        <p:spPr>
          <a:xfrm>
            <a:off x="3984308" y="317801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25" name="static:23:text"/>
          <p:cNvSpPr/>
          <p:nvPr/>
        </p:nvSpPr>
        <p:spPr>
          <a:xfrm>
            <a:off x="4075748" y="3292316"/>
            <a:ext cx="190738"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3</a:t>
            </a:r>
            <a:endParaRPr lang="en-US" sz="1200" dirty="0"/>
          </a:p>
        </p:txBody>
      </p:sp>
      <p:sp>
        <p:nvSpPr>
          <p:cNvPr id="26" name="static:24:text"/>
          <p:cNvSpPr/>
          <p:nvPr/>
        </p:nvSpPr>
        <p:spPr>
          <a:xfrm>
            <a:off x="4380548" y="3296841"/>
            <a:ext cx="1110734"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Evaluate agent</a:t>
            </a:r>
            <a:endParaRPr lang="en-US" sz="1140" dirty="0"/>
          </a:p>
        </p:txBody>
      </p:sp>
      <p:sp>
        <p:nvSpPr>
          <p:cNvPr id="27" name="static:25:arrow"/>
          <p:cNvSpPr/>
          <p:nvPr/>
        </p:nvSpPr>
        <p:spPr>
          <a:xfrm>
            <a:off x="4212908" y="3612356"/>
            <a:ext cx="0" cy="60960"/>
          </a:xfrm>
          <a:prstGeom prst="line">
            <a:avLst/>
          </a:prstGeom>
          <a:noFill/>
          <a:ln w="7620">
            <a:solidFill>
              <a:srgbClr val="B0B0B0"/>
            </a:solidFill>
            <a:prstDash val="solid"/>
            <a:headEnd type="none"/>
            <a:tailEnd type="triangle"/>
          </a:ln>
        </p:spPr>
        <p:txBody>
          <a:bodyPr/>
          <a:lstStyle/>
          <a:p>
            <a:endParaRPr lang="en-US"/>
          </a:p>
        </p:txBody>
      </p:sp>
      <p:sp>
        <p:nvSpPr>
          <p:cNvPr id="28" name="static:26:shape"/>
          <p:cNvSpPr/>
          <p:nvPr/>
        </p:nvSpPr>
        <p:spPr>
          <a:xfrm>
            <a:off x="3984308" y="368093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29" name="static:27:text"/>
          <p:cNvSpPr/>
          <p:nvPr/>
        </p:nvSpPr>
        <p:spPr>
          <a:xfrm>
            <a:off x="4075748" y="3795236"/>
            <a:ext cx="193477"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4</a:t>
            </a:r>
            <a:endParaRPr lang="en-US" sz="1200" dirty="0"/>
          </a:p>
        </p:txBody>
      </p:sp>
      <p:sp>
        <p:nvSpPr>
          <p:cNvPr id="30" name="static:28:text"/>
          <p:cNvSpPr/>
          <p:nvPr/>
        </p:nvSpPr>
        <p:spPr>
          <a:xfrm>
            <a:off x="4380548" y="3799761"/>
            <a:ext cx="1052393"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Release gates</a:t>
            </a:r>
            <a:endParaRPr lang="en-US" sz="1140" dirty="0"/>
          </a:p>
        </p:txBody>
      </p:sp>
      <p:sp>
        <p:nvSpPr>
          <p:cNvPr id="31" name="static:29:arrow"/>
          <p:cNvSpPr/>
          <p:nvPr/>
        </p:nvSpPr>
        <p:spPr>
          <a:xfrm>
            <a:off x="4212908" y="4115276"/>
            <a:ext cx="0" cy="60960"/>
          </a:xfrm>
          <a:prstGeom prst="line">
            <a:avLst/>
          </a:prstGeom>
          <a:noFill/>
          <a:ln w="7620">
            <a:solidFill>
              <a:srgbClr val="B0B0B0"/>
            </a:solidFill>
            <a:prstDash val="solid"/>
            <a:headEnd type="none"/>
            <a:tailEnd type="triangle"/>
          </a:ln>
        </p:spPr>
        <p:txBody>
          <a:bodyPr/>
          <a:lstStyle/>
          <a:p>
            <a:endParaRPr lang="en-US"/>
          </a:p>
        </p:txBody>
      </p:sp>
      <p:sp>
        <p:nvSpPr>
          <p:cNvPr id="32" name="static:30:shape"/>
          <p:cNvSpPr/>
          <p:nvPr/>
        </p:nvSpPr>
        <p:spPr>
          <a:xfrm>
            <a:off x="3984308" y="4183856"/>
            <a:ext cx="4223385" cy="426720"/>
          </a:xfrm>
          <a:prstGeom prst="roundRect">
            <a:avLst>
              <a:gd name="adj" fmla="val 14286"/>
            </a:avLst>
          </a:prstGeom>
          <a:solidFill>
            <a:srgbClr val="2E2E2E"/>
          </a:solidFill>
          <a:ln w="12700">
            <a:solidFill>
              <a:srgbClr val="333333">
                <a:alpha val="0"/>
              </a:srgbClr>
            </a:solidFill>
            <a:prstDash val="solid"/>
          </a:ln>
        </p:spPr>
        <p:txBody>
          <a:bodyPr/>
          <a:lstStyle/>
          <a:p>
            <a:endParaRPr lang="en-US"/>
          </a:p>
        </p:txBody>
      </p:sp>
      <p:sp>
        <p:nvSpPr>
          <p:cNvPr id="33" name="static:31:text"/>
          <p:cNvSpPr/>
          <p:nvPr/>
        </p:nvSpPr>
        <p:spPr>
          <a:xfrm>
            <a:off x="4075748" y="4298156"/>
            <a:ext cx="190024" cy="190500"/>
          </a:xfrm>
          <a:prstGeom prst="rect">
            <a:avLst/>
          </a:prstGeom>
          <a:noFill/>
          <a:ln/>
        </p:spPr>
        <p:txBody>
          <a:bodyPr wrap="none" lIns="0" tIns="0" rIns="0" bIns="0" rtlCol="0" anchor="ctr"/>
          <a:lstStyle/>
          <a:p>
            <a:pPr marL="0" indent="0" algn="l">
              <a:buNone/>
            </a:pPr>
            <a:r>
              <a:rPr lang="en-US" sz="1200" b="1" dirty="0">
                <a:solidFill>
                  <a:srgbClr val="4ADE80"/>
                </a:solidFill>
                <a:latin typeface="Arial" pitchFamily="34" charset="0"/>
                <a:ea typeface="Arial" pitchFamily="34" charset="-122"/>
                <a:cs typeface="Arial" pitchFamily="34" charset="-120"/>
              </a:rPr>
              <a:t>5</a:t>
            </a:r>
            <a:endParaRPr lang="en-US" sz="1200" dirty="0"/>
          </a:p>
        </p:txBody>
      </p:sp>
      <p:sp>
        <p:nvSpPr>
          <p:cNvPr id="34" name="static:32:text"/>
          <p:cNvSpPr/>
          <p:nvPr/>
        </p:nvSpPr>
        <p:spPr>
          <a:xfrm>
            <a:off x="4380548" y="4302681"/>
            <a:ext cx="571738" cy="182880"/>
          </a:xfrm>
          <a:prstGeom prst="rect">
            <a:avLst/>
          </a:prstGeom>
          <a:noFill/>
          <a:ln/>
        </p:spPr>
        <p:txBody>
          <a:bodyPr wrap="none" lIns="0" tIns="0" rIns="0" bIns="0" rtlCol="0" anchor="ctr"/>
          <a:lstStyle/>
          <a:p>
            <a:pPr marL="0" indent="0" algn="l">
              <a:buNone/>
            </a:pPr>
            <a:r>
              <a:rPr lang="en-US" sz="1140" b="1" dirty="0">
                <a:solidFill>
                  <a:srgbClr val="DEDEDE"/>
                </a:solidFill>
                <a:latin typeface="Arial" pitchFamily="34" charset="0"/>
                <a:ea typeface="Arial" pitchFamily="34" charset="-122"/>
                <a:cs typeface="Arial" pitchFamily="34" charset="-120"/>
              </a:rPr>
              <a:t>Deploy</a:t>
            </a:r>
            <a:endParaRPr lang="en-US" sz="1140" dirty="0"/>
          </a:p>
        </p:txBody>
      </p:sp>
      <p:sp>
        <p:nvSpPr>
          <p:cNvPr id="35" name="static:33:arrow"/>
          <p:cNvSpPr/>
          <p:nvPr/>
        </p:nvSpPr>
        <p:spPr>
          <a:xfrm>
            <a:off x="8421053" y="3376136"/>
            <a:ext cx="160020" cy="0"/>
          </a:xfrm>
          <a:prstGeom prst="line">
            <a:avLst/>
          </a:prstGeom>
          <a:noFill/>
          <a:ln w="15240">
            <a:solidFill>
              <a:srgbClr val="B0B0B0"/>
            </a:solidFill>
            <a:prstDash val="solid"/>
            <a:headEnd type="none"/>
            <a:tailEnd type="triangle"/>
          </a:ln>
        </p:spPr>
        <p:txBody>
          <a:bodyPr/>
          <a:lstStyle/>
          <a:p>
            <a:endParaRPr lang="en-US"/>
          </a:p>
        </p:txBody>
      </p:sp>
      <p:sp>
        <p:nvSpPr>
          <p:cNvPr id="36" name="static:34:shape"/>
          <p:cNvSpPr/>
          <p:nvPr/>
        </p:nvSpPr>
        <p:spPr>
          <a:xfrm>
            <a:off x="8642033" y="1768316"/>
            <a:ext cx="2574608" cy="3002280"/>
          </a:xfrm>
          <a:prstGeom prst="roundRect">
            <a:avLst>
              <a:gd name="adj" fmla="val 4735"/>
            </a:avLst>
          </a:prstGeom>
          <a:solidFill>
            <a:srgbClr val="292929"/>
          </a:solidFill>
          <a:ln w="7620">
            <a:solidFill>
              <a:srgbClr val="474747"/>
            </a:solidFill>
            <a:prstDash val="solid"/>
          </a:ln>
        </p:spPr>
        <p:txBody>
          <a:bodyPr/>
          <a:lstStyle/>
          <a:p>
            <a:endParaRPr lang="en-US"/>
          </a:p>
        </p:txBody>
      </p:sp>
      <p:sp>
        <p:nvSpPr>
          <p:cNvPr id="37" name="static:35:text"/>
          <p:cNvSpPr/>
          <p:nvPr/>
        </p:nvSpPr>
        <p:spPr>
          <a:xfrm>
            <a:off x="8802053" y="1920716"/>
            <a:ext cx="1017270" cy="137160"/>
          </a:xfrm>
          <a:prstGeom prst="rect">
            <a:avLst/>
          </a:prstGeom>
          <a:noFill/>
          <a:ln/>
        </p:spPr>
        <p:txBody>
          <a:bodyPr wrap="none" lIns="0" tIns="0" rIns="0" bIns="0" rtlCol="0" anchor="ctr"/>
          <a:lstStyle/>
          <a:p>
            <a:pPr marL="0" indent="0" algn="l">
              <a:buNone/>
            </a:pPr>
            <a:r>
              <a:rPr lang="en-US" sz="780" b="1" kern="0" spc="62" dirty="0">
                <a:solidFill>
                  <a:srgbClr val="FBBF24"/>
                </a:solidFill>
                <a:latin typeface="Arial" pitchFamily="34" charset="0"/>
                <a:ea typeface="Arial" pitchFamily="34" charset="-122"/>
                <a:cs typeface="Arial" pitchFamily="34" charset="-120"/>
              </a:rPr>
              <a:t>IN PRODUCTION</a:t>
            </a:r>
            <a:endParaRPr lang="en-US" sz="780" dirty="0"/>
          </a:p>
        </p:txBody>
      </p:sp>
      <p:sp>
        <p:nvSpPr>
          <p:cNvPr id="38" name="static:36:text"/>
          <p:cNvSpPr/>
          <p:nvPr/>
        </p:nvSpPr>
        <p:spPr>
          <a:xfrm>
            <a:off x="8802053" y="2149316"/>
            <a:ext cx="136826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Agent traces</a:t>
            </a:r>
            <a:endParaRPr lang="en-US" sz="1680" dirty="0"/>
          </a:p>
        </p:txBody>
      </p:sp>
      <p:sp>
        <p:nvSpPr>
          <p:cNvPr id="39" name="static:37:text"/>
          <p:cNvSpPr/>
          <p:nvPr/>
        </p:nvSpPr>
        <p:spPr>
          <a:xfrm>
            <a:off x="8802053" y="2528768"/>
            <a:ext cx="2279213"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Check behaviour on real requests.</a:t>
            </a:r>
            <a:endParaRPr lang="en-US" sz="1140" dirty="0"/>
          </a:p>
        </p:txBody>
      </p:sp>
      <p:sp>
        <p:nvSpPr>
          <p:cNvPr id="40" name="static:38:shape"/>
          <p:cNvSpPr/>
          <p:nvPr/>
        </p:nvSpPr>
        <p:spPr>
          <a:xfrm>
            <a:off x="8802053" y="3655933"/>
            <a:ext cx="2254568" cy="954643"/>
          </a:xfrm>
          <a:prstGeom prst="roundRect">
            <a:avLst>
              <a:gd name="adj" fmla="val 7982"/>
            </a:avLst>
          </a:prstGeom>
          <a:solidFill>
            <a:srgbClr val="2E2E2E"/>
          </a:solidFill>
          <a:ln w="7620">
            <a:solidFill>
              <a:srgbClr val="474747"/>
            </a:solidFill>
            <a:prstDash val="solid"/>
          </a:ln>
        </p:spPr>
        <p:txBody>
          <a:bodyPr/>
          <a:lstStyle/>
          <a:p>
            <a:endParaRPr lang="en-US"/>
          </a:p>
        </p:txBody>
      </p:sp>
      <p:sp>
        <p:nvSpPr>
          <p:cNvPr id="41" name="static:39:text"/>
          <p:cNvSpPr/>
          <p:nvPr/>
        </p:nvSpPr>
        <p:spPr>
          <a:xfrm>
            <a:off x="8946833" y="3793093"/>
            <a:ext cx="1312545" cy="213360"/>
          </a:xfrm>
          <a:prstGeom prst="rect">
            <a:avLst/>
          </a:prstGeom>
          <a:noFill/>
          <a:ln/>
        </p:spPr>
        <p:txBody>
          <a:bodyPr wrap="none" lIns="0" tIns="0" rIns="0" bIns="0" rtlCol="0" anchor="ctr"/>
          <a:lstStyle/>
          <a:p>
            <a:pPr marL="0" indent="0" algn="l">
              <a:buNone/>
            </a:pPr>
            <a:r>
              <a:rPr lang="en-US" sz="1320" b="1" dirty="0">
                <a:solidFill>
                  <a:srgbClr val="FBBF24"/>
                </a:solidFill>
                <a:latin typeface="Arial" pitchFamily="34" charset="0"/>
                <a:ea typeface="Arial" pitchFamily="34" charset="-122"/>
                <a:cs typeface="Arial" pitchFamily="34" charset="-120"/>
              </a:rPr>
              <a:t>Evaluate &amp; alert</a:t>
            </a:r>
            <a:endParaRPr lang="en-US" sz="1320" dirty="0"/>
          </a:p>
        </p:txBody>
      </p:sp>
      <p:sp>
        <p:nvSpPr>
          <p:cNvPr id="42" name="static:40:text"/>
          <p:cNvSpPr/>
          <p:nvPr/>
        </p:nvSpPr>
        <p:spPr>
          <a:xfrm>
            <a:off x="8946833" y="4075033"/>
            <a:ext cx="1580436"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Sample traces. Monitor</a:t>
            </a:r>
            <a:endParaRPr lang="en-US" sz="1140" dirty="0"/>
          </a:p>
        </p:txBody>
      </p:sp>
      <p:sp>
        <p:nvSpPr>
          <p:cNvPr id="43" name="static:41:text"/>
          <p:cNvSpPr/>
          <p:nvPr/>
        </p:nvSpPr>
        <p:spPr>
          <a:xfrm>
            <a:off x="8946833" y="4270415"/>
            <a:ext cx="1677948" cy="182880"/>
          </a:xfrm>
          <a:prstGeom prst="rect">
            <a:avLst/>
          </a:prstGeom>
          <a:noFill/>
          <a:ln/>
        </p:spPr>
        <p:txBody>
          <a:bodyPr wrap="none" lIns="0" tIns="0" rIns="0" bIns="0" rtlCol="0" anchor="ctr"/>
          <a:lstStyle/>
          <a:p>
            <a:pPr marL="0" indent="0" algn="l">
              <a:buNone/>
            </a:pPr>
            <a:r>
              <a:rPr lang="en-US" sz="1140" dirty="0">
                <a:solidFill>
                  <a:srgbClr val="B0B0B0"/>
                </a:solidFill>
                <a:latin typeface="Arial" pitchFamily="34" charset="0"/>
                <a:ea typeface="Arial" pitchFamily="34" charset="-122"/>
                <a:cs typeface="Arial" pitchFamily="34" charset="-120"/>
              </a:rPr>
              <a:t>quality, latency and cost.</a:t>
            </a:r>
            <a:endParaRPr lang="en-US" sz="1140" dirty="0"/>
          </a:p>
        </p:txBody>
      </p:sp>
      <p:sp>
        <p:nvSpPr>
          <p:cNvPr id="44" name="static:42:shape"/>
          <p:cNvSpPr/>
          <p:nvPr/>
        </p:nvSpPr>
        <p:spPr>
          <a:xfrm>
            <a:off x="8642033" y="5014436"/>
            <a:ext cx="2574608" cy="624840"/>
          </a:xfrm>
          <a:prstGeom prst="roundRect">
            <a:avLst>
              <a:gd name="adj" fmla="val 12195"/>
            </a:avLst>
          </a:prstGeom>
          <a:solidFill>
            <a:srgbClr val="292929"/>
          </a:solidFill>
          <a:ln w="7620">
            <a:solidFill>
              <a:srgbClr val="FD8EA1"/>
            </a:solidFill>
            <a:prstDash val="solid"/>
          </a:ln>
        </p:spPr>
        <p:txBody>
          <a:bodyPr/>
          <a:lstStyle/>
          <a:p>
            <a:endParaRPr lang="en-US"/>
          </a:p>
        </p:txBody>
      </p:sp>
      <p:sp>
        <p:nvSpPr>
          <p:cNvPr id="45" name="static:43:text"/>
          <p:cNvSpPr/>
          <p:nvPr/>
        </p:nvSpPr>
        <p:spPr>
          <a:xfrm>
            <a:off x="8802053" y="5140166"/>
            <a:ext cx="738426" cy="190500"/>
          </a:xfrm>
          <a:prstGeom prst="rect">
            <a:avLst/>
          </a:prstGeom>
          <a:noFill/>
          <a:ln/>
        </p:spPr>
        <p:txBody>
          <a:bodyPr wrap="none" lIns="0" tIns="0" rIns="0" bIns="0" rtlCol="0" anchor="ctr"/>
          <a:lstStyle/>
          <a:p>
            <a:pPr marL="0" indent="0" algn="l">
              <a:buNone/>
            </a:pPr>
            <a:r>
              <a:rPr lang="en-US" sz="1200" b="1" dirty="0">
                <a:solidFill>
                  <a:srgbClr val="FD8EA1"/>
                </a:solidFill>
                <a:latin typeface="Arial" pitchFamily="34" charset="0"/>
                <a:ea typeface="Arial" pitchFamily="34" charset="-122"/>
                <a:cs typeface="Arial" pitchFamily="34" charset="-120"/>
              </a:rPr>
              <a:t>Optimise</a:t>
            </a:r>
            <a:endParaRPr lang="en-US" sz="1200" dirty="0"/>
          </a:p>
        </p:txBody>
      </p:sp>
      <p:sp>
        <p:nvSpPr>
          <p:cNvPr id="46" name="static:44:text"/>
          <p:cNvSpPr/>
          <p:nvPr/>
        </p:nvSpPr>
        <p:spPr>
          <a:xfrm>
            <a:off x="8802053" y="5361146"/>
            <a:ext cx="1234916" cy="152400"/>
          </a:xfrm>
          <a:prstGeom prst="rect">
            <a:avLst/>
          </a:prstGeom>
          <a:noFill/>
          <a:ln/>
        </p:spPr>
        <p:txBody>
          <a:bodyPr wrap="none" lIns="0" tIns="0" rIns="0" bIns="0" rtlCol="0" anchor="ctr"/>
          <a:lstStyle/>
          <a:p>
            <a:pPr marL="0" indent="0" algn="l">
              <a:buNone/>
            </a:pPr>
            <a:r>
              <a:rPr lang="en-US" sz="960" dirty="0">
                <a:solidFill>
                  <a:srgbClr val="B0B0B0"/>
                </a:solidFill>
                <a:latin typeface="Arial" pitchFamily="34" charset="0"/>
                <a:ea typeface="Arial" pitchFamily="34" charset="-122"/>
                <a:cs typeface="Arial" pitchFamily="34" charset="-120"/>
              </a:rPr>
              <a:t>Compare candidates</a:t>
            </a:r>
            <a:endParaRPr lang="en-US" sz="960" dirty="0"/>
          </a:p>
        </p:txBody>
      </p:sp>
      <p:sp>
        <p:nvSpPr>
          <p:cNvPr id="47" name="static:45:path:segment-0"/>
          <p:cNvSpPr/>
          <p:nvPr/>
        </p:nvSpPr>
        <p:spPr>
          <a:xfrm>
            <a:off x="9928860" y="4768883"/>
            <a:ext cx="0" cy="229051"/>
          </a:xfrm>
          <a:prstGeom prst="line">
            <a:avLst/>
          </a:prstGeom>
          <a:noFill/>
          <a:ln w="15240">
            <a:solidFill>
              <a:srgbClr val="FD8EA1"/>
            </a:solidFill>
            <a:prstDash val="solid"/>
            <a:headEnd type="none"/>
            <a:tailEnd type="triangle"/>
          </a:ln>
        </p:spPr>
        <p:txBody>
          <a:bodyPr/>
          <a:lstStyle/>
          <a:p>
            <a:endParaRPr lang="en-US"/>
          </a:p>
        </p:txBody>
      </p:sp>
      <p:sp>
        <p:nvSpPr>
          <p:cNvPr id="48" name="static:46:path:segment-0"/>
          <p:cNvSpPr/>
          <p:nvPr/>
        </p:nvSpPr>
        <p:spPr>
          <a:xfrm flipH="1">
            <a:off x="6096000" y="5326240"/>
            <a:ext cx="2545080" cy="0"/>
          </a:xfrm>
          <a:prstGeom prst="line">
            <a:avLst/>
          </a:prstGeom>
          <a:noFill/>
          <a:ln w="15240">
            <a:solidFill>
              <a:srgbClr val="FD8EA1"/>
            </a:solidFill>
            <a:prstDash val="solid"/>
            <a:headEnd type="none"/>
            <a:tailEnd type="none"/>
          </a:ln>
        </p:spPr>
        <p:txBody>
          <a:bodyPr/>
          <a:lstStyle/>
          <a:p>
            <a:endParaRPr lang="en-US"/>
          </a:p>
        </p:txBody>
      </p:sp>
      <p:sp>
        <p:nvSpPr>
          <p:cNvPr id="49" name="static:46:path:segment-1"/>
          <p:cNvSpPr/>
          <p:nvPr/>
        </p:nvSpPr>
        <p:spPr>
          <a:xfrm flipV="1">
            <a:off x="6096000" y="4768883"/>
            <a:ext cx="0" cy="557357"/>
          </a:xfrm>
          <a:prstGeom prst="line">
            <a:avLst/>
          </a:prstGeom>
          <a:noFill/>
          <a:ln w="15240">
            <a:solidFill>
              <a:srgbClr val="FD8EA1"/>
            </a:solidFill>
            <a:prstDash val="solid"/>
            <a:headEnd type="none"/>
            <a:tailEnd type="triangle"/>
          </a:ln>
        </p:spPr>
        <p:txBody>
          <a:bodyPr/>
          <a:lstStyle/>
          <a:p>
            <a:endParaRPr lang="en-US"/>
          </a:p>
        </p:txBody>
      </p:sp>
      <p:sp>
        <p:nvSpPr>
          <p:cNvPr id="50" name="static:47: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51" name="static:48:text"/>
          <p:cNvSpPr/>
          <p:nvPr/>
        </p:nvSpPr>
        <p:spPr>
          <a:xfrm>
            <a:off x="10457736" y="6461760"/>
            <a:ext cx="1216104"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Worth exploring next">
    <p:spTree>
      <p:nvGrpSpPr>
        <p:cNvPr id="1" name=""/>
        <p:cNvGrpSpPr/>
        <p:nvPr/>
      </p:nvGrpSpPr>
      <p:grpSpPr>
        <a:xfrm>
          <a:off x="0" y="0"/>
          <a:ext cx="0" cy="0"/>
          <a:chOff x="0" y="0"/>
          <a:chExt cx="0" cy="0"/>
        </a:xfrm>
      </p:grpSpPr>
      <p:sp>
        <p:nvSpPr>
          <p:cNvPr id="2" name="static:0:text"/>
          <p:cNvSpPr/>
          <p:nvPr/>
        </p:nvSpPr>
        <p:spPr>
          <a:xfrm>
            <a:off x="2727960" y="870109"/>
            <a:ext cx="2479715" cy="152400"/>
          </a:xfrm>
          <a:prstGeom prst="rect">
            <a:avLst/>
          </a:prstGeom>
          <a:noFill/>
          <a:ln/>
        </p:spPr>
        <p:txBody>
          <a:bodyPr wrap="none" lIns="0" tIns="0" rIns="0" bIns="0" rtlCol="0" anchor="ctr"/>
          <a:lstStyle/>
          <a:p>
            <a:pPr marL="0" indent="0" algn="l">
              <a:buNone/>
            </a:pPr>
            <a:r>
              <a:rPr lang="en-US" sz="960" b="1" kern="0" spc="154" dirty="0">
                <a:solidFill>
                  <a:srgbClr val="4DA6FF"/>
                </a:solidFill>
                <a:latin typeface="Arial" pitchFamily="34" charset="0"/>
                <a:ea typeface="Arial" pitchFamily="34" charset="-122"/>
                <a:cs typeface="Arial" pitchFamily="34" charset="-120"/>
              </a:rPr>
              <a:t>MORE IN MICROSOFT FOUNDRY</a:t>
            </a:r>
            <a:endParaRPr lang="en-US" sz="960" dirty="0"/>
          </a:p>
        </p:txBody>
      </p:sp>
      <p:sp>
        <p:nvSpPr>
          <p:cNvPr id="3" name="static:1:text"/>
          <p:cNvSpPr/>
          <p:nvPr/>
        </p:nvSpPr>
        <p:spPr>
          <a:xfrm>
            <a:off x="975360" y="1068229"/>
            <a:ext cx="3094530" cy="411480"/>
          </a:xfrm>
          <a:prstGeom prst="rect">
            <a:avLst/>
          </a:prstGeom>
          <a:noFill/>
          <a:ln/>
        </p:spPr>
        <p:txBody>
          <a:bodyPr wrap="none" lIns="0" tIns="0" rIns="0" bIns="0" rtlCol="0" anchor="ctr"/>
          <a:lstStyle/>
          <a:p>
            <a:pPr marL="0" indent="0" algn="l">
              <a:buNone/>
            </a:pPr>
            <a:r>
              <a:rPr lang="en-US" sz="2640" b="1" kern="0" spc="-92" dirty="0">
                <a:solidFill>
                  <a:srgbClr val="DEDEDE"/>
                </a:solidFill>
                <a:latin typeface="Arial" pitchFamily="34" charset="0"/>
                <a:ea typeface="Arial" pitchFamily="34" charset="-122"/>
                <a:cs typeface="Arial" pitchFamily="34" charset="-120"/>
              </a:rPr>
              <a:t>Worth exploring next</a:t>
            </a:r>
            <a:endParaRPr lang="en-US" sz="2640" dirty="0"/>
          </a:p>
        </p:txBody>
      </p:sp>
      <p:sp>
        <p:nvSpPr>
          <p:cNvPr id="4" name="static:2:text"/>
          <p:cNvSpPr/>
          <p:nvPr/>
        </p:nvSpPr>
        <p:spPr>
          <a:xfrm>
            <a:off x="975360" y="2251234"/>
            <a:ext cx="348377"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01</a:t>
            </a:r>
            <a:endParaRPr lang="en-US" sz="1680" dirty="0"/>
          </a:p>
        </p:txBody>
      </p:sp>
      <p:sp>
        <p:nvSpPr>
          <p:cNvPr id="5" name="static:3:text"/>
          <p:cNvSpPr/>
          <p:nvPr/>
        </p:nvSpPr>
        <p:spPr>
          <a:xfrm>
            <a:off x="975360" y="2578894"/>
            <a:ext cx="1962507"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Annotation</a:t>
            </a:r>
            <a:endParaRPr lang="en-US" sz="1680" dirty="0"/>
          </a:p>
        </p:txBody>
      </p:sp>
      <p:sp>
        <p:nvSpPr>
          <p:cNvPr id="6" name="static:4:text"/>
          <p:cNvSpPr/>
          <p:nvPr/>
        </p:nvSpPr>
        <p:spPr>
          <a:xfrm>
            <a:off x="975360" y="2912626"/>
            <a:ext cx="2510076"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Bring domain experts into evaluation</a:t>
            </a:r>
            <a:endParaRPr lang="en-US" sz="1200" dirty="0"/>
          </a:p>
        </p:txBody>
      </p:sp>
      <p:sp>
        <p:nvSpPr>
          <p:cNvPr id="7" name="static:5:text"/>
          <p:cNvSpPr/>
          <p:nvPr/>
        </p:nvSpPr>
        <p:spPr>
          <a:xfrm>
            <a:off x="4256961" y="2251234"/>
            <a:ext cx="374690" cy="266700"/>
          </a:xfrm>
          <a:prstGeom prst="rect">
            <a:avLst/>
          </a:prstGeom>
          <a:noFill/>
          <a:ln/>
        </p:spPr>
        <p:txBody>
          <a:bodyPr wrap="none" lIns="0" tIns="0" rIns="0" bIns="0" rtlCol="0" anchor="ctr"/>
          <a:lstStyle/>
          <a:p>
            <a:pPr marL="0" indent="0" algn="l">
              <a:buNone/>
            </a:pPr>
            <a:r>
              <a:rPr lang="en-US" sz="1680" b="1" dirty="0">
                <a:solidFill>
                  <a:srgbClr val="FD8EA1"/>
                </a:solidFill>
                <a:latin typeface="Arial" pitchFamily="34" charset="0"/>
                <a:ea typeface="Arial" pitchFamily="34" charset="-122"/>
                <a:cs typeface="Arial" pitchFamily="34" charset="-120"/>
              </a:rPr>
              <a:t>02</a:t>
            </a:r>
            <a:endParaRPr lang="en-US" sz="1680" dirty="0"/>
          </a:p>
        </p:txBody>
      </p:sp>
      <p:sp>
        <p:nvSpPr>
          <p:cNvPr id="8" name="static:6:text"/>
          <p:cNvSpPr/>
          <p:nvPr/>
        </p:nvSpPr>
        <p:spPr>
          <a:xfrm>
            <a:off x="4256961" y="2578894"/>
            <a:ext cx="203168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Synthetic Test Data</a:t>
            </a:r>
            <a:endParaRPr lang="en-US" sz="1680" dirty="0"/>
          </a:p>
        </p:txBody>
      </p:sp>
      <p:sp>
        <p:nvSpPr>
          <p:cNvPr id="9" name="static:7:text"/>
          <p:cNvSpPr/>
          <p:nvPr/>
        </p:nvSpPr>
        <p:spPr>
          <a:xfrm>
            <a:off x="4256961" y="2912626"/>
            <a:ext cx="183618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Expand the cases you test</a:t>
            </a:r>
            <a:endParaRPr lang="en-US" sz="1200" dirty="0"/>
          </a:p>
        </p:txBody>
      </p:sp>
      <p:sp>
        <p:nvSpPr>
          <p:cNvPr id="10" name="static:8:text"/>
          <p:cNvSpPr/>
          <p:nvPr/>
        </p:nvSpPr>
        <p:spPr>
          <a:xfrm>
            <a:off x="7538680" y="2251234"/>
            <a:ext cx="380881" cy="266700"/>
          </a:xfrm>
          <a:prstGeom prst="rect">
            <a:avLst/>
          </a:prstGeom>
          <a:noFill/>
          <a:ln/>
        </p:spPr>
        <p:txBody>
          <a:bodyPr wrap="none" lIns="0" tIns="0" rIns="0" bIns="0" rtlCol="0" anchor="ctr"/>
          <a:lstStyle/>
          <a:p>
            <a:pPr marL="0" indent="0" algn="l">
              <a:buNone/>
            </a:pPr>
            <a:r>
              <a:rPr lang="en-US" sz="1680" b="1" dirty="0">
                <a:solidFill>
                  <a:srgbClr val="FBBF24"/>
                </a:solidFill>
                <a:latin typeface="Arial" pitchFamily="34" charset="0"/>
                <a:ea typeface="Arial" pitchFamily="34" charset="-122"/>
                <a:cs typeface="Arial" pitchFamily="34" charset="-120"/>
              </a:rPr>
              <a:t>03</a:t>
            </a:r>
            <a:endParaRPr lang="en-US" sz="1680" dirty="0"/>
          </a:p>
        </p:txBody>
      </p:sp>
      <p:sp>
        <p:nvSpPr>
          <p:cNvPr id="11" name="static:9:text"/>
          <p:cNvSpPr/>
          <p:nvPr/>
        </p:nvSpPr>
        <p:spPr>
          <a:xfrm>
            <a:off x="7538680" y="2578894"/>
            <a:ext cx="1626156"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AI Red Teaming</a:t>
            </a:r>
            <a:endParaRPr lang="en-US" sz="1680" dirty="0"/>
          </a:p>
        </p:txBody>
      </p:sp>
      <p:sp>
        <p:nvSpPr>
          <p:cNvPr id="12" name="static:10:text"/>
          <p:cNvSpPr/>
          <p:nvPr/>
        </p:nvSpPr>
        <p:spPr>
          <a:xfrm>
            <a:off x="7538680" y="2912626"/>
            <a:ext cx="182868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Test adversarial behaviour</a:t>
            </a:r>
            <a:endParaRPr lang="en-US" sz="1200" dirty="0"/>
          </a:p>
        </p:txBody>
      </p:sp>
      <p:sp>
        <p:nvSpPr>
          <p:cNvPr id="13" name="static:11:text"/>
          <p:cNvSpPr/>
          <p:nvPr/>
        </p:nvSpPr>
        <p:spPr>
          <a:xfrm>
            <a:off x="975360" y="3622834"/>
            <a:ext cx="385286" cy="266700"/>
          </a:xfrm>
          <a:prstGeom prst="rect">
            <a:avLst/>
          </a:prstGeom>
          <a:noFill/>
          <a:ln/>
        </p:spPr>
        <p:txBody>
          <a:bodyPr wrap="none" lIns="0" tIns="0" rIns="0" bIns="0" rtlCol="0" anchor="ctr"/>
          <a:lstStyle/>
          <a:p>
            <a:pPr marL="0" indent="0" algn="l">
              <a:buNone/>
            </a:pPr>
            <a:r>
              <a:rPr lang="en-US" sz="1680" b="1" dirty="0">
                <a:solidFill>
                  <a:srgbClr val="4ADE80"/>
                </a:solidFill>
                <a:latin typeface="Arial" pitchFamily="34" charset="0"/>
                <a:ea typeface="Arial" pitchFamily="34" charset="-122"/>
                <a:cs typeface="Arial" pitchFamily="34" charset="-120"/>
              </a:rPr>
              <a:t>04</a:t>
            </a:r>
            <a:endParaRPr lang="en-US" sz="1680" dirty="0"/>
          </a:p>
        </p:txBody>
      </p:sp>
      <p:sp>
        <p:nvSpPr>
          <p:cNvPr id="14" name="static:12:text"/>
          <p:cNvSpPr/>
          <p:nvPr/>
        </p:nvSpPr>
        <p:spPr>
          <a:xfrm>
            <a:off x="975360" y="3950494"/>
            <a:ext cx="1121212"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Guardrails</a:t>
            </a:r>
            <a:endParaRPr lang="en-US" sz="1680" dirty="0"/>
          </a:p>
        </p:txBody>
      </p:sp>
      <p:sp>
        <p:nvSpPr>
          <p:cNvPr id="15" name="static:13:text"/>
          <p:cNvSpPr/>
          <p:nvPr/>
        </p:nvSpPr>
        <p:spPr>
          <a:xfrm>
            <a:off x="975360" y="4284226"/>
            <a:ext cx="2325291"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Protect inputs and tool responses</a:t>
            </a:r>
            <a:endParaRPr lang="en-US" sz="1200" dirty="0"/>
          </a:p>
        </p:txBody>
      </p:sp>
      <p:sp>
        <p:nvSpPr>
          <p:cNvPr id="16" name="static:14:text"/>
          <p:cNvSpPr/>
          <p:nvPr/>
        </p:nvSpPr>
        <p:spPr>
          <a:xfrm>
            <a:off x="4256961" y="3622834"/>
            <a:ext cx="378619" cy="266700"/>
          </a:xfrm>
          <a:prstGeom prst="rect">
            <a:avLst/>
          </a:prstGeom>
          <a:noFill/>
          <a:ln/>
        </p:spPr>
        <p:txBody>
          <a:bodyPr wrap="none" lIns="0" tIns="0" rIns="0" bIns="0" rtlCol="0" anchor="ctr"/>
          <a:lstStyle/>
          <a:p>
            <a:pPr marL="0" indent="0" algn="l">
              <a:buNone/>
            </a:pPr>
            <a:r>
              <a:rPr lang="en-US" sz="1680" b="1" dirty="0">
                <a:solidFill>
                  <a:srgbClr val="F87171"/>
                </a:solidFill>
                <a:latin typeface="Arial" pitchFamily="34" charset="0"/>
                <a:ea typeface="Arial" pitchFamily="34" charset="-122"/>
                <a:cs typeface="Arial" pitchFamily="34" charset="-120"/>
              </a:rPr>
              <a:t>05</a:t>
            </a:r>
            <a:endParaRPr lang="en-US" sz="1680" dirty="0"/>
          </a:p>
        </p:txBody>
      </p:sp>
      <p:sp>
        <p:nvSpPr>
          <p:cNvPr id="17" name="static:15:text"/>
          <p:cNvSpPr/>
          <p:nvPr/>
        </p:nvSpPr>
        <p:spPr>
          <a:xfrm>
            <a:off x="4256961" y="3950494"/>
            <a:ext cx="2318385"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Identity &amp; Permissions</a:t>
            </a:r>
            <a:endParaRPr lang="en-US" sz="1680" dirty="0"/>
          </a:p>
        </p:txBody>
      </p:sp>
      <p:sp>
        <p:nvSpPr>
          <p:cNvPr id="18" name="static:16:text"/>
          <p:cNvSpPr/>
          <p:nvPr/>
        </p:nvSpPr>
        <p:spPr>
          <a:xfrm>
            <a:off x="4256961" y="4284226"/>
            <a:ext cx="2229922"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Limit what the agent can access</a:t>
            </a:r>
            <a:endParaRPr lang="en-US" sz="1200" dirty="0"/>
          </a:p>
        </p:txBody>
      </p:sp>
      <p:sp>
        <p:nvSpPr>
          <p:cNvPr id="19" name="static:17:text"/>
          <p:cNvSpPr/>
          <p:nvPr/>
        </p:nvSpPr>
        <p:spPr>
          <a:xfrm>
            <a:off x="7538680" y="3622834"/>
            <a:ext cx="385405" cy="266700"/>
          </a:xfrm>
          <a:prstGeom prst="rect">
            <a:avLst/>
          </a:prstGeom>
          <a:noFill/>
          <a:ln/>
        </p:spPr>
        <p:txBody>
          <a:bodyPr wrap="none" lIns="0" tIns="0" rIns="0" bIns="0" rtlCol="0" anchor="ctr"/>
          <a:lstStyle/>
          <a:p>
            <a:pPr marL="0" indent="0" algn="l">
              <a:buNone/>
            </a:pPr>
            <a:r>
              <a:rPr lang="en-US" sz="1680" b="1" dirty="0">
                <a:solidFill>
                  <a:srgbClr val="4DA6FF"/>
                </a:solidFill>
                <a:latin typeface="Arial" pitchFamily="34" charset="0"/>
                <a:ea typeface="Arial" pitchFamily="34" charset="-122"/>
                <a:cs typeface="Arial" pitchFamily="34" charset="-120"/>
              </a:rPr>
              <a:t>06</a:t>
            </a:r>
            <a:endParaRPr lang="en-US" sz="1680" dirty="0"/>
          </a:p>
        </p:txBody>
      </p:sp>
      <p:sp>
        <p:nvSpPr>
          <p:cNvPr id="20" name="static:18:text"/>
          <p:cNvSpPr/>
          <p:nvPr/>
        </p:nvSpPr>
        <p:spPr>
          <a:xfrm>
            <a:off x="7538680" y="3950494"/>
            <a:ext cx="1861423" cy="266700"/>
          </a:xfrm>
          <a:prstGeom prst="rect">
            <a:avLst/>
          </a:prstGeom>
          <a:noFill/>
          <a:ln/>
        </p:spPr>
        <p:txBody>
          <a:bodyPr wrap="none" lIns="0" tIns="0" rIns="0" bIns="0" rtlCol="0" anchor="ctr"/>
          <a:lstStyle/>
          <a:p>
            <a:pPr marL="0" indent="0" algn="l">
              <a:buNone/>
            </a:pPr>
            <a:r>
              <a:rPr lang="en-US" sz="1680" b="1" dirty="0">
                <a:solidFill>
                  <a:srgbClr val="DEDEDE"/>
                </a:solidFill>
                <a:latin typeface="Arial" pitchFamily="34" charset="0"/>
                <a:ea typeface="Arial" pitchFamily="34" charset="-122"/>
                <a:cs typeface="Arial" pitchFamily="34" charset="-120"/>
              </a:rPr>
              <a:t>Human Approvals</a:t>
            </a:r>
            <a:endParaRPr lang="en-US" sz="1680" dirty="0"/>
          </a:p>
        </p:txBody>
      </p:sp>
      <p:sp>
        <p:nvSpPr>
          <p:cNvPr id="21" name="static:19:text"/>
          <p:cNvSpPr/>
          <p:nvPr/>
        </p:nvSpPr>
        <p:spPr>
          <a:xfrm>
            <a:off x="7538680" y="4284226"/>
            <a:ext cx="2269450" cy="190500"/>
          </a:xfrm>
          <a:prstGeom prst="rect">
            <a:avLst/>
          </a:prstGeom>
          <a:noFill/>
          <a:ln/>
        </p:spPr>
        <p:txBody>
          <a:bodyPr wrap="none" lIns="0" tIns="0" rIns="0" bIns="0" rtlCol="0" anchor="ctr"/>
          <a:lstStyle/>
          <a:p>
            <a:pPr marL="0" indent="0" algn="l">
              <a:buNone/>
            </a:pPr>
            <a:r>
              <a:rPr lang="en-US" sz="1200" dirty="0">
                <a:solidFill>
                  <a:srgbClr val="B0B0B0"/>
                </a:solidFill>
                <a:latin typeface="Arial" pitchFamily="34" charset="0"/>
                <a:ea typeface="Arial" pitchFamily="34" charset="-122"/>
                <a:cs typeface="Arial" pitchFamily="34" charset="-120"/>
              </a:rPr>
              <a:t>Keep people in control of actions</a:t>
            </a:r>
            <a:endParaRPr lang="en-US" sz="1200" dirty="0"/>
          </a:p>
        </p:txBody>
      </p:sp>
      <p:sp>
        <p:nvSpPr>
          <p:cNvPr id="22" name="static:20: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23" name="static:21:text"/>
          <p:cNvSpPr/>
          <p:nvPr/>
        </p:nvSpPr>
        <p:spPr>
          <a:xfrm>
            <a:off x="10463927" y="6461760"/>
            <a:ext cx="120991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17</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Build measure improve repeat">
    <p:spTree>
      <p:nvGrpSpPr>
        <p:cNvPr id="1" name=""/>
        <p:cNvGrpSpPr/>
        <p:nvPr/>
      </p:nvGrpSpPr>
      <p:grpSpPr>
        <a:xfrm>
          <a:off x="0" y="0"/>
          <a:ext cx="0" cy="0"/>
          <a:chOff x="0" y="0"/>
          <a:chExt cx="0" cy="0"/>
        </a:xfrm>
      </p:grpSpPr>
      <p:sp>
        <p:nvSpPr>
          <p:cNvPr id="2" name="static:0:text"/>
          <p:cNvSpPr/>
          <p:nvPr/>
        </p:nvSpPr>
        <p:spPr>
          <a:xfrm>
            <a:off x="975360" y="2343626"/>
            <a:ext cx="496133" cy="190500"/>
          </a:xfrm>
          <a:prstGeom prst="rect">
            <a:avLst/>
          </a:prstGeom>
          <a:noFill/>
          <a:ln/>
        </p:spPr>
        <p:txBody>
          <a:bodyPr wrap="none" lIns="0" tIns="0" rIns="0" bIns="0" rtlCol="0" anchor="ctr"/>
          <a:lstStyle/>
          <a:p>
            <a:pPr marL="0" indent="0" algn="l">
              <a:buNone/>
            </a:pPr>
            <a:r>
              <a:rPr lang="en-US" sz="1200" b="1" kern="0" spc="180" dirty="0">
                <a:solidFill>
                  <a:srgbClr val="4DA6FF"/>
                </a:solidFill>
                <a:latin typeface="Arial" pitchFamily="34" charset="0"/>
                <a:ea typeface="Arial" pitchFamily="34" charset="-122"/>
                <a:cs typeface="Arial" pitchFamily="34" charset="-120"/>
              </a:rPr>
              <a:t>Q&amp;A</a:t>
            </a:r>
            <a:endParaRPr lang="en-US" sz="1200" dirty="0"/>
          </a:p>
        </p:txBody>
      </p:sp>
      <p:sp>
        <p:nvSpPr>
          <p:cNvPr id="3" name="static:1:text"/>
          <p:cNvSpPr/>
          <p:nvPr/>
        </p:nvSpPr>
        <p:spPr>
          <a:xfrm>
            <a:off x="975360" y="2640806"/>
            <a:ext cx="8494705" cy="624840"/>
          </a:xfrm>
          <a:prstGeom prst="rect">
            <a:avLst/>
          </a:prstGeom>
          <a:noFill/>
          <a:ln/>
        </p:spPr>
        <p:txBody>
          <a:bodyPr wrap="none" lIns="0" tIns="0" rIns="0" bIns="0" rtlCol="0" anchor="ctr"/>
          <a:lstStyle/>
          <a:p>
            <a:pPr marL="0" indent="0" algn="l">
              <a:buNone/>
            </a:pPr>
            <a:r>
              <a:rPr lang="en-US" sz="4080" b="1" kern="0" spc="-143" dirty="0">
                <a:solidFill>
                  <a:srgbClr val="DEDEDE"/>
                </a:solidFill>
                <a:latin typeface="Arial" pitchFamily="34" charset="0"/>
                <a:ea typeface="Arial" pitchFamily="34" charset="-122"/>
                <a:cs typeface="Arial" pitchFamily="34" charset="-120"/>
              </a:rPr>
              <a:t>Build → Measure → Improve → Repeat</a:t>
            </a:r>
            <a:endParaRPr lang="en-US" sz="4080" dirty="0"/>
          </a:p>
        </p:txBody>
      </p:sp>
      <p:sp>
        <p:nvSpPr>
          <p:cNvPr id="4" name="static:2:text"/>
          <p:cNvSpPr/>
          <p:nvPr/>
        </p:nvSpPr>
        <p:spPr>
          <a:xfrm>
            <a:off x="975360" y="3387566"/>
            <a:ext cx="5526524"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One working agent. Consistent answers. Measured trade-offs.</a:t>
            </a:r>
            <a:endParaRPr lang="en-US" sz="1620" dirty="0"/>
          </a:p>
        </p:txBody>
      </p:sp>
      <p:sp>
        <p:nvSpPr>
          <p:cNvPr id="5" name="static:3:text"/>
          <p:cNvSpPr/>
          <p:nvPr/>
        </p:nvSpPr>
        <p:spPr>
          <a:xfrm>
            <a:off x="975360" y="3665220"/>
            <a:ext cx="2498288" cy="259080"/>
          </a:xfrm>
          <a:prstGeom prst="rect">
            <a:avLst/>
          </a:prstGeom>
          <a:noFill/>
          <a:ln/>
        </p:spPr>
        <p:txBody>
          <a:bodyPr wrap="none" lIns="0" tIns="0" rIns="0" bIns="0" rtlCol="0" anchor="ctr"/>
          <a:lstStyle/>
          <a:p>
            <a:pPr marL="0" indent="0" algn="l">
              <a:buNone/>
            </a:pPr>
            <a:r>
              <a:rPr lang="en-US" sz="1620" dirty="0">
                <a:solidFill>
                  <a:srgbClr val="B0B0B0"/>
                </a:solidFill>
                <a:latin typeface="Arial" pitchFamily="34" charset="0"/>
                <a:ea typeface="Arial" pitchFamily="34" charset="-122"/>
                <a:cs typeface="Arial" pitchFamily="34" charset="-120"/>
              </a:rPr>
              <a:t>Repeatable release checks.</a:t>
            </a:r>
            <a:endParaRPr lang="en-US" sz="1620" dirty="0"/>
          </a:p>
        </p:txBody>
      </p:sp>
      <p:sp>
        <p:nvSpPr>
          <p:cNvPr id="6" name="static:4:text"/>
          <p:cNvSpPr/>
          <p:nvPr/>
        </p:nvSpPr>
        <p:spPr>
          <a:xfrm>
            <a:off x="609600" y="6461760"/>
            <a:ext cx="1539240"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FY27 AI GENIUS</a:t>
            </a:r>
            <a:endParaRPr lang="en-US" sz="720" dirty="0"/>
          </a:p>
        </p:txBody>
      </p:sp>
      <p:sp>
        <p:nvSpPr>
          <p:cNvPr id="7" name="static:5:text"/>
          <p:cNvSpPr/>
          <p:nvPr/>
        </p:nvSpPr>
        <p:spPr>
          <a:xfrm>
            <a:off x="10457617" y="6461760"/>
            <a:ext cx="1216223" cy="129540"/>
          </a:xfrm>
          <a:prstGeom prst="rect">
            <a:avLst/>
          </a:prstGeom>
          <a:noFill/>
          <a:ln/>
        </p:spPr>
        <p:txBody>
          <a:bodyPr wrap="none" lIns="0" tIns="0" rIns="0" bIns="0" rtlCol="0" anchor="ctr"/>
          <a:lstStyle/>
          <a:p>
            <a:pPr marL="0" indent="0" algn="l">
              <a:buNone/>
            </a:pPr>
            <a:r>
              <a:rPr lang="en-US" sz="720" kern="0" spc="58" dirty="0">
                <a:solidFill>
                  <a:srgbClr val="919191"/>
                </a:solidFill>
                <a:latin typeface="Arial" pitchFamily="34" charset="0"/>
                <a:ea typeface="Arial" pitchFamily="34" charset="-122"/>
                <a:cs typeface="Arial" pitchFamily="34" charset="-120"/>
              </a:rPr>
              <a:t>AI GENIUS / S6 E2 / 18</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fa4170-0d19-0005-0004-bc88714345d2}" enabled="1" method="Standard" siteId="{4b5f3023-3641-4fd5-9aa3-170596dd4367}" contentBits="0" removed="0"/>
</clbl:labelList>
</file>

<file path=docProps/app.xml><?xml version="1.0" encoding="utf-8"?>
<Properties xmlns="http://schemas.openxmlformats.org/officeDocument/2006/extended-properties" xmlns:vt="http://schemas.openxmlformats.org/officeDocument/2006/docPropsVTypes">
  <TotalTime>381</TotalTime>
  <Words>4091</Words>
  <Application>Microsoft Macintosh PowerPoint</Application>
  <PresentationFormat>Widescreen</PresentationFormat>
  <Paragraphs>298</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 to Production</dc:title>
  <dc:subject>AI Genius S6 E2 - From Prompt to Production</dc:subject>
  <dc:creator>Graeme Foster</dc:creator>
  <cp:lastModifiedBy>Graeme Foster</cp:lastModifiedBy>
  <cp:revision>3</cp:revision>
  <dcterms:created xsi:type="dcterms:W3CDTF">2026-09-24T03:46:03Z</dcterms:created>
  <dcterms:modified xsi:type="dcterms:W3CDTF">2026-10-09T07:57:39Z</dcterms:modified>
</cp:coreProperties>
</file>