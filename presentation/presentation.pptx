
<file path=[Content_Types].xml><?xml version="1.0" encoding="utf-8"?>
<Types xmlns="http://schemas.openxmlformats.org/package/2006/content-types">
  <Default Extension="jpg" ContentType="image/jp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4" d="100"/>
          <a:sy n="124" d="100"/>
        </p:scale>
        <p:origin x="28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9/24/26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Prompt to Production
Suggested timing: 1 minutes
KEY MESSAGE
Microsoft Foundry connects model choice, context, evaluation, optimisation and delivery.
DEFINITION
An agent combines a model, instructions, tools and context to work towards a goal.
TALK TRACK
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
TRANSITION
Preview the agenda, starting with model choice.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Suggested timing: 1 minutes
KEY MESSAGE
Model Choice, Grounding, Observe, Evaluate, Optimise, Automate.
DEFINITION
These are the six topics we will cover, in presentation order.
TALK TRACK
Introduce the six topics and their corresponding stage folders. One shared agent implementation runs throughout; each stage records configuration, actions and evidence. Observe and Evaluate add visibility and measurement without requiring a different agent.
TRANSITION
First, meet the agent we'll use throughout the session.
SOURCES
Session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agent
Suggested timing: 1 minutes
KEY MESSAGE
One purchasing advice agent and one question connect the demonstrations.
DEFINITION
The agent helps employees interpret purchasing guidance and identify the approvals they need.
TALK TRACK
Introduce the learning coordinator and read the Nova Learning question. The agent advises on purchasing; the employee follows the approval process. Use this question to establish the baseline, then expand to different dates, purchase types and incomplete requests when evaluating consistency.
TRANSITION
The first choice is normally which model to use.
SOURCES
Nova Learning scenario.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Suggested timing: 2 minutes
KEY MESSAGE
The first choice is normally which model to use.
DEFINITION
Quality, speed and cost are different priorities when choosing a model.
TALK TRACK
Model 1 handles complex reasoning, at higher cost and with slower responses. Model 2 prioritises speed but is less capable on complex tasks. Model 3 keeps high-volume work inexpensive but is less suited to nuanced requests. Compare the trade-offs in Foundry, then revisit the starting choice with task-specific evaluations.
TRANSITION
Open the Foundry portal to compare real models and see where Model Router fits.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Foundry Model Comparison
Suggested timing: 3 minutes
KEY MESSAGE
The first model choice is a hypothesis.
DEFINITION
A starting configuration is an engineering choice that must later be tested against the real business task.
TALK TRACK
Compare a small fixed-model shortlist and Model Router in Foundry. Record the starting model or routing configuration and explain the choice. Keep later baseline comparisons tied to that exact configuration.
DEMO CHECKPOINT
01-model-choice: save the starting model/configuration and portal comparison evidence. The stage playbook records prerequisites, commands, portal steps and the reset procedure.
TRANSITION
Now give the starting agent the organisational context it needs.
SOURCES
Microsoft Foundry model catalog and Model Router demonstration.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Suggested timing: 3 minutes
KEY MESSAGE
Different sources provide different kinds of organisational context.
DEFINITION
Foundry IQ provides institutional knowledge, Fabric IQ provides governed business entities and state, and Work IQ provides workplace context.
TALK TRACK
Return to the purchasing question and explain the three source types: institutional documents, business records and workplace conversations. Foundry IQ is connected, Fabric IQ is a conceptual spend example and Work IQ uses a sample adapter.
TRANSITION
Let's ask the agent and explore the context available to it.
SOURCES
Microsoft IQ concepts and fictional scenario.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Run the Starting Agent
Suggested timing: 5 minutes
KEY MESSAGE
Establish the working baseline and preserve its evidence.
DEFINITION
Instructions define the task and boundaries; tool descriptions explain when a source is useful and what it returns.
TALK TRACK
Run the opening question with Foundry IQ and the sample Work IQ adapter available. Read the actual answer, then inspect the policy and synthetic email: one quotation and Head of Learning approval by 30 November 2026. Save the configuration, source versions, question, answer and run ID. A correct first answer is the starting point for measuring consistency across cases.
DEMO CHECKPOINT
02-grounding: save a working baseline, source fixtures and the run ID. Use the saved run if the live service is unavailable, identifying it as a prepared run.
TRANSITION
Open the trace to inspect how the answer was produced.
SOURCES
Demo implementation to be rehearsed.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
Suggested timing: 2 minutes
KEY MESSAGE
Inspect the calls, inputs and outputs behind the answer.
DEFINITION
A trace records LLM calls, tool calls and timings, with captured prompts and responses.
TALK TRACK
Introduce the three things to inspect: call order, inputs and outputs, and duration. Explain how these let us reconstruct a run. Ask what evidence the audience would look for in the trace.
TRANSITION
Let's follow the run that produced this answer.
SOURCES
Microsoft Foundry observability concepts.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Inspect the Trace
Suggested timing: 4 minutes
KEY MESSAGE
Understand how the agent produced the answer and where it spent time.
DEFINITION
Tool-call inputs and outputs show what was requested and returned.
TALK TRACK
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
DEMO CHECKPOINT
03-observe: save the trace, call sequence and timing evidence. Keep the same agent configuration as stage 02.
TRANSITION
We've inspected one run. How consistently does the agent handle other purchasing situations?
SOURCES
Microsoft Foundry tracing demonstration.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Suggested timing: 3 minutes
KEY MESSAGE
Start with built-in evaluators, then add the criteria that matter for your task.
DEFINITION
Groundedness checks support from supplied context. Customer Satisfaction predicts satisfaction across the conversation. Rubric scores custom, weighted criteria using an LLM judge.
TALK TRACK
Introduce Groundedness and Customer Satisfaction, then the custom purchasing rubric. Explain how approval route, expiry, citations and an actionable next step are checked across different purchases, dates and missing information. Customer Satisfaction assesses helpfulness, completeness, clarity, tone, resolution and adaptability. Keep criteria fixed across versions. Customer Satisfaction and Rubric are in preview.
TRANSITION
Let's measure the starting agent against these criteria across purchasing cases.
SOURCES
Microsoft Learn, checked 24 September 2026: https://learn.microsoft.com/en-us/azure/foundry/concepts/evaluation-evaluators/rag-evaluators ; https://learn.microsoft.com/en-us/azure/foundry/concepts/evaluation-evaluators/agent-evaluators ; https://learn.microsoft.com/en-us/azure/foundry/concepts/evaluation-evaluators/rubric-evaluators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Evaluate Across Cases
Suggested timing: 6 minutes
KEY MESSAGE
Measure consistency across cases, not just the opening answer.
DEFINITION
Tokens are units of model input and output; response time is the user's end-to-end wait.
TALK TRACK
Open the baseline evaluation across valid and expired exceptions, different purchase types and missing information. Inspect per-case Groundedness, Customer Satisfaction and Rubric results alongside response time, tokens, tool calls and estimated cost. Repeat representative cases to assess variation. Identify measured opportunities: more consistent task completion, clearer responses or lower cost while preserving quality. Save the baseline before opening any Optimizer candidates.
DEMO CHECKPOINT
04-evaluate: freeze the baseline configuration, dataset, rubric and report. Record per-case results and operational metrics; choose the optimisation objective from this evidence.
TRANSITION
Use these results to set the optimisation goal, then keep the tests fixed.
SOURCES
Microsoft Foundry model comparison and evaluation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Optimise
Suggested timing: 3 minutes
KEY MESSAGE
Compare candidate scores and configuration changes with the baseline.
DEFINITION
A baseline is the starting configuration; candidates are alternatives generated and evaluated by Agent Optimizer.
TALK TRACK
The primary experiment is more consistent answers across purchasing cases. Compare candidate instructions, tool descriptions and model choices against fixed criteria. Alongside quality, inspect response time and estimated cost. If the baseline already meets the quality requirement, investigate whether another configuration preserves it at lower cost.
TRANSITION
Let's open the Optimizer run and compare the candidates.
SOURCES
Microsoft Foundry Agent Optimizer concepts.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 Agent Optimizer
Suggested timing: 6 minutes
KEY MESSAGE
Inspect the evidence behind the recommended candidate.
DEFINITION
The optional validation dataset supplies separate evaluation cases within the optimisation run.
TALK TRACK
Show the stage playbook command azd ai agent optimize --config eval.yaml, then open its completed run. Compare per-case rubric results, built-in scores, response time and estimated cost with the frozen baseline. Inspect the actual configuration diff and optional validation dataset. Revisit the opening question and a changed date or purchase type. Apply a candidate only if the evidence supports the trade-off; otherwise keep the baseline.
DEMO CHECKPOINT
05-optimise: preserve the operation ID, candidate IDs, reports and configuration diff. Record azd ai agent optimize status OPERATION_ID --watch and azd ai agent optimize apply --candidate CANDIDATE_ID in the playbook. Applying selects configuration; release checks precede deployment.
TRANSITION
Carry the same evidence into the release process.
SOURCES
Microsoft Learn: Optimize agent instructions, skills, tools, and models; Agent optimizer cost and token usage overview. Checked 24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
Suggested timing: 2 minutes
KEY MESSAGE
Check changes before release and keep checking after release.
DEFINITION
CI/CD automates repeatable change, evaluation and deployment steps; continuous evaluation monitors behaviour after deployment.
TALK TRACK
Explain how the chosen configuration moves through broader release tests, operational limits, approval and deployment. Include cases kept outside optimisation and candidate selection. Show where scheduled production evaluations fit. The pipeline preserves the quality requirement as the agent changes.
TRANSITION
Let's follow a change through the workflow.
SOURCES
Microsoft Foundry continuous evaluation and GitHub Actions concepts.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 Release Check
Suggested timing: 5 minutes
KEY MESSAGE
The workflow must show why a change stopped or advanced.
DEFINITION
Release gates check evaluation thresholds; approvals record the release decision.
TALK TRACK
Follow the selected configuration through a prepared GitHub Actions run. Inspect release-test evidence before revealing its gate result. Then introduce a separately labelled, deliberate configuration regression and inspect its check results. Keep this regression separate from the original baseline and Optimizer experiment. Finish with approvals, deployment, rollback and scheduled evaluation.
DEMO CHECKPOINT
06-automate: retain the selected configuration, release reports and workflow run IDs. Keep the deliberate regression as a separate resettable checkpoint with its exact diff and test evidence.
TRANSITION
Now put the release checks into the complete delivery process.
SOURCES
GitHub Actions release-check demonstration.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test cases to production
Suggested timing: 2 minutes
KEY MESSAGE
Production evidence improves the tests used for the next release.
DEFINITION
A golden dataset is a reviewed, versioned set of cases with agreed expected outcomes. It is a test asset, not a guarantee of correctness.
TALK TRACK
Read the top row left to right. Before launch, simulation establishes expected behaviour. Review generated examples before promoting them into the golden dataset. Follow the five CI/CD steps: pull request, build and test code and tool contracts, evaluate the agent against the release dataset, enforce pre-agreed quality and operational limits, then deploy and smoke-test the versioned release. Failed checks stop promotion. Keep the candidate artifact, source versions, dataset, rubric, judge configuration and reports pinned. In production, evaluate sampled traces and alert on defined thresholds. Follow the simple return path: production to Optimise, then back into the CI/CD pull request. Compare Agent Optimizer candidates against fixed criteria and retain the baseline if the evidence does not support a change. A selected candidate re-enters the same CI/CD checks; optimisation does not deploy directly. Review case outcomes rather than automatically accepting the agent's own response as ground truth. Keep optimisation and candidate-selection cases separate from final release cases; curate and version the datasets deliberately. Simulation and trace-to-dataset generation are preview capabilities; this slide describes the intended lifecycle, not extra completed demos. Gates, alert thresholds and orchestration must be wired explicitly in the application and workflow. Allow two minutes.
TRANSITION
Here are six related capabilities worth exploring beyond today's demonstrations.
SOURCES
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exploring next
Suggested timing: 1 minutes
KEY MESSAGE
Six next steps for extending the purchasing agent.
DEFINITION
Human annotation assesses an answer; human approval authorises an action.
TALK TRACK
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
TRANSITION
Return to the complete process, then take questions.
SOURCES
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measure improve repeat
Suggested timing: 10 minutes
KEY MESSAGE
Build, measure, improve and repeat.
DEFINITION
No new definition. This slide summarises the complete process.
TALK TRACK
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
TRANSITION
Move into questions.
SOURCES
Session synthesis.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10.svg"/><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marL="0" indent="0" algn="l">
              <a:buNone/>
            </a:pPr>
            <a:r>
              <a:rPr lang="en-US" sz="5280" b="1" kern="0" spc="-238"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marL="0" indent="0" algn="l">
              <a:buNone/>
            </a:pPr>
            <a:r>
              <a:rPr lang="en-US" sz="5280" b="1" kern="0" spc="-238" dirty="0">
                <a:solidFill>
                  <a:srgbClr val="FBBF24"/>
                </a:solidFill>
                <a:latin typeface="Arial" pitchFamily="34" charset="0"/>
                <a:ea typeface="Arial" pitchFamily="34" charset="-122"/>
                <a:cs typeface="Arial" pitchFamily="34" charset="-120"/>
              </a:rPr>
              <a:t>to Production</a:t>
            </a:r>
            <a:endParaRPr lang="en-US" sz="5280" dirty="0"/>
          </a:p>
        </p:txBody>
      </p:sp>
      <p:sp>
        <p:nvSpPr>
          <p:cNvPr id="5" name="static:3:text"/>
          <p:cNvSpPr/>
          <p:nvPr/>
        </p:nvSpPr>
        <p:spPr>
          <a:xfrm>
            <a:off x="975360" y="3895130"/>
            <a:ext cx="3240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Start with a working agent. Measure</a:t>
            </a:r>
            <a:endParaRPr lang="en-US" sz="1620" dirty="0"/>
          </a:p>
        </p:txBody>
      </p:sp>
      <p:sp>
        <p:nvSpPr>
          <p:cNvPr id="6" name="static:4:text"/>
          <p:cNvSpPr/>
          <p:nvPr/>
        </p:nvSpPr>
        <p:spPr>
          <a:xfrm>
            <a:off x="975360" y="4172783"/>
            <a:ext cx="378380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consistency, speed and cost. Improve with</a:t>
            </a:r>
            <a:endParaRPr lang="en-US" sz="1620" dirty="0"/>
          </a:p>
        </p:txBody>
      </p:sp>
      <p:sp>
        <p:nvSpPr>
          <p:cNvPr id="7" name="static:5:text"/>
          <p:cNvSpPr/>
          <p:nvPr/>
        </p:nvSpPr>
        <p:spPr>
          <a:xfrm>
            <a:off x="975360" y="4450437"/>
            <a:ext cx="94059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evidence.</a:t>
            </a:r>
            <a:endParaRPr lang="en-US" sz="162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marL="0" indent="0" algn="l">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9" name="static:7:shape"/>
          <p:cNvSpPr/>
          <p:nvPr/>
        </p:nvSpPr>
        <p:spPr>
          <a:xfrm>
            <a:off x="6838355" y="2740104"/>
            <a:ext cx="2143363" cy="899160"/>
          </a:xfrm>
          <a:prstGeom prst="roundRect">
            <a:avLst>
              <a:gd name="adj" fmla="val 13559"/>
            </a:avLst>
          </a:prstGeom>
          <a:solidFill>
            <a:srgbClr val="292929"/>
          </a:solidFill>
          <a:ln w="7620">
            <a:solidFill>
              <a:srgbClr val="474747"/>
            </a:solidFill>
            <a:prstDash val="solid"/>
          </a:ln>
        </p:spPr>
        <p:txBody>
          <a:bodyPr/>
          <a:lstStyle/>
          <a:p>
            <a:endParaRPr lang="en-US"/>
          </a:p>
        </p:txBody>
      </p:sp>
      <p:sp>
        <p:nvSpPr>
          <p:cNvPr id="10" name="static:8:text"/>
          <p:cNvSpPr/>
          <p:nvPr/>
        </p:nvSpPr>
        <p:spPr>
          <a:xfrm>
            <a:off x="6983135" y="2877264"/>
            <a:ext cx="660440" cy="190500"/>
          </a:xfrm>
          <a:prstGeom prst="rect">
            <a:avLst/>
          </a:prstGeom>
          <a:noFill/>
          <a:ln/>
        </p:spPr>
        <p:txBody>
          <a:bodyPr wrap="none" lIns="0" tIns="0" rIns="0" bIns="0" rtlCol="0" anchor="ctr"/>
          <a:lstStyle/>
          <a:p>
            <a:pPr marL="0" indent="0" algn="l">
              <a:buNone/>
            </a:pPr>
            <a:r>
              <a:rPr lang="en-US" sz="1200" b="1" dirty="0">
                <a:solidFill>
                  <a:srgbClr val="FBBF24"/>
                </a:solidFill>
                <a:latin typeface="Arial" pitchFamily="34" charset="0"/>
                <a:ea typeface="Arial" pitchFamily="34" charset="-122"/>
                <a:cs typeface="Arial" pitchFamily="34" charset="-120"/>
              </a:rPr>
              <a:t>Context</a:t>
            </a:r>
            <a:endParaRPr lang="en-US" sz="1200" dirty="0"/>
          </a:p>
        </p:txBody>
      </p:sp>
      <p:sp>
        <p:nvSpPr>
          <p:cNvPr id="11" name="static:9:text"/>
          <p:cNvSpPr/>
          <p:nvPr/>
        </p:nvSpPr>
        <p:spPr>
          <a:xfrm>
            <a:off x="6983135" y="3113484"/>
            <a:ext cx="769739" cy="152400"/>
          </a:xfrm>
          <a:prstGeom prst="rect">
            <a:avLst/>
          </a:prstGeom>
          <a:noFill/>
          <a:ln/>
        </p:spPr>
        <p:txBody>
          <a:bodyPr wrap="none" lIns="0" tIns="0" rIns="0" bIns="0" rtlCol="0" anchor="ctr"/>
          <a:lstStyle/>
          <a:p>
            <a:pPr marL="0" indent="0" algn="l">
              <a:buNone/>
            </a:pPr>
            <a:r>
              <a:rPr lang="en-US" sz="960" dirty="0">
                <a:solidFill>
                  <a:srgbClr val="DEDEDE"/>
                </a:solidFill>
                <a:latin typeface="Arial" pitchFamily="34" charset="0"/>
                <a:ea typeface="Arial" pitchFamily="34" charset="-122"/>
                <a:cs typeface="Arial" pitchFamily="34" charset="-120"/>
              </a:rPr>
              <a:t>Microsoft IQ</a:t>
            </a:r>
            <a:endParaRPr lang="en-US" sz="960" dirty="0"/>
          </a:p>
        </p:txBody>
      </p:sp>
      <p:sp>
        <p:nvSpPr>
          <p:cNvPr id="12" name="static:10:shape"/>
          <p:cNvSpPr/>
          <p:nvPr/>
        </p:nvSpPr>
        <p:spPr>
          <a:xfrm>
            <a:off x="9073158" y="2740104"/>
            <a:ext cx="2143482" cy="899160"/>
          </a:xfrm>
          <a:prstGeom prst="roundRect">
            <a:avLst>
              <a:gd name="adj" fmla="val 13559"/>
            </a:avLst>
          </a:prstGeom>
          <a:solidFill>
            <a:srgbClr val="292929"/>
          </a:solidFill>
          <a:ln w="7620">
            <a:solidFill>
              <a:srgbClr val="474747"/>
            </a:solidFill>
            <a:prstDash val="solid"/>
          </a:ln>
        </p:spPr>
        <p:txBody>
          <a:bodyPr/>
          <a:lstStyle/>
          <a:p>
            <a:endParaRPr lang="en-US"/>
          </a:p>
        </p:txBody>
      </p:sp>
      <p:sp>
        <p:nvSpPr>
          <p:cNvPr id="13" name="static:11:text"/>
          <p:cNvSpPr/>
          <p:nvPr/>
        </p:nvSpPr>
        <p:spPr>
          <a:xfrm>
            <a:off x="9217938" y="2877264"/>
            <a:ext cx="837486" cy="190500"/>
          </a:xfrm>
          <a:prstGeom prst="rect">
            <a:avLst/>
          </a:prstGeom>
          <a:noFill/>
          <a:ln/>
        </p:spPr>
        <p:txBody>
          <a:bodyPr wrap="none" lIns="0" tIns="0" rIns="0" bIns="0" rtlCol="0" anchor="ctr"/>
          <a:lstStyle/>
          <a:p>
            <a:pPr marL="0" indent="0" algn="l">
              <a:buNone/>
            </a:pPr>
            <a:r>
              <a:rPr lang="en-US" sz="1200" b="1" dirty="0">
                <a:solidFill>
                  <a:srgbClr val="FBBF24"/>
                </a:solidFill>
                <a:latin typeface="Arial" pitchFamily="34" charset="0"/>
                <a:ea typeface="Arial" pitchFamily="34" charset="-122"/>
                <a:cs typeface="Arial" pitchFamily="34" charset="-120"/>
              </a:rPr>
              <a:t>Evaluation</a:t>
            </a:r>
            <a:endParaRPr lang="en-US" sz="1200" dirty="0"/>
          </a:p>
        </p:txBody>
      </p:sp>
      <p:sp>
        <p:nvSpPr>
          <p:cNvPr id="14" name="static:12:text"/>
          <p:cNvSpPr/>
          <p:nvPr/>
        </p:nvSpPr>
        <p:spPr>
          <a:xfrm>
            <a:off x="9217938" y="3113484"/>
            <a:ext cx="1409105" cy="152400"/>
          </a:xfrm>
          <a:prstGeom prst="rect">
            <a:avLst/>
          </a:prstGeom>
          <a:noFill/>
          <a:ln/>
        </p:spPr>
        <p:txBody>
          <a:bodyPr wrap="none" lIns="0" tIns="0" rIns="0" bIns="0" rtlCol="0" anchor="ctr"/>
          <a:lstStyle/>
          <a:p>
            <a:pPr marL="0" indent="0" algn="l">
              <a:buNone/>
            </a:pPr>
            <a:r>
              <a:rPr lang="en-US" sz="960" dirty="0">
                <a:solidFill>
                  <a:srgbClr val="DEDEDE"/>
                </a:solidFill>
                <a:latin typeface="Arial" pitchFamily="34" charset="0"/>
                <a:ea typeface="Arial" pitchFamily="34" charset="-122"/>
                <a:cs typeface="Arial" pitchFamily="34" charset="-120"/>
              </a:rPr>
              <a:t>Evaluations + checklists</a:t>
            </a:r>
            <a:endParaRPr lang="en-US" sz="960" dirty="0"/>
          </a:p>
        </p:txBody>
      </p:sp>
      <p:sp>
        <p:nvSpPr>
          <p:cNvPr id="15" name="static:13:shape"/>
          <p:cNvSpPr/>
          <p:nvPr/>
        </p:nvSpPr>
        <p:spPr>
          <a:xfrm>
            <a:off x="6838355" y="3730704"/>
            <a:ext cx="2143363" cy="899160"/>
          </a:xfrm>
          <a:prstGeom prst="roundRect">
            <a:avLst>
              <a:gd name="adj" fmla="val 13559"/>
            </a:avLst>
          </a:prstGeom>
          <a:solidFill>
            <a:srgbClr val="292929"/>
          </a:solidFill>
          <a:ln w="7620">
            <a:solidFill>
              <a:srgbClr val="474747"/>
            </a:solidFill>
            <a:prstDash val="solid"/>
          </a:ln>
        </p:spPr>
        <p:txBody>
          <a:bodyPr/>
          <a:lstStyle/>
          <a:p>
            <a:endParaRPr lang="en-US"/>
          </a:p>
        </p:txBody>
      </p:sp>
      <p:sp>
        <p:nvSpPr>
          <p:cNvPr id="16" name="static:14:text"/>
          <p:cNvSpPr/>
          <p:nvPr/>
        </p:nvSpPr>
        <p:spPr>
          <a:xfrm>
            <a:off x="6983135" y="3867864"/>
            <a:ext cx="1012507" cy="190500"/>
          </a:xfrm>
          <a:prstGeom prst="rect">
            <a:avLst/>
          </a:prstGeom>
          <a:noFill/>
          <a:ln/>
        </p:spPr>
        <p:txBody>
          <a:bodyPr wrap="none" lIns="0" tIns="0" rIns="0" bIns="0" rtlCol="0" anchor="ctr"/>
          <a:lstStyle/>
          <a:p>
            <a:pPr marL="0" indent="0" algn="l">
              <a:buNone/>
            </a:pPr>
            <a:r>
              <a:rPr lang="en-US" sz="1200" b="1" dirty="0">
                <a:solidFill>
                  <a:srgbClr val="FBBF24"/>
                </a:solidFill>
                <a:latin typeface="Arial" pitchFamily="34" charset="0"/>
                <a:ea typeface="Arial" pitchFamily="34" charset="-122"/>
                <a:cs typeface="Arial" pitchFamily="34" charset="-120"/>
              </a:rPr>
              <a:t>Optimisation</a:t>
            </a:r>
            <a:endParaRPr lang="en-US" sz="1200" dirty="0"/>
          </a:p>
        </p:txBody>
      </p:sp>
      <p:sp>
        <p:nvSpPr>
          <p:cNvPr id="17" name="static:15:text"/>
          <p:cNvSpPr/>
          <p:nvPr/>
        </p:nvSpPr>
        <p:spPr>
          <a:xfrm>
            <a:off x="6983135" y="4104084"/>
            <a:ext cx="987147" cy="152400"/>
          </a:xfrm>
          <a:prstGeom prst="rect">
            <a:avLst/>
          </a:prstGeom>
          <a:noFill/>
          <a:ln/>
        </p:spPr>
        <p:txBody>
          <a:bodyPr wrap="none" lIns="0" tIns="0" rIns="0" bIns="0" rtlCol="0" anchor="ctr"/>
          <a:lstStyle/>
          <a:p>
            <a:pPr marL="0" indent="0" algn="l">
              <a:buNone/>
            </a:pPr>
            <a:r>
              <a:rPr lang="en-US" sz="960" dirty="0">
                <a:solidFill>
                  <a:srgbClr val="DEDEDE"/>
                </a:solidFill>
                <a:latin typeface="Arial" pitchFamily="34" charset="0"/>
                <a:ea typeface="Arial" pitchFamily="34" charset="-122"/>
                <a:cs typeface="Arial" pitchFamily="34" charset="-120"/>
              </a:rPr>
              <a:t>Agent Optimizer</a:t>
            </a:r>
            <a:endParaRPr lang="en-US" sz="960" dirty="0"/>
          </a:p>
        </p:txBody>
      </p:sp>
      <p:sp>
        <p:nvSpPr>
          <p:cNvPr id="18" name="static:16:shape"/>
          <p:cNvSpPr/>
          <p:nvPr/>
        </p:nvSpPr>
        <p:spPr>
          <a:xfrm>
            <a:off x="9073158" y="3730704"/>
            <a:ext cx="2143482" cy="899160"/>
          </a:xfrm>
          <a:prstGeom prst="roundRect">
            <a:avLst>
              <a:gd name="adj" fmla="val 13559"/>
            </a:avLst>
          </a:prstGeom>
          <a:solidFill>
            <a:srgbClr val="292929"/>
          </a:solidFill>
          <a:ln w="7620">
            <a:solidFill>
              <a:srgbClr val="474747"/>
            </a:solidFill>
            <a:prstDash val="solid"/>
          </a:ln>
        </p:spPr>
        <p:txBody>
          <a:bodyPr/>
          <a:lstStyle/>
          <a:p>
            <a:endParaRPr lang="en-US"/>
          </a:p>
        </p:txBody>
      </p:sp>
      <p:sp>
        <p:nvSpPr>
          <p:cNvPr id="19" name="static:17:text"/>
          <p:cNvSpPr/>
          <p:nvPr/>
        </p:nvSpPr>
        <p:spPr>
          <a:xfrm>
            <a:off x="9217938" y="3867864"/>
            <a:ext cx="507444" cy="190500"/>
          </a:xfrm>
          <a:prstGeom prst="rect">
            <a:avLst/>
          </a:prstGeom>
          <a:noFill/>
          <a:ln/>
        </p:spPr>
        <p:txBody>
          <a:bodyPr wrap="none" lIns="0" tIns="0" rIns="0" bIns="0" rtlCol="0" anchor="ctr"/>
          <a:lstStyle/>
          <a:p>
            <a:pPr marL="0" indent="0" algn="l">
              <a:buNone/>
            </a:pPr>
            <a:r>
              <a:rPr lang="en-US" sz="1200" b="1" dirty="0">
                <a:solidFill>
                  <a:srgbClr val="FBBF24"/>
                </a:solidFill>
                <a:latin typeface="Arial" pitchFamily="34" charset="0"/>
                <a:ea typeface="Arial" pitchFamily="34" charset="-122"/>
                <a:cs typeface="Arial" pitchFamily="34" charset="-120"/>
              </a:rPr>
              <a:t>CI/CD</a:t>
            </a:r>
            <a:endParaRPr lang="en-US" sz="1200" dirty="0"/>
          </a:p>
        </p:txBody>
      </p:sp>
      <p:sp>
        <p:nvSpPr>
          <p:cNvPr id="20" name="static:18:text"/>
          <p:cNvSpPr/>
          <p:nvPr/>
        </p:nvSpPr>
        <p:spPr>
          <a:xfrm>
            <a:off x="9217938" y="4104084"/>
            <a:ext cx="923806" cy="152400"/>
          </a:xfrm>
          <a:prstGeom prst="rect">
            <a:avLst/>
          </a:prstGeom>
          <a:noFill/>
          <a:ln/>
        </p:spPr>
        <p:txBody>
          <a:bodyPr wrap="none" lIns="0" tIns="0" rIns="0" bIns="0" rtlCol="0" anchor="ctr"/>
          <a:lstStyle/>
          <a:p>
            <a:pPr marL="0" indent="0" algn="l">
              <a:buNone/>
            </a:pPr>
            <a:r>
              <a:rPr lang="en-US" sz="960" dirty="0">
                <a:solidFill>
                  <a:srgbClr val="DEDEDE"/>
                </a:solidFill>
                <a:latin typeface="Arial" pitchFamily="34" charset="0"/>
                <a:ea typeface="Arial" pitchFamily="34" charset="-122"/>
                <a:cs typeface="Arial" pitchFamily="34" charset="-120"/>
              </a:rPr>
              <a:t>GitHub Actions</a:t>
            </a:r>
            <a:endParaRPr lang="en-US" sz="960" dirty="0"/>
          </a:p>
        </p:txBody>
      </p:sp>
      <p:sp>
        <p:nvSpPr>
          <p:cNvPr id="21" name="static:1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2" name="static:20:text"/>
          <p:cNvSpPr/>
          <p:nvPr/>
        </p:nvSpPr>
        <p:spPr>
          <a:xfrm>
            <a:off x="972681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Model Choice</a:t>
            </a:r>
            <a:endParaRPr lang="en-US" sz="168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Model comparison + Model Router</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1142881"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Grounding</a:t>
            </a:r>
            <a:endParaRPr lang="en-US" sz="1680" dirty="0"/>
          </a:p>
        </p:txBody>
      </p:sp>
      <p:sp>
        <p:nvSpPr>
          <p:cNvPr id="9" name="static:7:text"/>
          <p:cNvSpPr/>
          <p:nvPr/>
        </p:nvSpPr>
        <p:spPr>
          <a:xfrm>
            <a:off x="4256961" y="2912626"/>
            <a:ext cx="218658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Foundry IQ, Fabric IQ + Work IQ</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93654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Observe</a:t>
            </a:r>
            <a:endParaRPr lang="en-US" sz="1680" dirty="0"/>
          </a:p>
        </p:txBody>
      </p:sp>
      <p:sp>
        <p:nvSpPr>
          <p:cNvPr id="12" name="static:10:text"/>
          <p:cNvSpPr/>
          <p:nvPr/>
        </p:nvSpPr>
        <p:spPr>
          <a:xfrm>
            <a:off x="7538680" y="2912626"/>
            <a:ext cx="1894999"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Foundry tracing + tool calls</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948214"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Evaluate</a:t>
            </a:r>
            <a:endParaRPr lang="en-US" sz="1680" dirty="0"/>
          </a:p>
        </p:txBody>
      </p:sp>
      <p:sp>
        <p:nvSpPr>
          <p:cNvPr id="15" name="static:13:text"/>
          <p:cNvSpPr/>
          <p:nvPr/>
        </p:nvSpPr>
        <p:spPr>
          <a:xfrm>
            <a:off x="975360" y="4284226"/>
            <a:ext cx="2065734"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Quality, latency, tokens + cost</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992981"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Optimise</a:t>
            </a:r>
            <a:endParaRPr lang="en-US" sz="1680" dirty="0"/>
          </a:p>
        </p:txBody>
      </p:sp>
      <p:sp>
        <p:nvSpPr>
          <p:cNvPr id="18" name="static:16:text"/>
          <p:cNvSpPr/>
          <p:nvPr/>
        </p:nvSpPr>
        <p:spPr>
          <a:xfrm>
            <a:off x="4256961" y="4284226"/>
            <a:ext cx="1173599"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Agent Optimizer</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072039"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Automate</a:t>
            </a:r>
            <a:endParaRPr lang="en-US" sz="1680" dirty="0"/>
          </a:p>
        </p:txBody>
      </p:sp>
      <p:sp>
        <p:nvSpPr>
          <p:cNvPr id="21" name="static:19:text"/>
          <p:cNvSpPr/>
          <p:nvPr/>
        </p:nvSpPr>
        <p:spPr>
          <a:xfrm>
            <a:off x="7538680" y="4284226"/>
            <a:ext cx="1571387"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Continuous evaluation</a:t>
            </a:r>
            <a:endParaRPr lang="en-US" sz="1200" dirty="0"/>
          </a:p>
        </p:txBody>
      </p:sp>
      <p:sp>
        <p:nvSpPr>
          <p:cNvPr id="22" name="static:20:text"/>
          <p:cNvSpPr/>
          <p:nvPr/>
        </p:nvSpPr>
        <p:spPr>
          <a:xfrm>
            <a:off x="7538680" y="4482346"/>
            <a:ext cx="122729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 GitHub Actions</a:t>
            </a:r>
            <a:endParaRPr lang="en-US" sz="12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02</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841784"/>
            <a:ext cx="6248400" cy="1516380"/>
          </a:xfrm>
          <a:prstGeom prst="roundRect">
            <a:avLst>
              <a:gd name="adj" fmla="val 8040"/>
            </a:avLst>
          </a:prstGeom>
          <a:solidFill>
            <a:srgbClr val="292929"/>
          </a:solidFill>
          <a:ln w="7620">
            <a:solidFill>
              <a:srgbClr val="474747"/>
            </a:solidFill>
            <a:prstDash val="solid"/>
          </a:ln>
        </p:spPr>
        <p:txBody>
          <a:bodyPr/>
          <a:lstStyle/>
          <a:p>
            <a:endParaRPr lang="en-US"/>
          </a:p>
        </p:txBody>
      </p:sp>
      <p:sp>
        <p:nvSpPr>
          <p:cNvPr id="11" name="static:9:text"/>
          <p:cNvSpPr/>
          <p:nvPr/>
        </p:nvSpPr>
        <p:spPr>
          <a:xfrm>
            <a:off x="4000500" y="3085624"/>
            <a:ext cx="2094667" cy="190500"/>
          </a:xfrm>
          <a:prstGeom prst="rect">
            <a:avLst/>
          </a:prstGeom>
          <a:noFill/>
          <a:ln/>
        </p:spPr>
        <p:txBody>
          <a:bodyPr wrap="none" lIns="0" tIns="0" rIns="0" bIns="0" rtlCol="0" anchor="ctr"/>
          <a:lstStyle/>
          <a:p>
            <a:pPr marL="0" indent="0" algn="l">
              <a:buNone/>
            </a:pPr>
            <a:r>
              <a:rPr lang="en-US" sz="1200" b="1" dirty="0">
                <a:solidFill>
                  <a:srgbClr val="4DA6FF"/>
                </a:solidFill>
                <a:latin typeface="Arial" pitchFamily="34" charset="0"/>
                <a:ea typeface="Arial" pitchFamily="34" charset="-122"/>
                <a:cs typeface="Arial" pitchFamily="34" charset="-120"/>
              </a:rPr>
              <a:t>A learning coordinator asks:</a:t>
            </a:r>
            <a:endParaRPr lang="en-US" sz="1200" dirty="0"/>
          </a:p>
        </p:txBody>
      </p:sp>
      <p:sp>
        <p:nvSpPr>
          <p:cNvPr id="12" name="static:10:text"/>
          <p:cNvSpPr/>
          <p:nvPr/>
        </p:nvSpPr>
        <p:spPr>
          <a:xfrm>
            <a:off x="4000500" y="3420904"/>
            <a:ext cx="5370076"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“Can I spend $6,250 on 25 Nova Learning</a:t>
            </a:r>
            <a:endParaRPr lang="en-US" sz="2160" dirty="0"/>
          </a:p>
        </p:txBody>
      </p:sp>
      <p:sp>
        <p:nvSpPr>
          <p:cNvPr id="13" name="static:11:text"/>
          <p:cNvSpPr/>
          <p:nvPr/>
        </p:nvSpPr>
        <p:spPr>
          <a:xfrm>
            <a:off x="4000500" y="3763804"/>
            <a:ext cx="5550218"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licences for our new graduate employees?”</a:t>
            </a:r>
            <a:endParaRPr lang="en-US" sz="2160" dirty="0"/>
          </a:p>
        </p:txBody>
      </p:sp>
      <p:sp>
        <p:nvSpPr>
          <p:cNvPr id="14" name="static:12: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15" name="static:13:text"/>
          <p:cNvSpPr/>
          <p:nvPr/>
        </p:nvSpPr>
        <p:spPr>
          <a:xfrm>
            <a:off x="10443448" y="6461760"/>
            <a:ext cx="123039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6" name="Reveal 1"/>
          <p:cNvGrpSpPr/>
          <p:nvPr/>
        </p:nvGrpSpPr>
        <p:grpSpPr>
          <a:xfrm>
            <a:off x="975360" y="1949172"/>
            <a:ext cx="2834640" cy="3569137"/>
            <a:chOff x="975360" y="1949172"/>
            <a:chExt cx="2834640" cy="3569137"/>
          </a:xfrm>
        </p:grpSpPr>
        <p:sp>
          <p:nvSpPr>
            <p:cNvPr id="4" name="reveal-1:2:shape"/>
            <p:cNvSpPr/>
            <p:nvPr/>
          </p:nvSpPr>
          <p:spPr>
            <a:xfrm>
              <a:off x="97536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964412"/>
              <a:ext cx="2651760" cy="0"/>
            </a:xfrm>
            <a:prstGeom prst="line">
              <a:avLst/>
            </a:prstGeom>
            <a:noFill/>
            <a:ln w="30480">
              <a:solidFill>
                <a:srgbClr val="FBBF24"/>
              </a:solidFill>
              <a:prstDash val="solid"/>
              <a:headEnd type="none"/>
              <a:tailEnd type="none"/>
            </a:ln>
          </p:spPr>
          <p:txBody>
            <a:bodyPr/>
            <a:lstStyle/>
            <a:p>
              <a:endParaRPr lang="en-US"/>
            </a:p>
          </p:txBody>
        </p:sp>
        <p:pic>
          <p:nvPicPr>
            <p:cNvPr id="6" name="reveal-1:3:svg:vector-4-3" descr="Model 1: a robot with a connected reasoning diagram"/>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6880" y="2193012"/>
              <a:ext cx="1371600" cy="1249680"/>
            </a:xfrm>
            <a:prstGeom prst="rect">
              <a:avLst/>
            </a:prstGeom>
          </p:spPr>
        </p:pic>
        <p:sp>
          <p:nvSpPr>
            <p:cNvPr id="7" name="reveal-1:4:text"/>
            <p:cNvSpPr/>
            <p:nvPr/>
          </p:nvSpPr>
          <p:spPr>
            <a:xfrm>
              <a:off x="2064782" y="3549372"/>
              <a:ext cx="747236" cy="228600"/>
            </a:xfrm>
            <a:prstGeom prst="rect">
              <a:avLst/>
            </a:prstGeom>
            <a:noFill/>
            <a:ln/>
          </p:spPr>
          <p:txBody>
            <a:bodyPr wrap="non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857149"/>
              <a:ext cx="204704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192429"/>
              <a:ext cx="1373624"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398169"/>
              <a:ext cx="14501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12" name="reveal-1:9:text"/>
            <p:cNvSpPr/>
            <p:nvPr/>
          </p:nvSpPr>
          <p:spPr>
            <a:xfrm>
              <a:off x="1909643" y="4832509"/>
              <a:ext cx="1057394"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5003959"/>
              <a:ext cx="1253966"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7" name="Reveal 2"/>
          <p:cNvGrpSpPr/>
          <p:nvPr/>
        </p:nvGrpSpPr>
        <p:grpSpPr>
          <a:xfrm>
            <a:off x="3992880" y="1949172"/>
            <a:ext cx="2834640" cy="3569137"/>
            <a:chOff x="3992880" y="1949172"/>
            <a:chExt cx="2834640" cy="3569137"/>
          </a:xfrm>
        </p:grpSpPr>
        <p:sp>
          <p:nvSpPr>
            <p:cNvPr id="14" name="reveal-2:11:shape"/>
            <p:cNvSpPr/>
            <p:nvPr/>
          </p:nvSpPr>
          <p:spPr>
            <a:xfrm>
              <a:off x="399288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084320" y="1964412"/>
              <a:ext cx="2651760" cy="0"/>
            </a:xfrm>
            <a:prstGeom prst="line">
              <a:avLst/>
            </a:prstGeom>
            <a:noFill/>
            <a:ln w="30480">
              <a:solidFill>
                <a:srgbClr val="4DA6FF"/>
              </a:solidFill>
              <a:prstDash val="solid"/>
              <a:headEnd type="none"/>
              <a:tailEnd type="none"/>
            </a:ln>
          </p:spPr>
          <p:txBody>
            <a:bodyPr/>
            <a:lstStyle/>
            <a:p>
              <a:endParaRPr lang="en-US"/>
            </a:p>
          </p:txBody>
        </p:sp>
        <p:pic>
          <p:nvPicPr>
            <p:cNvPr id="16" name="reveal-2:12:svg:vector-4-12" descr="Model 2: a robot with a lightning bolt and speed lin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4400" y="2193012"/>
              <a:ext cx="1371600" cy="1249680"/>
            </a:xfrm>
            <a:prstGeom prst="rect">
              <a:avLst/>
            </a:prstGeom>
          </p:spPr>
        </p:pic>
        <p:sp>
          <p:nvSpPr>
            <p:cNvPr id="17" name="reveal-2:13:text"/>
            <p:cNvSpPr/>
            <p:nvPr/>
          </p:nvSpPr>
          <p:spPr>
            <a:xfrm>
              <a:off x="5070872" y="3549372"/>
              <a:ext cx="770096" cy="228600"/>
            </a:xfrm>
            <a:prstGeom prst="rect">
              <a:avLst/>
            </a:prstGeom>
            <a:noFill/>
            <a:ln/>
          </p:spPr>
          <p:txBody>
            <a:bodyPr wrap="non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464368" y="3857149"/>
              <a:ext cx="1983105"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speed</a:t>
              </a:r>
              <a:endParaRPr lang="en-US" sz="1560" dirty="0"/>
            </a:p>
          </p:txBody>
        </p:sp>
        <p:sp>
          <p:nvSpPr>
            <p:cNvPr id="19" name="reveal-2:15:text"/>
            <p:cNvSpPr/>
            <p:nvPr/>
          </p:nvSpPr>
          <p:spPr>
            <a:xfrm>
              <a:off x="4862393" y="4192429"/>
              <a:ext cx="118705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Responsive chat</a:t>
              </a:r>
              <a:endParaRPr lang="en-US" sz="1200" dirty="0"/>
            </a:p>
          </p:txBody>
        </p:sp>
        <p:sp>
          <p:nvSpPr>
            <p:cNvPr id="20" name="reveal-2:16:text"/>
            <p:cNvSpPr/>
            <p:nvPr/>
          </p:nvSpPr>
          <p:spPr>
            <a:xfrm>
              <a:off x="4676894" y="4398169"/>
              <a:ext cx="155793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quick interactions</a:t>
              </a:r>
              <a:endParaRPr lang="en-US" sz="1200" dirty="0"/>
            </a:p>
          </p:txBody>
        </p:sp>
        <p:sp>
          <p:nvSpPr>
            <p:cNvPr id="21" name="reveal-2:17:shape"/>
            <p:cNvSpPr/>
            <p:nvPr/>
          </p:nvSpPr>
          <p:spPr>
            <a:xfrm>
              <a:off x="421386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22" name="reveal-2:18:text"/>
            <p:cNvSpPr/>
            <p:nvPr/>
          </p:nvSpPr>
          <p:spPr>
            <a:xfrm>
              <a:off x="4654272" y="4832509"/>
              <a:ext cx="160317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5003959"/>
              <a:ext cx="122848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8" name="Reveal 3"/>
          <p:cNvGrpSpPr/>
          <p:nvPr/>
        </p:nvGrpSpPr>
        <p:grpSpPr>
          <a:xfrm>
            <a:off x="7010400" y="1949172"/>
            <a:ext cx="2834640" cy="3569137"/>
            <a:chOff x="7010400" y="1949172"/>
            <a:chExt cx="2834640" cy="3569137"/>
          </a:xfrm>
        </p:grpSpPr>
        <p:sp>
          <p:nvSpPr>
            <p:cNvPr id="24" name="reveal-3:20:shape"/>
            <p:cNvSpPr/>
            <p:nvPr/>
          </p:nvSpPr>
          <p:spPr>
            <a:xfrm>
              <a:off x="701040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101840" y="1964412"/>
              <a:ext cx="2651760" cy="0"/>
            </a:xfrm>
            <a:prstGeom prst="line">
              <a:avLst/>
            </a:prstGeom>
            <a:noFill/>
            <a:ln w="30480">
              <a:solidFill>
                <a:srgbClr val="4ADE80"/>
              </a:solidFill>
              <a:prstDash val="solid"/>
              <a:headEnd type="none"/>
              <a:tailEnd type="none"/>
            </a:ln>
          </p:spPr>
          <p:txBody>
            <a:bodyPr/>
            <a:lstStyle/>
            <a:p>
              <a:endParaRPr lang="en-US"/>
            </a:p>
          </p:txBody>
        </p:sp>
        <p:pic>
          <p:nvPicPr>
            <p:cNvPr id="26" name="reveal-3:21:svg:vector-4-21" descr="Model 3: a compact robot beside a stack of coin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1920" y="2193012"/>
              <a:ext cx="1371600" cy="1249680"/>
            </a:xfrm>
            <a:prstGeom prst="rect">
              <a:avLst/>
            </a:prstGeom>
          </p:spPr>
        </p:pic>
        <p:sp>
          <p:nvSpPr>
            <p:cNvPr id="27" name="reveal-3:22:text"/>
            <p:cNvSpPr/>
            <p:nvPr/>
          </p:nvSpPr>
          <p:spPr>
            <a:xfrm>
              <a:off x="8086011" y="3549372"/>
              <a:ext cx="774859" cy="228600"/>
            </a:xfrm>
            <a:prstGeom prst="rect">
              <a:avLst/>
            </a:prstGeom>
            <a:noFill/>
            <a:ln/>
          </p:spPr>
          <p:txBody>
            <a:bodyPr wrap="non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Model 3</a:t>
              </a:r>
              <a:endParaRPr lang="en-US" sz="1440" dirty="0"/>
            </a:p>
          </p:txBody>
        </p:sp>
        <p:sp>
          <p:nvSpPr>
            <p:cNvPr id="28" name="reveal-3:23:text"/>
            <p:cNvSpPr/>
            <p:nvPr/>
          </p:nvSpPr>
          <p:spPr>
            <a:xfrm>
              <a:off x="7565469" y="3857149"/>
              <a:ext cx="181582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cost</a:t>
              </a:r>
              <a:endParaRPr lang="en-US" sz="1560" dirty="0"/>
            </a:p>
          </p:txBody>
        </p:sp>
        <p:sp>
          <p:nvSpPr>
            <p:cNvPr id="29" name="reveal-3:24:text"/>
            <p:cNvSpPr/>
            <p:nvPr/>
          </p:nvSpPr>
          <p:spPr>
            <a:xfrm>
              <a:off x="7977188" y="4192429"/>
              <a:ext cx="99238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High-volume,</a:t>
              </a:r>
              <a:endParaRPr lang="en-US" sz="1200" dirty="0"/>
            </a:p>
          </p:txBody>
        </p:sp>
        <p:sp>
          <p:nvSpPr>
            <p:cNvPr id="30" name="reveal-3:25:text"/>
            <p:cNvSpPr/>
            <p:nvPr/>
          </p:nvSpPr>
          <p:spPr>
            <a:xfrm>
              <a:off x="7878961" y="4398169"/>
              <a:ext cx="118895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repeatable tasks</a:t>
              </a:r>
              <a:endParaRPr lang="en-US" sz="1200" dirty="0"/>
            </a:p>
          </p:txBody>
        </p:sp>
        <p:sp>
          <p:nvSpPr>
            <p:cNvPr id="31" name="reveal-3:26:shape"/>
            <p:cNvSpPr/>
            <p:nvPr/>
          </p:nvSpPr>
          <p:spPr>
            <a:xfrm>
              <a:off x="723138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32" name="reveal-3:27:text"/>
            <p:cNvSpPr/>
            <p:nvPr/>
          </p:nvSpPr>
          <p:spPr>
            <a:xfrm>
              <a:off x="7726204" y="4832509"/>
              <a:ext cx="149435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suited</a:t>
              </a:r>
              <a:endParaRPr lang="en-US" sz="1080" dirty="0"/>
            </a:p>
          </p:txBody>
        </p:sp>
        <p:sp>
          <p:nvSpPr>
            <p:cNvPr id="33" name="reveal-3:28:text"/>
            <p:cNvSpPr/>
            <p:nvPr/>
          </p:nvSpPr>
          <p:spPr>
            <a:xfrm>
              <a:off x="7756684" y="5003959"/>
              <a:ext cx="143339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to nuanced requests</a:t>
              </a:r>
              <a:endParaRPr lang="en-US" sz="108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1900" y="6461760"/>
            <a:ext cx="12319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343626"/>
            <a:ext cx="788432"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640806"/>
            <a:ext cx="625716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387566"/>
            <a:ext cx="5726549"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fixed models and Model Router, then choose a starting</a:t>
            </a:r>
            <a:endParaRPr lang="en-US" sz="1620" dirty="0"/>
          </a:p>
        </p:txBody>
      </p:sp>
      <p:sp>
        <p:nvSpPr>
          <p:cNvPr id="5" name="static:3:text"/>
          <p:cNvSpPr/>
          <p:nvPr/>
        </p:nvSpPr>
        <p:spPr>
          <a:xfrm>
            <a:off x="975360" y="3665220"/>
            <a:ext cx="130861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4282" y="6461760"/>
            <a:ext cx="122955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Grounding</a:t>
            </a:r>
            <a:endParaRPr lang="en-US" sz="2640" dirty="0"/>
          </a:p>
        </p:txBody>
      </p:sp>
      <p:grpSp>
        <p:nvGrpSpPr>
          <p:cNvPr id="38"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7" name="reveal-1:4:text"/>
            <p:cNvSpPr/>
            <p:nvPr/>
          </p:nvSpPr>
          <p:spPr>
            <a:xfrm>
              <a:off x="1265873" y="2207419"/>
              <a:ext cx="333256"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03037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sp>
          <p:nvSpPr>
            <p:cNvPr id="14" name="reveal-1:11:text"/>
            <p:cNvSpPr/>
            <p:nvPr/>
          </p:nvSpPr>
          <p:spPr>
            <a:xfrm>
              <a:off x="1287780" y="4071104"/>
              <a:ext cx="148149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CONNECTED IN THIS DEMO</a:t>
              </a:r>
              <a:endParaRPr lang="en-US" sz="720" dirty="0"/>
            </a:p>
          </p:txBody>
        </p:sp>
      </p:grpSp>
      <p:grpSp>
        <p:nvGrpSpPr>
          <p:cNvPr id="39" name="Reveal 2"/>
          <p:cNvGrpSpPr/>
          <p:nvPr/>
        </p:nvGrpSpPr>
        <p:grpSpPr>
          <a:xfrm>
            <a:off x="4348401" y="1868329"/>
            <a:ext cx="3220760" cy="3791902"/>
            <a:chOff x="4348401" y="1868329"/>
            <a:chExt cx="3220760" cy="3791902"/>
          </a:xfrm>
        </p:grpSpPr>
        <p:sp>
          <p:nvSpPr>
            <p:cNvPr id="15" name="reveal-2:12: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6" name="reveal-2:12: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7" name="reveal-2:13: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8" name="reveal-2:14:text"/>
            <p:cNvSpPr/>
            <p:nvPr/>
          </p:nvSpPr>
          <p:spPr>
            <a:xfrm>
              <a:off x="4631174" y="2207419"/>
              <a:ext cx="348734"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BIQ</a:t>
              </a:r>
              <a:endParaRPr lang="en-US" sz="1200" dirty="0"/>
            </a:p>
          </p:txBody>
        </p:sp>
        <p:sp>
          <p:nvSpPr>
            <p:cNvPr id="19" name="reveal-2:15:text"/>
            <p:cNvSpPr/>
            <p:nvPr/>
          </p:nvSpPr>
          <p:spPr>
            <a:xfrm>
              <a:off x="4554141" y="2698909"/>
              <a:ext cx="97857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20" name="reveal-2:16:text"/>
            <p:cNvSpPr/>
            <p:nvPr/>
          </p:nvSpPr>
          <p:spPr>
            <a:xfrm>
              <a:off x="4554141" y="3047881"/>
              <a:ext cx="260973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1" name="reveal-2:17:text"/>
            <p:cNvSpPr/>
            <p:nvPr/>
          </p:nvSpPr>
          <p:spPr>
            <a:xfrm>
              <a:off x="4554141" y="3243263"/>
              <a:ext cx="105644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2" name="reveal-2:18:shape"/>
            <p:cNvSpPr/>
            <p:nvPr/>
          </p:nvSpPr>
          <p:spPr>
            <a:xfrm>
              <a:off x="4554141" y="3652004"/>
              <a:ext cx="2809280"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23" name="reveal-2:19:text"/>
            <p:cNvSpPr/>
            <p:nvPr/>
          </p:nvSpPr>
          <p:spPr>
            <a:xfrm>
              <a:off x="4660821" y="3735824"/>
              <a:ext cx="2595086"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4" name="reveal-2:20:text"/>
            <p:cNvSpPr/>
            <p:nvPr/>
          </p:nvSpPr>
          <p:spPr>
            <a:xfrm>
              <a:off x="4660821" y="3884414"/>
              <a:ext cx="5594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sp>
          <p:nvSpPr>
            <p:cNvPr id="25" name="reveal-2:21:text"/>
            <p:cNvSpPr/>
            <p:nvPr/>
          </p:nvSpPr>
          <p:spPr>
            <a:xfrm>
              <a:off x="4660821" y="4071104"/>
              <a:ext cx="21652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CONCEPTUAL / NOT USED IN THIS DEMO</a:t>
              </a:r>
              <a:endParaRPr lang="en-US" sz="720" dirty="0"/>
            </a:p>
          </p:txBody>
        </p:sp>
      </p:grpSp>
      <p:grpSp>
        <p:nvGrpSpPr>
          <p:cNvPr id="40" name="Reveal 3"/>
          <p:cNvGrpSpPr/>
          <p:nvPr/>
        </p:nvGrpSpPr>
        <p:grpSpPr>
          <a:xfrm>
            <a:off x="7721560" y="1868329"/>
            <a:ext cx="3220641" cy="3791902"/>
            <a:chOff x="7721560" y="1868329"/>
            <a:chExt cx="3220641" cy="3791902"/>
          </a:xfrm>
        </p:grpSpPr>
        <p:sp>
          <p:nvSpPr>
            <p:cNvPr id="26" name="reveal-3:22: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7" name="reveal-3:22: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8" name="reveal-3:23: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9" name="reveal-3:24:text"/>
            <p:cNvSpPr/>
            <p:nvPr/>
          </p:nvSpPr>
          <p:spPr>
            <a:xfrm>
              <a:off x="7979926" y="2207419"/>
              <a:ext cx="397550"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WIQ</a:t>
              </a:r>
              <a:endParaRPr lang="en-US" sz="1200" dirty="0"/>
            </a:p>
          </p:txBody>
        </p:sp>
        <p:sp>
          <p:nvSpPr>
            <p:cNvPr id="30" name="reveal-3:25:text"/>
            <p:cNvSpPr/>
            <p:nvPr/>
          </p:nvSpPr>
          <p:spPr>
            <a:xfrm>
              <a:off x="7927300" y="2698909"/>
              <a:ext cx="87915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31" name="reveal-3:26:text"/>
            <p:cNvSpPr/>
            <p:nvPr/>
          </p:nvSpPr>
          <p:spPr>
            <a:xfrm>
              <a:off x="7927300" y="3047881"/>
              <a:ext cx="288988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2" name="reveal-3:27:shape"/>
            <p:cNvSpPr/>
            <p:nvPr/>
          </p:nvSpPr>
          <p:spPr>
            <a:xfrm>
              <a:off x="7927300" y="3456623"/>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3" name="reveal-3:28:text"/>
            <p:cNvSpPr/>
            <p:nvPr/>
          </p:nvSpPr>
          <p:spPr>
            <a:xfrm>
              <a:off x="8033980" y="3540443"/>
              <a:ext cx="212812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Recent decisions, conversations and</a:t>
              </a:r>
              <a:endParaRPr lang="en-US" sz="900" dirty="0"/>
            </a:p>
          </p:txBody>
        </p:sp>
        <p:sp>
          <p:nvSpPr>
            <p:cNvPr id="34" name="reveal-3:29:text"/>
            <p:cNvSpPr/>
            <p:nvPr/>
          </p:nvSpPr>
          <p:spPr>
            <a:xfrm>
              <a:off x="8033980" y="3689033"/>
              <a:ext cx="67591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approvals.</a:t>
              </a:r>
              <a:endParaRPr lang="en-US" sz="900" dirty="0"/>
            </a:p>
          </p:txBody>
        </p:sp>
        <p:sp>
          <p:nvSpPr>
            <p:cNvPr id="35" name="reveal-3:30:text"/>
            <p:cNvSpPr/>
            <p:nvPr/>
          </p:nvSpPr>
          <p:spPr>
            <a:xfrm>
              <a:off x="8033980" y="3875723"/>
              <a:ext cx="220718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SYNTHETIC EMAIL VIA SAMPLE ADAPTER</a:t>
              </a:r>
              <a:endParaRPr lang="en-US" sz="720" dirty="0"/>
            </a:p>
          </p:txBody>
        </p:sp>
      </p:grpSp>
      <p:sp>
        <p:nvSpPr>
          <p:cNvPr id="36" name="static:3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7" name="static:32: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06</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343626"/>
            <a:ext cx="807839"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640806"/>
            <a:ext cx="512904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387566"/>
            <a:ext cx="627507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Ask the purchasing question, explore its sources and save the baseline</a:t>
            </a:r>
            <a:endParaRPr lang="en-US" sz="1620" dirty="0"/>
          </a:p>
        </p:txBody>
      </p:sp>
      <p:sp>
        <p:nvSpPr>
          <p:cNvPr id="5" name="static:3:text"/>
          <p:cNvSpPr/>
          <p:nvPr/>
        </p:nvSpPr>
        <p:spPr>
          <a:xfrm>
            <a:off x="975360" y="3665220"/>
            <a:ext cx="42743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run.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0473" y="6461760"/>
            <a:ext cx="1223367"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1" name="reveal-1:8:text"/>
            <p:cNvSpPr/>
            <p:nvPr/>
          </p:nvSpPr>
          <p:spPr>
            <a:xfrm>
              <a:off x="1287780" y="3540443"/>
              <a:ext cx="2099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5" name="reveal-2:11: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739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Inspect captured prompts, responses and</a:t>
              </a:r>
              <a:endParaRPr lang="en-US" sz="1140" dirty="0"/>
            </a:p>
          </p:txBody>
        </p:sp>
        <p:sp>
          <p:nvSpPr>
            <p:cNvPr id="18" name="reveal-2:14:text"/>
            <p:cNvSpPr/>
            <p:nvPr/>
          </p:nvSpPr>
          <p:spPr>
            <a:xfrm>
              <a:off x="4554141" y="3243263"/>
              <a:ext cx="7121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evidence.</a:t>
              </a:r>
              <a:endParaRPr lang="en-US" sz="1140" dirty="0"/>
            </a:p>
          </p:txBody>
        </p:sp>
        <p:sp>
          <p:nvSpPr>
            <p:cNvPr id="19" name="reveal-2:15: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0" name="reveal-2:16:text"/>
            <p:cNvSpPr/>
            <p:nvPr/>
          </p:nvSpPr>
          <p:spPr>
            <a:xfrm>
              <a:off x="4660821" y="3735824"/>
              <a:ext cx="263247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1" name="reveal-3:17: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2" name="reveal-3:17: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3" name="reveal-3:18: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4" name="reveal-3:19: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5" name="reveal-3:20:text"/>
            <p:cNvSpPr/>
            <p:nvPr/>
          </p:nvSpPr>
          <p:spPr>
            <a:xfrm>
              <a:off x="7927300" y="2698909"/>
              <a:ext cx="76902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Timing</a:t>
              </a:r>
              <a:endParaRPr lang="en-US" sz="1680" dirty="0"/>
            </a:p>
          </p:txBody>
        </p:sp>
        <p:sp>
          <p:nvSpPr>
            <p:cNvPr id="26" name="reveal-3:21:text"/>
            <p:cNvSpPr/>
            <p:nvPr/>
          </p:nvSpPr>
          <p:spPr>
            <a:xfrm>
              <a:off x="7927300" y="3047881"/>
              <a:ext cx="195834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See the duration of each call.</a:t>
              </a:r>
              <a:endParaRPr lang="en-US" sz="1140" dirty="0"/>
            </a:p>
          </p:txBody>
        </p:sp>
        <p:sp>
          <p:nvSpPr>
            <p:cNvPr id="27" name="reveal-3:22: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8" name="reveal-3:23:text"/>
            <p:cNvSpPr/>
            <p:nvPr/>
          </p:nvSpPr>
          <p:spPr>
            <a:xfrm>
              <a:off x="8033980" y="3540443"/>
              <a:ext cx="209442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510790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calls, evidence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 name="reveal-1:4:text"/>
            <p:cNvSpPr/>
            <p:nvPr/>
          </p:nvSpPr>
          <p:spPr>
            <a:xfrm>
              <a:off x="1332071" y="2207419"/>
              <a:ext cx="200858"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G</a:t>
              </a:r>
              <a:endParaRPr lang="en-US" sz="1200" dirty="0"/>
            </a:p>
          </p:txBody>
        </p:sp>
        <p:sp>
          <p:nvSpPr>
            <p:cNvPr id="8" name="reveal-1:5:text"/>
            <p:cNvSpPr/>
            <p:nvPr/>
          </p:nvSpPr>
          <p:spPr>
            <a:xfrm>
              <a:off x="1181100" y="2698909"/>
              <a:ext cx="155733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Groundedness</a:t>
              </a:r>
              <a:endParaRPr lang="en-US" sz="1680" dirty="0"/>
            </a:p>
          </p:txBody>
        </p:sp>
        <p:sp>
          <p:nvSpPr>
            <p:cNvPr id="9" name="reveal-1:6:text"/>
            <p:cNvSpPr/>
            <p:nvPr/>
          </p:nvSpPr>
          <p:spPr>
            <a:xfrm>
              <a:off x="1181100" y="3285649"/>
              <a:ext cx="266152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Is the answer supported by the supplied</a:t>
              </a:r>
              <a:endParaRPr lang="en-US" sz="1140" dirty="0"/>
            </a:p>
          </p:txBody>
        </p:sp>
        <p:sp>
          <p:nvSpPr>
            <p:cNvPr id="10" name="reveal-1:7:text"/>
            <p:cNvSpPr/>
            <p:nvPr/>
          </p:nvSpPr>
          <p:spPr>
            <a:xfrm>
              <a:off x="1181100" y="3481030"/>
              <a:ext cx="64377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context?</a:t>
              </a:r>
              <a:endParaRPr lang="en-US" sz="1140" dirty="0"/>
            </a:p>
          </p:txBody>
        </p:sp>
        <p:sp>
          <p:nvSpPr>
            <p:cNvPr id="11" name="reveal-1:8:shape"/>
            <p:cNvSpPr/>
            <p:nvPr/>
          </p:nvSpPr>
          <p:spPr>
            <a:xfrm>
              <a:off x="1181100" y="3889772"/>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73592"/>
              <a:ext cx="211288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Checks claims against the evidence.</a:t>
              </a:r>
              <a:endParaRPr lang="en-US" sz="900" dirty="0"/>
            </a:p>
          </p:txBody>
        </p:sp>
        <p:sp>
          <p:nvSpPr>
            <p:cNvPr id="13" name="reveal-1:10:text"/>
            <p:cNvSpPr/>
            <p:nvPr/>
          </p:nvSpPr>
          <p:spPr>
            <a:xfrm>
              <a:off x="1287780" y="4160282"/>
              <a:ext cx="118860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7" name="reveal-2:13:text"/>
            <p:cNvSpPr/>
            <p:nvPr/>
          </p:nvSpPr>
          <p:spPr>
            <a:xfrm>
              <a:off x="4651772" y="2207419"/>
              <a:ext cx="30753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UX</a:t>
              </a:r>
              <a:endParaRPr lang="en-US" sz="1200" dirty="0"/>
            </a:p>
          </p:txBody>
        </p:sp>
        <p:sp>
          <p:nvSpPr>
            <p:cNvPr id="18" name="reveal-2:14:text"/>
            <p:cNvSpPr/>
            <p:nvPr/>
          </p:nvSpPr>
          <p:spPr>
            <a:xfrm>
              <a:off x="4554141" y="2698909"/>
              <a:ext cx="2320528"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Customer Satisfaction</a:t>
              </a:r>
              <a:endParaRPr lang="en-US" sz="1680" dirty="0"/>
            </a:p>
          </p:txBody>
        </p:sp>
        <p:sp>
          <p:nvSpPr>
            <p:cNvPr id="19" name="reveal-2:15:text"/>
            <p:cNvSpPr/>
            <p:nvPr/>
          </p:nvSpPr>
          <p:spPr>
            <a:xfrm>
              <a:off x="4554141" y="3285649"/>
              <a:ext cx="269295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How satisfied would the user be with the</a:t>
              </a:r>
              <a:endParaRPr lang="en-US" sz="1140" dirty="0"/>
            </a:p>
          </p:txBody>
        </p:sp>
        <p:sp>
          <p:nvSpPr>
            <p:cNvPr id="20" name="reveal-2:16:text"/>
            <p:cNvSpPr/>
            <p:nvPr/>
          </p:nvSpPr>
          <p:spPr>
            <a:xfrm>
              <a:off x="4554141" y="3481030"/>
              <a:ext cx="98679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conversation?</a:t>
              </a:r>
              <a:endParaRPr lang="en-US" sz="1140" dirty="0"/>
            </a:p>
          </p:txBody>
        </p:sp>
        <p:sp>
          <p:nvSpPr>
            <p:cNvPr id="21" name="reveal-2:17:shape"/>
            <p:cNvSpPr/>
            <p:nvPr/>
          </p:nvSpPr>
          <p:spPr>
            <a:xfrm>
              <a:off x="4554141" y="3889772"/>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973592"/>
              <a:ext cx="257925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Assesses helpfulness, clarity and resolution.</a:t>
              </a:r>
              <a:endParaRPr lang="en-US" sz="900" dirty="0"/>
            </a:p>
          </p:txBody>
        </p:sp>
        <p:sp>
          <p:nvSpPr>
            <p:cNvPr id="23" name="reveal-2:19:text"/>
            <p:cNvSpPr/>
            <p:nvPr/>
          </p:nvSpPr>
          <p:spPr>
            <a:xfrm>
              <a:off x="4660821" y="4160282"/>
              <a:ext cx="17511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 / PREVIEW</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7" name="reveal-3:22:text"/>
            <p:cNvSpPr/>
            <p:nvPr/>
          </p:nvSpPr>
          <p:spPr>
            <a:xfrm>
              <a:off x="8082677" y="2207419"/>
              <a:ext cx="192048"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R</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Rubric</a:t>
              </a:r>
              <a:endParaRPr lang="en-US" sz="1680" dirty="0"/>
            </a:p>
          </p:txBody>
        </p:sp>
        <p:sp>
          <p:nvSpPr>
            <p:cNvPr id="29" name="reveal-3:24:text"/>
            <p:cNvSpPr/>
            <p:nvPr/>
          </p:nvSpPr>
          <p:spPr>
            <a:xfrm>
              <a:off x="7927300" y="3285649"/>
              <a:ext cx="282511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Does the answer meet the requirements of</a:t>
              </a:r>
              <a:endParaRPr lang="en-US" sz="1140" dirty="0"/>
            </a:p>
          </p:txBody>
        </p:sp>
        <p:sp>
          <p:nvSpPr>
            <p:cNvPr id="30" name="reveal-3:25:text"/>
            <p:cNvSpPr/>
            <p:nvPr/>
          </p:nvSpPr>
          <p:spPr>
            <a:xfrm>
              <a:off x="7927300" y="3481030"/>
              <a:ext cx="70139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this task?</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973592"/>
              <a:ext cx="260615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Your criteria: approval route, expiry, citations</a:t>
              </a:r>
              <a:endParaRPr lang="en-US" sz="900" dirty="0"/>
            </a:p>
          </p:txBody>
        </p:sp>
        <p:sp>
          <p:nvSpPr>
            <p:cNvPr id="33" name="reveal-3:28:text"/>
            <p:cNvSpPr/>
            <p:nvPr/>
          </p:nvSpPr>
          <p:spPr>
            <a:xfrm>
              <a:off x="8033980" y="4122182"/>
              <a:ext cx="98429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and next action.</a:t>
              </a:r>
              <a:endParaRPr lang="en-US" sz="900" dirty="0"/>
            </a:p>
          </p:txBody>
        </p:sp>
        <p:sp>
          <p:nvSpPr>
            <p:cNvPr id="34" name="reveal-3:29:text"/>
            <p:cNvSpPr/>
            <p:nvPr/>
          </p:nvSpPr>
          <p:spPr>
            <a:xfrm>
              <a:off x="8033980" y="4308872"/>
              <a:ext cx="161603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CUSTOM CRITERIA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631900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How consistently does the agent handle different purchases, dates and</a:t>
            </a:r>
            <a:endParaRPr lang="en-US" sz="1620" dirty="0"/>
          </a:p>
        </p:txBody>
      </p:sp>
      <p:sp>
        <p:nvSpPr>
          <p:cNvPr id="5" name="static:3:text"/>
          <p:cNvSpPr/>
          <p:nvPr/>
        </p:nvSpPr>
        <p:spPr>
          <a:xfrm>
            <a:off x="975360" y="3665220"/>
            <a:ext cx="1919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missing 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marL="0" indent="0" algn="l">
              <a:buNone/>
            </a:pPr>
            <a:r>
              <a:rPr lang="en-US" sz="960" b="1" kern="0" spc="154"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Optimise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txBody>
            <a:bodyPr/>
            <a:lstStyle/>
            <a:p>
              <a:endParaRPr lang="en-US"/>
            </a:p>
          </p:txBody>
        </p:sp>
        <p:sp>
          <p:nvSpPr>
            <p:cNvPr id="7" name="reveal-1:4:text"/>
            <p:cNvSpPr/>
            <p:nvPr/>
          </p:nvSpPr>
          <p:spPr>
            <a:xfrm>
              <a:off x="1336715" y="2207419"/>
              <a:ext cx="191572" cy="190500"/>
            </a:xfrm>
            <a:prstGeom prst="rect">
              <a:avLst/>
            </a:prstGeom>
            <a:noFill/>
            <a:ln/>
          </p:spPr>
          <p:txBody>
            <a:bodyPr wrap="none" lIns="0" tIns="0" rIns="0" bIns="0" rtlCol="0" anchor="ctr"/>
            <a:lstStyle/>
            <a:p>
              <a:pPr marL="0" indent="0" algn="l">
                <a:buNone/>
              </a:pPr>
              <a:r>
                <a:rPr lang="en-US" sz="1200" b="1" kern="0" spc="-24"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38136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17" name="reveal-2:13:text"/>
            <p:cNvSpPr/>
            <p:nvPr/>
          </p:nvSpPr>
          <p:spPr>
            <a:xfrm>
              <a:off x="4706183" y="2207419"/>
              <a:ext cx="19883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735824"/>
              <a:ext cx="242268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7" name="reveal-3:22: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735824"/>
              <a:ext cx="252091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quality improve, or hold at lower cost?</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7412831" y="6461760"/>
            <a:ext cx="12130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12</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343626"/>
            <a:ext cx="811292" cy="190500"/>
          </a:xfrm>
          <a:prstGeom prst="rect">
            <a:avLst/>
          </a:prstGeom>
          <a:noFill/>
          <a:ln/>
        </p:spPr>
        <p:txBody>
          <a:bodyPr wrap="none" lIns="0" tIns="0" rIns="0" bIns="0" rtlCol="0" anchor="ctr"/>
          <a:lstStyle/>
          <a:p>
            <a:pPr marL="0" indent="0" algn="l">
              <a:buNone/>
            </a:pPr>
            <a:r>
              <a:rPr lang="en-US" sz="1200" b="1" kern="0" spc="18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640806"/>
            <a:ext cx="374351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387566"/>
            <a:ext cx="562665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answer consistency, speed and cost, then inspect the</a:t>
            </a:r>
            <a:endParaRPr lang="en-US" sz="1620" dirty="0"/>
          </a:p>
        </p:txBody>
      </p:sp>
      <p:sp>
        <p:nvSpPr>
          <p:cNvPr id="5" name="static:3:text"/>
          <p:cNvSpPr/>
          <p:nvPr/>
        </p:nvSpPr>
        <p:spPr>
          <a:xfrm>
            <a:off x="975360" y="3665220"/>
            <a:ext cx="2113002"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 changes.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8688" y="6461760"/>
            <a:ext cx="121515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utomate">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153326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Automate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804386"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Trigger</a:t>
              </a:r>
              <a:endParaRPr lang="en-US" sz="1680" dirty="0"/>
            </a:p>
          </p:txBody>
        </p:sp>
        <p:sp>
          <p:nvSpPr>
            <p:cNvPr id="9" name="reveal-1:6:text"/>
            <p:cNvSpPr/>
            <p:nvPr/>
          </p:nvSpPr>
          <p:spPr>
            <a:xfrm>
              <a:off x="1181100" y="3047881"/>
              <a:ext cx="240458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Agent changes, source updates and</a:t>
              </a:r>
              <a:endParaRPr lang="en-US" sz="1140" dirty="0"/>
            </a:p>
          </p:txBody>
        </p:sp>
        <p:sp>
          <p:nvSpPr>
            <p:cNvPr id="10" name="reveal-1:7:text"/>
            <p:cNvSpPr/>
            <p:nvPr/>
          </p:nvSpPr>
          <p:spPr>
            <a:xfrm>
              <a:off x="1181100" y="3243263"/>
              <a:ext cx="129206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scheduled checks.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172819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When should the checks run?</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3" name="reveal-2:10: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7" name="reveal-2:13:text"/>
            <p:cNvSpPr/>
            <p:nvPr/>
          </p:nvSpPr>
          <p:spPr>
            <a:xfrm>
              <a:off x="4554141" y="2698909"/>
              <a:ext cx="948214"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Evaluate</a:t>
              </a:r>
              <a:endParaRPr lang="en-US" sz="1680" dirty="0"/>
            </a:p>
          </p:txBody>
        </p:sp>
        <p:sp>
          <p:nvSpPr>
            <p:cNvPr id="18" name="reveal-2:14:text"/>
            <p:cNvSpPr/>
            <p:nvPr/>
          </p:nvSpPr>
          <p:spPr>
            <a:xfrm>
              <a:off x="4554141" y="3047881"/>
              <a:ext cx="278249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Run the release test suite, including cases</a:t>
              </a:r>
              <a:endParaRPr lang="en-US" sz="1140" dirty="0"/>
            </a:p>
          </p:txBody>
        </p:sp>
        <p:sp>
          <p:nvSpPr>
            <p:cNvPr id="19" name="reveal-2:15:text"/>
            <p:cNvSpPr/>
            <p:nvPr/>
          </p:nvSpPr>
          <p:spPr>
            <a:xfrm>
              <a:off x="4554141" y="3243263"/>
              <a:ext cx="143041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outside optimisation.</a:t>
              </a:r>
              <a:endParaRPr lang="en-US" sz="1140" dirty="0"/>
            </a:p>
          </p:txBody>
        </p:sp>
        <p:sp>
          <p:nvSpPr>
            <p:cNvPr id="20" name="reveal-2:16: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4660821" y="3735824"/>
              <a:ext cx="228969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Evaluate sampled production runs after</a:t>
              </a:r>
              <a:endParaRPr lang="en-US" sz="900" dirty="0"/>
            </a:p>
          </p:txBody>
        </p:sp>
        <p:sp>
          <p:nvSpPr>
            <p:cNvPr id="22" name="reveal-2:18:text"/>
            <p:cNvSpPr/>
            <p:nvPr/>
          </p:nvSpPr>
          <p:spPr>
            <a:xfrm>
              <a:off x="4660821" y="3884414"/>
              <a:ext cx="7930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deployment.</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3" name="reveal-3:19: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7" name="reveal-3:22:text"/>
            <p:cNvSpPr/>
            <p:nvPr/>
          </p:nvSpPr>
          <p:spPr>
            <a:xfrm>
              <a:off x="7927300" y="2698909"/>
              <a:ext cx="881063"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Release</a:t>
              </a:r>
              <a:endParaRPr lang="en-US" sz="1680" dirty="0"/>
            </a:p>
          </p:txBody>
        </p:sp>
        <p:sp>
          <p:nvSpPr>
            <p:cNvPr id="28" name="reveal-3:23:text"/>
            <p:cNvSpPr/>
            <p:nvPr/>
          </p:nvSpPr>
          <p:spPr>
            <a:xfrm>
              <a:off x="7927300" y="3047881"/>
              <a:ext cx="273867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Review, gate, deploy and retain a rollback</a:t>
              </a:r>
              <a:endParaRPr lang="en-US" sz="1140" dirty="0"/>
            </a:p>
          </p:txBody>
        </p:sp>
        <p:sp>
          <p:nvSpPr>
            <p:cNvPr id="29" name="reveal-3:24:text"/>
            <p:cNvSpPr/>
            <p:nvPr/>
          </p:nvSpPr>
          <p:spPr>
            <a:xfrm>
              <a:off x="7927300" y="3243263"/>
              <a:ext cx="41957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path.</a:t>
              </a:r>
              <a:endParaRPr lang="en-US" sz="1140" dirty="0"/>
            </a:p>
          </p:txBody>
        </p:sp>
        <p:sp>
          <p:nvSpPr>
            <p:cNvPr id="30" name="reveal-3:25: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8033980" y="3735824"/>
              <a:ext cx="225492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the change preserve the required</a:t>
              </a:r>
              <a:endParaRPr lang="en-US" sz="900" dirty="0"/>
            </a:p>
          </p:txBody>
        </p:sp>
        <p:sp>
          <p:nvSpPr>
            <p:cNvPr id="32" name="reveal-3:27:text"/>
            <p:cNvSpPr/>
            <p:nvPr/>
          </p:nvSpPr>
          <p:spPr>
            <a:xfrm>
              <a:off x="8033980" y="3884414"/>
              <a:ext cx="53601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quality?</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Demo 6 - Release Check">
    <p:spTree>
      <p:nvGrpSpPr>
        <p:cNvPr id="1" name=""/>
        <p:cNvGrpSpPr/>
        <p:nvPr/>
      </p:nvGrpSpPr>
      <p:grpSpPr>
        <a:xfrm>
          <a:off x="0" y="0"/>
          <a:ext cx="0" cy="0"/>
          <a:chOff x="0" y="0"/>
          <a:chExt cx="0" cy="0"/>
        </a:xfrm>
      </p:grpSpPr>
      <p:sp>
        <p:nvSpPr>
          <p:cNvPr id="2" name="static:0:text"/>
          <p:cNvSpPr/>
          <p:nvPr/>
        </p:nvSpPr>
        <p:spPr>
          <a:xfrm>
            <a:off x="975360" y="2343626"/>
            <a:ext cx="814626"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640806"/>
            <a:ext cx="3428238"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Release Check</a:t>
            </a:r>
            <a:endParaRPr lang="en-US" sz="4080" dirty="0"/>
          </a:p>
        </p:txBody>
      </p:sp>
      <p:sp>
        <p:nvSpPr>
          <p:cNvPr id="4" name="static:2:text"/>
          <p:cNvSpPr/>
          <p:nvPr/>
        </p:nvSpPr>
        <p:spPr>
          <a:xfrm>
            <a:off x="975360" y="3387566"/>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selected configuration through release checks, then test a</a:t>
            </a:r>
            <a:endParaRPr lang="en-US" sz="1620" dirty="0"/>
          </a:p>
        </p:txBody>
      </p:sp>
      <p:sp>
        <p:nvSpPr>
          <p:cNvPr id="5" name="static:3:text"/>
          <p:cNvSpPr/>
          <p:nvPr/>
        </p:nvSpPr>
        <p:spPr>
          <a:xfrm>
            <a:off x="975360" y="3665220"/>
            <a:ext cx="1984653"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deliberate regression.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9403" y="6461760"/>
            <a:ext cx="121443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THE COMPLETE DELIVERY PROCESS</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From test cases to production</a:t>
            </a:r>
            <a:endParaRPr lang="en-US" sz="2640" dirty="0"/>
          </a:p>
        </p:txBody>
      </p:sp>
      <p:sp>
        <p:nvSpPr>
          <p:cNvPr id="4" name="static:2:shape"/>
          <p:cNvSpPr/>
          <p:nvPr/>
        </p:nvSpPr>
        <p:spPr>
          <a:xfrm>
            <a:off x="975360" y="1768316"/>
            <a:ext cx="2574608" cy="3002280"/>
          </a:xfrm>
          <a:prstGeom prst="roundRect">
            <a:avLst>
              <a:gd name="adj" fmla="val 4735"/>
            </a:avLst>
          </a:prstGeom>
          <a:solidFill>
            <a:srgbClr val="292929"/>
          </a:solidFill>
          <a:ln w="7620">
            <a:solidFill>
              <a:srgbClr val="474747"/>
            </a:solidFill>
            <a:prstDash val="solid"/>
          </a:ln>
        </p:spPr>
        <p:txBody>
          <a:bodyPr/>
          <a:lstStyle/>
          <a:p>
            <a:endParaRPr lang="en-US"/>
          </a:p>
        </p:txBody>
      </p:sp>
      <p:sp>
        <p:nvSpPr>
          <p:cNvPr id="5" name="static:3:text"/>
          <p:cNvSpPr/>
          <p:nvPr/>
        </p:nvSpPr>
        <p:spPr>
          <a:xfrm>
            <a:off x="1135380" y="1920716"/>
            <a:ext cx="1308735" cy="137160"/>
          </a:xfrm>
          <a:prstGeom prst="rect">
            <a:avLst/>
          </a:prstGeom>
          <a:noFill/>
          <a:ln/>
        </p:spPr>
        <p:txBody>
          <a:bodyPr wrap="none" lIns="0" tIns="0" rIns="0" bIns="0" rtlCol="0" anchor="ctr"/>
          <a:lstStyle/>
          <a:p>
            <a:pPr marL="0" indent="0" algn="l">
              <a:buNone/>
            </a:pPr>
            <a:r>
              <a:rPr lang="en-US" sz="780" b="1" kern="0" spc="62" dirty="0">
                <a:solidFill>
                  <a:srgbClr val="4DA6FF"/>
                </a:solidFill>
                <a:latin typeface="Arial" pitchFamily="34" charset="0"/>
                <a:ea typeface="Arial" pitchFamily="34" charset="-122"/>
                <a:cs typeface="Arial" pitchFamily="34" charset="-120"/>
              </a:rPr>
              <a:t>BUILD / PRE-LAUNCH</a:t>
            </a:r>
            <a:endParaRPr lang="en-US" sz="780" dirty="0"/>
          </a:p>
        </p:txBody>
      </p:sp>
      <p:sp>
        <p:nvSpPr>
          <p:cNvPr id="6" name="static:4:text"/>
          <p:cNvSpPr/>
          <p:nvPr/>
        </p:nvSpPr>
        <p:spPr>
          <a:xfrm>
            <a:off x="1135380" y="2149316"/>
            <a:ext cx="1154668"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Simulation</a:t>
            </a:r>
            <a:endParaRPr lang="en-US" sz="1680" dirty="0"/>
          </a:p>
        </p:txBody>
      </p:sp>
      <p:sp>
        <p:nvSpPr>
          <p:cNvPr id="7" name="static:5:text"/>
          <p:cNvSpPr/>
          <p:nvPr/>
        </p:nvSpPr>
        <p:spPr>
          <a:xfrm>
            <a:off x="1135380" y="2528768"/>
            <a:ext cx="196798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Explore behaviour before real</a:t>
            </a:r>
            <a:endParaRPr lang="en-US" sz="1140" dirty="0"/>
          </a:p>
        </p:txBody>
      </p:sp>
      <p:sp>
        <p:nvSpPr>
          <p:cNvPr id="8" name="static:6:text"/>
          <p:cNvSpPr/>
          <p:nvPr/>
        </p:nvSpPr>
        <p:spPr>
          <a:xfrm>
            <a:off x="1135380" y="2724150"/>
            <a:ext cx="87844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users arrive.</a:t>
            </a:r>
            <a:endParaRPr lang="en-US" sz="1140" dirty="0"/>
          </a:p>
        </p:txBody>
      </p:sp>
      <p:sp>
        <p:nvSpPr>
          <p:cNvPr id="9" name="static:7:shape"/>
          <p:cNvSpPr/>
          <p:nvPr/>
        </p:nvSpPr>
        <p:spPr>
          <a:xfrm>
            <a:off x="1135380" y="3655933"/>
            <a:ext cx="2254568" cy="954643"/>
          </a:xfrm>
          <a:prstGeom prst="roundRect">
            <a:avLst>
              <a:gd name="adj" fmla="val 7982"/>
            </a:avLst>
          </a:prstGeom>
          <a:solidFill>
            <a:srgbClr val="2E2E2E"/>
          </a:solidFill>
          <a:ln w="7620">
            <a:solidFill>
              <a:srgbClr val="474747"/>
            </a:solidFill>
            <a:prstDash val="solid"/>
          </a:ln>
        </p:spPr>
        <p:txBody>
          <a:bodyPr/>
          <a:lstStyle/>
          <a:p>
            <a:endParaRPr lang="en-US"/>
          </a:p>
        </p:txBody>
      </p:sp>
      <p:sp>
        <p:nvSpPr>
          <p:cNvPr id="10" name="static:8:text"/>
          <p:cNvSpPr/>
          <p:nvPr/>
        </p:nvSpPr>
        <p:spPr>
          <a:xfrm>
            <a:off x="1280160" y="3793093"/>
            <a:ext cx="1281708" cy="213360"/>
          </a:xfrm>
          <a:prstGeom prst="rect">
            <a:avLst/>
          </a:prstGeom>
          <a:noFill/>
          <a:ln/>
        </p:spPr>
        <p:txBody>
          <a:bodyPr wrap="none" lIns="0" tIns="0" rIns="0" bIns="0" rtlCol="0" anchor="ctr"/>
          <a:lstStyle/>
          <a:p>
            <a:pPr marL="0" indent="0" algn="l">
              <a:buNone/>
            </a:pPr>
            <a:r>
              <a:rPr lang="en-US" sz="1320" b="1" dirty="0">
                <a:solidFill>
                  <a:srgbClr val="4DA6FF"/>
                </a:solidFill>
                <a:latin typeface="Arial" pitchFamily="34" charset="0"/>
                <a:ea typeface="Arial" pitchFamily="34" charset="-122"/>
                <a:cs typeface="Arial" pitchFamily="34" charset="-120"/>
              </a:rPr>
              <a:t>Golden dataset</a:t>
            </a:r>
            <a:endParaRPr lang="en-US" sz="1320" dirty="0"/>
          </a:p>
        </p:txBody>
      </p:sp>
      <p:sp>
        <p:nvSpPr>
          <p:cNvPr id="11" name="static:9:text"/>
          <p:cNvSpPr/>
          <p:nvPr/>
        </p:nvSpPr>
        <p:spPr>
          <a:xfrm>
            <a:off x="1280160" y="4075033"/>
            <a:ext cx="18982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Review expected outcomes.</a:t>
            </a:r>
            <a:endParaRPr lang="en-US" sz="1140" dirty="0"/>
          </a:p>
        </p:txBody>
      </p:sp>
      <p:sp>
        <p:nvSpPr>
          <p:cNvPr id="12" name="static:10:text"/>
          <p:cNvSpPr/>
          <p:nvPr/>
        </p:nvSpPr>
        <p:spPr>
          <a:xfrm>
            <a:off x="1280160" y="4270415"/>
            <a:ext cx="195345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Version the cases and rubric.</a:t>
            </a:r>
            <a:endParaRPr lang="en-US" sz="1140" dirty="0"/>
          </a:p>
        </p:txBody>
      </p:sp>
      <p:sp>
        <p:nvSpPr>
          <p:cNvPr id="13" name="static:11:arrow"/>
          <p:cNvSpPr/>
          <p:nvPr/>
        </p:nvSpPr>
        <p:spPr>
          <a:xfrm>
            <a:off x="3603308" y="3376136"/>
            <a:ext cx="160020" cy="0"/>
          </a:xfrm>
          <a:prstGeom prst="line">
            <a:avLst/>
          </a:prstGeom>
          <a:noFill/>
          <a:ln w="15240">
            <a:solidFill>
              <a:srgbClr val="B0B0B0"/>
            </a:solidFill>
            <a:prstDash val="solid"/>
            <a:headEnd type="none"/>
            <a:tailEnd type="triangle"/>
          </a:ln>
        </p:spPr>
        <p:txBody>
          <a:bodyPr/>
          <a:lstStyle/>
          <a:p>
            <a:endParaRPr lang="en-US"/>
          </a:p>
        </p:txBody>
      </p:sp>
      <p:sp>
        <p:nvSpPr>
          <p:cNvPr id="14" name="static:12:shape"/>
          <p:cNvSpPr/>
          <p:nvPr/>
        </p:nvSpPr>
        <p:spPr>
          <a:xfrm>
            <a:off x="3824288" y="1768316"/>
            <a:ext cx="4543425" cy="3002280"/>
          </a:xfrm>
          <a:prstGeom prst="roundRect">
            <a:avLst>
              <a:gd name="adj" fmla="val 4061"/>
            </a:avLst>
          </a:prstGeom>
          <a:solidFill>
            <a:srgbClr val="292929"/>
          </a:solidFill>
          <a:ln w="7620">
            <a:solidFill>
              <a:srgbClr val="474747"/>
            </a:solidFill>
            <a:prstDash val="solid"/>
          </a:ln>
        </p:spPr>
        <p:txBody>
          <a:bodyPr/>
          <a:lstStyle/>
          <a:p>
            <a:endParaRPr lang="en-US"/>
          </a:p>
        </p:txBody>
      </p:sp>
      <p:sp>
        <p:nvSpPr>
          <p:cNvPr id="15" name="static:13:text"/>
          <p:cNvSpPr/>
          <p:nvPr/>
        </p:nvSpPr>
        <p:spPr>
          <a:xfrm>
            <a:off x="3984308" y="1920716"/>
            <a:ext cx="1620560" cy="137160"/>
          </a:xfrm>
          <a:prstGeom prst="rect">
            <a:avLst/>
          </a:prstGeom>
          <a:noFill/>
          <a:ln/>
        </p:spPr>
        <p:txBody>
          <a:bodyPr wrap="none" lIns="0" tIns="0" rIns="0" bIns="0" rtlCol="0" anchor="ctr"/>
          <a:lstStyle/>
          <a:p>
            <a:pPr marL="0" indent="0" algn="l">
              <a:buNone/>
            </a:pPr>
            <a:r>
              <a:rPr lang="en-US" sz="780" b="1" kern="0" spc="62" dirty="0">
                <a:solidFill>
                  <a:srgbClr val="4ADE80"/>
                </a:solidFill>
                <a:latin typeface="Arial" pitchFamily="34" charset="0"/>
                <a:ea typeface="Arial" pitchFamily="34" charset="-122"/>
                <a:cs typeface="Arial" pitchFamily="34" charset="-120"/>
              </a:rPr>
              <a:t>ON EVERY CHANGE / CI/CD</a:t>
            </a:r>
            <a:endParaRPr lang="en-US" sz="780" dirty="0"/>
          </a:p>
        </p:txBody>
      </p:sp>
      <p:sp>
        <p:nvSpPr>
          <p:cNvPr id="16" name="static:14:shape"/>
          <p:cNvSpPr/>
          <p:nvPr/>
        </p:nvSpPr>
        <p:spPr>
          <a:xfrm>
            <a:off x="3984308" y="217217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17" name="static:15:text"/>
          <p:cNvSpPr/>
          <p:nvPr/>
        </p:nvSpPr>
        <p:spPr>
          <a:xfrm>
            <a:off x="4075748" y="2286476"/>
            <a:ext cx="167164"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1</a:t>
            </a:r>
            <a:endParaRPr lang="en-US" sz="1200" dirty="0"/>
          </a:p>
        </p:txBody>
      </p:sp>
      <p:sp>
        <p:nvSpPr>
          <p:cNvPr id="18" name="static:16:text"/>
          <p:cNvSpPr/>
          <p:nvPr/>
        </p:nvSpPr>
        <p:spPr>
          <a:xfrm>
            <a:off x="4380548" y="2291001"/>
            <a:ext cx="914281"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Pull request</a:t>
            </a:r>
            <a:endParaRPr lang="en-US" sz="1140" dirty="0"/>
          </a:p>
        </p:txBody>
      </p:sp>
      <p:sp>
        <p:nvSpPr>
          <p:cNvPr id="19" name="static:17:arrow"/>
          <p:cNvSpPr/>
          <p:nvPr/>
        </p:nvSpPr>
        <p:spPr>
          <a:xfrm>
            <a:off x="4212908" y="2606516"/>
            <a:ext cx="0" cy="60960"/>
          </a:xfrm>
          <a:prstGeom prst="line">
            <a:avLst/>
          </a:prstGeom>
          <a:noFill/>
          <a:ln w="7620">
            <a:solidFill>
              <a:srgbClr val="B0B0B0"/>
            </a:solidFill>
            <a:prstDash val="solid"/>
            <a:headEnd type="none"/>
            <a:tailEnd type="triangle"/>
          </a:ln>
        </p:spPr>
        <p:txBody>
          <a:bodyPr/>
          <a:lstStyle/>
          <a:p>
            <a:endParaRPr lang="en-US"/>
          </a:p>
        </p:txBody>
      </p:sp>
      <p:sp>
        <p:nvSpPr>
          <p:cNvPr id="20" name="static:18:shape"/>
          <p:cNvSpPr/>
          <p:nvPr/>
        </p:nvSpPr>
        <p:spPr>
          <a:xfrm>
            <a:off x="3984308" y="267509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1" name="static:19:text"/>
          <p:cNvSpPr/>
          <p:nvPr/>
        </p:nvSpPr>
        <p:spPr>
          <a:xfrm>
            <a:off x="4075748" y="2789396"/>
            <a:ext cx="186571"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2</a:t>
            </a:r>
            <a:endParaRPr lang="en-US" sz="1200" dirty="0"/>
          </a:p>
        </p:txBody>
      </p:sp>
      <p:sp>
        <p:nvSpPr>
          <p:cNvPr id="22" name="static:20:text"/>
          <p:cNvSpPr/>
          <p:nvPr/>
        </p:nvSpPr>
        <p:spPr>
          <a:xfrm>
            <a:off x="4380548" y="2793921"/>
            <a:ext cx="882134"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Build &amp; test</a:t>
            </a:r>
            <a:endParaRPr lang="en-US" sz="1140" dirty="0"/>
          </a:p>
        </p:txBody>
      </p:sp>
      <p:sp>
        <p:nvSpPr>
          <p:cNvPr id="23" name="static:21:arrow"/>
          <p:cNvSpPr/>
          <p:nvPr/>
        </p:nvSpPr>
        <p:spPr>
          <a:xfrm>
            <a:off x="4212908" y="3109436"/>
            <a:ext cx="0" cy="60960"/>
          </a:xfrm>
          <a:prstGeom prst="line">
            <a:avLst/>
          </a:prstGeom>
          <a:noFill/>
          <a:ln w="7620">
            <a:solidFill>
              <a:srgbClr val="B0B0B0"/>
            </a:solidFill>
            <a:prstDash val="solid"/>
            <a:headEnd type="none"/>
            <a:tailEnd type="triangle"/>
          </a:ln>
        </p:spPr>
        <p:txBody>
          <a:bodyPr/>
          <a:lstStyle/>
          <a:p>
            <a:endParaRPr lang="en-US"/>
          </a:p>
        </p:txBody>
      </p:sp>
      <p:sp>
        <p:nvSpPr>
          <p:cNvPr id="24" name="static:22:shape"/>
          <p:cNvSpPr/>
          <p:nvPr/>
        </p:nvSpPr>
        <p:spPr>
          <a:xfrm>
            <a:off x="3984308" y="317801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5" name="static:23:text"/>
          <p:cNvSpPr/>
          <p:nvPr/>
        </p:nvSpPr>
        <p:spPr>
          <a:xfrm>
            <a:off x="4075748" y="3292316"/>
            <a:ext cx="190738"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3</a:t>
            </a:r>
            <a:endParaRPr lang="en-US" sz="1200" dirty="0"/>
          </a:p>
        </p:txBody>
      </p:sp>
      <p:sp>
        <p:nvSpPr>
          <p:cNvPr id="26" name="static:24:text"/>
          <p:cNvSpPr/>
          <p:nvPr/>
        </p:nvSpPr>
        <p:spPr>
          <a:xfrm>
            <a:off x="4380548" y="3296841"/>
            <a:ext cx="1110734"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Evaluate agent</a:t>
            </a:r>
            <a:endParaRPr lang="en-US" sz="1140" dirty="0"/>
          </a:p>
        </p:txBody>
      </p:sp>
      <p:sp>
        <p:nvSpPr>
          <p:cNvPr id="27" name="static:25:arrow"/>
          <p:cNvSpPr/>
          <p:nvPr/>
        </p:nvSpPr>
        <p:spPr>
          <a:xfrm>
            <a:off x="4212908" y="3612356"/>
            <a:ext cx="0" cy="60960"/>
          </a:xfrm>
          <a:prstGeom prst="line">
            <a:avLst/>
          </a:prstGeom>
          <a:noFill/>
          <a:ln w="7620">
            <a:solidFill>
              <a:srgbClr val="B0B0B0"/>
            </a:solidFill>
            <a:prstDash val="solid"/>
            <a:headEnd type="none"/>
            <a:tailEnd type="triangle"/>
          </a:ln>
        </p:spPr>
        <p:txBody>
          <a:bodyPr/>
          <a:lstStyle/>
          <a:p>
            <a:endParaRPr lang="en-US"/>
          </a:p>
        </p:txBody>
      </p:sp>
      <p:sp>
        <p:nvSpPr>
          <p:cNvPr id="28" name="static:26:shape"/>
          <p:cNvSpPr/>
          <p:nvPr/>
        </p:nvSpPr>
        <p:spPr>
          <a:xfrm>
            <a:off x="3984308" y="368093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9" name="static:27:text"/>
          <p:cNvSpPr/>
          <p:nvPr/>
        </p:nvSpPr>
        <p:spPr>
          <a:xfrm>
            <a:off x="4075748" y="3795236"/>
            <a:ext cx="193477"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4</a:t>
            </a:r>
            <a:endParaRPr lang="en-US" sz="1200" dirty="0"/>
          </a:p>
        </p:txBody>
      </p:sp>
      <p:sp>
        <p:nvSpPr>
          <p:cNvPr id="30" name="static:28:text"/>
          <p:cNvSpPr/>
          <p:nvPr/>
        </p:nvSpPr>
        <p:spPr>
          <a:xfrm>
            <a:off x="4380548" y="3799761"/>
            <a:ext cx="1052393"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Release gates</a:t>
            </a:r>
            <a:endParaRPr lang="en-US" sz="1140" dirty="0"/>
          </a:p>
        </p:txBody>
      </p:sp>
      <p:sp>
        <p:nvSpPr>
          <p:cNvPr id="31" name="static:29:arrow"/>
          <p:cNvSpPr/>
          <p:nvPr/>
        </p:nvSpPr>
        <p:spPr>
          <a:xfrm>
            <a:off x="4212908" y="4115276"/>
            <a:ext cx="0" cy="60960"/>
          </a:xfrm>
          <a:prstGeom prst="line">
            <a:avLst/>
          </a:prstGeom>
          <a:noFill/>
          <a:ln w="7620">
            <a:solidFill>
              <a:srgbClr val="B0B0B0"/>
            </a:solidFill>
            <a:prstDash val="solid"/>
            <a:headEnd type="none"/>
            <a:tailEnd type="triangle"/>
          </a:ln>
        </p:spPr>
        <p:txBody>
          <a:bodyPr/>
          <a:lstStyle/>
          <a:p>
            <a:endParaRPr lang="en-US"/>
          </a:p>
        </p:txBody>
      </p:sp>
      <p:sp>
        <p:nvSpPr>
          <p:cNvPr id="32" name="static:30:shape"/>
          <p:cNvSpPr/>
          <p:nvPr/>
        </p:nvSpPr>
        <p:spPr>
          <a:xfrm>
            <a:off x="3984308" y="418385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33" name="static:31:text"/>
          <p:cNvSpPr/>
          <p:nvPr/>
        </p:nvSpPr>
        <p:spPr>
          <a:xfrm>
            <a:off x="4075748" y="4298156"/>
            <a:ext cx="190024"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5</a:t>
            </a:r>
            <a:endParaRPr lang="en-US" sz="1200" dirty="0"/>
          </a:p>
        </p:txBody>
      </p:sp>
      <p:sp>
        <p:nvSpPr>
          <p:cNvPr id="34" name="static:32:text"/>
          <p:cNvSpPr/>
          <p:nvPr/>
        </p:nvSpPr>
        <p:spPr>
          <a:xfrm>
            <a:off x="4380548" y="4302681"/>
            <a:ext cx="571738"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Deploy</a:t>
            </a:r>
            <a:endParaRPr lang="en-US" sz="1140" dirty="0"/>
          </a:p>
        </p:txBody>
      </p:sp>
      <p:sp>
        <p:nvSpPr>
          <p:cNvPr id="35" name="static:33:arrow"/>
          <p:cNvSpPr/>
          <p:nvPr/>
        </p:nvSpPr>
        <p:spPr>
          <a:xfrm>
            <a:off x="8421053" y="3376136"/>
            <a:ext cx="160020" cy="0"/>
          </a:xfrm>
          <a:prstGeom prst="line">
            <a:avLst/>
          </a:prstGeom>
          <a:noFill/>
          <a:ln w="15240">
            <a:solidFill>
              <a:srgbClr val="B0B0B0"/>
            </a:solidFill>
            <a:prstDash val="solid"/>
            <a:headEnd type="none"/>
            <a:tailEnd type="triangle"/>
          </a:ln>
        </p:spPr>
        <p:txBody>
          <a:bodyPr/>
          <a:lstStyle/>
          <a:p>
            <a:endParaRPr lang="en-US"/>
          </a:p>
        </p:txBody>
      </p:sp>
      <p:sp>
        <p:nvSpPr>
          <p:cNvPr id="36" name="static:34:shape"/>
          <p:cNvSpPr/>
          <p:nvPr/>
        </p:nvSpPr>
        <p:spPr>
          <a:xfrm>
            <a:off x="8642033" y="1768316"/>
            <a:ext cx="2574608" cy="3002280"/>
          </a:xfrm>
          <a:prstGeom prst="roundRect">
            <a:avLst>
              <a:gd name="adj" fmla="val 4735"/>
            </a:avLst>
          </a:prstGeom>
          <a:solidFill>
            <a:srgbClr val="292929"/>
          </a:solidFill>
          <a:ln w="7620">
            <a:solidFill>
              <a:srgbClr val="474747"/>
            </a:solidFill>
            <a:prstDash val="solid"/>
          </a:ln>
        </p:spPr>
        <p:txBody>
          <a:bodyPr/>
          <a:lstStyle/>
          <a:p>
            <a:endParaRPr lang="en-US"/>
          </a:p>
        </p:txBody>
      </p:sp>
      <p:sp>
        <p:nvSpPr>
          <p:cNvPr id="37" name="static:35:text"/>
          <p:cNvSpPr/>
          <p:nvPr/>
        </p:nvSpPr>
        <p:spPr>
          <a:xfrm>
            <a:off x="8802053" y="1920716"/>
            <a:ext cx="1017270" cy="137160"/>
          </a:xfrm>
          <a:prstGeom prst="rect">
            <a:avLst/>
          </a:prstGeom>
          <a:noFill/>
          <a:ln/>
        </p:spPr>
        <p:txBody>
          <a:bodyPr wrap="none" lIns="0" tIns="0" rIns="0" bIns="0" rtlCol="0" anchor="ctr"/>
          <a:lstStyle/>
          <a:p>
            <a:pPr marL="0" indent="0" algn="l">
              <a:buNone/>
            </a:pPr>
            <a:r>
              <a:rPr lang="en-US" sz="780" b="1" kern="0" spc="62" dirty="0">
                <a:solidFill>
                  <a:srgbClr val="FBBF24"/>
                </a:solidFill>
                <a:latin typeface="Arial" pitchFamily="34" charset="0"/>
                <a:ea typeface="Arial" pitchFamily="34" charset="-122"/>
                <a:cs typeface="Arial" pitchFamily="34" charset="-120"/>
              </a:rPr>
              <a:t>IN PRODUCTION</a:t>
            </a:r>
            <a:endParaRPr lang="en-US" sz="780" dirty="0"/>
          </a:p>
        </p:txBody>
      </p:sp>
      <p:sp>
        <p:nvSpPr>
          <p:cNvPr id="38" name="static:36:text"/>
          <p:cNvSpPr/>
          <p:nvPr/>
        </p:nvSpPr>
        <p:spPr>
          <a:xfrm>
            <a:off x="8802053" y="2149316"/>
            <a:ext cx="136826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Agent traces</a:t>
            </a:r>
            <a:endParaRPr lang="en-US" sz="1680" dirty="0"/>
          </a:p>
        </p:txBody>
      </p:sp>
      <p:sp>
        <p:nvSpPr>
          <p:cNvPr id="39" name="static:37:text"/>
          <p:cNvSpPr/>
          <p:nvPr/>
        </p:nvSpPr>
        <p:spPr>
          <a:xfrm>
            <a:off x="8802053" y="2528768"/>
            <a:ext cx="22792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Check behaviour on real requests.</a:t>
            </a:r>
            <a:endParaRPr lang="en-US" sz="1140" dirty="0"/>
          </a:p>
        </p:txBody>
      </p:sp>
      <p:sp>
        <p:nvSpPr>
          <p:cNvPr id="40" name="static:38:shape"/>
          <p:cNvSpPr/>
          <p:nvPr/>
        </p:nvSpPr>
        <p:spPr>
          <a:xfrm>
            <a:off x="8802053" y="3655933"/>
            <a:ext cx="2254568" cy="954643"/>
          </a:xfrm>
          <a:prstGeom prst="roundRect">
            <a:avLst>
              <a:gd name="adj" fmla="val 7982"/>
            </a:avLst>
          </a:prstGeom>
          <a:solidFill>
            <a:srgbClr val="2E2E2E"/>
          </a:solidFill>
          <a:ln w="7620">
            <a:solidFill>
              <a:srgbClr val="474747"/>
            </a:solidFill>
            <a:prstDash val="solid"/>
          </a:ln>
        </p:spPr>
        <p:txBody>
          <a:bodyPr/>
          <a:lstStyle/>
          <a:p>
            <a:endParaRPr lang="en-US"/>
          </a:p>
        </p:txBody>
      </p:sp>
      <p:sp>
        <p:nvSpPr>
          <p:cNvPr id="41" name="static:39:text"/>
          <p:cNvSpPr/>
          <p:nvPr/>
        </p:nvSpPr>
        <p:spPr>
          <a:xfrm>
            <a:off x="8946833" y="3793093"/>
            <a:ext cx="1312545" cy="213360"/>
          </a:xfrm>
          <a:prstGeom prst="rect">
            <a:avLst/>
          </a:prstGeom>
          <a:noFill/>
          <a:ln/>
        </p:spPr>
        <p:txBody>
          <a:bodyPr wrap="none" lIns="0" tIns="0" rIns="0" bIns="0" rtlCol="0" anchor="ctr"/>
          <a:lstStyle/>
          <a:p>
            <a:pPr marL="0" indent="0" algn="l">
              <a:buNone/>
            </a:pPr>
            <a:r>
              <a:rPr lang="en-US" sz="1320" b="1" dirty="0">
                <a:solidFill>
                  <a:srgbClr val="FBBF24"/>
                </a:solidFill>
                <a:latin typeface="Arial" pitchFamily="34" charset="0"/>
                <a:ea typeface="Arial" pitchFamily="34" charset="-122"/>
                <a:cs typeface="Arial" pitchFamily="34" charset="-120"/>
              </a:rPr>
              <a:t>Evaluate &amp; alert</a:t>
            </a:r>
            <a:endParaRPr lang="en-US" sz="1320" dirty="0"/>
          </a:p>
        </p:txBody>
      </p:sp>
      <p:sp>
        <p:nvSpPr>
          <p:cNvPr id="42" name="static:40:text"/>
          <p:cNvSpPr/>
          <p:nvPr/>
        </p:nvSpPr>
        <p:spPr>
          <a:xfrm>
            <a:off x="8946833" y="4075033"/>
            <a:ext cx="158043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Sample traces. Monitor</a:t>
            </a:r>
            <a:endParaRPr lang="en-US" sz="1140" dirty="0"/>
          </a:p>
        </p:txBody>
      </p:sp>
      <p:sp>
        <p:nvSpPr>
          <p:cNvPr id="43" name="static:41:text"/>
          <p:cNvSpPr/>
          <p:nvPr/>
        </p:nvSpPr>
        <p:spPr>
          <a:xfrm>
            <a:off x="8946833" y="4270415"/>
            <a:ext cx="167794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quality, latency and cost.</a:t>
            </a:r>
            <a:endParaRPr lang="en-US" sz="1140" dirty="0"/>
          </a:p>
        </p:txBody>
      </p:sp>
      <p:sp>
        <p:nvSpPr>
          <p:cNvPr id="44" name="static:42:shape"/>
          <p:cNvSpPr/>
          <p:nvPr/>
        </p:nvSpPr>
        <p:spPr>
          <a:xfrm>
            <a:off x="8642033" y="5014436"/>
            <a:ext cx="2574608" cy="624840"/>
          </a:xfrm>
          <a:prstGeom prst="roundRect">
            <a:avLst>
              <a:gd name="adj" fmla="val 12195"/>
            </a:avLst>
          </a:prstGeom>
          <a:solidFill>
            <a:srgbClr val="292929"/>
          </a:solidFill>
          <a:ln w="7620">
            <a:solidFill>
              <a:srgbClr val="FD8EA1"/>
            </a:solidFill>
            <a:prstDash val="solid"/>
          </a:ln>
        </p:spPr>
        <p:txBody>
          <a:bodyPr/>
          <a:lstStyle/>
          <a:p>
            <a:endParaRPr lang="en-US"/>
          </a:p>
        </p:txBody>
      </p:sp>
      <p:sp>
        <p:nvSpPr>
          <p:cNvPr id="45" name="static:43:text"/>
          <p:cNvSpPr/>
          <p:nvPr/>
        </p:nvSpPr>
        <p:spPr>
          <a:xfrm>
            <a:off x="8802053" y="5140166"/>
            <a:ext cx="738426" cy="190500"/>
          </a:xfrm>
          <a:prstGeom prst="rect">
            <a:avLst/>
          </a:prstGeom>
          <a:noFill/>
          <a:ln/>
        </p:spPr>
        <p:txBody>
          <a:bodyPr wrap="none" lIns="0" tIns="0" rIns="0" bIns="0" rtlCol="0" anchor="ctr"/>
          <a:lstStyle/>
          <a:p>
            <a:pPr marL="0" indent="0" algn="l">
              <a:buNone/>
            </a:pPr>
            <a:r>
              <a:rPr lang="en-US" sz="1200" b="1" dirty="0">
                <a:solidFill>
                  <a:srgbClr val="FD8EA1"/>
                </a:solidFill>
                <a:latin typeface="Arial" pitchFamily="34" charset="0"/>
                <a:ea typeface="Arial" pitchFamily="34" charset="-122"/>
                <a:cs typeface="Arial" pitchFamily="34" charset="-120"/>
              </a:rPr>
              <a:t>Optimise</a:t>
            </a:r>
            <a:endParaRPr lang="en-US" sz="1200" dirty="0"/>
          </a:p>
        </p:txBody>
      </p:sp>
      <p:sp>
        <p:nvSpPr>
          <p:cNvPr id="46" name="static:44:text"/>
          <p:cNvSpPr/>
          <p:nvPr/>
        </p:nvSpPr>
        <p:spPr>
          <a:xfrm>
            <a:off x="8802053" y="5361146"/>
            <a:ext cx="1234916" cy="152400"/>
          </a:xfrm>
          <a:prstGeom prst="rect">
            <a:avLst/>
          </a:prstGeom>
          <a:noFill/>
          <a:ln/>
        </p:spPr>
        <p:txBody>
          <a:bodyPr wrap="none" lIns="0" tIns="0" rIns="0" bIns="0" rtlCol="0" anchor="ctr"/>
          <a:lstStyle/>
          <a:p>
            <a:pPr marL="0" indent="0" algn="l">
              <a:buNone/>
            </a:pPr>
            <a:r>
              <a:rPr lang="en-US" sz="960" dirty="0">
                <a:solidFill>
                  <a:srgbClr val="B0B0B0"/>
                </a:solidFill>
                <a:latin typeface="Arial" pitchFamily="34" charset="0"/>
                <a:ea typeface="Arial" pitchFamily="34" charset="-122"/>
                <a:cs typeface="Arial" pitchFamily="34" charset="-120"/>
              </a:rPr>
              <a:t>Compare candidates</a:t>
            </a:r>
            <a:endParaRPr lang="en-US" sz="960" dirty="0"/>
          </a:p>
        </p:txBody>
      </p:sp>
      <p:sp>
        <p:nvSpPr>
          <p:cNvPr id="47" name="static:45:path:segment-0"/>
          <p:cNvSpPr/>
          <p:nvPr/>
        </p:nvSpPr>
        <p:spPr>
          <a:xfrm>
            <a:off x="9928860" y="4768883"/>
            <a:ext cx="0" cy="229051"/>
          </a:xfrm>
          <a:prstGeom prst="line">
            <a:avLst/>
          </a:prstGeom>
          <a:noFill/>
          <a:ln w="15240">
            <a:solidFill>
              <a:srgbClr val="FD8EA1"/>
            </a:solidFill>
            <a:prstDash val="solid"/>
            <a:headEnd type="none"/>
            <a:tailEnd type="triangle"/>
          </a:ln>
        </p:spPr>
        <p:txBody>
          <a:bodyPr/>
          <a:lstStyle/>
          <a:p>
            <a:endParaRPr lang="en-US"/>
          </a:p>
        </p:txBody>
      </p:sp>
      <p:sp>
        <p:nvSpPr>
          <p:cNvPr id="48" name="static:46:path:segment-0"/>
          <p:cNvSpPr/>
          <p:nvPr/>
        </p:nvSpPr>
        <p:spPr>
          <a:xfrm flipH="1">
            <a:off x="6096000" y="5326240"/>
            <a:ext cx="2545080" cy="0"/>
          </a:xfrm>
          <a:prstGeom prst="line">
            <a:avLst/>
          </a:prstGeom>
          <a:noFill/>
          <a:ln w="15240">
            <a:solidFill>
              <a:srgbClr val="FD8EA1"/>
            </a:solidFill>
            <a:prstDash val="solid"/>
            <a:headEnd type="none"/>
            <a:tailEnd type="none"/>
          </a:ln>
        </p:spPr>
        <p:txBody>
          <a:bodyPr/>
          <a:lstStyle/>
          <a:p>
            <a:endParaRPr lang="en-US"/>
          </a:p>
        </p:txBody>
      </p:sp>
      <p:sp>
        <p:nvSpPr>
          <p:cNvPr id="49" name="static:46:path:segment-1"/>
          <p:cNvSpPr/>
          <p:nvPr/>
        </p:nvSpPr>
        <p:spPr>
          <a:xfrm flipV="1">
            <a:off x="6096000" y="4768883"/>
            <a:ext cx="0" cy="557357"/>
          </a:xfrm>
          <a:prstGeom prst="line">
            <a:avLst/>
          </a:prstGeom>
          <a:noFill/>
          <a:ln w="15240">
            <a:solidFill>
              <a:srgbClr val="FD8EA1"/>
            </a:solidFill>
            <a:prstDash val="solid"/>
            <a:headEnd type="none"/>
            <a:tailEnd type="triangle"/>
          </a:ln>
        </p:spPr>
        <p:txBody>
          <a:bodyPr/>
          <a:lstStyle/>
          <a:p>
            <a:endParaRPr lang="en-US"/>
          </a:p>
        </p:txBody>
      </p:sp>
      <p:sp>
        <p:nvSpPr>
          <p:cNvPr id="50" name="static:47: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8:text"/>
          <p:cNvSpPr/>
          <p:nvPr/>
        </p:nvSpPr>
        <p:spPr>
          <a:xfrm>
            <a:off x="10457736" y="6461760"/>
            <a:ext cx="1216104"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63927" y="6461760"/>
            <a:ext cx="120991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7617" y="6461760"/>
            <a:ext cx="121622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4b5f3023-3641-4fd5-9aa3-170596dd4367}" contentBits="0" removed="0"/>
</clbl:labelList>
</file>

<file path=docProps/app.xml><?xml version="1.0" encoding="utf-8"?>
<Properties xmlns="http://schemas.openxmlformats.org/officeDocument/2006/extended-properties" xmlns:vt="http://schemas.openxmlformats.org/officeDocument/2006/docPropsVTypes">
  <TotalTime>0</TotalTime>
  <Words>4117</Words>
  <Application>Microsoft Macintosh PowerPoint</Application>
  <PresentationFormat>Widescreen</PresentationFormat>
  <Paragraphs>309</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2</cp:revision>
  <dcterms:created xsi:type="dcterms:W3CDTF">2026-09-24T03:46:03Z</dcterms:created>
  <dcterms:modified xsi:type="dcterms:W3CDTF">2026-09-24T04:03:53Z</dcterms:modified>
</cp:coreProperties>
</file>