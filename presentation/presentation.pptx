
<file path=[Content_Types].xml><?xml version="1.0" encoding="utf-8"?>
<Types xmlns="http://schemas.openxmlformats.org/package/2006/content-types">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media/image1.jpg" ContentType="image/jpg"/>
  <Override PartName="/ppt/media/image10.svg" ContentType="image/svg+xml"/>
  <Override PartName="/ppt/media/image2.jpg" ContentType="image/jpg"/>
  <Override PartName="/ppt/media/image3.jpg" ContentType="image/jpg"/>
  <Override PartName="/ppt/media/image4.jpg" ContentType="image/jpg"/>
  <Override PartName="/ppt/media/image5.jpg" ContentType="image/jpg"/>
  <Override PartName="/ppt/media/image6.jpg" ContentType="image/jpg"/>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4" r:id="rId2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067"/>
    <p:restoredTop sz="94610"/>
  </p:normalViewPr>
  <p:slideViewPr>
    <p:cSldViewPr snapToGrid="0" snapToObjects="1">
      <p:cViewPr>
        <p:scale>
          <a:sx n="156" d="100"/>
          <a:sy n="156" d="100"/>
        </p:scale>
        <p:origin x="2048" y="15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10/9/26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Prompt to Production
Suggested timing: 1 minutes
KEY MESSAGE
Microsoft Foundry connects model choice, context, evaluation, optimisation and delivery.
DEFINITION
An agent combines a model, instructions, tools and context to work towards a goal.
TALK TRACK
Frame the session around a working purchasing agent. The question is how consistently it answers across real tasks, what each successful answer costs and how to improve it. Follow the same implementation through six saved checkpoints, using live questions and traces alongside completed evaluation and optimisation runs.
TRANSITION
Preview the agenda, starting with model choice.
SOURCES
Session framing.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Suggested timing: 1 minutes
KEY MESSAGE
Model Choice, Grounding, Observe, Evaluate, Optimise, Automate.
DEFINITION
These are the six topics we will cover, in presentation order.
TALK TRACK
Introduce the six topics and their corresponding stage folders. One shared agent implementation runs throughout; each stage records configuration, actions and evidence. Observe and Evaluate add visibility and measurement without requiring a different agent.
TRANSITION
First, meet the agent we'll use throughout the session.
SOURCES
Session structure.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Meet the agent</a:t>
            </a:r>
          </a:p>
          <a:p/>
          <a:p>
            <a:r>
              <a:t>Suggested timing: 1 minutes</a:t>
            </a:r>
          </a:p>
          <a:p/>
          <a:p>
            <a:r>
              <a:t>KEY MESSAGE</a:t>
            </a:r>
          </a:p>
          <a:p>
            <a:r>
              <a:t>One purchasing advice agent and one question connect the demonstrations.</a:t>
            </a:r>
          </a:p>
          <a:p/>
          <a:p>
            <a:r>
              <a:t>DEFINITION</a:t>
            </a:r>
          </a:p>
          <a:p>
            <a:r>
              <a:t>The agent helps employees interpret purchasing guidance and identify the approvals they need.</a:t>
            </a:r>
          </a:p>
          <a:p/>
          <a:p>
            <a:r>
              <a:t>TALK TRACK</a:t>
            </a:r>
          </a:p>
          <a:p>
            <a:r>
              <a:t>Introduce the team lead and read the dinner question. Leave alcohol out on purpose: the agent should ask about it. The agent advises on purchasing; the employee follows the approval process. This one question carries the whole session: policy (Foundry IQ), who can approve today (Work IQ), and budget (Fabric IQ). Later we expand to different dates, purchase types and incomplete requests when evaluating consistency.</a:t>
            </a:r>
          </a:p>
          <a:p/>
          <a:p>
            <a:r>
              <a:t>TRANSITION</a:t>
            </a:r>
          </a:p>
          <a:p>
            <a:r>
              <a:t>The first choice is normally which model to use.</a:t>
            </a:r>
          </a:p>
          <a:p/>
          <a:p>
            <a:r>
              <a:t>SOURCES</a:t>
            </a:r>
          </a:p>
          <a:p>
            <a:r>
              <a:t>Team dinner scenario (fictional).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Choice
Suggested timing: 2 minutes
KEY MESSAGE
The first choice is normally which model to use.
DEFINITION
Quality, speed and cost are different priorities when choosing a model.
TALK TRACK
Model 1 handles complex reasoning, at higher cost and with slower responses. Model 2 prioritises speed but is less capable on complex tasks. Model 3 keeps high-volume work inexpensive but is less suited to nuanced requests. Compare the trade-offs in Foundry, then revisit the starting choice with task-specific evaluations.
TRANSITION
Open the Foundry portal to compare real models and see where Model Router fits.
SOURCES
Session framing.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 Foundry Model Comparison
Suggested timing: 3 minutes
KEY MESSAGE
The first model choice is a hypothesis.
DEFINITION
A starting configuration is an engineering choice that must later be tested against the real business task.
TALK TRACK
Compare a small fixed-model shortlist and Model Router in Foundry. Record the starting model or routing configuration and explain the choice. Keep later baseline comparisons tied to that exact configuration.
DEMO CHECKPOINT
01-model-choice: save the starting model/configuration and portal comparison evidence. The stage playbook records prerequisites, commands, portal steps and the reset procedure.
TRANSITION
Now give the starting agent the organisational context it needs.
SOURCES
Microsoft Foundry model catalog and Model Router demonstration.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Grounding</a:t>
            </a:r>
          </a:p>
          <a:p/>
          <a:p>
            <a:r>
              <a:t>Suggested timing: 3 minutes</a:t>
            </a:r>
          </a:p>
          <a:p/>
          <a:p>
            <a:r>
              <a:t>KEY MESSAGE</a:t>
            </a:r>
          </a:p>
          <a:p>
            <a:r>
              <a:t>Different sources provide different kinds of organisational context.</a:t>
            </a:r>
          </a:p>
          <a:p/>
          <a:p>
            <a:r>
              <a:t>DEFINITION</a:t>
            </a:r>
          </a:p>
          <a:p>
            <a:r>
              <a:t>Foundry IQ provides institutional knowledge, Fabric IQ provides governed business entities and state, and Work IQ provides workplace context.</a:t>
            </a:r>
          </a:p>
          <a:p/>
          <a:p>
            <a:r>
              <a:t>TALK TRACK</a:t>
            </a:r>
          </a:p>
          <a:p>
            <a:r>
              <a:t>Return to the purchasing question and explain the three source types: institutional documents, business records and workplace conversations. Open tools.py: each IQ is a tool shaped like the real MCP tool. Foundry IQ is knowledge_base_retrieve over policies, Work IQ is ask over people, roles, leave, recorded delegations and messages, and Fabric IQ is search_ontology returning one fixed budget. Line to land: policy tells you who must approve; Work IQ tells you who that is today. Tim, the Hospitality Lead, is on leave; the Approvals Register records Priya as his delegate. A chat message or an email can tell you who to contact, but never transfers approval authority. Real IQs are LLM-backed agents with generic tool descriptions; domain guidance lives in the knowledge base or ontology. Ours are deterministic local stand-ins, so none is a real IQ connection.</a:t>
            </a:r>
          </a:p>
          <a:p/>
          <a:p>
            <a:r>
              <a:t>TRANSITION</a:t>
            </a:r>
          </a:p>
          <a:p>
            <a:r>
              <a:t>Let's ask the agent and explore the context available to it.</a:t>
            </a:r>
          </a:p>
          <a:p/>
          <a:p>
            <a:r>
              <a:t>SOURCES</a:t>
            </a:r>
          </a:p>
          <a:p>
            <a:r>
              <a:t>Microsoft IQ concepts and fictional scenario.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2 - Run the Starting Agent</a:t>
            </a:r>
          </a:p>
          <a:p/>
          <a:p>
            <a:r>
              <a:t>Suggested timing: 5 minutes</a:t>
            </a:r>
          </a:p>
          <a:p/>
          <a:p>
            <a:r>
              <a:t>KEY MESSAGE</a:t>
            </a:r>
          </a:p>
          <a:p>
            <a:r>
              <a:t>Establish the working baseline and preserve its evidence.</a:t>
            </a:r>
          </a:p>
          <a:p/>
          <a:p>
            <a:r>
              <a:t>DEFINITION</a:t>
            </a:r>
          </a:p>
          <a:p>
            <a:r>
              <a:t>Instructions define the task and boundaries; tool descriptions explain when a source is useful and what it returns.</a:t>
            </a:r>
          </a:p>
          <a:p/>
          <a:p>
            <a:r>
              <a:t>TALK TRACK</a:t>
            </a:r>
          </a:p>
          <a:p>
            <a:r>
              <a:t>Run the opening question with Foundry IQ and the sample Work IQ adapter available. Read the actual answer: it should ask whether alcohol is included. Answer 'yes, there is wine' and show it find the current approver: Hospitality Lead approval is needed, Tim is on leave, Priya holds the recorded delegation. Save the configuration, source versions, question, answer and run ID. A correct first answer is the starting point for measuring consistency across cases.</a:t>
            </a:r>
          </a:p>
          <a:p/>
          <a:p>
            <a:r>
              <a:t>DEMO CHECKPOINT</a:t>
            </a:r>
          </a:p>
          <a:p>
            <a:r>
              <a:t>02-grounding: save a working baseline, source fixtures and the run ID. Use the saved run if the live service is unavailable, identifying it as a prepared run.</a:t>
            </a:r>
          </a:p>
          <a:p/>
          <a:p>
            <a:r>
              <a:t>TRANSITION</a:t>
            </a:r>
          </a:p>
          <a:p>
            <a:r>
              <a:t>Open the trace to inspect how the answer was produced.</a:t>
            </a:r>
          </a:p>
          <a:p/>
          <a:p>
            <a:r>
              <a:t>SOURCES</a:t>
            </a:r>
          </a:p>
          <a:p>
            <a:r>
              <a:t>Demo implementation to be rehearsed.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
Suggested timing: 2 minutes
KEY MESSAGE
Inspect the calls, inputs and outputs behind the answer.
DEFINITION
A trace records LLM calls, tool calls and timings, with captured prompts and responses.
TALK TRACK
Introduce the three things to inspect: call order, inputs and outputs, and duration. Explain how these let us reconstruct a run. Ask what evidence the audience would look for in the trace.
TRANSITION
Let's follow the run that produced this answer.
SOURCES
Microsoft Foundry observability concepts.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 Inspect the Trace
Suggested timing: 4 minutes
KEY MESSAGE
Understand how the agent produced the answer and where it spent time.
DEFINITION
Tool-call inputs and outputs show what was requested and returned.
TALK TRACK
Open the saved baseline run and follow the LLM and tool calls, including both context sources when used. Inspect captured prompts, returned evidence, responses and timings. Discuss repeated calls or slow steps only where the trace shows them. Use the request and expected outcome as an evaluation case.
DEMO CHECKPOINT
03-observe: save the trace, call sequence and timing evidence. Keep the same agent configuration as stage 02.
TRANSITION
We've inspected one run. How consistently does the agent handle other purchasing situations?
SOURCES
Microsoft Foundry tracing demonstration.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Evaluate
Suggested timing: 3 minutes
KEY MESSAGE
Start with built-in evaluators, then add the criteria that matter for your task.
DEFINITION
Groundedness checks support from supplied context. Customer Satisfaction predicts satisfaction across the conversation. Rubric scores custom, weighted criteria using an LLM judge.
TALK TRACK
Introduce Groundedness and Customer Satisfaction, then the custom purchasing rubric. Explain how approval route, expiry, citations and an actionable next step are checked across different purchases, dates and missing information. Customer Satisfaction assesses helpfulness, completeness, clarity, tone, resolution and adaptability. Keep criteria fixed across versions. Customer Satisfaction and Rubric are in preview.
TRANSITION
Let's measure the starting agent against these criteria across purchasing cases.
SOURCES
Microsoft Learn, checked 24 September 2026: https://learn.microsoft.com/en-us/azure/foundry/concepts/evaluation-evaluators/rag-evaluators ; https://learn.microsoft.com/en-us/azure/foundry/concepts/evaluation-evaluators/agent-evaluators ; https://learn.microsoft.com/en-us/azure/foundry/concepts/evaluation-evaluators/rubric-evaluators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 Evaluate Across Cases
Suggested timing: 6 minutes
KEY MESSAGE
Measure consistency across cases, not just the opening answer.
DEFINITION
Tokens are units of model input and output; response time is the user's end-to-end wait.
TALK TRACK
Open the baseline evaluation across valid and expired exceptions, different purchase types and missing information. Inspect per-case Groundedness, Customer Satisfaction and Rubric results alongside response time, tokens, tool calls and estimated cost. Repeat representative cases to assess variation. Identify measured opportunities: more consistent task completion, clearer responses or lower cost while preserving quality. Save the baseline before opening any Optimizer candidates.
DEMO CHECKPOINT
04-evaluate: freeze the baseline configuration, dataset, rubric and report. Record per-case results and operational metrics; choose the optimisation objective from this evidence.
TRANSITION
Use these results to set the optimisation goal, then keep the tests fixed.
SOURCES
Microsoft Foundry model comparison and evaluation demonstration.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Optimise
Suggested timing: 3 minutes
KEY MESSAGE
Compare candidate scores and configuration changes with the baseline.
DEFINITION
A baseline is the starting configuration; candidates are alternatives generated and evaluated by Agent Optimizer.
TALK TRACK
The primary experiment is more consistent answers across purchasing cases. Compare candidate instructions, tool descriptions and model choices against fixed criteria. Alongside quality, inspect response time and estimated cost. If the baseline already meets the quality requirement, investigate whether another configuration preserves it at lower cost.
TRANSITION
Let's open the Optimizer run and compare the candidates.
SOURCES
Microsoft Foundry Agent Optimizer concepts.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 Agent Optimizer
Suggested timing: 6 minutes
KEY MESSAGE
Inspect the evidence behind the recommended candidate.
DEFINITION
The optional validation dataset supplies separate evaluation cases within the optimisation run.
TALK TRACK
Show the stage playbook command azd ai agent optimize --config eval.yaml, then open its completed run. Compare per-case rubric results, built-in scores, response time and estimated cost with the frozen baseline. Inspect the actual configuration diff and optional validation dataset. Revisit the opening question and a changed date or purchase type. Apply a candidate only if the evidence supports the trade-off; otherwise keep the baseline.
DEMO CHECKPOINT
05-optimise: preserve the operation ID, candidate IDs, reports and configuration diff. Record azd ai agent optimize status OPERATION_ID --watch and azd ai agent optimize apply --candidate CANDIDATE_ID in the playbook. Applying selects configuration; release checks precede deployment.
TRANSITION
Carry the same evidence into the release process.
SOURCES
Microsoft Learn: Optimize agent instructions, skills, tools, and models; Agent optimizer cost and token usage overview. Checked 24 September 2026.</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test sets</a:t>
            </a:r>
          </a:p>
          <a:p/>
          <a:p>
            <a:r>
              <a:t>Suggested timing: 2 minutes</a:t>
            </a:r>
          </a:p>
          <a:p/>
          <a:p>
            <a:r>
              <a:t>KEY MESSAGE</a:t>
            </a:r>
          </a:p>
          <a:p>
            <a:r>
              <a:t>Three test sets, three jobs.</a:t>
            </a:r>
          </a:p>
          <a:p/>
          <a:p>
            <a:r>
              <a:t>DEFINITION</a:t>
            </a:r>
          </a:p>
          <a:p>
            <a:r>
              <a:t>Development data trains the optimizer, holdout data validates it, and a drift set is never shown to it.</a:t>
            </a:r>
          </a:p>
          <a:p/>
          <a:p>
            <a:r>
              <a:t>TALK TRACK</a:t>
            </a:r>
          </a:p>
          <a:p>
            <a:r>
              <a:t>Homework, practice exam, surprise exam. The optimizer trains on development and validates on holdout, and we look at both often, so both wear down over time. Our holdout was the same kind of question about the same policies, so a candidate that memorised the policies passed both. The drift set is never shown to the optimizer and its answers change with the date: Tim comes back, Priya's delegation ends, 2027 thresholds start. An agent that looks things up passes; an agent with facts in its prompt confidently gives the old answer.</a:t>
            </a:r>
          </a:p>
          <a:p/>
          <a:p>
            <a:r>
              <a:t>TRANSITION</a:t>
            </a:r>
          </a:p>
          <a:p>
            <a:r>
              <a:t>So what does the gate actually check?</a:t>
            </a:r>
          </a:p>
          <a:p/>
          <a:p>
            <a:r>
              <a:t>SOURCES</a:t>
            </a:r>
          </a:p>
          <a:p>
            <a:r>
              <a:t>Microsoft Learn: Optimize agent instructions, skills, tools, and models (validation_dataset).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6 - The PR that goes red</a:t>
            </a:r>
          </a:p>
          <a:p/>
          <a:p>
            <a:r>
              <a:t>Suggested timing: 5 minutes</a:t>
            </a:r>
          </a:p>
          <a:p/>
          <a:p>
            <a:r>
              <a:t>KEY MESSAGE</a:t>
            </a:r>
          </a:p>
          <a:p>
            <a:r>
              <a:t>The workflow must show why a change stopped.</a:t>
            </a:r>
          </a:p>
          <a:p/>
          <a:p>
            <a:r>
              <a:t>DEFINITION</a:t>
            </a:r>
          </a:p>
          <a:p>
            <a:r>
              <a:t>Release gates check evaluation results; approvals record the release decision.</a:t>
            </a:r>
          </a:p>
          <a:p/>
          <a:p>
            <a:r>
              <a:t>TALK TRACK</a:t>
            </a:r>
          </a:p>
          <a:p>
            <a:r>
              <a:t>Open a pull request containing the optimizer's fact-stuffed candidate. The fact check goes red first, showing the copied names and amounts. Then show the drift-set result: on 27 October, Tim is back, and the stuffed prompt still sends the employee to Priya. The baseline, which looks it up, gets it right. Merge blocked.</a:t>
            </a:r>
          </a:p>
          <a:p/>
          <a:p>
            <a:r>
              <a:t>DEMO CHECKPOINT</a:t>
            </a:r>
          </a:p>
          <a:p>
            <a:r>
              <a:t>06-automate: keep the stuffed candidate as a separate, resettable branch with its exact diff and the failing workflow run ID.</a:t>
            </a:r>
          </a:p>
          <a:p/>
          <a:p>
            <a:r>
              <a:t>TRANSITION</a:t>
            </a:r>
          </a:p>
          <a:p>
            <a:r>
              <a:t>And after release, production keeps feeding the tests.</a:t>
            </a:r>
          </a:p>
          <a:p/>
          <a:p>
            <a:r>
              <a:t>SOURCES</a:t>
            </a:r>
          </a:p>
          <a:p>
            <a:r>
              <a:t>GitHub Actions release-check demonstration.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Production feeds the tests</a:t>
            </a:r>
          </a:p>
          <a:p/>
          <a:p>
            <a:r>
              <a:t>Suggested timing: 2 minutes</a:t>
            </a:r>
          </a:p>
          <a:p/>
          <a:p>
            <a:r>
              <a:t>KEY MESSAGE</a:t>
            </a:r>
          </a:p>
          <a:p>
            <a:r>
              <a:t>Every production failure becomes a test.</a:t>
            </a:r>
          </a:p>
          <a:p/>
          <a:p>
            <a:r>
              <a:t>DEFINITION</a:t>
            </a:r>
          </a:p>
          <a:p>
            <a:r>
              <a:t>Continuous evaluation scores a sample of real conversations after release.</a:t>
            </a:r>
          </a:p>
          <a:p/>
          <a:p>
            <a:r>
              <a:t>TALK TRACK</a:t>
            </a:r>
          </a:p>
          <a:p>
            <a:r>
              <a:t>Turn on continuous evaluation in Foundry to score a sample of real conversations and alert on quality, latency and cost. Review interesting failures, redact personal data, and add them as new test rows. The next change, whether from a person or the optimizer, goes through the same gate against them. Simulation and trace-to-dataset generation are preview capabilities; verify before relying on them.</a:t>
            </a:r>
          </a:p>
          <a:p/>
          <a:p>
            <a:r>
              <a:t>TRANSITION</a:t>
            </a:r>
          </a:p>
          <a:p>
            <a:r>
              <a:t>Here are six related capabilities worth exploring beyond today's demonstrations.</a:t>
            </a:r>
          </a:p>
          <a:p/>
          <a:p>
            <a:r>
              <a:t>SOURCES</a:t>
            </a:r>
          </a:p>
          <a:p>
            <a:r>
              <a:t>Microsoft Learn and GitHub Docs, checked 24 September 2026: https://learn.microsoft.com/en-us/azure/foundry/observability/how-to/evaluation-dataset-synthetic ; https://learn.microsoft.com/en-us/azure/foundry/observability/how-to/evaluation-datasets ; https://learn.microsoft.com/en-us/azure/foundry/observability/how-to/traces-to-dataset ; https://learn.microsoft.com/en-us/azure/foundry/concepts/observability ; https://docs.github.com/en/actions/reference/workflows-and-actions/deployments-and-environments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exploring next
Suggested timing: 1 minutes
KEY MESSAGE
Six next steps for extending the purchasing agent.
DEFINITION
Human annotation assesses an answer; human approval authorises an action.
TALK TRACK
Spend no more than one minute signposting these topics. Human annotation captures expert assessments: explicitly curate that feedback into better criteria and tests rather than imply automatic learning. Synthetic data expands purchase types, dates and ambiguous requests; review generated cases. AI Red Teaming probes adversarial behaviour, while guardrails such as Prompt Shields help detect malicious instructions in requests and retrieved emails or documents. Identity and permissions limit real enterprise access. Human approval workflows are an extension beyond our advice-only agent: pause before submitting a purchase request and resume after an authorised decision. Human Evaluation, synthetic data generation and the documented long-running hosted-agent approval workflow are in preview; verify availability and agent support before implementation.
TRANSITION
Return to the complete process, then take questions.
SOURCES
Microsoft Learn, checked 24 September 2026: Human Evaluation https://learn.microsoft.com/en-us/azure/foundry/observability/how-to/human-evaluation ; Synthetic Test Data https://learn.microsoft.com/en-us/azure/foundry/observability/how-to/evaluation-dataset-synthetic ; AI Red Teaming https://learn.microsoft.com/en-us/azure/foundry/concepts/ai-red-teaming-agent ; Prompt Shields https://learn.microsoft.com/en-us/azure/foundry/openai/concepts/content-filter-prompt-shields ; Agent Identity https://learn.microsoft.com/en-us/azure/foundry/agents/concepts/agent-identity ; Human Approval https://learn.microsoft.com/en-us/azure/foundry/agents/how-to/add-human-in-the-loop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measure improve repeat
Suggested timing: 10 minutes
KEY MESSAGE
Build, measure, improve and repeat.
DEFINITION
No new definition. This slide summarises the complete process.
TALK TRACK
Close on one working agent, consistent answers, measured trade-offs and repeatable release checks. Return to the six stage playbooks: each records what changed, how it was run and the evidence collected. Discuss what the measured runs demonstrated and which configuration was retained, then take questions.
TRANSITION
Move into questions.
SOURCES
Session synthesis.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gate checks</a:t>
            </a:r>
          </a:p>
          <a:p/>
          <a:p>
            <a:r>
              <a:t>Suggested timing: 2 minutes</a:t>
            </a:r>
          </a:p>
          <a:p/>
          <a:p>
            <a:r>
              <a:t>KEY MESSAGE</a:t>
            </a:r>
          </a:p>
          <a:p>
            <a:r>
              <a:t>Cheapest check first.</a:t>
            </a:r>
          </a:p>
          <a:p/>
          <a:p>
            <a:r>
              <a:t>DEFINITION</a:t>
            </a:r>
          </a:p>
          <a:p>
            <a:r>
              <a:t>A release gate is an automated check that can stop a change from being promoted.</a:t>
            </a:r>
          </a:p>
          <a:p/>
          <a:p>
            <a:r>
              <a:t>TALK TRACK</a:t>
            </a:r>
          </a:p>
          <a:p>
            <a:r>
              <a:t>One: a script scans the candidate prompt and tool descriptions for amounts, dates, durations and names that the baseline didn't have. Seconds, no LLM. Two: compare against the stored baseline, not a fixed threshold. LLM-judged scores move between runs; Foundry's own optimizer guidance treats changes under 0.03 as noise, so fail on a bigger drop. Three: some failures block regardless of the average, such as sending someone to the wrong approver or following an instruction in an email. Four: pin prompt, tool descriptions, model and dataset version together, or scores aren't comparable.</a:t>
            </a:r>
          </a:p>
          <a:p/>
          <a:p>
            <a:r>
              <a:t>TRANSITION</a:t>
            </a:r>
          </a:p>
          <a:p>
            <a:r>
              <a:t>Let's open a pull request that should fail.</a:t>
            </a:r>
          </a:p>
          <a:p/>
          <a:p>
            <a:r>
              <a:t>SOURCES</a:t>
            </a:r>
          </a:p>
          <a:p>
            <a:r>
              <a:t>Microsoft Learn: Agent optimizer overview (score interpretation).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I Genius - ai-genius-title">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I Genius - ai-genius-content-minimal">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I Genius - ai-genius-content-framed">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I Genius - ai-genius-content-green">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I Genius - ai-genius-framed-green">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I Genius - ai-genius-content-red">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AI Genius - ai-genius-framed-red">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7.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8.svg"/><Relationship Id="rId4" Type="http://schemas.openxmlformats.org/officeDocument/2006/relationships/image" Target="../media/image9.svg"/><Relationship Id="rId5" Type="http://schemas.openxmlformats.org/officeDocument/2006/relationships/image" Target="../media/image10.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From Prompt to Production">
    <p:spTree>
      <p:nvGrpSpPr>
        <p:cNvPr id="1" name=""/>
        <p:cNvGrpSpPr/>
        <p:nvPr/>
      </p:nvGrpSpPr>
      <p:grpSpPr>
        <a:xfrm>
          <a:off x="0" y="0"/>
          <a:ext cx="0" cy="0"/>
          <a:chOff x="0" y="0"/>
          <a:chExt cx="0" cy="0"/>
        </a:xfrm>
      </p:grpSpPr>
      <p:sp>
        <p:nvSpPr>
          <p:cNvPr id="2" name="static:0:text"/>
          <p:cNvSpPr/>
          <p:nvPr/>
        </p:nvSpPr>
        <p:spPr>
          <a:xfrm>
            <a:off x="975360" y="2199918"/>
            <a:ext cx="2768322"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AI GENIUS / SEASON 6 / EPISODE 2</a:t>
            </a:r>
            <a:endParaRPr lang="en-US" sz="960" dirty="0"/>
          </a:p>
        </p:txBody>
      </p:sp>
      <p:sp>
        <p:nvSpPr>
          <p:cNvPr id="3" name="static:1:text"/>
          <p:cNvSpPr/>
          <p:nvPr/>
        </p:nvSpPr>
        <p:spPr>
          <a:xfrm>
            <a:off x="975360" y="2359938"/>
            <a:ext cx="3810786" cy="807720"/>
          </a:xfrm>
          <a:prstGeom prst="rect">
            <a:avLst/>
          </a:prstGeom>
          <a:noFill/>
          <a:ln/>
        </p:spPr>
        <p:txBody>
          <a:bodyPr wrap="none" lIns="0" tIns="0" rIns="0" bIns="0" rtlCol="0" anchor="ctr"/>
          <a:lstStyle/>
          <a:p>
            <a:pPr marL="0" indent="0" algn="l">
              <a:buNone/>
            </a:pPr>
            <a:r>
              <a:rPr lang="en-US" sz="5280" b="1" kern="0" spc="-238" dirty="0">
                <a:solidFill>
                  <a:srgbClr val="DEDEDE"/>
                </a:solidFill>
                <a:latin typeface="Arial" pitchFamily="34" charset="0"/>
                <a:ea typeface="Arial" pitchFamily="34" charset="-122"/>
                <a:cs typeface="Arial" pitchFamily="34" charset="-120"/>
              </a:rPr>
              <a:t>From Prompt</a:t>
            </a:r>
            <a:endParaRPr lang="en-US" sz="5280" dirty="0"/>
          </a:p>
        </p:txBody>
      </p:sp>
      <p:sp>
        <p:nvSpPr>
          <p:cNvPr id="4" name="static:2:text"/>
          <p:cNvSpPr/>
          <p:nvPr/>
        </p:nvSpPr>
        <p:spPr>
          <a:xfrm>
            <a:off x="975360" y="3017044"/>
            <a:ext cx="3911275" cy="807720"/>
          </a:xfrm>
          <a:prstGeom prst="rect">
            <a:avLst/>
          </a:prstGeom>
          <a:noFill/>
          <a:ln/>
        </p:spPr>
        <p:txBody>
          <a:bodyPr wrap="none" lIns="0" tIns="0" rIns="0" bIns="0" rtlCol="0" anchor="ctr"/>
          <a:lstStyle/>
          <a:p>
            <a:pPr marL="0" indent="0" algn="l">
              <a:buNone/>
            </a:pPr>
            <a:r>
              <a:rPr lang="en-US" sz="5280" b="1" kern="0" spc="-238" dirty="0">
                <a:solidFill>
                  <a:srgbClr val="FBBF24"/>
                </a:solidFill>
                <a:latin typeface="Arial" pitchFamily="34" charset="0"/>
                <a:ea typeface="Arial" pitchFamily="34" charset="-122"/>
                <a:cs typeface="Arial" pitchFamily="34" charset="-120"/>
              </a:rPr>
              <a:t>to Production</a:t>
            </a:r>
            <a:endParaRPr lang="en-US" sz="5280" dirty="0"/>
          </a:p>
        </p:txBody>
      </p:sp>
      <p:sp>
        <p:nvSpPr>
          <p:cNvPr id="8" name="static:6:text"/>
          <p:cNvSpPr/>
          <p:nvPr/>
        </p:nvSpPr>
        <p:spPr>
          <a:xfrm>
            <a:off x="975360" y="4918591"/>
            <a:ext cx="819388" cy="144780"/>
          </a:xfrm>
          <a:prstGeom prst="rect">
            <a:avLst/>
          </a:prstGeom>
          <a:noFill/>
          <a:ln/>
        </p:spPr>
        <p:txBody>
          <a:bodyPr wrap="none" lIns="0" tIns="0" rIns="0" bIns="0" rtlCol="0" anchor="ctr"/>
          <a:lstStyle/>
          <a:p>
            <a:pPr marL="0" indent="0" algn="l">
              <a:buNone/>
            </a:pPr>
            <a:r>
              <a:rPr lang="en-US" sz="840" dirty="0">
                <a:solidFill>
                  <a:srgbClr val="919191"/>
                </a:solidFill>
                <a:latin typeface="Arial" pitchFamily="34" charset="0"/>
                <a:ea typeface="Arial" pitchFamily="34" charset="-122"/>
                <a:cs typeface="Arial" pitchFamily="34" charset="-120"/>
              </a:rPr>
              <a:t>Graeme Foster</a:t>
            </a:r>
            <a:endParaRPr lang="en-US" sz="840" dirty="0"/>
          </a:p>
        </p:txBody>
      </p:sp>
      <p:sp>
        <p:nvSpPr>
          <p:cNvPr id="21" name="static:19: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22" name="static:20:text"/>
          <p:cNvSpPr/>
          <p:nvPr/>
        </p:nvSpPr>
        <p:spPr>
          <a:xfrm>
            <a:off x="9726811" y="6461760"/>
            <a:ext cx="121550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01</a:t>
            </a:r>
            <a:endParaRPr lang="en-US" sz="7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tatic:0:text"/>
          <p:cNvSpPr/>
          <p:nvPr/>
        </p:nvSpPr>
        <p:spPr>
          <a:xfrm>
            <a:off x="2727960" y="870109"/>
            <a:ext cx="2556391"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TODAY IN MICROSOFT FOUNDRY</a:t>
            </a:r>
            <a:endParaRPr lang="en-US" sz="960" dirty="0"/>
          </a:p>
        </p:txBody>
      </p:sp>
      <p:sp>
        <p:nvSpPr>
          <p:cNvPr id="3" name="static:1:text"/>
          <p:cNvSpPr/>
          <p:nvPr/>
        </p:nvSpPr>
        <p:spPr>
          <a:xfrm>
            <a:off x="975360" y="1068229"/>
            <a:ext cx="2515291"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What we'll cover.</a:t>
            </a:r>
            <a:endParaRPr lang="en-US" sz="2640" dirty="0"/>
          </a:p>
        </p:txBody>
      </p:sp>
      <p:sp>
        <p:nvSpPr>
          <p:cNvPr id="4" name="static:2:text"/>
          <p:cNvSpPr/>
          <p:nvPr/>
        </p:nvSpPr>
        <p:spPr>
          <a:xfrm>
            <a:off x="975360" y="2251234"/>
            <a:ext cx="348377" cy="266700"/>
          </a:xfrm>
          <a:prstGeom prst="rect">
            <a:avLst/>
          </a:prstGeom>
          <a:noFill/>
          <a:ln/>
        </p:spPr>
        <p:txBody>
          <a:bodyPr wrap="none" lIns="0" tIns="0" rIns="0" bIns="0" rtlCol="0" anchor="ctr"/>
          <a:lstStyle/>
          <a:p>
            <a:pPr marL="0" indent="0" algn="l">
              <a:buNone/>
            </a:pPr>
            <a:r>
              <a:rPr lang="en-US" sz="2000" b="1" dirty="0">
                <a:solidFill>
                  <a:srgbClr val="4DA6FF"/>
                </a:solidFill>
                <a:latin typeface="Arial" pitchFamily="34" charset="0"/>
                <a:ea typeface="Arial" pitchFamily="34" charset="-122"/>
                <a:cs typeface="Arial" pitchFamily="34" charset="-120"/>
              </a:rPr>
              <a:t>01</a:t>
            </a:r>
            <a:endParaRPr lang="en-US" sz="2000" dirty="0"/>
          </a:p>
        </p:txBody>
      </p:sp>
      <p:sp>
        <p:nvSpPr>
          <p:cNvPr id="5" name="static:3:text"/>
          <p:cNvSpPr/>
          <p:nvPr/>
        </p:nvSpPr>
        <p:spPr>
          <a:xfrm>
            <a:off x="975360" y="2578894"/>
            <a:ext cx="1456849"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Model Choice</a:t>
            </a:r>
            <a:endParaRPr lang="en-US" sz="2000" dirty="0"/>
          </a:p>
        </p:txBody>
      </p:sp>
      <p:sp>
        <p:nvSpPr>
          <p:cNvPr id="6" name="static:4:text"/>
          <p:cNvSpPr/>
          <p:nvPr/>
        </p:nvSpPr>
        <p:spPr>
          <a:xfrm>
            <a:off x="975360" y="2912626"/>
            <a:ext cx="2387560"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Model comparison + Model Router</a:t>
            </a:r>
            <a:endParaRPr lang="en-US" sz="1600" dirty="0"/>
          </a:p>
        </p:txBody>
      </p:sp>
      <p:sp>
        <p:nvSpPr>
          <p:cNvPr id="7" name="static:5:text"/>
          <p:cNvSpPr/>
          <p:nvPr/>
        </p:nvSpPr>
        <p:spPr>
          <a:xfrm>
            <a:off x="4535741" y="2265472"/>
            <a:ext cx="374690" cy="266700"/>
          </a:xfrm>
          <a:prstGeom prst="rect">
            <a:avLst/>
          </a:prstGeom>
          <a:noFill/>
          <a:ln/>
        </p:spPr>
        <p:txBody>
          <a:bodyPr wrap="none" lIns="0" tIns="0" rIns="0" bIns="0" rtlCol="0" anchor="ctr"/>
          <a:lstStyle/>
          <a:p>
            <a:pPr marL="0" indent="0" algn="l">
              <a:buNone/>
            </a:pPr>
            <a:r>
              <a:rPr lang="en-US" sz="2000" b="1" dirty="0">
                <a:solidFill>
                  <a:srgbClr val="FD8EA1"/>
                </a:solidFill>
                <a:latin typeface="Arial" pitchFamily="34" charset="0"/>
                <a:ea typeface="Arial" pitchFamily="34" charset="-122"/>
                <a:cs typeface="Arial" pitchFamily="34" charset="-120"/>
              </a:rPr>
              <a:t>02</a:t>
            </a:r>
            <a:endParaRPr lang="en-US" sz="2000" dirty="0"/>
          </a:p>
        </p:txBody>
      </p:sp>
      <p:sp>
        <p:nvSpPr>
          <p:cNvPr id="8" name="static:6:text"/>
          <p:cNvSpPr/>
          <p:nvPr/>
        </p:nvSpPr>
        <p:spPr>
          <a:xfrm>
            <a:off x="4535741" y="2593132"/>
            <a:ext cx="1142881"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Grounding</a:t>
            </a:r>
            <a:endParaRPr lang="en-US" sz="2000" dirty="0"/>
          </a:p>
        </p:txBody>
      </p:sp>
      <p:sp>
        <p:nvSpPr>
          <p:cNvPr id="9" name="static:7:text"/>
          <p:cNvSpPr/>
          <p:nvPr/>
        </p:nvSpPr>
        <p:spPr>
          <a:xfrm>
            <a:off x="4535741" y="2926864"/>
            <a:ext cx="2186583"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Foundry IQ, Fabric IQ + Work IQ</a:t>
            </a:r>
            <a:endParaRPr lang="en-US" sz="1600" dirty="0"/>
          </a:p>
        </p:txBody>
      </p:sp>
      <p:sp>
        <p:nvSpPr>
          <p:cNvPr id="16" name="static:14:text"/>
          <p:cNvSpPr/>
          <p:nvPr/>
        </p:nvSpPr>
        <p:spPr>
          <a:xfrm>
            <a:off x="4535741" y="3637072"/>
            <a:ext cx="378619" cy="266700"/>
          </a:xfrm>
          <a:prstGeom prst="rect">
            <a:avLst/>
          </a:prstGeom>
          <a:noFill/>
          <a:ln/>
        </p:spPr>
        <p:txBody>
          <a:bodyPr wrap="none" lIns="0" tIns="0" rIns="0" bIns="0" rtlCol="0" anchor="ctr"/>
          <a:lstStyle/>
          <a:p>
            <a:pPr marL="0" indent="0" algn="l">
              <a:buNone/>
            </a:pPr>
            <a:r>
              <a:rPr lang="en-US" sz="2000" b="1" dirty="0">
                <a:solidFill>
                  <a:srgbClr val="F87171"/>
                </a:solidFill>
                <a:latin typeface="Arial" pitchFamily="34" charset="0"/>
                <a:ea typeface="Arial" pitchFamily="34" charset="-122"/>
                <a:cs typeface="Arial" pitchFamily="34" charset="-120"/>
              </a:rPr>
              <a:t>05</a:t>
            </a:r>
            <a:endParaRPr lang="en-US" sz="2000" dirty="0"/>
          </a:p>
        </p:txBody>
      </p:sp>
      <p:sp>
        <p:nvSpPr>
          <p:cNvPr id="17" name="static:15:text"/>
          <p:cNvSpPr/>
          <p:nvPr/>
        </p:nvSpPr>
        <p:spPr>
          <a:xfrm>
            <a:off x="4535741" y="3964732"/>
            <a:ext cx="992981"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Optimise</a:t>
            </a:r>
            <a:endParaRPr lang="en-US" sz="2000" dirty="0"/>
          </a:p>
        </p:txBody>
      </p:sp>
      <p:sp>
        <p:nvSpPr>
          <p:cNvPr id="18" name="static:16:text"/>
          <p:cNvSpPr/>
          <p:nvPr/>
        </p:nvSpPr>
        <p:spPr>
          <a:xfrm>
            <a:off x="4535741" y="4298464"/>
            <a:ext cx="1173599"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Agent Optimizer</a:t>
            </a:r>
            <a:endParaRPr lang="en-US" sz="1600" dirty="0"/>
          </a:p>
        </p:txBody>
      </p:sp>
      <p:sp>
        <p:nvSpPr>
          <p:cNvPr id="19" name="static:17:text"/>
          <p:cNvSpPr/>
          <p:nvPr/>
        </p:nvSpPr>
        <p:spPr>
          <a:xfrm>
            <a:off x="7817460" y="3637072"/>
            <a:ext cx="385405" cy="266700"/>
          </a:xfrm>
          <a:prstGeom prst="rect">
            <a:avLst/>
          </a:prstGeom>
          <a:noFill/>
          <a:ln/>
        </p:spPr>
        <p:txBody>
          <a:bodyPr wrap="none" lIns="0" tIns="0" rIns="0" bIns="0" rtlCol="0" anchor="ctr"/>
          <a:lstStyle/>
          <a:p>
            <a:pPr marL="0" indent="0" algn="l">
              <a:buNone/>
            </a:pPr>
            <a:r>
              <a:rPr lang="en-US" sz="2000" b="1" dirty="0">
                <a:solidFill>
                  <a:srgbClr val="4DA6FF"/>
                </a:solidFill>
                <a:latin typeface="Arial" pitchFamily="34" charset="0"/>
                <a:ea typeface="Arial" pitchFamily="34" charset="-122"/>
                <a:cs typeface="Arial" pitchFamily="34" charset="-120"/>
              </a:rPr>
              <a:t>06</a:t>
            </a:r>
            <a:endParaRPr lang="en-US" sz="2000" dirty="0"/>
          </a:p>
        </p:txBody>
      </p:sp>
      <p:sp>
        <p:nvSpPr>
          <p:cNvPr id="20" name="static:18:text"/>
          <p:cNvSpPr/>
          <p:nvPr/>
        </p:nvSpPr>
        <p:spPr>
          <a:xfrm>
            <a:off x="7817460" y="3964732"/>
            <a:ext cx="1072039"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Automate</a:t>
            </a:r>
            <a:endParaRPr lang="en-US" sz="2000" dirty="0"/>
          </a:p>
        </p:txBody>
      </p:sp>
      <p:sp>
        <p:nvSpPr>
          <p:cNvPr id="21" name="static:19:text"/>
          <p:cNvSpPr/>
          <p:nvPr/>
        </p:nvSpPr>
        <p:spPr>
          <a:xfrm>
            <a:off x="7817460" y="4231432"/>
            <a:ext cx="3856380" cy="243294"/>
          </a:xfrm>
          <a:prstGeom prst="rect">
            <a:avLst/>
          </a:prstGeom>
          <a:noFill/>
          <a:ln/>
        </p:spPr>
        <p:txBody>
          <a:bodyPr wrap="none" lIns="0" tIns="0" rIns="0" bIns="0" rtlCol="0" anchor="ctr"/>
          <a:lstStyle/>
          <a:p>
            <a:r>
              <a:rPr lang="en-US" sz="1600" dirty="0">
                <a:solidFill>
                  <a:srgbClr val="B0B0B0"/>
                </a:solidFill>
                <a:latin typeface="Arial" pitchFamily="34" charset="0"/>
                <a:ea typeface="Arial" pitchFamily="34" charset="-122"/>
                <a:cs typeface="Arial" pitchFamily="34" charset="-120"/>
              </a:rPr>
              <a:t>Continuous evaluation + GitHub Actions</a:t>
            </a:r>
            <a:endParaRPr lang="en-US" sz="1600" dirty="0"/>
          </a:p>
        </p:txBody>
      </p:sp>
      <p:sp>
        <p:nvSpPr>
          <p:cNvPr id="22" name="static:20:text"/>
          <p:cNvSpPr/>
          <p:nvPr/>
        </p:nvSpPr>
        <p:spPr>
          <a:xfrm>
            <a:off x="7817460" y="4496584"/>
            <a:ext cx="1227296" cy="190500"/>
          </a:xfrm>
          <a:prstGeom prst="rect">
            <a:avLst/>
          </a:prstGeom>
          <a:noFill/>
          <a:ln/>
        </p:spPr>
        <p:txBody>
          <a:bodyPr wrap="none" lIns="0" tIns="0" rIns="0" bIns="0" rtlCol="0" anchor="ctr"/>
          <a:lstStyle/>
          <a:p>
            <a:pPr marL="0" indent="0" algn="l">
              <a:buNone/>
            </a:pPr>
            <a:endParaRPr lang="en-US" sz="1600" dirty="0"/>
          </a:p>
        </p:txBody>
      </p:sp>
      <p:sp>
        <p:nvSpPr>
          <p:cNvPr id="23" name="static:21: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24" name="static:22:text"/>
          <p:cNvSpPr/>
          <p:nvPr/>
        </p:nvSpPr>
        <p:spPr>
          <a:xfrm>
            <a:off x="10445591" y="6461760"/>
            <a:ext cx="122824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02</a:t>
            </a:r>
            <a:endParaRPr lang="en-US" sz="720" dirty="0"/>
          </a:p>
        </p:txBody>
      </p:sp>
      <p:sp>
        <p:nvSpPr>
          <p:cNvPr id="25" name="static:11:text">
            <a:extLst>
              <a:ext uri="{FF2B5EF4-FFF2-40B4-BE49-F238E27FC236}">
                <a16:creationId xmlns:a16="http://schemas.microsoft.com/office/drawing/2014/main" id="{46F7BA72-CF14-DB79-C5D6-9262140E2D71}"/>
              </a:ext>
            </a:extLst>
          </p:cNvPr>
          <p:cNvSpPr/>
          <p:nvPr/>
        </p:nvSpPr>
        <p:spPr>
          <a:xfrm>
            <a:off x="975360" y="3637072"/>
            <a:ext cx="385286" cy="266700"/>
          </a:xfrm>
          <a:prstGeom prst="rect">
            <a:avLst/>
          </a:prstGeom>
          <a:noFill/>
          <a:ln/>
        </p:spPr>
        <p:txBody>
          <a:bodyPr wrap="none" lIns="0" tIns="0" rIns="0" bIns="0" rtlCol="0" anchor="ctr"/>
          <a:lstStyle/>
          <a:p>
            <a:pPr marL="0" indent="0" algn="l">
              <a:buNone/>
            </a:pPr>
            <a:r>
              <a:rPr lang="en-US" sz="2000" b="1" dirty="0">
                <a:solidFill>
                  <a:srgbClr val="4ADE80"/>
                </a:solidFill>
                <a:latin typeface="Arial" pitchFamily="34" charset="0"/>
                <a:ea typeface="Arial" pitchFamily="34" charset="-122"/>
                <a:cs typeface="Arial" pitchFamily="34" charset="-120"/>
              </a:rPr>
              <a:t>04</a:t>
            </a:r>
            <a:endParaRPr lang="en-US" sz="2000" dirty="0"/>
          </a:p>
        </p:txBody>
      </p:sp>
      <p:sp>
        <p:nvSpPr>
          <p:cNvPr id="26" name="static:12:text">
            <a:extLst>
              <a:ext uri="{FF2B5EF4-FFF2-40B4-BE49-F238E27FC236}">
                <a16:creationId xmlns:a16="http://schemas.microsoft.com/office/drawing/2014/main" id="{DC9D1AEF-5283-3F46-85E0-99FD3B08DD09}"/>
              </a:ext>
            </a:extLst>
          </p:cNvPr>
          <p:cNvSpPr/>
          <p:nvPr/>
        </p:nvSpPr>
        <p:spPr>
          <a:xfrm>
            <a:off x="986511" y="3964732"/>
            <a:ext cx="948214"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Evaluate</a:t>
            </a:r>
            <a:endParaRPr lang="en-US" sz="2000" dirty="0"/>
          </a:p>
        </p:txBody>
      </p:sp>
      <p:sp>
        <p:nvSpPr>
          <p:cNvPr id="27" name="static:13:text">
            <a:extLst>
              <a:ext uri="{FF2B5EF4-FFF2-40B4-BE49-F238E27FC236}">
                <a16:creationId xmlns:a16="http://schemas.microsoft.com/office/drawing/2014/main" id="{E094F1BF-7F3B-FF59-1E91-CAA7077A788D}"/>
              </a:ext>
            </a:extLst>
          </p:cNvPr>
          <p:cNvSpPr/>
          <p:nvPr/>
        </p:nvSpPr>
        <p:spPr>
          <a:xfrm>
            <a:off x="975360" y="4298464"/>
            <a:ext cx="2965769"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Quality, safety, stays on-task</a:t>
            </a:r>
            <a:endParaRPr lang="en-US" sz="1600" dirty="0"/>
          </a:p>
        </p:txBody>
      </p:sp>
      <p:sp>
        <p:nvSpPr>
          <p:cNvPr id="28" name="static:8:text">
            <a:extLst>
              <a:ext uri="{FF2B5EF4-FFF2-40B4-BE49-F238E27FC236}">
                <a16:creationId xmlns:a16="http://schemas.microsoft.com/office/drawing/2014/main" id="{E56A732E-8F30-CD8D-7275-EA11D4A84FDF}"/>
              </a:ext>
            </a:extLst>
          </p:cNvPr>
          <p:cNvSpPr/>
          <p:nvPr/>
        </p:nvSpPr>
        <p:spPr>
          <a:xfrm>
            <a:off x="7817460" y="2265472"/>
            <a:ext cx="380881" cy="266700"/>
          </a:xfrm>
          <a:prstGeom prst="rect">
            <a:avLst/>
          </a:prstGeom>
          <a:noFill/>
          <a:ln/>
        </p:spPr>
        <p:txBody>
          <a:bodyPr wrap="none" lIns="0" tIns="0" rIns="0" bIns="0" rtlCol="0" anchor="ctr"/>
          <a:lstStyle/>
          <a:p>
            <a:pPr marL="0" indent="0" algn="l">
              <a:buNone/>
            </a:pPr>
            <a:r>
              <a:rPr lang="en-US" sz="2000" b="1" dirty="0">
                <a:solidFill>
                  <a:srgbClr val="FBBF24"/>
                </a:solidFill>
                <a:latin typeface="Arial" pitchFamily="34" charset="0"/>
                <a:ea typeface="Arial" pitchFamily="34" charset="-122"/>
                <a:cs typeface="Arial" pitchFamily="34" charset="-120"/>
              </a:rPr>
              <a:t>03</a:t>
            </a:r>
            <a:endParaRPr lang="en-US" sz="2000" dirty="0"/>
          </a:p>
        </p:txBody>
      </p:sp>
      <p:sp>
        <p:nvSpPr>
          <p:cNvPr id="29" name="static:9:text">
            <a:extLst>
              <a:ext uri="{FF2B5EF4-FFF2-40B4-BE49-F238E27FC236}">
                <a16:creationId xmlns:a16="http://schemas.microsoft.com/office/drawing/2014/main" id="{20133A28-79B6-B053-E2A8-D6393DE731EE}"/>
              </a:ext>
            </a:extLst>
          </p:cNvPr>
          <p:cNvSpPr/>
          <p:nvPr/>
        </p:nvSpPr>
        <p:spPr>
          <a:xfrm>
            <a:off x="7817460" y="2593132"/>
            <a:ext cx="1752600" cy="244966"/>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Observability</a:t>
            </a:r>
            <a:endParaRPr lang="en-US" sz="2000" dirty="0"/>
          </a:p>
        </p:txBody>
      </p:sp>
      <p:sp>
        <p:nvSpPr>
          <p:cNvPr id="30" name="static:10:text">
            <a:extLst>
              <a:ext uri="{FF2B5EF4-FFF2-40B4-BE49-F238E27FC236}">
                <a16:creationId xmlns:a16="http://schemas.microsoft.com/office/drawing/2014/main" id="{BEA8599D-63C7-A5D6-7BCF-AEE8E0DE2EC6}"/>
              </a:ext>
            </a:extLst>
          </p:cNvPr>
          <p:cNvSpPr/>
          <p:nvPr/>
        </p:nvSpPr>
        <p:spPr>
          <a:xfrm>
            <a:off x="7817459" y="2926864"/>
            <a:ext cx="1894999"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Foundry tracing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Meet the agent">
    <p:spTree>
      <p:nvGrpSpPr>
        <p:cNvPr id="1" name=""/>
        <p:cNvGrpSpPr/>
        <p:nvPr/>
      </p:nvGrpSpPr>
      <p:grpSpPr>
        <a:xfrm>
          <a:off x="0" y="0"/>
          <a:ext cx="0" cy="0"/>
          <a:chOff x="0" y="0"/>
          <a:chExt cx="0" cy="0"/>
        </a:xfrm>
      </p:grpSpPr>
      <p:sp>
        <p:nvSpPr>
          <p:cNvPr id="2" name="static:0:text"/>
          <p:cNvSpPr/>
          <p:nvPr/>
        </p:nvSpPr>
        <p:spPr>
          <a:xfrm>
            <a:off x="2727960" y="870109"/>
            <a:ext cx="1179671"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OUR EXAMPLE</a:t>
            </a:r>
            <a:endParaRPr lang="en-US" sz="960" dirty="0"/>
          </a:p>
        </p:txBody>
      </p:sp>
      <p:sp>
        <p:nvSpPr>
          <p:cNvPr id="3" name="static:1:text"/>
          <p:cNvSpPr/>
          <p:nvPr/>
        </p:nvSpPr>
        <p:spPr>
          <a:xfrm>
            <a:off x="975360" y="1068229"/>
            <a:ext cx="2270379"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Meet the agent</a:t>
            </a:r>
            <a:endParaRPr lang="en-US" sz="2640" dirty="0"/>
          </a:p>
        </p:txBody>
      </p:sp>
      <p:pic>
        <p:nvPicPr>
          <p:cNvPr id="4" name="static:2:svg:vector-3-2" descr="Purchasing advice agent"/>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80160" y="2088952"/>
            <a:ext cx="1676400" cy="1524000"/>
          </a:xfrm>
          <a:prstGeom prst="rect">
            <a:avLst/>
          </a:prstGeom>
        </p:spPr>
      </p:pic>
      <p:sp>
        <p:nvSpPr>
          <p:cNvPr id="5" name="static:3:text"/>
          <p:cNvSpPr/>
          <p:nvPr/>
        </p:nvSpPr>
        <p:spPr>
          <a:xfrm>
            <a:off x="1202531" y="3734872"/>
            <a:ext cx="192309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Purchasing advice</a:t>
            </a:r>
            <a:endParaRPr lang="en-US" sz="1680" dirty="0"/>
          </a:p>
        </p:txBody>
      </p:sp>
      <p:sp>
        <p:nvSpPr>
          <p:cNvPr id="6" name="static:4:text"/>
          <p:cNvSpPr/>
          <p:nvPr/>
        </p:nvSpPr>
        <p:spPr>
          <a:xfrm>
            <a:off x="1830705" y="3969544"/>
            <a:ext cx="666631"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agent</a:t>
            </a:r>
            <a:endParaRPr lang="en-US" sz="1680" dirty="0"/>
          </a:p>
        </p:txBody>
      </p:sp>
      <p:sp>
        <p:nvSpPr>
          <p:cNvPr id="7" name="static:5:text"/>
          <p:cNvSpPr/>
          <p:nvPr/>
        </p:nvSpPr>
        <p:spPr>
          <a:xfrm>
            <a:off x="1147882" y="4326136"/>
            <a:ext cx="2032278"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Helps employees understand</a:t>
            </a:r>
            <a:endParaRPr lang="en-US" sz="1200" dirty="0"/>
          </a:p>
        </p:txBody>
      </p:sp>
      <p:sp>
        <p:nvSpPr>
          <p:cNvPr id="8" name="static:6:text"/>
          <p:cNvSpPr/>
          <p:nvPr/>
        </p:nvSpPr>
        <p:spPr>
          <a:xfrm>
            <a:off x="1365885" y="4539496"/>
            <a:ext cx="1596271"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what they can buy and</a:t>
            </a:r>
            <a:endParaRPr lang="en-US" sz="1200" dirty="0"/>
          </a:p>
        </p:txBody>
      </p:sp>
      <p:sp>
        <p:nvSpPr>
          <p:cNvPr id="9" name="static:7:text"/>
          <p:cNvSpPr/>
          <p:nvPr/>
        </p:nvSpPr>
        <p:spPr>
          <a:xfrm>
            <a:off x="1211461" y="4752856"/>
            <a:ext cx="1905238"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which approvals they need.</a:t>
            </a:r>
            <a:endParaRPr lang="en-US" sz="1200" dirty="0"/>
          </a:p>
        </p:txBody>
      </p:sp>
      <p:sp>
        <p:nvSpPr>
          <p:cNvPr id="10" name="static:8:shape"/>
          <p:cNvSpPr/>
          <p:nvPr/>
        </p:nvSpPr>
        <p:spPr>
          <a:xfrm>
            <a:off x="3749040" y="2841784"/>
            <a:ext cx="6900000" cy="1516380"/>
          </a:xfrm>
          <a:prstGeom prst="roundRect">
            <a:avLst>
              <a:gd name="adj" fmla="val 8040"/>
            </a:avLst>
          </a:prstGeom>
          <a:solidFill>
            <a:srgbClr val="292929"/>
          </a:solidFill>
          <a:ln w="7620">
            <a:solidFill>
              <a:srgbClr val="474747"/>
            </a:solidFill>
            <a:prstDash val="solid"/>
          </a:ln>
        </p:spPr>
        <p:txBody>
          <a:bodyPr/>
          <a:lstStyle/>
          <a:p>
            <a:endParaRPr lang="en-US"/>
          </a:p>
        </p:txBody>
      </p:sp>
      <p:sp>
        <p:nvSpPr>
          <p:cNvPr id="11" name="static:9:text"/>
          <p:cNvSpPr/>
          <p:nvPr/>
        </p:nvSpPr>
        <p:spPr>
          <a:xfrm>
            <a:off x="4000500" y="3085624"/>
            <a:ext cx="2094667" cy="190500"/>
          </a:xfrm>
          <a:prstGeom prst="rect">
            <a:avLst/>
          </a:prstGeom>
          <a:noFill/>
          <a:ln/>
        </p:spPr>
        <p:txBody>
          <a:bodyPr wrap="none" lIns="0" tIns="0" rIns="0" bIns="0" rtlCol="0" anchor="ctr"/>
          <a:lstStyle/>
          <a:p>
            <a:pPr marL="0" indent="0" algn="l">
              <a:buNone/>
            </a:pPr>
            <a:r>
              <a:rPr lang="en-US" sz="1200" b="1" dirty="0">
                <a:solidFill>
                  <a:srgbClr val="4DA6FF"/>
                </a:solidFill>
                <a:latin typeface="Arial" pitchFamily="34" charset="0"/>
                <a:ea typeface="Arial" pitchFamily="34" charset="-122"/>
                <a:cs typeface="Arial" pitchFamily="34" charset="-120"/>
              </a:rPr>
              <a:t>A team lead asks:</a:t>
            </a:r>
            <a:endParaRPr lang="en-US" sz="1200" dirty="0"/>
          </a:p>
        </p:txBody>
      </p:sp>
      <p:sp>
        <p:nvSpPr>
          <p:cNvPr id="12" name="static:10:text"/>
          <p:cNvSpPr/>
          <p:nvPr/>
        </p:nvSpPr>
        <p:spPr>
          <a:xfrm>
            <a:off x="4000500" y="3420904"/>
            <a:ext cx="5370076" cy="342900"/>
          </a:xfrm>
          <a:prstGeom prst="rect">
            <a:avLst/>
          </a:prstGeom>
          <a:noFill/>
          <a:ln/>
        </p:spPr>
        <p:txBody>
          <a:bodyPr wrap="none" lIns="0" tIns="0" rIns="0" bIns="0" rtlCol="0" anchor="ctr"/>
          <a:lstStyle/>
          <a:p>
            <a:pPr marL="0" indent="0" algn="l">
              <a:buNone/>
            </a:pPr>
            <a:r>
              <a:rPr lang="en-US" sz="2160" b="1" dirty="0">
                <a:solidFill>
                  <a:srgbClr val="DEDEDE"/>
                </a:solidFill>
                <a:latin typeface="Arial" pitchFamily="34" charset="0"/>
                <a:ea typeface="Arial" pitchFamily="34" charset="-122"/>
                <a:cs typeface="Arial" pitchFamily="34" charset="-120"/>
              </a:rPr>
              <a:t>“Can I book a team dinner for six this Thursday?</a:t>
            </a:r>
            <a:endParaRPr lang="en-US" sz="2160" dirty="0"/>
          </a:p>
        </p:txBody>
      </p:sp>
      <p:sp>
        <p:nvSpPr>
          <p:cNvPr id="13" name="static:11:text"/>
          <p:cNvSpPr/>
          <p:nvPr/>
        </p:nvSpPr>
        <p:spPr>
          <a:xfrm>
            <a:off x="4000500" y="3763804"/>
            <a:ext cx="5550218" cy="342900"/>
          </a:xfrm>
          <a:prstGeom prst="rect">
            <a:avLst/>
          </a:prstGeom>
          <a:noFill/>
          <a:ln/>
        </p:spPr>
        <p:txBody>
          <a:bodyPr wrap="none" lIns="0" tIns="0" rIns="0" bIns="0" rtlCol="0" anchor="ctr"/>
          <a:lstStyle/>
          <a:p>
            <a:pPr marL="0" indent="0" algn="l">
              <a:buNone/>
            </a:pPr>
            <a:r>
              <a:rPr lang="en-US" sz="2160" b="1" dirty="0">
                <a:solidFill>
                  <a:srgbClr val="DEDEDE"/>
                </a:solidFill>
                <a:latin typeface="Arial" pitchFamily="34" charset="0"/>
                <a:ea typeface="Arial" pitchFamily="34" charset="-122"/>
                <a:cs typeface="Arial" pitchFamily="34" charset="-120"/>
              </a:rPr>
              <a:t>It’s about $540, and my manager’s approved it.”</a:t>
            </a:r>
            <a:endParaRPr lang="en-US" sz="2160" dirty="0"/>
          </a:p>
        </p:txBody>
      </p:sp>
      <p:sp>
        <p:nvSpPr>
          <p:cNvPr id="14" name="static:12: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15" name="static:13:text"/>
          <p:cNvSpPr/>
          <p:nvPr/>
        </p:nvSpPr>
        <p:spPr>
          <a:xfrm>
            <a:off x="10443448" y="6461760"/>
            <a:ext cx="1230392"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03</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Model Choice">
    <p:spTree>
      <p:nvGrpSpPr>
        <p:cNvPr id="1" name=""/>
        <p:cNvGrpSpPr/>
        <p:nvPr/>
      </p:nvGrpSpPr>
      <p:grpSpPr>
        <a:xfrm>
          <a:off x="0" y="0"/>
          <a:ext cx="0" cy="0"/>
          <a:chOff x="0" y="0"/>
          <a:chExt cx="0" cy="0"/>
        </a:xfrm>
      </p:grpSpPr>
      <p:sp>
        <p:nvSpPr>
          <p:cNvPr id="2" name="static:0:text"/>
          <p:cNvSpPr/>
          <p:nvPr/>
        </p:nvSpPr>
        <p:spPr>
          <a:xfrm>
            <a:off x="2727960" y="870109"/>
            <a:ext cx="3541514"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DIFFERENT MODELS. DIFFERENT PRIORITIES.</a:t>
            </a:r>
            <a:endParaRPr lang="en-US" sz="960" dirty="0"/>
          </a:p>
        </p:txBody>
      </p:sp>
      <p:sp>
        <p:nvSpPr>
          <p:cNvPr id="3" name="static:1:text"/>
          <p:cNvSpPr/>
          <p:nvPr/>
        </p:nvSpPr>
        <p:spPr>
          <a:xfrm>
            <a:off x="975360" y="1068229"/>
            <a:ext cx="2083808"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Model Choice</a:t>
            </a:r>
            <a:endParaRPr lang="en-US" sz="2640" dirty="0"/>
          </a:p>
        </p:txBody>
      </p:sp>
      <p:grpSp>
        <p:nvGrpSpPr>
          <p:cNvPr id="36" name="Reveal 1"/>
          <p:cNvGrpSpPr/>
          <p:nvPr/>
        </p:nvGrpSpPr>
        <p:grpSpPr>
          <a:xfrm>
            <a:off x="975360" y="1949172"/>
            <a:ext cx="2834640" cy="3569137"/>
            <a:chOff x="975360" y="1949172"/>
            <a:chExt cx="2834640" cy="3569137"/>
          </a:xfrm>
        </p:grpSpPr>
        <p:sp>
          <p:nvSpPr>
            <p:cNvPr id="4" name="reveal-1:2:shape"/>
            <p:cNvSpPr/>
            <p:nvPr/>
          </p:nvSpPr>
          <p:spPr>
            <a:xfrm>
              <a:off x="975360" y="1949172"/>
              <a:ext cx="2834640" cy="3569137"/>
            </a:xfrm>
            <a:prstGeom prst="roundRect">
              <a:avLst>
                <a:gd name="adj" fmla="val 4839"/>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964412"/>
              <a:ext cx="2651760" cy="0"/>
            </a:xfrm>
            <a:prstGeom prst="line">
              <a:avLst/>
            </a:prstGeom>
            <a:noFill/>
            <a:ln w="30480">
              <a:solidFill>
                <a:srgbClr val="FBBF24"/>
              </a:solidFill>
              <a:prstDash val="solid"/>
              <a:headEnd type="none"/>
              <a:tailEnd type="none"/>
            </a:ln>
          </p:spPr>
          <p:txBody>
            <a:bodyPr/>
            <a:lstStyle/>
            <a:p>
              <a:endParaRPr lang="en-US"/>
            </a:p>
          </p:txBody>
        </p:sp>
        <p:pic>
          <p:nvPicPr>
            <p:cNvPr id="6" name="reveal-1:3:svg:vector-4-3" descr="Model 1: a robot with a connected reasoning diagram"/>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06880" y="2193012"/>
              <a:ext cx="1371600" cy="1249680"/>
            </a:xfrm>
            <a:prstGeom prst="rect">
              <a:avLst/>
            </a:prstGeom>
          </p:spPr>
        </p:pic>
        <p:sp>
          <p:nvSpPr>
            <p:cNvPr id="7" name="reveal-1:4:text"/>
            <p:cNvSpPr/>
            <p:nvPr/>
          </p:nvSpPr>
          <p:spPr>
            <a:xfrm>
              <a:off x="2064782" y="3549372"/>
              <a:ext cx="747236" cy="228600"/>
            </a:xfrm>
            <a:prstGeom prst="rect">
              <a:avLst/>
            </a:prstGeom>
            <a:noFill/>
            <a:ln/>
          </p:spPr>
          <p:txBody>
            <a:bodyPr wrap="none" lIns="0" tIns="0" rIns="0" bIns="0" rtlCol="0" anchor="ctr"/>
            <a:lstStyle/>
            <a:p>
              <a:pPr marL="0" indent="0" algn="l">
                <a:buNone/>
              </a:pPr>
              <a:r>
                <a:rPr lang="en-US" sz="1440" b="1" dirty="0">
                  <a:solidFill>
                    <a:srgbClr val="FBBF24"/>
                  </a:solidFill>
                  <a:latin typeface="Arial" pitchFamily="34" charset="0"/>
                  <a:ea typeface="Arial" pitchFamily="34" charset="-122"/>
                  <a:cs typeface="Arial" pitchFamily="34" charset="-120"/>
                </a:rPr>
                <a:t>Model 1</a:t>
              </a:r>
              <a:endParaRPr lang="en-US" sz="1440" dirty="0"/>
            </a:p>
          </p:txBody>
        </p:sp>
        <p:sp>
          <p:nvSpPr>
            <p:cNvPr id="8" name="reveal-1:5:text"/>
            <p:cNvSpPr/>
            <p:nvPr/>
          </p:nvSpPr>
          <p:spPr>
            <a:xfrm>
              <a:off x="1414820" y="3857149"/>
              <a:ext cx="2047042" cy="243840"/>
            </a:xfrm>
            <a:prstGeom prst="rect">
              <a:avLst/>
            </a:prstGeom>
            <a:noFill/>
            <a:ln/>
          </p:spPr>
          <p:txBody>
            <a:bodyPr wrap="none" lIns="0" tIns="0" rIns="0" bIns="0" rtlCol="0" anchor="ctr"/>
            <a:lstStyle/>
            <a:p>
              <a:pPr marL="0" indent="0" algn="l">
                <a:buNone/>
              </a:pPr>
              <a:r>
                <a:rPr lang="en-US" sz="1560" b="1" dirty="0">
                  <a:solidFill>
                    <a:srgbClr val="DEDEDE"/>
                  </a:solidFill>
                  <a:latin typeface="Arial" pitchFamily="34" charset="0"/>
                  <a:ea typeface="Arial" pitchFamily="34" charset="-122"/>
                  <a:cs typeface="Arial" pitchFamily="34" charset="-120"/>
                </a:rPr>
                <a:t>Optimised for quality</a:t>
              </a:r>
              <a:endParaRPr lang="en-US" sz="1560" dirty="0"/>
            </a:p>
          </p:txBody>
        </p:sp>
        <p:sp>
          <p:nvSpPr>
            <p:cNvPr id="9" name="reveal-1:6:text"/>
            <p:cNvSpPr/>
            <p:nvPr/>
          </p:nvSpPr>
          <p:spPr>
            <a:xfrm>
              <a:off x="1751528" y="4192429"/>
              <a:ext cx="1373624"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Complex reasoning</a:t>
              </a:r>
              <a:endParaRPr lang="en-US" sz="1200" dirty="0"/>
            </a:p>
          </p:txBody>
        </p:sp>
        <p:sp>
          <p:nvSpPr>
            <p:cNvPr id="10" name="reveal-1:7:text"/>
            <p:cNvSpPr/>
            <p:nvPr/>
          </p:nvSpPr>
          <p:spPr>
            <a:xfrm>
              <a:off x="1713309" y="4398169"/>
              <a:ext cx="1450181"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and multi-step tasks</a:t>
              </a:r>
              <a:endParaRPr lang="en-US" sz="1200" dirty="0"/>
            </a:p>
          </p:txBody>
        </p:sp>
        <p:sp>
          <p:nvSpPr>
            <p:cNvPr id="11" name="reveal-1:8:shape"/>
            <p:cNvSpPr/>
            <p:nvPr/>
          </p:nvSpPr>
          <p:spPr>
            <a:xfrm>
              <a:off x="1196340" y="4748689"/>
              <a:ext cx="2392680" cy="548640"/>
            </a:xfrm>
            <a:prstGeom prst="roundRect">
              <a:avLst>
                <a:gd name="adj" fmla="val 13889"/>
              </a:avLst>
            </a:prstGeom>
            <a:solidFill>
              <a:srgbClr val="2E2E2E"/>
            </a:solidFill>
            <a:ln w="12700">
              <a:solidFill>
                <a:srgbClr val="333333">
                  <a:alpha val="0"/>
                </a:srgbClr>
              </a:solidFill>
              <a:prstDash val="solid"/>
            </a:ln>
          </p:spPr>
          <p:txBody>
            <a:bodyPr/>
            <a:lstStyle/>
            <a:p>
              <a:endParaRPr lang="en-US"/>
            </a:p>
          </p:txBody>
        </p:sp>
        <p:sp>
          <p:nvSpPr>
            <p:cNvPr id="12" name="reveal-1:9:text"/>
            <p:cNvSpPr/>
            <p:nvPr/>
          </p:nvSpPr>
          <p:spPr>
            <a:xfrm>
              <a:off x="1909643" y="4832509"/>
              <a:ext cx="1057394"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Trade-off: $$$</a:t>
              </a:r>
              <a:endParaRPr lang="en-US" sz="1080" dirty="0"/>
            </a:p>
          </p:txBody>
        </p:sp>
        <p:sp>
          <p:nvSpPr>
            <p:cNvPr id="13" name="reveal-1:10:text"/>
            <p:cNvSpPr/>
            <p:nvPr/>
          </p:nvSpPr>
          <p:spPr>
            <a:xfrm>
              <a:off x="1811417" y="5003959"/>
              <a:ext cx="1253966"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Slower responses</a:t>
              </a:r>
              <a:endParaRPr lang="en-US" sz="1080" dirty="0"/>
            </a:p>
          </p:txBody>
        </p:sp>
      </p:grpSp>
      <p:grpSp>
        <p:nvGrpSpPr>
          <p:cNvPr id="37" name="Reveal 2"/>
          <p:cNvGrpSpPr/>
          <p:nvPr/>
        </p:nvGrpSpPr>
        <p:grpSpPr>
          <a:xfrm>
            <a:off x="3992880" y="1949172"/>
            <a:ext cx="2834640" cy="3569137"/>
            <a:chOff x="3992880" y="1949172"/>
            <a:chExt cx="2834640" cy="3569137"/>
          </a:xfrm>
        </p:grpSpPr>
        <p:sp>
          <p:nvSpPr>
            <p:cNvPr id="14" name="reveal-2:11:shape"/>
            <p:cNvSpPr/>
            <p:nvPr/>
          </p:nvSpPr>
          <p:spPr>
            <a:xfrm>
              <a:off x="3992880" y="1949172"/>
              <a:ext cx="2834640" cy="3569137"/>
            </a:xfrm>
            <a:prstGeom prst="roundRect">
              <a:avLst>
                <a:gd name="adj" fmla="val 4839"/>
              </a:avLst>
            </a:prstGeom>
            <a:solidFill>
              <a:srgbClr val="292929"/>
            </a:solidFill>
            <a:ln w="7620">
              <a:solidFill>
                <a:srgbClr val="474747"/>
              </a:solidFill>
              <a:prstDash val="solid"/>
            </a:ln>
          </p:spPr>
          <p:txBody>
            <a:bodyPr/>
            <a:lstStyle/>
            <a:p>
              <a:endParaRPr lang="en-US"/>
            </a:p>
          </p:txBody>
        </p:sp>
        <p:sp>
          <p:nvSpPr>
            <p:cNvPr id="15" name="reveal-2:11:shape:border-0"/>
            <p:cNvSpPr/>
            <p:nvPr/>
          </p:nvSpPr>
          <p:spPr>
            <a:xfrm>
              <a:off x="4084320" y="1964412"/>
              <a:ext cx="2651760" cy="0"/>
            </a:xfrm>
            <a:prstGeom prst="line">
              <a:avLst/>
            </a:prstGeom>
            <a:noFill/>
            <a:ln w="30480">
              <a:solidFill>
                <a:srgbClr val="4DA6FF"/>
              </a:solidFill>
              <a:prstDash val="solid"/>
              <a:headEnd type="none"/>
              <a:tailEnd type="none"/>
            </a:ln>
          </p:spPr>
          <p:txBody>
            <a:bodyPr/>
            <a:lstStyle/>
            <a:p>
              <a:endParaRPr lang="en-US"/>
            </a:p>
          </p:txBody>
        </p:sp>
        <p:pic>
          <p:nvPicPr>
            <p:cNvPr id="16" name="reveal-2:12:svg:vector-4-12" descr="Model 2: a robot with a lightning bolt and speed line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24400" y="2193012"/>
              <a:ext cx="1371600" cy="1249680"/>
            </a:xfrm>
            <a:prstGeom prst="rect">
              <a:avLst/>
            </a:prstGeom>
          </p:spPr>
        </p:pic>
        <p:sp>
          <p:nvSpPr>
            <p:cNvPr id="17" name="reveal-2:13:text"/>
            <p:cNvSpPr/>
            <p:nvPr/>
          </p:nvSpPr>
          <p:spPr>
            <a:xfrm>
              <a:off x="5070872" y="3549372"/>
              <a:ext cx="770096" cy="228600"/>
            </a:xfrm>
            <a:prstGeom prst="rect">
              <a:avLst/>
            </a:prstGeom>
            <a:noFill/>
            <a:ln/>
          </p:spPr>
          <p:txBody>
            <a:bodyPr wrap="none" lIns="0" tIns="0" rIns="0" bIns="0" rtlCol="0" anchor="ctr"/>
            <a:lstStyle/>
            <a:p>
              <a:pPr marL="0" indent="0" algn="l">
                <a:buNone/>
              </a:pPr>
              <a:r>
                <a:rPr lang="en-US" sz="1440" b="1" dirty="0">
                  <a:solidFill>
                    <a:srgbClr val="4DA6FF"/>
                  </a:solidFill>
                  <a:latin typeface="Arial" pitchFamily="34" charset="0"/>
                  <a:ea typeface="Arial" pitchFamily="34" charset="-122"/>
                  <a:cs typeface="Arial" pitchFamily="34" charset="-120"/>
                </a:rPr>
                <a:t>Model 2</a:t>
              </a:r>
              <a:endParaRPr lang="en-US" sz="1440" dirty="0"/>
            </a:p>
          </p:txBody>
        </p:sp>
        <p:sp>
          <p:nvSpPr>
            <p:cNvPr id="18" name="reveal-2:14:text"/>
            <p:cNvSpPr/>
            <p:nvPr/>
          </p:nvSpPr>
          <p:spPr>
            <a:xfrm>
              <a:off x="4464368" y="3857149"/>
              <a:ext cx="1983105" cy="243840"/>
            </a:xfrm>
            <a:prstGeom prst="rect">
              <a:avLst/>
            </a:prstGeom>
            <a:noFill/>
            <a:ln/>
          </p:spPr>
          <p:txBody>
            <a:bodyPr wrap="none" lIns="0" tIns="0" rIns="0" bIns="0" rtlCol="0" anchor="ctr"/>
            <a:lstStyle/>
            <a:p>
              <a:pPr marL="0" indent="0" algn="l">
                <a:buNone/>
              </a:pPr>
              <a:r>
                <a:rPr lang="en-US" sz="1560" b="1" dirty="0">
                  <a:solidFill>
                    <a:srgbClr val="DEDEDE"/>
                  </a:solidFill>
                  <a:latin typeface="Arial" pitchFamily="34" charset="0"/>
                  <a:ea typeface="Arial" pitchFamily="34" charset="-122"/>
                  <a:cs typeface="Arial" pitchFamily="34" charset="-120"/>
                </a:rPr>
                <a:t>Optimised for speed</a:t>
              </a:r>
              <a:endParaRPr lang="en-US" sz="1560" dirty="0"/>
            </a:p>
          </p:txBody>
        </p:sp>
        <p:sp>
          <p:nvSpPr>
            <p:cNvPr id="19" name="reveal-2:15:text"/>
            <p:cNvSpPr/>
            <p:nvPr/>
          </p:nvSpPr>
          <p:spPr>
            <a:xfrm>
              <a:off x="4862393" y="4192429"/>
              <a:ext cx="1187053"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Responsive chat</a:t>
              </a:r>
              <a:endParaRPr lang="en-US" sz="1200" dirty="0"/>
            </a:p>
          </p:txBody>
        </p:sp>
        <p:sp>
          <p:nvSpPr>
            <p:cNvPr id="20" name="reveal-2:16:text"/>
            <p:cNvSpPr/>
            <p:nvPr/>
          </p:nvSpPr>
          <p:spPr>
            <a:xfrm>
              <a:off x="4676894" y="4398169"/>
              <a:ext cx="1557933"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and quick interactions</a:t>
              </a:r>
              <a:endParaRPr lang="en-US" sz="1200" dirty="0"/>
            </a:p>
          </p:txBody>
        </p:sp>
        <p:sp>
          <p:nvSpPr>
            <p:cNvPr id="21" name="reveal-2:17:shape"/>
            <p:cNvSpPr/>
            <p:nvPr/>
          </p:nvSpPr>
          <p:spPr>
            <a:xfrm>
              <a:off x="4213860" y="4748689"/>
              <a:ext cx="2392680" cy="548640"/>
            </a:xfrm>
            <a:prstGeom prst="roundRect">
              <a:avLst>
                <a:gd name="adj" fmla="val 13889"/>
              </a:avLst>
            </a:prstGeom>
            <a:solidFill>
              <a:srgbClr val="2E2E2E"/>
            </a:solidFill>
            <a:ln w="12700">
              <a:solidFill>
                <a:srgbClr val="333333">
                  <a:alpha val="0"/>
                </a:srgbClr>
              </a:solidFill>
              <a:prstDash val="solid"/>
            </a:ln>
          </p:spPr>
          <p:txBody>
            <a:bodyPr/>
            <a:lstStyle/>
            <a:p>
              <a:endParaRPr lang="en-US"/>
            </a:p>
          </p:txBody>
        </p:sp>
        <p:sp>
          <p:nvSpPr>
            <p:cNvPr id="22" name="reveal-2:18:text"/>
            <p:cNvSpPr/>
            <p:nvPr/>
          </p:nvSpPr>
          <p:spPr>
            <a:xfrm>
              <a:off x="4654272" y="4832509"/>
              <a:ext cx="1603177"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Trade-off: less capable</a:t>
              </a:r>
              <a:endParaRPr lang="en-US" sz="1080" dirty="0"/>
            </a:p>
          </p:txBody>
        </p:sp>
        <p:sp>
          <p:nvSpPr>
            <p:cNvPr id="23" name="reveal-2:19:text"/>
            <p:cNvSpPr/>
            <p:nvPr/>
          </p:nvSpPr>
          <p:spPr>
            <a:xfrm>
              <a:off x="4841677" y="5003959"/>
              <a:ext cx="1228487"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on complex tasks</a:t>
              </a:r>
              <a:endParaRPr lang="en-US" sz="1080" dirty="0"/>
            </a:p>
          </p:txBody>
        </p:sp>
      </p:grpSp>
      <p:grpSp>
        <p:nvGrpSpPr>
          <p:cNvPr id="38" name="Reveal 3"/>
          <p:cNvGrpSpPr/>
          <p:nvPr/>
        </p:nvGrpSpPr>
        <p:grpSpPr>
          <a:xfrm>
            <a:off x="7010400" y="1949172"/>
            <a:ext cx="2834640" cy="3569137"/>
            <a:chOff x="7010400" y="1949172"/>
            <a:chExt cx="2834640" cy="3569137"/>
          </a:xfrm>
        </p:grpSpPr>
        <p:sp>
          <p:nvSpPr>
            <p:cNvPr id="24" name="reveal-3:20:shape"/>
            <p:cNvSpPr/>
            <p:nvPr/>
          </p:nvSpPr>
          <p:spPr>
            <a:xfrm>
              <a:off x="7010400" y="1949172"/>
              <a:ext cx="2834640" cy="3569137"/>
            </a:xfrm>
            <a:prstGeom prst="roundRect">
              <a:avLst>
                <a:gd name="adj" fmla="val 4839"/>
              </a:avLst>
            </a:prstGeom>
            <a:solidFill>
              <a:srgbClr val="292929"/>
            </a:solidFill>
            <a:ln w="7620">
              <a:solidFill>
                <a:srgbClr val="474747"/>
              </a:solidFill>
              <a:prstDash val="solid"/>
            </a:ln>
          </p:spPr>
          <p:txBody>
            <a:bodyPr/>
            <a:lstStyle/>
            <a:p>
              <a:endParaRPr lang="en-US"/>
            </a:p>
          </p:txBody>
        </p:sp>
        <p:sp>
          <p:nvSpPr>
            <p:cNvPr id="25" name="reveal-3:20:shape:border-0"/>
            <p:cNvSpPr/>
            <p:nvPr/>
          </p:nvSpPr>
          <p:spPr>
            <a:xfrm>
              <a:off x="7101840" y="1964412"/>
              <a:ext cx="2651760" cy="0"/>
            </a:xfrm>
            <a:prstGeom prst="line">
              <a:avLst/>
            </a:prstGeom>
            <a:noFill/>
            <a:ln w="30480">
              <a:solidFill>
                <a:srgbClr val="4ADE80"/>
              </a:solidFill>
              <a:prstDash val="solid"/>
              <a:headEnd type="none"/>
              <a:tailEnd type="none"/>
            </a:ln>
          </p:spPr>
          <p:txBody>
            <a:bodyPr/>
            <a:lstStyle/>
            <a:p>
              <a:endParaRPr lang="en-US"/>
            </a:p>
          </p:txBody>
        </p:sp>
        <p:pic>
          <p:nvPicPr>
            <p:cNvPr id="26" name="reveal-3:21:svg:vector-4-21" descr="Model 3: a compact robot beside a stack of coins"/>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41920" y="2193012"/>
              <a:ext cx="1371600" cy="1249680"/>
            </a:xfrm>
            <a:prstGeom prst="rect">
              <a:avLst/>
            </a:prstGeom>
          </p:spPr>
        </p:pic>
        <p:sp>
          <p:nvSpPr>
            <p:cNvPr id="27" name="reveal-3:22:text"/>
            <p:cNvSpPr/>
            <p:nvPr/>
          </p:nvSpPr>
          <p:spPr>
            <a:xfrm>
              <a:off x="8086011" y="3549372"/>
              <a:ext cx="774859" cy="228600"/>
            </a:xfrm>
            <a:prstGeom prst="rect">
              <a:avLst/>
            </a:prstGeom>
            <a:noFill/>
            <a:ln/>
          </p:spPr>
          <p:txBody>
            <a:bodyPr wrap="none" lIns="0" tIns="0" rIns="0" bIns="0" rtlCol="0" anchor="ctr"/>
            <a:lstStyle/>
            <a:p>
              <a:pPr marL="0" indent="0" algn="l">
                <a:buNone/>
              </a:pPr>
              <a:r>
                <a:rPr lang="en-US" sz="1440" b="1" dirty="0">
                  <a:solidFill>
                    <a:srgbClr val="4ADE80"/>
                  </a:solidFill>
                  <a:latin typeface="Arial" pitchFamily="34" charset="0"/>
                  <a:ea typeface="Arial" pitchFamily="34" charset="-122"/>
                  <a:cs typeface="Arial" pitchFamily="34" charset="-120"/>
                </a:rPr>
                <a:t>Model 3</a:t>
              </a:r>
              <a:endParaRPr lang="en-US" sz="1440" dirty="0"/>
            </a:p>
          </p:txBody>
        </p:sp>
        <p:sp>
          <p:nvSpPr>
            <p:cNvPr id="28" name="reveal-3:23:text"/>
            <p:cNvSpPr/>
            <p:nvPr/>
          </p:nvSpPr>
          <p:spPr>
            <a:xfrm>
              <a:off x="7565469" y="3857149"/>
              <a:ext cx="1815822" cy="243840"/>
            </a:xfrm>
            <a:prstGeom prst="rect">
              <a:avLst/>
            </a:prstGeom>
            <a:noFill/>
            <a:ln/>
          </p:spPr>
          <p:txBody>
            <a:bodyPr wrap="none" lIns="0" tIns="0" rIns="0" bIns="0" rtlCol="0" anchor="ctr"/>
            <a:lstStyle/>
            <a:p>
              <a:pPr marL="0" indent="0" algn="l">
                <a:buNone/>
              </a:pPr>
              <a:r>
                <a:rPr lang="en-US" sz="1560" b="1" dirty="0">
                  <a:solidFill>
                    <a:srgbClr val="DEDEDE"/>
                  </a:solidFill>
                  <a:latin typeface="Arial" pitchFamily="34" charset="0"/>
                  <a:ea typeface="Arial" pitchFamily="34" charset="-122"/>
                  <a:cs typeface="Arial" pitchFamily="34" charset="-120"/>
                </a:rPr>
                <a:t>Optimised for cost</a:t>
              </a:r>
              <a:endParaRPr lang="en-US" sz="1560" dirty="0"/>
            </a:p>
          </p:txBody>
        </p:sp>
        <p:sp>
          <p:nvSpPr>
            <p:cNvPr id="29" name="reveal-3:24:text"/>
            <p:cNvSpPr/>
            <p:nvPr/>
          </p:nvSpPr>
          <p:spPr>
            <a:xfrm>
              <a:off x="7977188" y="4192429"/>
              <a:ext cx="992386"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High-volume,</a:t>
              </a:r>
              <a:endParaRPr lang="en-US" sz="1200" dirty="0"/>
            </a:p>
          </p:txBody>
        </p:sp>
        <p:sp>
          <p:nvSpPr>
            <p:cNvPr id="30" name="reveal-3:25:text"/>
            <p:cNvSpPr/>
            <p:nvPr/>
          </p:nvSpPr>
          <p:spPr>
            <a:xfrm>
              <a:off x="7878961" y="4398169"/>
              <a:ext cx="1188958"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repeatable tasks</a:t>
              </a:r>
              <a:endParaRPr lang="en-US" sz="1200" dirty="0"/>
            </a:p>
          </p:txBody>
        </p:sp>
        <p:sp>
          <p:nvSpPr>
            <p:cNvPr id="31" name="reveal-3:26:shape"/>
            <p:cNvSpPr/>
            <p:nvPr/>
          </p:nvSpPr>
          <p:spPr>
            <a:xfrm>
              <a:off x="7231380" y="4748689"/>
              <a:ext cx="2392680" cy="548640"/>
            </a:xfrm>
            <a:prstGeom prst="roundRect">
              <a:avLst>
                <a:gd name="adj" fmla="val 13889"/>
              </a:avLst>
            </a:prstGeom>
            <a:solidFill>
              <a:srgbClr val="2E2E2E"/>
            </a:solidFill>
            <a:ln w="12700">
              <a:solidFill>
                <a:srgbClr val="333333">
                  <a:alpha val="0"/>
                </a:srgbClr>
              </a:solidFill>
              <a:prstDash val="solid"/>
            </a:ln>
          </p:spPr>
          <p:txBody>
            <a:bodyPr/>
            <a:lstStyle/>
            <a:p>
              <a:endParaRPr lang="en-US"/>
            </a:p>
          </p:txBody>
        </p:sp>
        <p:sp>
          <p:nvSpPr>
            <p:cNvPr id="32" name="reveal-3:27:text"/>
            <p:cNvSpPr/>
            <p:nvPr/>
          </p:nvSpPr>
          <p:spPr>
            <a:xfrm>
              <a:off x="7726204" y="4832509"/>
              <a:ext cx="1494353"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Trade-off: less suited</a:t>
              </a:r>
              <a:endParaRPr lang="en-US" sz="1080" dirty="0"/>
            </a:p>
          </p:txBody>
        </p:sp>
        <p:sp>
          <p:nvSpPr>
            <p:cNvPr id="33" name="reveal-3:28:text"/>
            <p:cNvSpPr/>
            <p:nvPr/>
          </p:nvSpPr>
          <p:spPr>
            <a:xfrm>
              <a:off x="7756684" y="5003959"/>
              <a:ext cx="1433393"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to nuanced requests</a:t>
              </a:r>
              <a:endParaRPr lang="en-US" sz="1080" dirty="0"/>
            </a:p>
          </p:txBody>
        </p:sp>
      </p:grpSp>
      <p:sp>
        <p:nvSpPr>
          <p:cNvPr id="34" name="static:29: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5" name="static:30:text"/>
          <p:cNvSpPr/>
          <p:nvPr/>
        </p:nvSpPr>
        <p:spPr>
          <a:xfrm>
            <a:off x="10441900" y="6461760"/>
            <a:ext cx="12319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04</a:t>
            </a:r>
            <a:endParaRPr lang="en-US" sz="720" dirty="0"/>
          </a:p>
        </p:txBody>
      </p:sp>
      <p:sp>
        <p:nvSpPr>
          <p:cNvPr id="39" name="Reveal 4">
            <a:extLst>
              <a:ext uri="{FF2B5EF4-FFF2-40B4-BE49-F238E27FC236}">
                <a16:creationId xmlns:a16="http://schemas.microsoft.com/office/drawing/2014/main" id="{331D5248-8C74-A1DD-589D-B0FEC9852322}"/>
              </a:ext>
            </a:extLst>
          </p:cNvPr>
          <p:cNvSpPr/>
          <p:nvPr/>
        </p:nvSpPr>
        <p:spPr>
          <a:xfrm>
            <a:off x="3461862" y="5686247"/>
            <a:ext cx="4633703" cy="311824"/>
          </a:xfrm>
          <a:prstGeom prst="rect">
            <a:avLst/>
          </a:prstGeom>
          <a:noFill/>
          <a:ln/>
        </p:spPr>
        <p:txBody>
          <a:bodyPr wrap="none" lIns="0" tIns="0" rIns="0" bIns="0" rtlCol="0" anchor="ctr"/>
          <a:lstStyle/>
          <a:p>
            <a:pPr marL="0" indent="0" algn="l">
              <a:buNone/>
            </a:pPr>
            <a:r>
              <a:rPr lang="en-US" sz="1560" b="1" dirty="0">
                <a:solidFill>
                  <a:srgbClr val="DEDEDE"/>
                </a:solidFill>
                <a:latin typeface="Arial" pitchFamily="34" charset="0"/>
                <a:ea typeface="Arial" pitchFamily="34" charset="-122"/>
                <a:cs typeface="Arial" pitchFamily="34" charset="-120"/>
              </a:rPr>
              <a:t>Or a model which can decide on the fly?</a:t>
            </a:r>
            <a:endParaRPr lang="en-US" sz="156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Demo 1 - Foundry Model Comparison">
    <p:spTree>
      <p:nvGrpSpPr>
        <p:cNvPr id="1" name=""/>
        <p:cNvGrpSpPr/>
        <p:nvPr/>
      </p:nvGrpSpPr>
      <p:grpSpPr>
        <a:xfrm>
          <a:off x="0" y="0"/>
          <a:ext cx="0" cy="0"/>
          <a:chOff x="0" y="0"/>
          <a:chExt cx="0" cy="0"/>
        </a:xfrm>
      </p:grpSpPr>
      <p:sp>
        <p:nvSpPr>
          <p:cNvPr id="2" name="static:0:text"/>
          <p:cNvSpPr/>
          <p:nvPr/>
        </p:nvSpPr>
        <p:spPr>
          <a:xfrm>
            <a:off x="975360" y="2343626"/>
            <a:ext cx="788432" cy="190500"/>
          </a:xfrm>
          <a:prstGeom prst="rect">
            <a:avLst/>
          </a:prstGeom>
          <a:noFill/>
          <a:ln/>
        </p:spPr>
        <p:txBody>
          <a:bodyPr wrap="none" lIns="0" tIns="0" rIns="0" bIns="0" rtlCol="0" anchor="ctr"/>
          <a:lstStyle/>
          <a:p>
            <a:pPr marL="0" indent="0" algn="l">
              <a:buNone/>
            </a:pPr>
            <a:r>
              <a:rPr lang="en-US" sz="1200" b="1" kern="0" spc="180" dirty="0">
                <a:solidFill>
                  <a:srgbClr val="FBBF24"/>
                </a:solidFill>
                <a:latin typeface="Arial" pitchFamily="34" charset="0"/>
                <a:ea typeface="Arial" pitchFamily="34" charset="-122"/>
                <a:cs typeface="Arial" pitchFamily="34" charset="-120"/>
              </a:rPr>
              <a:t>DEMO 1</a:t>
            </a:r>
            <a:endParaRPr lang="en-US" sz="1200" dirty="0"/>
          </a:p>
        </p:txBody>
      </p:sp>
      <p:sp>
        <p:nvSpPr>
          <p:cNvPr id="3" name="static:1:text"/>
          <p:cNvSpPr/>
          <p:nvPr/>
        </p:nvSpPr>
        <p:spPr>
          <a:xfrm>
            <a:off x="975360" y="2640806"/>
            <a:ext cx="6257163"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Foundry Model Comparison</a:t>
            </a:r>
            <a:endParaRPr lang="en-US" sz="4080" dirty="0"/>
          </a:p>
        </p:txBody>
      </p:sp>
      <p:sp>
        <p:nvSpPr>
          <p:cNvPr id="4" name="static:2:text"/>
          <p:cNvSpPr/>
          <p:nvPr/>
        </p:nvSpPr>
        <p:spPr>
          <a:xfrm>
            <a:off x="975360" y="3387566"/>
            <a:ext cx="5726549"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Compare fixed models and Model Router, then choose a starting</a:t>
            </a:r>
            <a:endParaRPr lang="en-US" sz="1620" dirty="0"/>
          </a:p>
        </p:txBody>
      </p:sp>
      <p:sp>
        <p:nvSpPr>
          <p:cNvPr id="5" name="static:3:text"/>
          <p:cNvSpPr/>
          <p:nvPr/>
        </p:nvSpPr>
        <p:spPr>
          <a:xfrm>
            <a:off x="975360" y="3665220"/>
            <a:ext cx="1308616"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configuration.</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44282" y="6461760"/>
            <a:ext cx="1229558"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05</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Grounding">
    <p:spTree>
      <p:nvGrpSpPr>
        <p:cNvPr id="1" name=""/>
        <p:cNvGrpSpPr/>
        <p:nvPr/>
      </p:nvGrpSpPr>
      <p:grpSpPr>
        <a:xfrm>
          <a:off x="0" y="0"/>
          <a:ext cx="0" cy="0"/>
          <a:chOff x="0" y="0"/>
          <a:chExt cx="0" cy="0"/>
        </a:xfrm>
      </p:grpSpPr>
      <p:sp>
        <p:nvSpPr>
          <p:cNvPr id="2" name="static:0:text"/>
          <p:cNvSpPr/>
          <p:nvPr/>
        </p:nvSpPr>
        <p:spPr>
          <a:xfrm>
            <a:off x="2727960" y="870109"/>
            <a:ext cx="1215033"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MICROSOFT IQ</a:t>
            </a:r>
            <a:endParaRPr lang="en-US" sz="960" dirty="0"/>
          </a:p>
        </p:txBody>
      </p:sp>
      <p:sp>
        <p:nvSpPr>
          <p:cNvPr id="3" name="static:1:text"/>
          <p:cNvSpPr/>
          <p:nvPr/>
        </p:nvSpPr>
        <p:spPr>
          <a:xfrm>
            <a:off x="975360" y="1068229"/>
            <a:ext cx="1631013"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Grounding</a:t>
            </a:r>
            <a:endParaRPr lang="en-US" sz="2640" dirty="0"/>
          </a:p>
        </p:txBody>
      </p:sp>
      <p:grpSp>
        <p:nvGrpSpPr>
          <p:cNvPr id="38"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7" name="reveal-1:4:text"/>
            <p:cNvSpPr/>
            <p:nvPr/>
          </p:nvSpPr>
          <p:spPr>
            <a:xfrm>
              <a:off x="1265873" y="2207419"/>
              <a:ext cx="333256"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FIQ</a:t>
              </a:r>
              <a:endParaRPr lang="en-US" sz="1200" dirty="0"/>
            </a:p>
          </p:txBody>
        </p:sp>
        <p:sp>
          <p:nvSpPr>
            <p:cNvPr id="8" name="reveal-1:5:text"/>
            <p:cNvSpPr/>
            <p:nvPr/>
          </p:nvSpPr>
          <p:spPr>
            <a:xfrm>
              <a:off x="1181100" y="2698909"/>
              <a:ext cx="1185148"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Foundry IQ</a:t>
              </a:r>
              <a:endParaRPr lang="en-US" sz="1680" dirty="0"/>
            </a:p>
          </p:txBody>
        </p:sp>
        <p:sp>
          <p:nvSpPr>
            <p:cNvPr id="9" name="reveal-1:6:text"/>
            <p:cNvSpPr/>
            <p:nvPr/>
          </p:nvSpPr>
          <p:spPr>
            <a:xfrm>
              <a:off x="1181100" y="3047881"/>
              <a:ext cx="2690455"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Institutional knowledge and authoritative</a:t>
              </a:r>
              <a:endParaRPr lang="en-US" sz="1140" dirty="0"/>
            </a:p>
          </p:txBody>
        </p:sp>
        <p:sp>
          <p:nvSpPr>
            <p:cNvPr id="10" name="reveal-1:7:text"/>
            <p:cNvSpPr/>
            <p:nvPr/>
          </p:nvSpPr>
          <p:spPr>
            <a:xfrm>
              <a:off x="1181100" y="3243263"/>
              <a:ext cx="622935"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content.</a:t>
              </a:r>
              <a:endParaRPr lang="en-US" sz="1140" dirty="0"/>
            </a:p>
          </p:txBody>
        </p:sp>
        <p:sp>
          <p:nvSpPr>
            <p:cNvPr id="11" name="reveal-1:8:shape"/>
            <p:cNvSpPr/>
            <p:nvPr/>
          </p:nvSpPr>
          <p:spPr>
            <a:xfrm>
              <a:off x="1181100" y="3652004"/>
              <a:ext cx="2809161" cy="636984"/>
            </a:xfrm>
            <a:prstGeom prst="roundRect">
              <a:avLst>
                <a:gd name="adj" fmla="val 11963"/>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735824"/>
              <a:ext cx="2030373"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Policies, procedures and reference</a:t>
              </a:r>
              <a:endParaRPr lang="en-US" sz="900" dirty="0"/>
            </a:p>
          </p:txBody>
        </p:sp>
        <p:sp>
          <p:nvSpPr>
            <p:cNvPr id="13" name="reveal-1:10:text"/>
            <p:cNvSpPr/>
            <p:nvPr/>
          </p:nvSpPr>
          <p:spPr>
            <a:xfrm>
              <a:off x="1287780" y="3884414"/>
              <a:ext cx="755809"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documents.</a:t>
              </a:r>
              <a:endParaRPr lang="en-US" sz="900" dirty="0"/>
            </a:p>
          </p:txBody>
        </p:sp>
        <p:sp>
          <p:nvSpPr>
            <p:cNvPr id="14" name="reveal-1:11:text"/>
            <p:cNvSpPr/>
            <p:nvPr/>
          </p:nvSpPr>
          <p:spPr>
            <a:xfrm>
              <a:off x="1287780" y="4071104"/>
              <a:ext cx="1481495"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SIMULATED: KNOWLEDGE_BASE_RETRIEVE</a:t>
              </a:r>
              <a:endParaRPr lang="en-US" sz="720" dirty="0"/>
            </a:p>
          </p:txBody>
        </p:sp>
      </p:grpSp>
      <p:grpSp>
        <p:nvGrpSpPr>
          <p:cNvPr id="39" name="Reveal 2"/>
          <p:cNvGrpSpPr/>
          <p:nvPr/>
        </p:nvGrpSpPr>
        <p:grpSpPr>
          <a:xfrm>
            <a:off x="4348401" y="1868329"/>
            <a:ext cx="3220760" cy="3791902"/>
            <a:chOff x="4348401" y="1868329"/>
            <a:chExt cx="3220760" cy="3791902"/>
          </a:xfrm>
        </p:grpSpPr>
        <p:sp>
          <p:nvSpPr>
            <p:cNvPr id="15" name="reveal-2:12: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6" name="reveal-2:12:shape:border-0"/>
            <p:cNvSpPr/>
            <p:nvPr/>
          </p:nvSpPr>
          <p:spPr>
            <a:xfrm>
              <a:off x="4439841" y="1883569"/>
              <a:ext cx="3037880" cy="0"/>
            </a:xfrm>
            <a:prstGeom prst="line">
              <a:avLst/>
            </a:prstGeom>
            <a:noFill/>
            <a:ln w="30480">
              <a:solidFill>
                <a:srgbClr val="4DA6FF"/>
              </a:solidFill>
              <a:prstDash val="solid"/>
              <a:headEnd type="none"/>
              <a:tailEnd type="none"/>
            </a:ln>
          </p:spPr>
          <p:txBody>
            <a:bodyPr/>
            <a:lstStyle/>
            <a:p>
              <a:endParaRPr lang="en-US"/>
            </a:p>
          </p:txBody>
        </p:sp>
        <p:sp>
          <p:nvSpPr>
            <p:cNvPr id="17" name="reveal-2:13:shape"/>
            <p:cNvSpPr/>
            <p:nvPr/>
          </p:nvSpPr>
          <p:spPr>
            <a:xfrm>
              <a:off x="4554141"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18" name="reveal-2:14:text"/>
            <p:cNvSpPr/>
            <p:nvPr/>
          </p:nvSpPr>
          <p:spPr>
            <a:xfrm>
              <a:off x="4631174" y="2207419"/>
              <a:ext cx="348734" cy="190500"/>
            </a:xfrm>
            <a:prstGeom prst="rect">
              <a:avLst/>
            </a:prstGeom>
            <a:noFill/>
            <a:ln/>
          </p:spPr>
          <p:txBody>
            <a:bodyPr wrap="none" lIns="0" tIns="0" rIns="0" bIns="0" rtlCol="0" anchor="ctr"/>
            <a:lstStyle/>
            <a:p>
              <a:pPr marL="0" indent="0" algn="l">
                <a:buNone/>
              </a:pPr>
              <a:r>
                <a:rPr lang="en-US" sz="1200" b="1" kern="0" spc="-24" dirty="0">
                  <a:solidFill>
                    <a:srgbClr val="4DA6FF"/>
                  </a:solidFill>
                  <a:latin typeface="Arial" pitchFamily="34" charset="0"/>
                  <a:ea typeface="Arial" pitchFamily="34" charset="-122"/>
                  <a:cs typeface="Arial" pitchFamily="34" charset="-120"/>
                </a:rPr>
                <a:t>BIQ</a:t>
              </a:r>
              <a:endParaRPr lang="en-US" sz="1200" dirty="0"/>
            </a:p>
          </p:txBody>
        </p:sp>
        <p:sp>
          <p:nvSpPr>
            <p:cNvPr id="19" name="reveal-2:15:text"/>
            <p:cNvSpPr/>
            <p:nvPr/>
          </p:nvSpPr>
          <p:spPr>
            <a:xfrm>
              <a:off x="4554141" y="2698909"/>
              <a:ext cx="978575"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Fabric IQ</a:t>
              </a:r>
              <a:endParaRPr lang="en-US" sz="1680" dirty="0"/>
            </a:p>
          </p:txBody>
        </p:sp>
        <p:sp>
          <p:nvSpPr>
            <p:cNvPr id="20" name="reveal-2:16:text"/>
            <p:cNvSpPr/>
            <p:nvPr/>
          </p:nvSpPr>
          <p:spPr>
            <a:xfrm>
              <a:off x="4554141" y="3047881"/>
              <a:ext cx="2609731"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Governed business entities and current</a:t>
              </a:r>
              <a:endParaRPr lang="en-US" sz="1140" dirty="0"/>
            </a:p>
          </p:txBody>
        </p:sp>
        <p:sp>
          <p:nvSpPr>
            <p:cNvPr id="21" name="reveal-2:17:text"/>
            <p:cNvSpPr/>
            <p:nvPr/>
          </p:nvSpPr>
          <p:spPr>
            <a:xfrm>
              <a:off x="4554141" y="3243263"/>
              <a:ext cx="1056442"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business state.</a:t>
              </a:r>
              <a:endParaRPr lang="en-US" sz="1140" dirty="0"/>
            </a:p>
          </p:txBody>
        </p:sp>
        <p:sp>
          <p:nvSpPr>
            <p:cNvPr id="22" name="reveal-2:18:shape"/>
            <p:cNvSpPr/>
            <p:nvPr/>
          </p:nvSpPr>
          <p:spPr>
            <a:xfrm>
              <a:off x="4554141" y="3652004"/>
              <a:ext cx="2809280" cy="636984"/>
            </a:xfrm>
            <a:prstGeom prst="roundRect">
              <a:avLst>
                <a:gd name="adj" fmla="val 11963"/>
              </a:avLst>
            </a:prstGeom>
            <a:solidFill>
              <a:srgbClr val="FFFFFF">
                <a:alpha val="3000"/>
              </a:srgbClr>
            </a:solidFill>
            <a:ln w="12700">
              <a:solidFill>
                <a:srgbClr val="333333">
                  <a:alpha val="0"/>
                </a:srgbClr>
              </a:solidFill>
              <a:prstDash val="solid"/>
            </a:ln>
          </p:spPr>
          <p:txBody>
            <a:bodyPr/>
            <a:lstStyle/>
            <a:p>
              <a:endParaRPr lang="en-US"/>
            </a:p>
          </p:txBody>
        </p:sp>
        <p:sp>
          <p:nvSpPr>
            <p:cNvPr id="23" name="reveal-2:19:text"/>
            <p:cNvSpPr/>
            <p:nvPr/>
          </p:nvSpPr>
          <p:spPr>
            <a:xfrm>
              <a:off x="4660821" y="3735824"/>
              <a:ext cx="2595086"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Spend so far, remaining budget and business</a:t>
              </a:r>
              <a:endParaRPr lang="en-US" sz="900" dirty="0"/>
            </a:p>
          </p:txBody>
        </p:sp>
        <p:sp>
          <p:nvSpPr>
            <p:cNvPr id="24" name="reveal-2:20:text"/>
            <p:cNvSpPr/>
            <p:nvPr/>
          </p:nvSpPr>
          <p:spPr>
            <a:xfrm>
              <a:off x="4660821" y="3884414"/>
              <a:ext cx="559475"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records.</a:t>
              </a:r>
              <a:endParaRPr lang="en-US" sz="900" dirty="0"/>
            </a:p>
          </p:txBody>
        </p:sp>
        <p:sp>
          <p:nvSpPr>
            <p:cNvPr id="25" name="reveal-2:21:text"/>
            <p:cNvSpPr/>
            <p:nvPr/>
          </p:nvSpPr>
          <p:spPr>
            <a:xfrm>
              <a:off x="4660821" y="4071104"/>
              <a:ext cx="216527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SIMULATED: SEARCH_ONTOLOGY</a:t>
              </a:r>
              <a:endParaRPr lang="en-US" sz="720" dirty="0"/>
            </a:p>
          </p:txBody>
        </p:sp>
      </p:grpSp>
      <p:grpSp>
        <p:nvGrpSpPr>
          <p:cNvPr id="41" name="Reveal 3">
            <a:extLst>
              <a:ext uri="{FF2B5EF4-FFF2-40B4-BE49-F238E27FC236}">
                <a16:creationId xmlns:a16="http://schemas.microsoft.com/office/drawing/2014/main" id="{AE4E581A-2C22-B249-A8A6-1CDB33248A80}"/>
              </a:ext>
            </a:extLst>
          </p:cNvPr>
          <p:cNvGrpSpPr/>
          <p:nvPr/>
        </p:nvGrpSpPr>
        <p:grpSpPr>
          <a:xfrm>
            <a:off x="7721560" y="1868329"/>
            <a:ext cx="3220641" cy="3791902"/>
            <a:chOff x="7721560" y="1868329"/>
            <a:chExt cx="3220641" cy="3791902"/>
          </a:xfrm>
        </p:grpSpPr>
        <p:sp>
          <p:nvSpPr>
            <p:cNvPr id="26" name="reveal-3:22: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7" name="reveal-3:22:shape:border-0"/>
            <p:cNvSpPr/>
            <p:nvPr/>
          </p:nvSpPr>
          <p:spPr>
            <a:xfrm>
              <a:off x="7813000"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28" name="reveal-3:23:shape"/>
            <p:cNvSpPr/>
            <p:nvPr/>
          </p:nvSpPr>
          <p:spPr>
            <a:xfrm>
              <a:off x="7927300"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29" name="reveal-3:24:text"/>
            <p:cNvSpPr/>
            <p:nvPr/>
          </p:nvSpPr>
          <p:spPr>
            <a:xfrm>
              <a:off x="7979926" y="2207419"/>
              <a:ext cx="397550"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WIQ</a:t>
              </a:r>
              <a:endParaRPr lang="en-US" sz="1200" dirty="0"/>
            </a:p>
          </p:txBody>
        </p:sp>
        <p:sp>
          <p:nvSpPr>
            <p:cNvPr id="30" name="reveal-3:25:text"/>
            <p:cNvSpPr/>
            <p:nvPr/>
          </p:nvSpPr>
          <p:spPr>
            <a:xfrm>
              <a:off x="7927300" y="2698909"/>
              <a:ext cx="87915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Work IQ</a:t>
              </a:r>
              <a:endParaRPr lang="en-US" sz="1680" dirty="0"/>
            </a:p>
          </p:txBody>
        </p:sp>
        <p:sp>
          <p:nvSpPr>
            <p:cNvPr id="31" name="reveal-3:26:text"/>
            <p:cNvSpPr/>
            <p:nvPr/>
          </p:nvSpPr>
          <p:spPr>
            <a:xfrm>
              <a:off x="7927300" y="3047881"/>
              <a:ext cx="2889885"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People, collaboration and workflow context.</a:t>
              </a:r>
              <a:endParaRPr lang="en-US" sz="1140" dirty="0"/>
            </a:p>
          </p:txBody>
        </p:sp>
        <p:sp>
          <p:nvSpPr>
            <p:cNvPr id="32" name="reveal-3:27:shape"/>
            <p:cNvSpPr/>
            <p:nvPr/>
          </p:nvSpPr>
          <p:spPr>
            <a:xfrm>
              <a:off x="7927300" y="3652004"/>
              <a:ext cx="2809161" cy="636984"/>
            </a:xfrm>
            <a:prstGeom prst="roundRect">
              <a:avLst>
                <a:gd name="adj" fmla="val 11963"/>
              </a:avLst>
            </a:prstGeom>
            <a:solidFill>
              <a:srgbClr val="FFFFFF">
                <a:alpha val="3000"/>
              </a:srgbClr>
            </a:solidFill>
            <a:ln w="12700">
              <a:solidFill>
                <a:srgbClr val="333333">
                  <a:alpha val="0"/>
                </a:srgbClr>
              </a:solidFill>
              <a:prstDash val="solid"/>
            </a:ln>
          </p:spPr>
          <p:txBody>
            <a:bodyPr/>
            <a:lstStyle/>
            <a:p>
              <a:endParaRPr lang="en-US"/>
            </a:p>
          </p:txBody>
        </p:sp>
        <p:sp>
          <p:nvSpPr>
            <p:cNvPr id="33" name="reveal-3:28:text"/>
            <p:cNvSpPr/>
            <p:nvPr/>
          </p:nvSpPr>
          <p:spPr>
            <a:xfrm>
              <a:off x="8033980" y="3735824"/>
              <a:ext cx="2128123"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Who holds a role today, who’s away and</a:t>
              </a:r>
              <a:endParaRPr lang="en-US" sz="900" dirty="0"/>
            </a:p>
          </p:txBody>
        </p:sp>
        <p:sp>
          <p:nvSpPr>
            <p:cNvPr id="34" name="reveal-3:29:text"/>
            <p:cNvSpPr/>
            <p:nvPr/>
          </p:nvSpPr>
          <p:spPr>
            <a:xfrm>
              <a:off x="8033980" y="3884414"/>
              <a:ext cx="675918"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who’s covering.</a:t>
              </a:r>
              <a:endParaRPr lang="en-US" sz="900" dirty="0"/>
            </a:p>
          </p:txBody>
        </p:sp>
        <p:sp>
          <p:nvSpPr>
            <p:cNvPr id="35" name="reveal-3:30:text"/>
            <p:cNvSpPr/>
            <p:nvPr/>
          </p:nvSpPr>
          <p:spPr>
            <a:xfrm>
              <a:off x="8033980" y="4071104"/>
              <a:ext cx="220718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SIMULATED: ASK</a:t>
              </a:r>
              <a:endParaRPr lang="en-US" sz="720" dirty="0"/>
            </a:p>
          </p:txBody>
        </p:sp>
      </p:grpSp>
      <p:sp>
        <p:nvSpPr>
          <p:cNvPr id="36" name="static:31: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7" name="static:32:text"/>
          <p:cNvSpPr/>
          <p:nvPr/>
        </p:nvSpPr>
        <p:spPr>
          <a:xfrm>
            <a:off x="10442615" y="6461760"/>
            <a:ext cx="1231225"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06</a:t>
            </a:r>
            <a:endParaRPr lang="en-US" sz="720" dirty="0"/>
          </a:p>
        </p:txBody>
      </p:sp>
      <p:sp>
        <p:nvSpPr>
          <p:cNvPr id="42" name="takeaway"/>
          <p:cNvSpPr txBox="1"/>
          <p:nvPr/>
        </p:nvSpPr>
        <p:spPr>
          <a:xfrm>
            <a:off x="975360" y="5800000"/>
            <a:ext cx="9965841" cy="400000"/>
          </a:xfrm>
          <a:prstGeom prst="rect">
            <a:avLst/>
          </a:prstGeom>
          <a:noFill/>
        </p:spPr>
        <p:txBody>
          <a:bodyPr wrap="square" lIns="0" rIns="0" tIns="0" bIns="0">
            <a:spAutoFit/>
          </a:bodyPr>
          <a:lstStyle/>
          <a:p>
            <a:r>
              <a:rPr sz="1800" b="1">
                <a:solidFill>
                  <a:srgbClr val="DEDEDE"/>
                </a:solidFill>
                <a:latin typeface="Arial"/>
              </a:rPr>
              <a:t>Policy tells you </a:t>
            </a:r>
            <a:r>
              <a:rPr sz="1800" b="1">
                <a:solidFill>
                  <a:srgbClr val="FBBF24"/>
                </a:solidFill>
                <a:latin typeface="Arial"/>
              </a:rPr>
              <a:t>who must approve</a:t>
            </a:r>
            <a:r>
              <a:rPr sz="1800" b="1">
                <a:solidFill>
                  <a:srgbClr val="DEDEDE"/>
                </a:solidFill>
                <a:latin typeface="Arial"/>
              </a:rPr>
              <a:t>. Work IQ tells you </a:t>
            </a:r>
            <a:r>
              <a:rPr sz="1800" b="1">
                <a:solidFill>
                  <a:srgbClr val="FBBF24"/>
                </a:solidFill>
                <a:latin typeface="Arial"/>
              </a:rPr>
              <a:t>who that is today</a:t>
            </a:r>
            <a:r>
              <a:rPr sz="1800" b="1">
                <a:solidFill>
                  <a:srgbClr val="DEDEDE"/>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Demo 2 - Run the Starting Agent">
    <p:spTree>
      <p:nvGrpSpPr>
        <p:cNvPr id="1" name=""/>
        <p:cNvGrpSpPr/>
        <p:nvPr/>
      </p:nvGrpSpPr>
      <p:grpSpPr>
        <a:xfrm>
          <a:off x="0" y="0"/>
          <a:ext cx="0" cy="0"/>
          <a:chOff x="0" y="0"/>
          <a:chExt cx="0" cy="0"/>
        </a:xfrm>
      </p:grpSpPr>
      <p:sp>
        <p:nvSpPr>
          <p:cNvPr id="2" name="static:0:text"/>
          <p:cNvSpPr/>
          <p:nvPr/>
        </p:nvSpPr>
        <p:spPr>
          <a:xfrm>
            <a:off x="975360" y="2343626"/>
            <a:ext cx="807839" cy="190500"/>
          </a:xfrm>
          <a:prstGeom prst="rect">
            <a:avLst/>
          </a:prstGeom>
          <a:noFill/>
          <a:ln/>
        </p:spPr>
        <p:txBody>
          <a:bodyPr wrap="none" lIns="0" tIns="0" rIns="0" bIns="0" rtlCol="0" anchor="ctr"/>
          <a:lstStyle/>
          <a:p>
            <a:pPr marL="0" indent="0" algn="l">
              <a:buNone/>
            </a:pPr>
            <a:r>
              <a:rPr lang="en-US" sz="1200" b="1" kern="0" spc="180" dirty="0">
                <a:solidFill>
                  <a:srgbClr val="FBBF24"/>
                </a:solidFill>
                <a:latin typeface="Arial" pitchFamily="34" charset="0"/>
                <a:ea typeface="Arial" pitchFamily="34" charset="-122"/>
                <a:cs typeface="Arial" pitchFamily="34" charset="-120"/>
              </a:rPr>
              <a:t>DEMO 2</a:t>
            </a:r>
            <a:endParaRPr lang="en-US" sz="1200" dirty="0"/>
          </a:p>
        </p:txBody>
      </p:sp>
      <p:sp>
        <p:nvSpPr>
          <p:cNvPr id="3" name="static:1:text"/>
          <p:cNvSpPr/>
          <p:nvPr/>
        </p:nvSpPr>
        <p:spPr>
          <a:xfrm>
            <a:off x="975360" y="2640806"/>
            <a:ext cx="5129046"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Run the Starting Agent</a:t>
            </a:r>
            <a:endParaRPr lang="en-US" sz="4080" dirty="0"/>
          </a:p>
        </p:txBody>
      </p:sp>
      <p:sp>
        <p:nvSpPr>
          <p:cNvPr id="4" name="static:2:text"/>
          <p:cNvSpPr/>
          <p:nvPr/>
        </p:nvSpPr>
        <p:spPr>
          <a:xfrm>
            <a:off x="975360" y="3387566"/>
            <a:ext cx="6275070"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Ask the purchasing question, explore its sources and save the baseline</a:t>
            </a:r>
            <a:endParaRPr lang="en-US" sz="1620" dirty="0"/>
          </a:p>
        </p:txBody>
      </p:sp>
      <p:sp>
        <p:nvSpPr>
          <p:cNvPr id="5" name="static:3:text"/>
          <p:cNvSpPr/>
          <p:nvPr/>
        </p:nvSpPr>
        <p:spPr>
          <a:xfrm>
            <a:off x="975360" y="3665220"/>
            <a:ext cx="427434"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run.</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0473" y="6461760"/>
            <a:ext cx="1223367"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07</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Observe">
    <p:spTree>
      <p:nvGrpSpPr>
        <p:cNvPr id="1" name=""/>
        <p:cNvGrpSpPr/>
        <p:nvPr/>
      </p:nvGrpSpPr>
      <p:grpSpPr>
        <a:xfrm>
          <a:off x="0" y="0"/>
          <a:ext cx="0" cy="0"/>
          <a:chOff x="0" y="0"/>
          <a:chExt cx="0" cy="0"/>
        </a:xfrm>
      </p:grpSpPr>
      <p:sp>
        <p:nvSpPr>
          <p:cNvPr id="2" name="static:0:text"/>
          <p:cNvSpPr/>
          <p:nvPr/>
        </p:nvSpPr>
        <p:spPr>
          <a:xfrm>
            <a:off x="2727960" y="870109"/>
            <a:ext cx="1305997" cy="152400"/>
          </a:xfrm>
          <a:prstGeom prst="rect">
            <a:avLst/>
          </a:prstGeom>
          <a:noFill/>
          <a:ln/>
        </p:spPr>
        <p:txBody>
          <a:bodyPr wrap="none" lIns="0" tIns="0" rIns="0" bIns="0" rtlCol="0" anchor="ctr"/>
          <a:lstStyle/>
          <a:p>
            <a:pPr marL="0" indent="0" algn="l">
              <a:buNone/>
            </a:pPr>
            <a:r>
              <a:rPr lang="en-US" sz="960" b="1" kern="0" spc="154" dirty="0">
                <a:solidFill>
                  <a:srgbClr val="4ADE80"/>
                </a:solidFill>
                <a:latin typeface="Arial" pitchFamily="34" charset="0"/>
                <a:ea typeface="Arial" pitchFamily="34" charset="-122"/>
                <a:cs typeface="Arial" pitchFamily="34" charset="-120"/>
              </a:rPr>
              <a:t>OBSERVABILITY</a:t>
            </a:r>
            <a:endParaRPr lang="en-US" sz="960" dirty="0"/>
          </a:p>
        </p:txBody>
      </p:sp>
      <p:sp>
        <p:nvSpPr>
          <p:cNvPr id="3" name="static:1:text"/>
          <p:cNvSpPr/>
          <p:nvPr/>
        </p:nvSpPr>
        <p:spPr>
          <a:xfrm>
            <a:off x="975360" y="1068229"/>
            <a:ext cx="1333833"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Observe</a:t>
            </a:r>
            <a:endParaRPr lang="en-US" sz="2640" dirty="0"/>
          </a:p>
        </p:txBody>
      </p:sp>
      <p:grpSp>
        <p:nvGrpSpPr>
          <p:cNvPr id="31"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4DA6FF"/>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7" name="reveal-1:4:text"/>
            <p:cNvSpPr/>
            <p:nvPr/>
          </p:nvSpPr>
          <p:spPr>
            <a:xfrm>
              <a:off x="1349812" y="2207419"/>
              <a:ext cx="165378" cy="190500"/>
            </a:xfrm>
            <a:prstGeom prst="rect">
              <a:avLst/>
            </a:prstGeom>
            <a:noFill/>
            <a:ln/>
          </p:spPr>
          <p:txBody>
            <a:bodyPr wrap="none" lIns="0" tIns="0" rIns="0" bIns="0" rtlCol="0" anchor="ctr"/>
            <a:lstStyle/>
            <a:p>
              <a:pPr marL="0" indent="0" algn="l">
                <a:buNone/>
              </a:pPr>
              <a:r>
                <a:rPr lang="en-US" sz="1200" b="1" kern="0" spc="-24" dirty="0">
                  <a:solidFill>
                    <a:srgbClr val="4DA6FF"/>
                  </a:solidFill>
                  <a:latin typeface="Arial" pitchFamily="34" charset="0"/>
                  <a:ea typeface="Arial" pitchFamily="34" charset="-122"/>
                  <a:cs typeface="Arial" pitchFamily="34" charset="-120"/>
                </a:rPr>
                <a:t>1</a:t>
              </a:r>
              <a:endParaRPr lang="en-US" sz="1200" dirty="0"/>
            </a:p>
          </p:txBody>
        </p:sp>
        <p:sp>
          <p:nvSpPr>
            <p:cNvPr id="8" name="reveal-1:5:text"/>
            <p:cNvSpPr/>
            <p:nvPr/>
          </p:nvSpPr>
          <p:spPr>
            <a:xfrm>
              <a:off x="1181100" y="2698909"/>
              <a:ext cx="587454"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Calls</a:t>
              </a:r>
              <a:endParaRPr lang="en-US" sz="1680" dirty="0"/>
            </a:p>
          </p:txBody>
        </p:sp>
        <p:sp>
          <p:nvSpPr>
            <p:cNvPr id="9" name="reveal-1:6:text"/>
            <p:cNvSpPr/>
            <p:nvPr/>
          </p:nvSpPr>
          <p:spPr>
            <a:xfrm>
              <a:off x="1181100" y="3047881"/>
              <a:ext cx="2065139"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Follow LLM calls and tool calls.</a:t>
              </a:r>
              <a:endParaRPr lang="en-US" sz="1140" dirty="0"/>
            </a:p>
          </p:txBody>
        </p:sp>
        <p:sp>
          <p:nvSpPr>
            <p:cNvPr id="10" name="reveal-1:7:shape"/>
            <p:cNvSpPr/>
            <p:nvPr/>
          </p:nvSpPr>
          <p:spPr>
            <a:xfrm>
              <a:off x="1181100" y="3456623"/>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1" name="reveal-1:8:text"/>
            <p:cNvSpPr/>
            <p:nvPr/>
          </p:nvSpPr>
          <p:spPr>
            <a:xfrm>
              <a:off x="1287780" y="3540443"/>
              <a:ext cx="2099667"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What was called, and in what order?</a:t>
              </a:r>
              <a:endParaRPr lang="en-US" sz="900" dirty="0"/>
            </a:p>
          </p:txBody>
        </p:sp>
      </p:grpSp>
      <p:grpSp>
        <p:nvGrpSpPr>
          <p:cNvPr id="32" name="Reveal 2"/>
          <p:cNvGrpSpPr/>
          <p:nvPr/>
        </p:nvGrpSpPr>
        <p:grpSpPr>
          <a:xfrm>
            <a:off x="4348401" y="1868329"/>
            <a:ext cx="3220760" cy="3791902"/>
            <a:chOff x="4348401" y="1868329"/>
            <a:chExt cx="3220760" cy="3791902"/>
          </a:xfrm>
        </p:grpSpPr>
        <p:sp>
          <p:nvSpPr>
            <p:cNvPr id="12" name="reveal-2:9: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3" name="reveal-2:9:shape:border-0"/>
            <p:cNvSpPr/>
            <p:nvPr/>
          </p:nvSpPr>
          <p:spPr>
            <a:xfrm>
              <a:off x="4439841" y="1883569"/>
              <a:ext cx="3037880" cy="0"/>
            </a:xfrm>
            <a:prstGeom prst="line">
              <a:avLst/>
            </a:prstGeom>
            <a:noFill/>
            <a:ln w="30480">
              <a:solidFill>
                <a:srgbClr val="4ADE80"/>
              </a:solidFill>
              <a:prstDash val="solid"/>
              <a:headEnd type="none"/>
              <a:tailEnd type="none"/>
            </a:ln>
          </p:spPr>
          <p:txBody>
            <a:bodyPr/>
            <a:lstStyle/>
            <a:p>
              <a:endParaRPr lang="en-US"/>
            </a:p>
          </p:txBody>
        </p:sp>
        <p:sp>
          <p:nvSpPr>
            <p:cNvPr id="14" name="reveal-2:10:shape"/>
            <p:cNvSpPr/>
            <p:nvPr/>
          </p:nvSpPr>
          <p:spPr>
            <a:xfrm>
              <a:off x="4554141"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15" name="reveal-2:11:text"/>
            <p:cNvSpPr/>
            <p:nvPr/>
          </p:nvSpPr>
          <p:spPr>
            <a:xfrm>
              <a:off x="4713327" y="2207419"/>
              <a:ext cx="184547"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2</a:t>
              </a:r>
              <a:endParaRPr lang="en-US" sz="1200" dirty="0"/>
            </a:p>
          </p:txBody>
        </p:sp>
        <p:sp>
          <p:nvSpPr>
            <p:cNvPr id="16" name="reveal-2:12:text"/>
            <p:cNvSpPr/>
            <p:nvPr/>
          </p:nvSpPr>
          <p:spPr>
            <a:xfrm>
              <a:off x="4554141" y="2698909"/>
              <a:ext cx="1742956"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Inputs &amp; outputs</a:t>
              </a:r>
              <a:endParaRPr lang="en-US" sz="1680" dirty="0"/>
            </a:p>
          </p:txBody>
        </p:sp>
        <p:sp>
          <p:nvSpPr>
            <p:cNvPr id="17" name="reveal-2:13:text"/>
            <p:cNvSpPr/>
            <p:nvPr/>
          </p:nvSpPr>
          <p:spPr>
            <a:xfrm>
              <a:off x="4554141" y="3047881"/>
              <a:ext cx="2773918"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Inspect captured prompts, responses and</a:t>
              </a:r>
              <a:endParaRPr lang="en-US" sz="1140" dirty="0"/>
            </a:p>
          </p:txBody>
        </p:sp>
        <p:sp>
          <p:nvSpPr>
            <p:cNvPr id="18" name="reveal-2:14:text"/>
            <p:cNvSpPr/>
            <p:nvPr/>
          </p:nvSpPr>
          <p:spPr>
            <a:xfrm>
              <a:off x="4554141" y="3243263"/>
              <a:ext cx="71211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evidence.</a:t>
              </a:r>
              <a:endParaRPr lang="en-US" sz="1140" dirty="0"/>
            </a:p>
          </p:txBody>
        </p:sp>
        <p:sp>
          <p:nvSpPr>
            <p:cNvPr id="19" name="reveal-2:15:shape"/>
            <p:cNvSpPr/>
            <p:nvPr/>
          </p:nvSpPr>
          <p:spPr>
            <a:xfrm>
              <a:off x="4554141" y="3652004"/>
              <a:ext cx="2809280"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0" name="reveal-2:16:text"/>
            <p:cNvSpPr/>
            <p:nvPr/>
          </p:nvSpPr>
          <p:spPr>
            <a:xfrm>
              <a:off x="4660821" y="3735824"/>
              <a:ext cx="2632472"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What information passed between each step?</a:t>
              </a:r>
              <a:endParaRPr lang="en-US" sz="900" dirty="0"/>
            </a:p>
          </p:txBody>
        </p:sp>
      </p:grpSp>
      <p:grpSp>
        <p:nvGrpSpPr>
          <p:cNvPr id="33" name="Reveal 3"/>
          <p:cNvGrpSpPr/>
          <p:nvPr/>
        </p:nvGrpSpPr>
        <p:grpSpPr>
          <a:xfrm>
            <a:off x="7721560" y="1868329"/>
            <a:ext cx="3220641" cy="3791902"/>
            <a:chOff x="7721560" y="1868329"/>
            <a:chExt cx="3220641" cy="3791902"/>
          </a:xfrm>
        </p:grpSpPr>
        <p:sp>
          <p:nvSpPr>
            <p:cNvPr id="21" name="reveal-3:17: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2" name="reveal-3:17:shape:border-0"/>
            <p:cNvSpPr/>
            <p:nvPr/>
          </p:nvSpPr>
          <p:spPr>
            <a:xfrm>
              <a:off x="7813000"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23" name="reveal-3:18:shape"/>
            <p:cNvSpPr/>
            <p:nvPr/>
          </p:nvSpPr>
          <p:spPr>
            <a:xfrm>
              <a:off x="7927300"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24" name="reveal-3:19:text"/>
            <p:cNvSpPr/>
            <p:nvPr/>
          </p:nvSpPr>
          <p:spPr>
            <a:xfrm>
              <a:off x="8084344" y="2207419"/>
              <a:ext cx="188714"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3</a:t>
              </a:r>
              <a:endParaRPr lang="en-US" sz="1200" dirty="0"/>
            </a:p>
          </p:txBody>
        </p:sp>
        <p:sp>
          <p:nvSpPr>
            <p:cNvPr id="25" name="reveal-3:20:text"/>
            <p:cNvSpPr/>
            <p:nvPr/>
          </p:nvSpPr>
          <p:spPr>
            <a:xfrm>
              <a:off x="7927300" y="2698909"/>
              <a:ext cx="769025"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Timing</a:t>
              </a:r>
              <a:endParaRPr lang="en-US" sz="1680" dirty="0"/>
            </a:p>
          </p:txBody>
        </p:sp>
        <p:sp>
          <p:nvSpPr>
            <p:cNvPr id="26" name="reveal-3:21:text"/>
            <p:cNvSpPr/>
            <p:nvPr/>
          </p:nvSpPr>
          <p:spPr>
            <a:xfrm>
              <a:off x="7927300" y="3047881"/>
              <a:ext cx="1958340"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See the duration of each call.</a:t>
              </a:r>
              <a:endParaRPr lang="en-US" sz="1140" dirty="0"/>
            </a:p>
          </p:txBody>
        </p:sp>
        <p:sp>
          <p:nvSpPr>
            <p:cNvPr id="27" name="reveal-3:22:shape"/>
            <p:cNvSpPr/>
            <p:nvPr/>
          </p:nvSpPr>
          <p:spPr>
            <a:xfrm>
              <a:off x="7927300" y="3456623"/>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8" name="reveal-3:23:text"/>
            <p:cNvSpPr/>
            <p:nvPr/>
          </p:nvSpPr>
          <p:spPr>
            <a:xfrm>
              <a:off x="8033980" y="3540443"/>
              <a:ext cx="2094428"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Where did the agent spend its time?</a:t>
              </a:r>
              <a:endParaRPr lang="en-US" sz="900" dirty="0"/>
            </a:p>
          </p:txBody>
        </p:sp>
      </p:grpSp>
      <p:sp>
        <p:nvSpPr>
          <p:cNvPr id="29" name="static:2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0" name="static:25:text"/>
          <p:cNvSpPr/>
          <p:nvPr/>
        </p:nvSpPr>
        <p:spPr>
          <a:xfrm>
            <a:off x="7394377" y="6461760"/>
            <a:ext cx="1231463"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08</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Demo 3 - Inspect the Trace">
    <p:spTree>
      <p:nvGrpSpPr>
        <p:cNvPr id="1" name=""/>
        <p:cNvGrpSpPr/>
        <p:nvPr/>
      </p:nvGrpSpPr>
      <p:grpSpPr>
        <a:xfrm>
          <a:off x="0" y="0"/>
          <a:ext cx="0" cy="0"/>
          <a:chOff x="0" y="0"/>
          <a:chExt cx="0" cy="0"/>
        </a:xfrm>
      </p:grpSpPr>
      <p:sp>
        <p:nvSpPr>
          <p:cNvPr id="2" name="static:0:text"/>
          <p:cNvSpPr/>
          <p:nvPr/>
        </p:nvSpPr>
        <p:spPr>
          <a:xfrm>
            <a:off x="975360" y="2482453"/>
            <a:ext cx="812006" cy="190500"/>
          </a:xfrm>
          <a:prstGeom prst="rect">
            <a:avLst/>
          </a:prstGeom>
          <a:noFill/>
          <a:ln/>
        </p:spPr>
        <p:txBody>
          <a:bodyPr wrap="none" lIns="0" tIns="0" rIns="0" bIns="0" rtlCol="0" anchor="ctr"/>
          <a:lstStyle/>
          <a:p>
            <a:pPr marL="0" indent="0" algn="l">
              <a:buNone/>
            </a:pPr>
            <a:r>
              <a:rPr lang="en-US" sz="1200" b="1" kern="0" spc="180" dirty="0">
                <a:solidFill>
                  <a:srgbClr val="4ADE80"/>
                </a:solidFill>
                <a:latin typeface="Arial" pitchFamily="34" charset="0"/>
                <a:ea typeface="Arial" pitchFamily="34" charset="-122"/>
                <a:cs typeface="Arial" pitchFamily="34" charset="-120"/>
              </a:rPr>
              <a:t>DEMO 3</a:t>
            </a:r>
            <a:endParaRPr lang="en-US" sz="1200" dirty="0"/>
          </a:p>
        </p:txBody>
      </p:sp>
      <p:sp>
        <p:nvSpPr>
          <p:cNvPr id="3" name="static:1:text"/>
          <p:cNvSpPr/>
          <p:nvPr/>
        </p:nvSpPr>
        <p:spPr>
          <a:xfrm>
            <a:off x="975360" y="2779633"/>
            <a:ext cx="3926753"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Inspect the Trace</a:t>
            </a:r>
            <a:endParaRPr lang="en-US" sz="4080" dirty="0"/>
          </a:p>
        </p:txBody>
      </p:sp>
      <p:sp>
        <p:nvSpPr>
          <p:cNvPr id="4" name="static:2:text"/>
          <p:cNvSpPr/>
          <p:nvPr/>
        </p:nvSpPr>
        <p:spPr>
          <a:xfrm>
            <a:off x="975360" y="3526393"/>
            <a:ext cx="5107900"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Follow the calls, evidence and timings behind the answer.</a:t>
            </a:r>
            <a:endParaRPr lang="en-US" sz="1620" dirty="0"/>
          </a:p>
        </p:txBody>
      </p:sp>
      <p:sp>
        <p:nvSpPr>
          <p:cNvPr id="5" name="static:3: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6" name="static:4:text"/>
          <p:cNvSpPr/>
          <p:nvPr/>
        </p:nvSpPr>
        <p:spPr>
          <a:xfrm>
            <a:off x="10442615" y="6461760"/>
            <a:ext cx="1231225"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09</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Evaluate">
    <p:spTree>
      <p:nvGrpSpPr>
        <p:cNvPr id="1" name=""/>
        <p:cNvGrpSpPr/>
        <p:nvPr/>
      </p:nvGrpSpPr>
      <p:grpSpPr>
        <a:xfrm>
          <a:off x="0" y="0"/>
          <a:ext cx="0" cy="0"/>
          <a:chOff x="0" y="0"/>
          <a:chExt cx="0" cy="0"/>
        </a:xfrm>
      </p:grpSpPr>
      <p:sp>
        <p:nvSpPr>
          <p:cNvPr id="2" name="static:0:text"/>
          <p:cNvSpPr/>
          <p:nvPr/>
        </p:nvSpPr>
        <p:spPr>
          <a:xfrm>
            <a:off x="2727960" y="870109"/>
            <a:ext cx="3464719" cy="152400"/>
          </a:xfrm>
          <a:prstGeom prst="rect">
            <a:avLst/>
          </a:prstGeom>
          <a:noFill/>
          <a:ln/>
        </p:spPr>
        <p:txBody>
          <a:bodyPr wrap="none" lIns="0" tIns="0" rIns="0" bIns="0" rtlCol="0" anchor="ctr"/>
          <a:lstStyle/>
          <a:p>
            <a:pPr marL="0" indent="0" algn="l">
              <a:buNone/>
            </a:pPr>
            <a:r>
              <a:rPr lang="en-US" sz="960" b="1" kern="0" spc="154" dirty="0">
                <a:solidFill>
                  <a:srgbClr val="4ADE80"/>
                </a:solidFill>
                <a:latin typeface="Arial" pitchFamily="34" charset="0"/>
                <a:ea typeface="Arial" pitchFamily="34" charset="-122"/>
                <a:cs typeface="Arial" pitchFamily="34" charset="-120"/>
              </a:rPr>
              <a:t>CONSISTENCY ACROSS PURCHASING TASKS</a:t>
            </a:r>
            <a:endParaRPr lang="en-US" sz="960" dirty="0"/>
          </a:p>
        </p:txBody>
      </p:sp>
      <p:sp>
        <p:nvSpPr>
          <p:cNvPr id="3" name="static:1:text"/>
          <p:cNvSpPr/>
          <p:nvPr/>
        </p:nvSpPr>
        <p:spPr>
          <a:xfrm>
            <a:off x="975360" y="1068229"/>
            <a:ext cx="1338596"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Evaluate</a:t>
            </a:r>
            <a:endParaRPr lang="en-US" sz="2640" dirty="0"/>
          </a:p>
        </p:txBody>
      </p:sp>
      <p:grpSp>
        <p:nvGrpSpPr>
          <p:cNvPr id="37"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7" name="reveal-1:4:text"/>
            <p:cNvSpPr/>
            <p:nvPr/>
          </p:nvSpPr>
          <p:spPr>
            <a:xfrm>
              <a:off x="1332071" y="2207419"/>
              <a:ext cx="200858"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G</a:t>
              </a:r>
              <a:endParaRPr lang="en-US" sz="1200" dirty="0"/>
            </a:p>
          </p:txBody>
        </p:sp>
        <p:sp>
          <p:nvSpPr>
            <p:cNvPr id="8" name="reveal-1:5:text"/>
            <p:cNvSpPr/>
            <p:nvPr/>
          </p:nvSpPr>
          <p:spPr>
            <a:xfrm>
              <a:off x="1181100" y="2698909"/>
              <a:ext cx="155733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Groundedness</a:t>
              </a:r>
              <a:endParaRPr lang="en-US" sz="1680" dirty="0"/>
            </a:p>
          </p:txBody>
        </p:sp>
        <p:sp>
          <p:nvSpPr>
            <p:cNvPr id="9" name="reveal-1:6:text"/>
            <p:cNvSpPr/>
            <p:nvPr/>
          </p:nvSpPr>
          <p:spPr>
            <a:xfrm>
              <a:off x="1181100" y="3285649"/>
              <a:ext cx="266152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Is the answer supported by the supplied</a:t>
              </a:r>
              <a:endParaRPr lang="en-US" sz="1140" dirty="0"/>
            </a:p>
          </p:txBody>
        </p:sp>
        <p:sp>
          <p:nvSpPr>
            <p:cNvPr id="10" name="reveal-1:7:text"/>
            <p:cNvSpPr/>
            <p:nvPr/>
          </p:nvSpPr>
          <p:spPr>
            <a:xfrm>
              <a:off x="1181100" y="3481030"/>
              <a:ext cx="643771"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context?</a:t>
              </a:r>
              <a:endParaRPr lang="en-US" sz="1140" dirty="0"/>
            </a:p>
          </p:txBody>
        </p:sp>
        <p:sp>
          <p:nvSpPr>
            <p:cNvPr id="11" name="reveal-1:8:shape"/>
            <p:cNvSpPr/>
            <p:nvPr/>
          </p:nvSpPr>
          <p:spPr>
            <a:xfrm>
              <a:off x="1181100" y="3889772"/>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973592"/>
              <a:ext cx="2112883"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Checks claims against the evidence.</a:t>
              </a:r>
              <a:endParaRPr lang="en-US" sz="900" dirty="0"/>
            </a:p>
          </p:txBody>
        </p:sp>
        <p:sp>
          <p:nvSpPr>
            <p:cNvPr id="13" name="reveal-1:10:text"/>
            <p:cNvSpPr/>
            <p:nvPr/>
          </p:nvSpPr>
          <p:spPr>
            <a:xfrm>
              <a:off x="1287780" y="4160282"/>
              <a:ext cx="118860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BUILT-IN EVALUATOR</a:t>
              </a:r>
              <a:endParaRPr lang="en-US" sz="720" dirty="0"/>
            </a:p>
          </p:txBody>
        </p:sp>
      </p:grpSp>
      <p:grpSp>
        <p:nvGrpSpPr>
          <p:cNvPr id="38" name="Reveal 2"/>
          <p:cNvGrpSpPr/>
          <p:nvPr/>
        </p:nvGrpSpPr>
        <p:grpSpPr>
          <a:xfrm>
            <a:off x="4348401" y="1868329"/>
            <a:ext cx="3220760" cy="3791902"/>
            <a:chOff x="4348401" y="1868329"/>
            <a:chExt cx="3220760" cy="3791902"/>
          </a:xfrm>
        </p:grpSpPr>
        <p:sp>
          <p:nvSpPr>
            <p:cNvPr id="14" name="reveal-2:11: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5" name="reveal-2:11:shape:border-0"/>
            <p:cNvSpPr/>
            <p:nvPr/>
          </p:nvSpPr>
          <p:spPr>
            <a:xfrm>
              <a:off x="4439841" y="1883569"/>
              <a:ext cx="3037880" cy="0"/>
            </a:xfrm>
            <a:prstGeom prst="line">
              <a:avLst/>
            </a:prstGeom>
            <a:noFill/>
            <a:ln w="30480">
              <a:solidFill>
                <a:srgbClr val="4DA6FF"/>
              </a:solidFill>
              <a:prstDash val="solid"/>
              <a:headEnd type="none"/>
              <a:tailEnd type="none"/>
            </a:ln>
          </p:spPr>
          <p:txBody>
            <a:bodyPr/>
            <a:lstStyle/>
            <a:p>
              <a:endParaRPr lang="en-US"/>
            </a:p>
          </p:txBody>
        </p:sp>
        <p:sp>
          <p:nvSpPr>
            <p:cNvPr id="16" name="reveal-2:12:shape"/>
            <p:cNvSpPr/>
            <p:nvPr/>
          </p:nvSpPr>
          <p:spPr>
            <a:xfrm>
              <a:off x="4554141"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17" name="reveal-2:13:text"/>
            <p:cNvSpPr/>
            <p:nvPr/>
          </p:nvSpPr>
          <p:spPr>
            <a:xfrm>
              <a:off x="4651772" y="2207419"/>
              <a:ext cx="307538" cy="190500"/>
            </a:xfrm>
            <a:prstGeom prst="rect">
              <a:avLst/>
            </a:prstGeom>
            <a:noFill/>
            <a:ln/>
          </p:spPr>
          <p:txBody>
            <a:bodyPr wrap="none" lIns="0" tIns="0" rIns="0" bIns="0" rtlCol="0" anchor="ctr"/>
            <a:lstStyle/>
            <a:p>
              <a:pPr marL="0" indent="0" algn="l">
                <a:buNone/>
              </a:pPr>
              <a:r>
                <a:rPr lang="en-US" sz="1200" b="1" kern="0" spc="-24" dirty="0">
                  <a:solidFill>
                    <a:srgbClr val="4DA6FF"/>
                  </a:solidFill>
                  <a:latin typeface="Arial" pitchFamily="34" charset="0"/>
                  <a:ea typeface="Arial" pitchFamily="34" charset="-122"/>
                  <a:cs typeface="Arial" pitchFamily="34" charset="-120"/>
                </a:rPr>
                <a:t>UX</a:t>
              </a:r>
              <a:endParaRPr lang="en-US" sz="1200" dirty="0"/>
            </a:p>
          </p:txBody>
        </p:sp>
        <p:sp>
          <p:nvSpPr>
            <p:cNvPr id="18" name="reveal-2:14:text"/>
            <p:cNvSpPr/>
            <p:nvPr/>
          </p:nvSpPr>
          <p:spPr>
            <a:xfrm>
              <a:off x="4554141" y="2698909"/>
              <a:ext cx="2320528"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Customer Satisfaction</a:t>
              </a:r>
              <a:endParaRPr lang="en-US" sz="1680" dirty="0"/>
            </a:p>
          </p:txBody>
        </p:sp>
        <p:sp>
          <p:nvSpPr>
            <p:cNvPr id="19" name="reveal-2:15:text"/>
            <p:cNvSpPr/>
            <p:nvPr/>
          </p:nvSpPr>
          <p:spPr>
            <a:xfrm>
              <a:off x="4554141" y="3285649"/>
              <a:ext cx="269295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How satisfied would the user be with the</a:t>
              </a:r>
              <a:endParaRPr lang="en-US" sz="1140" dirty="0"/>
            </a:p>
          </p:txBody>
        </p:sp>
        <p:sp>
          <p:nvSpPr>
            <p:cNvPr id="20" name="reveal-2:16:text"/>
            <p:cNvSpPr/>
            <p:nvPr/>
          </p:nvSpPr>
          <p:spPr>
            <a:xfrm>
              <a:off x="4554141" y="3481030"/>
              <a:ext cx="986790"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conversation?</a:t>
              </a:r>
              <a:endParaRPr lang="en-US" sz="1140" dirty="0"/>
            </a:p>
          </p:txBody>
        </p:sp>
        <p:sp>
          <p:nvSpPr>
            <p:cNvPr id="21" name="reveal-2:17:shape"/>
            <p:cNvSpPr/>
            <p:nvPr/>
          </p:nvSpPr>
          <p:spPr>
            <a:xfrm>
              <a:off x="4554141" y="3889772"/>
              <a:ext cx="2809280"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2" name="reveal-2:18:text"/>
            <p:cNvSpPr/>
            <p:nvPr/>
          </p:nvSpPr>
          <p:spPr>
            <a:xfrm>
              <a:off x="4660821" y="3973592"/>
              <a:ext cx="2579251"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Assesses helpfulness, clarity and resolution.</a:t>
              </a:r>
              <a:endParaRPr lang="en-US" sz="900" dirty="0"/>
            </a:p>
          </p:txBody>
        </p:sp>
        <p:sp>
          <p:nvSpPr>
            <p:cNvPr id="23" name="reveal-2:19:text"/>
            <p:cNvSpPr/>
            <p:nvPr/>
          </p:nvSpPr>
          <p:spPr>
            <a:xfrm>
              <a:off x="4660821" y="4160282"/>
              <a:ext cx="175117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BUILT-IN EVALUATOR / PREVIEW</a:t>
              </a:r>
              <a:endParaRPr lang="en-US" sz="720" dirty="0"/>
            </a:p>
          </p:txBody>
        </p:sp>
      </p:grpSp>
      <p:grpSp>
        <p:nvGrpSpPr>
          <p:cNvPr id="39" name="Reveal 3"/>
          <p:cNvGrpSpPr/>
          <p:nvPr/>
        </p:nvGrpSpPr>
        <p:grpSpPr>
          <a:xfrm>
            <a:off x="7721560" y="1868329"/>
            <a:ext cx="3220641" cy="3791902"/>
            <a:chOff x="7721560" y="1868329"/>
            <a:chExt cx="3220641" cy="3791902"/>
          </a:xfrm>
        </p:grpSpPr>
        <p:sp>
          <p:nvSpPr>
            <p:cNvPr id="24" name="reveal-3:20: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5" name="reveal-3:20:shape:border-0"/>
            <p:cNvSpPr/>
            <p:nvPr/>
          </p:nvSpPr>
          <p:spPr>
            <a:xfrm>
              <a:off x="7813000"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26" name="reveal-3:21:shape"/>
            <p:cNvSpPr/>
            <p:nvPr/>
          </p:nvSpPr>
          <p:spPr>
            <a:xfrm>
              <a:off x="7927300"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27" name="reveal-3:22:text"/>
            <p:cNvSpPr/>
            <p:nvPr/>
          </p:nvSpPr>
          <p:spPr>
            <a:xfrm>
              <a:off x="8082677" y="2207419"/>
              <a:ext cx="192048"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R</a:t>
              </a:r>
              <a:endParaRPr lang="en-US" sz="1200" dirty="0"/>
            </a:p>
          </p:txBody>
        </p:sp>
        <p:sp>
          <p:nvSpPr>
            <p:cNvPr id="28" name="reveal-3:23:text"/>
            <p:cNvSpPr/>
            <p:nvPr/>
          </p:nvSpPr>
          <p:spPr>
            <a:xfrm>
              <a:off x="7927300" y="2698909"/>
              <a:ext cx="741045"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Rubric</a:t>
              </a:r>
              <a:endParaRPr lang="en-US" sz="1680" dirty="0"/>
            </a:p>
          </p:txBody>
        </p:sp>
        <p:sp>
          <p:nvSpPr>
            <p:cNvPr id="29" name="reveal-3:24:text"/>
            <p:cNvSpPr/>
            <p:nvPr/>
          </p:nvSpPr>
          <p:spPr>
            <a:xfrm>
              <a:off x="7927300" y="3285649"/>
              <a:ext cx="2825115"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Does the answer meet the requirements of</a:t>
              </a:r>
              <a:endParaRPr lang="en-US" sz="1140" dirty="0"/>
            </a:p>
          </p:txBody>
        </p:sp>
        <p:sp>
          <p:nvSpPr>
            <p:cNvPr id="30" name="reveal-3:25:text"/>
            <p:cNvSpPr/>
            <p:nvPr/>
          </p:nvSpPr>
          <p:spPr>
            <a:xfrm>
              <a:off x="7927300" y="3481030"/>
              <a:ext cx="701397"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this task?</a:t>
              </a:r>
              <a:endParaRPr lang="en-US" sz="1140" dirty="0"/>
            </a:p>
          </p:txBody>
        </p:sp>
        <p:sp>
          <p:nvSpPr>
            <p:cNvPr id="31" name="reveal-3:26:shape"/>
            <p:cNvSpPr/>
            <p:nvPr/>
          </p:nvSpPr>
          <p:spPr>
            <a:xfrm>
              <a:off x="7927300" y="3889772"/>
              <a:ext cx="2809161" cy="636984"/>
            </a:xfrm>
            <a:prstGeom prst="roundRect">
              <a:avLst>
                <a:gd name="adj" fmla="val 11963"/>
              </a:avLst>
            </a:prstGeom>
            <a:solidFill>
              <a:srgbClr val="FFFFFF">
                <a:alpha val="3000"/>
              </a:srgbClr>
            </a:solidFill>
            <a:ln w="12700">
              <a:solidFill>
                <a:srgbClr val="333333">
                  <a:alpha val="0"/>
                </a:srgbClr>
              </a:solidFill>
              <a:prstDash val="solid"/>
            </a:ln>
          </p:spPr>
          <p:txBody>
            <a:bodyPr/>
            <a:lstStyle/>
            <a:p>
              <a:endParaRPr lang="en-US"/>
            </a:p>
          </p:txBody>
        </p:sp>
        <p:sp>
          <p:nvSpPr>
            <p:cNvPr id="32" name="reveal-3:27:text"/>
            <p:cNvSpPr/>
            <p:nvPr/>
          </p:nvSpPr>
          <p:spPr>
            <a:xfrm>
              <a:off x="8033980" y="3973592"/>
              <a:ext cx="2606159"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Your criteria: approval route, expiry, citations</a:t>
              </a:r>
              <a:endParaRPr lang="en-US" sz="900" dirty="0"/>
            </a:p>
          </p:txBody>
        </p:sp>
        <p:sp>
          <p:nvSpPr>
            <p:cNvPr id="33" name="reveal-3:28:text"/>
            <p:cNvSpPr/>
            <p:nvPr/>
          </p:nvSpPr>
          <p:spPr>
            <a:xfrm>
              <a:off x="8033980" y="4122182"/>
              <a:ext cx="984290"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and next action.</a:t>
              </a:r>
              <a:endParaRPr lang="en-US" sz="900" dirty="0"/>
            </a:p>
          </p:txBody>
        </p:sp>
        <p:sp>
          <p:nvSpPr>
            <p:cNvPr id="34" name="reveal-3:29:text"/>
            <p:cNvSpPr/>
            <p:nvPr/>
          </p:nvSpPr>
          <p:spPr>
            <a:xfrm>
              <a:off x="8033980" y="4308872"/>
              <a:ext cx="1616035"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CUSTOM CRITERIA / PREVIEW</a:t>
              </a:r>
              <a:endParaRPr lang="en-US" sz="720" dirty="0"/>
            </a:p>
          </p:txBody>
        </p:sp>
      </p:grpSp>
      <p:sp>
        <p:nvSpPr>
          <p:cNvPr id="35" name="static:30: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6" name="static:31:text"/>
          <p:cNvSpPr/>
          <p:nvPr/>
        </p:nvSpPr>
        <p:spPr>
          <a:xfrm>
            <a:off x="7410331" y="6461760"/>
            <a:ext cx="121550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10</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Demo 4 - Evaluate Across Cases">
    <p:spTree>
      <p:nvGrpSpPr>
        <p:cNvPr id="1" name=""/>
        <p:cNvGrpSpPr/>
        <p:nvPr/>
      </p:nvGrpSpPr>
      <p:grpSpPr>
        <a:xfrm>
          <a:off x="0" y="0"/>
          <a:ext cx="0" cy="0"/>
          <a:chOff x="0" y="0"/>
          <a:chExt cx="0" cy="0"/>
        </a:xfrm>
      </p:grpSpPr>
      <p:sp>
        <p:nvSpPr>
          <p:cNvPr id="2" name="static:0:text"/>
          <p:cNvSpPr/>
          <p:nvPr/>
        </p:nvSpPr>
        <p:spPr>
          <a:xfrm>
            <a:off x="975360" y="2343626"/>
            <a:ext cx="814864" cy="190500"/>
          </a:xfrm>
          <a:prstGeom prst="rect">
            <a:avLst/>
          </a:prstGeom>
          <a:noFill/>
          <a:ln/>
        </p:spPr>
        <p:txBody>
          <a:bodyPr wrap="none" lIns="0" tIns="0" rIns="0" bIns="0" rtlCol="0" anchor="ctr"/>
          <a:lstStyle/>
          <a:p>
            <a:pPr marL="0" indent="0" algn="l">
              <a:buNone/>
            </a:pPr>
            <a:r>
              <a:rPr lang="en-US" sz="1200" b="1" kern="0" spc="180" dirty="0">
                <a:solidFill>
                  <a:srgbClr val="4ADE80"/>
                </a:solidFill>
                <a:latin typeface="Arial" pitchFamily="34" charset="0"/>
                <a:ea typeface="Arial" pitchFamily="34" charset="-122"/>
                <a:cs typeface="Arial" pitchFamily="34" charset="-120"/>
              </a:rPr>
              <a:t>DEMO 4</a:t>
            </a:r>
            <a:endParaRPr lang="en-US" sz="1200" dirty="0"/>
          </a:p>
        </p:txBody>
      </p:sp>
      <p:sp>
        <p:nvSpPr>
          <p:cNvPr id="3" name="static:1:text"/>
          <p:cNvSpPr/>
          <p:nvPr/>
        </p:nvSpPr>
        <p:spPr>
          <a:xfrm>
            <a:off x="975360" y="2640806"/>
            <a:ext cx="5144524"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Evaluate Across Cases</a:t>
            </a:r>
            <a:endParaRPr lang="en-US" sz="4080" dirty="0"/>
          </a:p>
        </p:txBody>
      </p:sp>
      <p:sp>
        <p:nvSpPr>
          <p:cNvPr id="4" name="static:2:text"/>
          <p:cNvSpPr/>
          <p:nvPr/>
        </p:nvSpPr>
        <p:spPr>
          <a:xfrm>
            <a:off x="975360" y="3387566"/>
            <a:ext cx="6319004"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How consistently does the agent handle different purchases, dates and</a:t>
            </a:r>
            <a:endParaRPr lang="en-US" sz="1620" dirty="0"/>
          </a:p>
        </p:txBody>
      </p:sp>
      <p:sp>
        <p:nvSpPr>
          <p:cNvPr id="5" name="static:3:text"/>
          <p:cNvSpPr/>
          <p:nvPr/>
        </p:nvSpPr>
        <p:spPr>
          <a:xfrm>
            <a:off x="975360" y="3665220"/>
            <a:ext cx="1919288"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missing information?</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73571" y="6461760"/>
            <a:ext cx="120026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11</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Optimise">
    <p:spTree>
      <p:nvGrpSpPr>
        <p:cNvPr id="1" name=""/>
        <p:cNvGrpSpPr/>
        <p:nvPr/>
      </p:nvGrpSpPr>
      <p:grpSpPr>
        <a:xfrm>
          <a:off x="0" y="0"/>
          <a:ext cx="0" cy="0"/>
          <a:chOff x="0" y="0"/>
          <a:chExt cx="0" cy="0"/>
        </a:xfrm>
      </p:grpSpPr>
      <p:sp>
        <p:nvSpPr>
          <p:cNvPr id="2" name="static:0:text"/>
          <p:cNvSpPr/>
          <p:nvPr/>
        </p:nvSpPr>
        <p:spPr>
          <a:xfrm>
            <a:off x="2727960" y="870109"/>
            <a:ext cx="1497568" cy="152400"/>
          </a:xfrm>
          <a:prstGeom prst="rect">
            <a:avLst/>
          </a:prstGeom>
          <a:noFill/>
          <a:ln/>
        </p:spPr>
        <p:txBody>
          <a:bodyPr wrap="none" lIns="0" tIns="0" rIns="0" bIns="0" rtlCol="0" anchor="ctr"/>
          <a:lstStyle/>
          <a:p>
            <a:pPr marL="0" indent="0" algn="l">
              <a:buNone/>
            </a:pPr>
            <a:r>
              <a:rPr lang="en-US" sz="960" b="1" kern="0" spc="154" dirty="0">
                <a:solidFill>
                  <a:srgbClr val="F87171"/>
                </a:solidFill>
                <a:latin typeface="Arial" pitchFamily="34" charset="0"/>
                <a:ea typeface="Arial" pitchFamily="34" charset="-122"/>
                <a:cs typeface="Arial" pitchFamily="34" charset="-120"/>
              </a:rPr>
              <a:t>AGENT OPTIMIZER</a:t>
            </a:r>
            <a:endParaRPr lang="en-US" sz="960" dirty="0"/>
          </a:p>
        </p:txBody>
      </p:sp>
      <p:sp>
        <p:nvSpPr>
          <p:cNvPr id="3" name="static:1:text"/>
          <p:cNvSpPr/>
          <p:nvPr/>
        </p:nvSpPr>
        <p:spPr>
          <a:xfrm>
            <a:off x="975360" y="1068229"/>
            <a:ext cx="1408962"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Optimise</a:t>
            </a:r>
            <a:endParaRPr lang="en-US" sz="2640" dirty="0"/>
          </a:p>
        </p:txBody>
      </p:sp>
      <p:grpSp>
        <p:nvGrpSpPr>
          <p:cNvPr id="35"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F87171"/>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F87171"/>
              </a:solidFill>
              <a:prstDash val="solid"/>
            </a:ln>
          </p:spPr>
          <p:txBody>
            <a:bodyPr/>
            <a:lstStyle/>
            <a:p>
              <a:endParaRPr lang="en-US"/>
            </a:p>
          </p:txBody>
        </p:sp>
        <p:sp>
          <p:nvSpPr>
            <p:cNvPr id="7" name="reveal-1:4:text"/>
            <p:cNvSpPr/>
            <p:nvPr/>
          </p:nvSpPr>
          <p:spPr>
            <a:xfrm>
              <a:off x="1336715" y="2207419"/>
              <a:ext cx="191572" cy="190500"/>
            </a:xfrm>
            <a:prstGeom prst="rect">
              <a:avLst/>
            </a:prstGeom>
            <a:noFill/>
            <a:ln/>
          </p:spPr>
          <p:txBody>
            <a:bodyPr wrap="none" lIns="0" tIns="0" rIns="0" bIns="0" rtlCol="0" anchor="ctr"/>
            <a:lstStyle/>
            <a:p>
              <a:pPr marL="0" indent="0" algn="l">
                <a:buNone/>
              </a:pPr>
              <a:r>
                <a:rPr lang="en-US" sz="1200" b="1" kern="0" spc="-24" dirty="0">
                  <a:solidFill>
                    <a:srgbClr val="F87171"/>
                  </a:solidFill>
                  <a:latin typeface="Arial" pitchFamily="34" charset="0"/>
                  <a:ea typeface="Arial" pitchFamily="34" charset="-122"/>
                  <a:cs typeface="Arial" pitchFamily="34" charset="-120"/>
                </a:rPr>
                <a:t>B</a:t>
              </a:r>
              <a:endParaRPr lang="en-US" sz="1200" dirty="0"/>
            </a:p>
          </p:txBody>
        </p:sp>
        <p:sp>
          <p:nvSpPr>
            <p:cNvPr id="8" name="reveal-1:5:text"/>
            <p:cNvSpPr/>
            <p:nvPr/>
          </p:nvSpPr>
          <p:spPr>
            <a:xfrm>
              <a:off x="1181100" y="2698909"/>
              <a:ext cx="940713" cy="266700"/>
            </a:xfrm>
            <a:prstGeom prst="rect">
              <a:avLst/>
            </a:prstGeom>
            <a:noFill/>
            <a:ln/>
          </p:spPr>
          <p:txBody>
            <a:bodyPr wrap="none" lIns="0" tIns="0" rIns="0" bIns="0" rtlCol="0" anchor="ctr"/>
            <a:lstStyle/>
            <a:p>
              <a:pPr marL="0" indent="0" algn="l">
                <a:buNone/>
              </a:pPr>
              <a:r>
                <a:rPr lang="en-US" sz="1680" b="1" dirty="0">
                  <a:solidFill>
                    <a:srgbClr val="F87171"/>
                  </a:solidFill>
                  <a:latin typeface="Arial" pitchFamily="34" charset="0"/>
                  <a:ea typeface="Arial" pitchFamily="34" charset="-122"/>
                  <a:cs typeface="Arial" pitchFamily="34" charset="-120"/>
                </a:rPr>
                <a:t>Baseline</a:t>
              </a:r>
              <a:endParaRPr lang="en-US" sz="1680" dirty="0"/>
            </a:p>
          </p:txBody>
        </p:sp>
        <p:sp>
          <p:nvSpPr>
            <p:cNvPr id="9" name="reveal-1:6:text"/>
            <p:cNvSpPr/>
            <p:nvPr/>
          </p:nvSpPr>
          <p:spPr>
            <a:xfrm>
              <a:off x="1181100" y="3047881"/>
              <a:ext cx="248757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Record the starting configuration and</a:t>
              </a:r>
              <a:endParaRPr lang="en-US" sz="1140" dirty="0"/>
            </a:p>
          </p:txBody>
        </p:sp>
        <p:sp>
          <p:nvSpPr>
            <p:cNvPr id="10" name="reveal-1:7:text"/>
            <p:cNvSpPr/>
            <p:nvPr/>
          </p:nvSpPr>
          <p:spPr>
            <a:xfrm>
              <a:off x="1181100" y="3243263"/>
              <a:ext cx="1251704"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evaluation results.</a:t>
              </a:r>
              <a:endParaRPr lang="en-US" sz="1140" dirty="0"/>
            </a:p>
          </p:txBody>
        </p:sp>
        <p:sp>
          <p:nvSpPr>
            <p:cNvPr id="11" name="reveal-1:8:shape"/>
            <p:cNvSpPr/>
            <p:nvPr/>
          </p:nvSpPr>
          <p:spPr>
            <a:xfrm>
              <a:off x="11811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735824"/>
              <a:ext cx="2381369"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How consistently does the starting agent</a:t>
              </a:r>
              <a:endParaRPr lang="en-US" sz="900" dirty="0"/>
            </a:p>
          </p:txBody>
        </p:sp>
        <p:sp>
          <p:nvSpPr>
            <p:cNvPr id="13" name="reveal-1:10:text"/>
            <p:cNvSpPr/>
            <p:nvPr/>
          </p:nvSpPr>
          <p:spPr>
            <a:xfrm>
              <a:off x="1287780" y="3884414"/>
              <a:ext cx="1010364"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meet the rubric?</a:t>
              </a:r>
              <a:endParaRPr lang="en-US" sz="900" dirty="0"/>
            </a:p>
          </p:txBody>
        </p:sp>
      </p:grpSp>
      <p:grpSp>
        <p:nvGrpSpPr>
          <p:cNvPr id="36" name="Reveal 2"/>
          <p:cNvGrpSpPr/>
          <p:nvPr/>
        </p:nvGrpSpPr>
        <p:grpSpPr>
          <a:xfrm>
            <a:off x="4348401" y="1868329"/>
            <a:ext cx="3220760" cy="3791902"/>
            <a:chOff x="4348401" y="1868329"/>
            <a:chExt cx="3220760" cy="3791902"/>
          </a:xfrm>
        </p:grpSpPr>
        <p:sp>
          <p:nvSpPr>
            <p:cNvPr id="14" name="reveal-2:11: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5" name="reveal-2:11:shape:border-0"/>
            <p:cNvSpPr/>
            <p:nvPr/>
          </p:nvSpPr>
          <p:spPr>
            <a:xfrm>
              <a:off x="4439841" y="1883569"/>
              <a:ext cx="3037880" cy="0"/>
            </a:xfrm>
            <a:prstGeom prst="line">
              <a:avLst/>
            </a:prstGeom>
            <a:noFill/>
            <a:ln w="30480">
              <a:solidFill>
                <a:srgbClr val="FBBF24"/>
              </a:solidFill>
              <a:prstDash val="solid"/>
              <a:headEnd type="none"/>
              <a:tailEnd type="none"/>
            </a:ln>
          </p:spPr>
          <p:txBody>
            <a:bodyPr/>
            <a:lstStyle/>
            <a:p>
              <a:endParaRPr lang="en-US"/>
            </a:p>
          </p:txBody>
        </p:sp>
        <p:sp>
          <p:nvSpPr>
            <p:cNvPr id="16" name="reveal-2:12:shape"/>
            <p:cNvSpPr/>
            <p:nvPr/>
          </p:nvSpPr>
          <p:spPr>
            <a:xfrm>
              <a:off x="4554141"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17" name="reveal-2:13:text"/>
            <p:cNvSpPr/>
            <p:nvPr/>
          </p:nvSpPr>
          <p:spPr>
            <a:xfrm>
              <a:off x="4706183" y="2207419"/>
              <a:ext cx="198834"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C</a:t>
              </a:r>
              <a:endParaRPr lang="en-US" sz="1200" dirty="0"/>
            </a:p>
          </p:txBody>
        </p:sp>
        <p:sp>
          <p:nvSpPr>
            <p:cNvPr id="18" name="reveal-2:14:text"/>
            <p:cNvSpPr/>
            <p:nvPr/>
          </p:nvSpPr>
          <p:spPr>
            <a:xfrm>
              <a:off x="4554141" y="2698909"/>
              <a:ext cx="1236702"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Candidates</a:t>
              </a:r>
              <a:endParaRPr lang="en-US" sz="1680" dirty="0"/>
            </a:p>
          </p:txBody>
        </p:sp>
        <p:sp>
          <p:nvSpPr>
            <p:cNvPr id="19" name="reveal-2:15:text"/>
            <p:cNvSpPr/>
            <p:nvPr/>
          </p:nvSpPr>
          <p:spPr>
            <a:xfrm>
              <a:off x="4554141" y="3047881"/>
              <a:ext cx="221920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Test changes to instructions, tool</a:t>
              </a:r>
              <a:endParaRPr lang="en-US" sz="1140" dirty="0"/>
            </a:p>
          </p:txBody>
        </p:sp>
        <p:sp>
          <p:nvSpPr>
            <p:cNvPr id="20" name="reveal-2:16:text"/>
            <p:cNvSpPr/>
            <p:nvPr/>
          </p:nvSpPr>
          <p:spPr>
            <a:xfrm>
              <a:off x="4554141" y="3243263"/>
              <a:ext cx="2097524"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descriptions and model choice.</a:t>
              </a:r>
              <a:endParaRPr lang="en-US" sz="1140" dirty="0"/>
            </a:p>
          </p:txBody>
        </p:sp>
        <p:sp>
          <p:nvSpPr>
            <p:cNvPr id="21" name="reveal-2:17:shape"/>
            <p:cNvSpPr/>
            <p:nvPr/>
          </p:nvSpPr>
          <p:spPr>
            <a:xfrm>
              <a:off x="4554141" y="3652004"/>
              <a:ext cx="2809280"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2" name="reveal-2:18:text"/>
            <p:cNvSpPr/>
            <p:nvPr/>
          </p:nvSpPr>
          <p:spPr>
            <a:xfrm>
              <a:off x="4660821" y="3735824"/>
              <a:ext cx="2422684"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Which changes improve the results on the</a:t>
              </a:r>
              <a:endParaRPr lang="en-US" sz="900" dirty="0"/>
            </a:p>
          </p:txBody>
        </p:sp>
        <p:sp>
          <p:nvSpPr>
            <p:cNvPr id="23" name="reveal-2:19:text"/>
            <p:cNvSpPr/>
            <p:nvPr/>
          </p:nvSpPr>
          <p:spPr>
            <a:xfrm>
              <a:off x="4660821" y="3884414"/>
              <a:ext cx="763667"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same tests?</a:t>
              </a:r>
              <a:endParaRPr lang="en-US" sz="900" dirty="0"/>
            </a:p>
          </p:txBody>
        </p:sp>
      </p:grpSp>
      <p:grpSp>
        <p:nvGrpSpPr>
          <p:cNvPr id="37" name="Reveal 3"/>
          <p:cNvGrpSpPr/>
          <p:nvPr/>
        </p:nvGrpSpPr>
        <p:grpSpPr>
          <a:xfrm>
            <a:off x="7721560" y="1868329"/>
            <a:ext cx="3220641" cy="3791902"/>
            <a:chOff x="7721560" y="1868329"/>
            <a:chExt cx="3220641" cy="3791902"/>
          </a:xfrm>
        </p:grpSpPr>
        <p:sp>
          <p:nvSpPr>
            <p:cNvPr id="24" name="reveal-3:20: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5" name="reveal-3:20:shape:border-0"/>
            <p:cNvSpPr/>
            <p:nvPr/>
          </p:nvSpPr>
          <p:spPr>
            <a:xfrm>
              <a:off x="7813000"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26" name="reveal-3:21:shape"/>
            <p:cNvSpPr/>
            <p:nvPr/>
          </p:nvSpPr>
          <p:spPr>
            <a:xfrm>
              <a:off x="7927300"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27" name="reveal-3:22:text"/>
            <p:cNvSpPr/>
            <p:nvPr/>
          </p:nvSpPr>
          <p:spPr>
            <a:xfrm>
              <a:off x="8084344" y="2207419"/>
              <a:ext cx="188714"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3</a:t>
              </a:r>
              <a:endParaRPr lang="en-US" sz="1200" dirty="0"/>
            </a:p>
          </p:txBody>
        </p:sp>
        <p:sp>
          <p:nvSpPr>
            <p:cNvPr id="28" name="reveal-3:23:text"/>
            <p:cNvSpPr/>
            <p:nvPr/>
          </p:nvSpPr>
          <p:spPr>
            <a:xfrm>
              <a:off x="7927300" y="2698909"/>
              <a:ext cx="100607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Compare</a:t>
              </a:r>
              <a:endParaRPr lang="en-US" sz="1680" dirty="0"/>
            </a:p>
          </p:txBody>
        </p:sp>
        <p:sp>
          <p:nvSpPr>
            <p:cNvPr id="29" name="reveal-3:24:text"/>
            <p:cNvSpPr/>
            <p:nvPr/>
          </p:nvSpPr>
          <p:spPr>
            <a:xfrm>
              <a:off x="7927300" y="3047881"/>
              <a:ext cx="2311122"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Compare scores and configuration</a:t>
              </a:r>
              <a:endParaRPr lang="en-US" sz="1140" dirty="0"/>
            </a:p>
          </p:txBody>
        </p:sp>
        <p:sp>
          <p:nvSpPr>
            <p:cNvPr id="30" name="reveal-3:25:text"/>
            <p:cNvSpPr/>
            <p:nvPr/>
          </p:nvSpPr>
          <p:spPr>
            <a:xfrm>
              <a:off x="7927300" y="3243263"/>
              <a:ext cx="678418"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changes.</a:t>
              </a:r>
              <a:endParaRPr lang="en-US" sz="1140" dirty="0"/>
            </a:p>
          </p:txBody>
        </p:sp>
        <p:sp>
          <p:nvSpPr>
            <p:cNvPr id="31" name="reveal-3:26:shape"/>
            <p:cNvSpPr/>
            <p:nvPr/>
          </p:nvSpPr>
          <p:spPr>
            <a:xfrm>
              <a:off x="79273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32" name="reveal-3:27:text"/>
            <p:cNvSpPr/>
            <p:nvPr/>
          </p:nvSpPr>
          <p:spPr>
            <a:xfrm>
              <a:off x="8033980" y="3735824"/>
              <a:ext cx="2520910"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Does quality improve, or hold at lower cost?</a:t>
              </a:r>
              <a:endParaRPr lang="en-US" sz="900" dirty="0"/>
            </a:p>
          </p:txBody>
        </p:sp>
      </p:grpSp>
      <p:sp>
        <p:nvSpPr>
          <p:cNvPr id="33" name="static:28: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4" name="static:29:text"/>
          <p:cNvSpPr/>
          <p:nvPr/>
        </p:nvSpPr>
        <p:spPr>
          <a:xfrm>
            <a:off x="7412831" y="6461760"/>
            <a:ext cx="121300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12</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Demo 5 - Agent Optimizer">
    <p:spTree>
      <p:nvGrpSpPr>
        <p:cNvPr id="1" name=""/>
        <p:cNvGrpSpPr/>
        <p:nvPr/>
      </p:nvGrpSpPr>
      <p:grpSpPr>
        <a:xfrm>
          <a:off x="0" y="0"/>
          <a:ext cx="0" cy="0"/>
          <a:chOff x="0" y="0"/>
          <a:chExt cx="0" cy="0"/>
        </a:xfrm>
      </p:grpSpPr>
      <p:sp>
        <p:nvSpPr>
          <p:cNvPr id="2" name="static:0:text"/>
          <p:cNvSpPr/>
          <p:nvPr/>
        </p:nvSpPr>
        <p:spPr>
          <a:xfrm>
            <a:off x="975360" y="2343626"/>
            <a:ext cx="811292" cy="190500"/>
          </a:xfrm>
          <a:prstGeom prst="rect">
            <a:avLst/>
          </a:prstGeom>
          <a:noFill/>
          <a:ln/>
        </p:spPr>
        <p:txBody>
          <a:bodyPr wrap="none" lIns="0" tIns="0" rIns="0" bIns="0" rtlCol="0" anchor="ctr"/>
          <a:lstStyle/>
          <a:p>
            <a:pPr marL="0" indent="0" algn="l">
              <a:buNone/>
            </a:pPr>
            <a:r>
              <a:rPr lang="en-US" sz="1200" b="1" kern="0" spc="180" dirty="0">
                <a:solidFill>
                  <a:srgbClr val="F87171"/>
                </a:solidFill>
                <a:latin typeface="Arial" pitchFamily="34" charset="0"/>
                <a:ea typeface="Arial" pitchFamily="34" charset="-122"/>
                <a:cs typeface="Arial" pitchFamily="34" charset="-120"/>
              </a:rPr>
              <a:t>DEMO 5</a:t>
            </a:r>
            <a:endParaRPr lang="en-US" sz="1200" dirty="0"/>
          </a:p>
        </p:txBody>
      </p:sp>
      <p:sp>
        <p:nvSpPr>
          <p:cNvPr id="3" name="static:1:text"/>
          <p:cNvSpPr/>
          <p:nvPr/>
        </p:nvSpPr>
        <p:spPr>
          <a:xfrm>
            <a:off x="975360" y="2640806"/>
            <a:ext cx="3743516"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Agent Optimizer</a:t>
            </a:r>
            <a:endParaRPr lang="en-US" sz="4080" dirty="0"/>
          </a:p>
        </p:txBody>
      </p:sp>
      <p:sp>
        <p:nvSpPr>
          <p:cNvPr id="4" name="static:2:text"/>
          <p:cNvSpPr/>
          <p:nvPr/>
        </p:nvSpPr>
        <p:spPr>
          <a:xfrm>
            <a:off x="975360" y="3387566"/>
            <a:ext cx="5626656"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Compare answer consistency, speed and cost, then inspect the</a:t>
            </a:r>
            <a:endParaRPr lang="en-US" sz="1620" dirty="0"/>
          </a:p>
        </p:txBody>
      </p:sp>
      <p:sp>
        <p:nvSpPr>
          <p:cNvPr id="5" name="static:3:text"/>
          <p:cNvSpPr/>
          <p:nvPr/>
        </p:nvSpPr>
        <p:spPr>
          <a:xfrm>
            <a:off x="975360" y="3665220"/>
            <a:ext cx="2113002"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configuration changes.</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8688" y="6461760"/>
            <a:ext cx="1215152"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13</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Automate">
    <p:spTree>
      <p:nvGrpSpPr>
        <p:cNvPr id="1" name=""/>
        <p:cNvGrpSpPr/>
        <p:nvPr/>
      </p:nvGrpSpPr>
      <p:grpSpPr>
        <a:xfrm>
          <a:off x="0" y="0"/>
          <a:ext cx="0" cy="0"/>
          <a:chOff x="0" y="0"/>
          <a:chExt cx="0" cy="0"/>
        </a:xfrm>
      </p:grpSpPr>
      <p:sp>
        <p:nvSpPr>
          <p:cNvPr id="2" name="static:0:text"/>
          <p:cNvSpPr/>
          <p:nvPr/>
        </p:nvSpPr>
        <p:spPr>
          <a:xfrm>
            <a:off x="2727960" y="870109"/>
            <a:ext cx="2995255" cy="152400"/>
          </a:xfrm>
          <a:prstGeom prst="rect">
            <a:avLst/>
          </a:prstGeom>
          <a:noFill/>
          <a:ln/>
        </p:spPr>
        <p:txBody>
          <a:bodyPr wrap="none" lIns="0" tIns="0" rIns="0" bIns="0" rtlCol="0" anchor="ctr"/>
          <a:lstStyle/>
          <a:p>
            <a:pPr marL="0" indent="0" algn="l">
              <a:buNone/>
            </a:pPr>
            <a:r>
              <a:rPr lang="en-US" sz="960" b="1" kern="0" spc="154" dirty="0">
                <a:solidFill>
                  <a:srgbClr val="4DA6FF"/>
                </a:solidFill>
                <a:latin typeface="Arial" pitchFamily="34" charset="0"/>
                <a:ea typeface="Arial" pitchFamily="34" charset="-122"/>
                <a:cs typeface="Arial" pitchFamily="34" charset="-120"/>
              </a:rPr>
              <a:t>CONTINUOUS EVALUATION AND CI/CD</a:t>
            </a:r>
            <a:endParaRPr lang="en-US" sz="960" dirty="0"/>
          </a:p>
        </p:txBody>
      </p:sp>
      <p:sp>
        <p:nvSpPr>
          <p:cNvPr id="3" name="static:1:text"/>
          <p:cNvSpPr/>
          <p:nvPr/>
        </p:nvSpPr>
        <p:spPr>
          <a:xfrm>
            <a:off x="975360" y="1068229"/>
            <a:ext cx="6000000"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Three test sets, three jobs</a:t>
            </a:r>
            <a:endParaRPr lang="en-US" sz="2640" dirty="0"/>
          </a:p>
        </p:txBody>
      </p:sp>
      <p:grpSp>
        <p:nvGrpSpPr>
          <p:cNvPr id="35"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4DA6FF"/>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7" name="reveal-1:4:text"/>
            <p:cNvSpPr/>
            <p:nvPr/>
          </p:nvSpPr>
          <p:spPr>
            <a:xfrm>
              <a:off x="1181100"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4DA6FF"/>
                  </a:solidFill>
                  <a:latin typeface="Arial" pitchFamily="34" charset="0"/>
                  <a:ea typeface="Arial" pitchFamily="34" charset="-122"/>
                  <a:cs typeface="Arial" pitchFamily="34" charset="-120"/>
                </a:rPr>
                <a:t>D</a:t>
              </a:r>
              <a:endParaRPr lang="en-US" sz="1200" dirty="0"/>
            </a:p>
          </p:txBody>
        </p:sp>
        <p:sp>
          <p:nvSpPr>
            <p:cNvPr id="8" name="reveal-1:5:text"/>
            <p:cNvSpPr/>
            <p:nvPr/>
          </p:nvSpPr>
          <p:spPr>
            <a:xfrm>
              <a:off x="1181100" y="2698909"/>
              <a:ext cx="2809161" cy="266700"/>
            </a:xfrm>
            <a:prstGeom prst="rect">
              <a:avLst/>
            </a:prstGeom>
            <a:noFill/>
            <a:ln/>
          </p:spPr>
          <p:txBody>
            <a:bodyPr wrap="squar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Development</a:t>
              </a:r>
              <a:endParaRPr lang="en-US" sz="1680" dirty="0"/>
            </a:p>
          </p:txBody>
        </p:sp>
        <p:sp>
          <p:nvSpPr>
            <p:cNvPr id="9" name="reveal-1:6:text"/>
            <p:cNvSpPr/>
            <p:nvPr/>
          </p:nvSpPr>
          <p:spPr>
            <a:xfrm>
              <a:off x="1181100" y="3047881"/>
              <a:ext cx="2809161" cy="5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The optimizer trains on it.</a:t>
              </a:r>
              <a:endParaRPr lang="en-US" sz="1140" dirty="0"/>
            </a:p>
          </p:txBody>
        </p:sp>
        <p:sp>
          <p:nvSpPr>
            <p:cNvPr id="11" name="reveal-1:8:shape"/>
            <p:cNvSpPr/>
            <p:nvPr/>
          </p:nvSpPr>
          <p:spPr>
            <a:xfrm>
              <a:off x="1181100" y="3652004"/>
              <a:ext cx="2809161"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732004"/>
              <a:ext cx="2595801"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Runs on every pull request, as a small, quick subset.</a:t>
              </a:r>
              <a:endParaRPr lang="en-US" sz="900" dirty="0"/>
            </a:p>
          </p:txBody>
        </p:sp>
      </p:grpSp>
      <p:grpSp>
        <p:nvGrpSpPr>
          <p:cNvPr id="36" name="Reveal 2"/>
          <p:cNvGrpSpPr/>
          <p:nvPr/>
        </p:nvGrpSpPr>
        <p:grpSpPr>
          <a:xfrm>
            <a:off x="4348401" y="1868329"/>
            <a:ext cx="3220641" cy="3791902"/>
            <a:chOff x="4348401" y="1868329"/>
            <a:chExt cx="3220641" cy="3791902"/>
          </a:xfrm>
        </p:grpSpPr>
        <p:sp>
          <p:nvSpPr>
            <p:cNvPr id="13" name="reveal-2:10:shape"/>
            <p:cNvSpPr/>
            <p:nvPr/>
          </p:nvSpPr>
          <p:spPr>
            <a:xfrm>
              <a:off x="4348401" y="1868329"/>
              <a:ext cx="3220641"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4" name="reveal-2:10:shape:border-0"/>
            <p:cNvSpPr/>
            <p:nvPr/>
          </p:nvSpPr>
          <p:spPr>
            <a:xfrm>
              <a:off x="4439841"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15" name="reveal-2:11:shape"/>
            <p:cNvSpPr/>
            <p:nvPr/>
          </p:nvSpPr>
          <p:spPr>
            <a:xfrm>
              <a:off x="4554141"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16" name="reveal-2:12:text"/>
            <p:cNvSpPr/>
            <p:nvPr/>
          </p:nvSpPr>
          <p:spPr>
            <a:xfrm>
              <a:off x="4554141"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4ADE80"/>
                  </a:solidFill>
                  <a:latin typeface="Arial" pitchFamily="34" charset="0"/>
                  <a:ea typeface="Arial" pitchFamily="34" charset="-122"/>
                  <a:cs typeface="Arial" pitchFamily="34" charset="-120"/>
                </a:rPr>
                <a:t>H</a:t>
              </a:r>
              <a:endParaRPr lang="en-US" sz="1200" dirty="0"/>
            </a:p>
          </p:txBody>
        </p:sp>
        <p:sp>
          <p:nvSpPr>
            <p:cNvPr id="17" name="reveal-2:13:text"/>
            <p:cNvSpPr/>
            <p:nvPr/>
          </p:nvSpPr>
          <p:spPr>
            <a:xfrm>
              <a:off x="4554141" y="2698909"/>
              <a:ext cx="2809161" cy="266700"/>
            </a:xfrm>
            <a:prstGeom prst="rect">
              <a:avLst/>
            </a:prstGeom>
            <a:noFill/>
            <a:ln/>
          </p:spPr>
          <p:txBody>
            <a:bodyPr wrap="squar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Holdout</a:t>
              </a:r>
              <a:endParaRPr lang="en-US" sz="1680" dirty="0"/>
            </a:p>
          </p:txBody>
        </p:sp>
        <p:sp>
          <p:nvSpPr>
            <p:cNvPr id="18" name="reveal-2:14:text"/>
            <p:cNvSpPr/>
            <p:nvPr/>
          </p:nvSpPr>
          <p:spPr>
            <a:xfrm>
              <a:off x="4554141" y="3047881"/>
              <a:ext cx="2809161" cy="5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The optimizer validates against it.</a:t>
              </a:r>
              <a:endParaRPr lang="en-US" sz="1140" dirty="0"/>
            </a:p>
          </p:txBody>
        </p:sp>
        <p:sp>
          <p:nvSpPr>
            <p:cNvPr id="20" name="reveal-2:16:shape"/>
            <p:cNvSpPr/>
            <p:nvPr/>
          </p:nvSpPr>
          <p:spPr>
            <a:xfrm>
              <a:off x="4554141" y="3652004"/>
              <a:ext cx="2809161"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1" name="reveal-2:17:text"/>
            <p:cNvSpPr/>
            <p:nvPr/>
          </p:nvSpPr>
          <p:spPr>
            <a:xfrm>
              <a:off x="4660821" y="3732004"/>
              <a:ext cx="2595801"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Runs on merge to main.</a:t>
              </a:r>
              <a:endParaRPr lang="en-US" sz="900" dirty="0"/>
            </a:p>
          </p:txBody>
        </p:sp>
      </p:grpSp>
      <p:grpSp>
        <p:nvGrpSpPr>
          <p:cNvPr id="37" name="Reveal 3"/>
          <p:cNvGrpSpPr/>
          <p:nvPr/>
        </p:nvGrpSpPr>
        <p:grpSpPr>
          <a:xfrm>
            <a:off x="7721442" y="1868329"/>
            <a:ext cx="3220641" cy="3791902"/>
            <a:chOff x="7721442" y="1868329"/>
            <a:chExt cx="3220641" cy="3791902"/>
          </a:xfrm>
        </p:grpSpPr>
        <p:sp>
          <p:nvSpPr>
            <p:cNvPr id="23" name="reveal-3:19:shape"/>
            <p:cNvSpPr/>
            <p:nvPr/>
          </p:nvSpPr>
          <p:spPr>
            <a:xfrm>
              <a:off x="7721442"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4" name="reveal-3:19:shape:border-0"/>
            <p:cNvSpPr/>
            <p:nvPr/>
          </p:nvSpPr>
          <p:spPr>
            <a:xfrm>
              <a:off x="7812882"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25" name="reveal-3:20:shape"/>
            <p:cNvSpPr/>
            <p:nvPr/>
          </p:nvSpPr>
          <p:spPr>
            <a:xfrm>
              <a:off x="7927182"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26" name="reveal-3:21:text"/>
            <p:cNvSpPr/>
            <p:nvPr/>
          </p:nvSpPr>
          <p:spPr>
            <a:xfrm>
              <a:off x="7927182"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FBBF24"/>
                  </a:solidFill>
                  <a:latin typeface="Arial" pitchFamily="34" charset="0"/>
                  <a:ea typeface="Arial" pitchFamily="34" charset="-122"/>
                  <a:cs typeface="Arial" pitchFamily="34" charset="-120"/>
                </a:rPr>
                <a:t>Δ</a:t>
              </a:r>
              <a:endParaRPr lang="en-US" sz="1200" dirty="0"/>
            </a:p>
          </p:txBody>
        </p:sp>
        <p:sp>
          <p:nvSpPr>
            <p:cNvPr id="27" name="reveal-3:22:text"/>
            <p:cNvSpPr/>
            <p:nvPr/>
          </p:nvSpPr>
          <p:spPr>
            <a:xfrm>
              <a:off x="7927182" y="2698909"/>
              <a:ext cx="2809161" cy="266700"/>
            </a:xfrm>
            <a:prstGeom prst="rect">
              <a:avLst/>
            </a:prstGeom>
            <a:noFill/>
            <a:ln/>
          </p:spPr>
          <p:txBody>
            <a:bodyPr wrap="squar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Drift</a:t>
              </a:r>
              <a:endParaRPr lang="en-US" sz="1680" dirty="0"/>
            </a:p>
          </p:txBody>
        </p:sp>
        <p:sp>
          <p:nvSpPr>
            <p:cNvPr id="28" name="reveal-3:23:text"/>
            <p:cNvSpPr/>
            <p:nvPr/>
          </p:nvSpPr>
          <p:spPr>
            <a:xfrm>
              <a:off x="7927182" y="3047881"/>
              <a:ext cx="2809161" cy="5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Never shown to the optimizer. The right answers change with the date.</a:t>
              </a:r>
              <a:endParaRPr lang="en-US" sz="1140" dirty="0"/>
            </a:p>
          </p:txBody>
        </p:sp>
        <p:sp>
          <p:nvSpPr>
            <p:cNvPr id="30" name="reveal-3:25:shape"/>
            <p:cNvSpPr/>
            <p:nvPr/>
          </p:nvSpPr>
          <p:spPr>
            <a:xfrm>
              <a:off x="7927182" y="3652004"/>
              <a:ext cx="2809161"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31" name="reveal-3:26:text"/>
            <p:cNvSpPr/>
            <p:nvPr/>
          </p:nvSpPr>
          <p:spPr>
            <a:xfrm>
              <a:off x="8033862" y="3732004"/>
              <a:ext cx="2595801"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Runs before a candidate is promoted.</a:t>
              </a:r>
              <a:endParaRPr lang="en-US" sz="900" dirty="0"/>
            </a:p>
          </p:txBody>
        </p:sp>
      </p:grpSp>
      <p:sp>
        <p:nvSpPr>
          <p:cNvPr id="33" name="static:28: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4" name="static:29:text"/>
          <p:cNvSpPr/>
          <p:nvPr/>
        </p:nvSpPr>
        <p:spPr>
          <a:xfrm>
            <a:off x="10457140" y="6461760"/>
            <a:ext cx="121670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14</a:t>
            </a:r>
            <a:endParaRPr lang="en-US" sz="720" dirty="0"/>
          </a:p>
        </p:txBody>
      </p:sp>
      <p:sp>
        <p:nvSpPr>
          <p:cNvPr id="38" name="takeaway"/>
          <p:cNvSpPr txBox="1"/>
          <p:nvPr/>
        </p:nvSpPr>
        <p:spPr>
          <a:xfrm>
            <a:off x="975360" y="5800000"/>
            <a:ext cx="9965841" cy="400000"/>
          </a:xfrm>
          <a:prstGeom prst="rect">
            <a:avLst/>
          </a:prstGeom>
          <a:noFill/>
        </p:spPr>
        <p:txBody>
          <a:bodyPr wrap="square" lIns="0" rIns="0" tIns="0" bIns="0">
            <a:spAutoFit/>
          </a:bodyPr>
          <a:lstStyle/>
          <a:p>
            <a:r>
              <a:rPr sz="1800" b="1">
                <a:solidFill>
                  <a:srgbClr val="DEDEDE"/>
                </a:solidFill>
                <a:latin typeface="Arial"/>
              </a:rPr>
              <a:t>Homework, practice exam, </a:t>
            </a:r>
            <a:r>
              <a:rPr sz="1800" b="1">
                <a:solidFill>
                  <a:srgbClr val="4DA6FF"/>
                </a:solidFill>
                <a:latin typeface="Arial"/>
              </a:rPr>
              <a:t>surprise exam</a:t>
            </a:r>
            <a:r>
              <a:rPr sz="1800" b="1">
                <a:solidFill>
                  <a:srgbClr val="DEDEDE"/>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Demo 6 - Release Check">
    <p:spTree>
      <p:nvGrpSpPr>
        <p:cNvPr id="1" name=""/>
        <p:cNvGrpSpPr/>
        <p:nvPr/>
      </p:nvGrpSpPr>
      <p:grpSpPr>
        <a:xfrm>
          <a:off x="0" y="0"/>
          <a:ext cx="0" cy="0"/>
          <a:chOff x="0" y="0"/>
          <a:chExt cx="0" cy="0"/>
        </a:xfrm>
      </p:grpSpPr>
      <p:sp>
        <p:nvSpPr>
          <p:cNvPr id="2" name="static:0:text"/>
          <p:cNvSpPr/>
          <p:nvPr/>
        </p:nvSpPr>
        <p:spPr>
          <a:xfrm>
            <a:off x="975360" y="2343626"/>
            <a:ext cx="814626" cy="190500"/>
          </a:xfrm>
          <a:prstGeom prst="rect">
            <a:avLst/>
          </a:prstGeom>
          <a:noFill/>
          <a:ln/>
        </p:spPr>
        <p:txBody>
          <a:bodyPr wrap="none" lIns="0" tIns="0" rIns="0" bIns="0" rtlCol="0" anchor="ctr"/>
          <a:lstStyle/>
          <a:p>
            <a:pPr marL="0" indent="0" algn="l">
              <a:buNone/>
            </a:pPr>
            <a:r>
              <a:rPr lang="en-US" sz="1200" b="1" kern="0" spc="180" dirty="0">
                <a:solidFill>
                  <a:srgbClr val="4DA6FF"/>
                </a:solidFill>
                <a:latin typeface="Arial" pitchFamily="34" charset="0"/>
                <a:ea typeface="Arial" pitchFamily="34" charset="-122"/>
                <a:cs typeface="Arial" pitchFamily="34" charset="-120"/>
              </a:rPr>
              <a:t>DEMO 6</a:t>
            </a:r>
            <a:endParaRPr lang="en-US" sz="1200" dirty="0"/>
          </a:p>
        </p:txBody>
      </p:sp>
      <p:sp>
        <p:nvSpPr>
          <p:cNvPr id="3" name="static:1:text"/>
          <p:cNvSpPr/>
          <p:nvPr/>
        </p:nvSpPr>
        <p:spPr>
          <a:xfrm>
            <a:off x="975360" y="2640806"/>
            <a:ext cx="7000000"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The PR that goes red</a:t>
            </a:r>
            <a:endParaRPr lang="en-US" sz="4080" dirty="0"/>
          </a:p>
        </p:txBody>
      </p:sp>
      <p:sp>
        <p:nvSpPr>
          <p:cNvPr id="4" name="static:2:text"/>
          <p:cNvSpPr/>
          <p:nvPr/>
        </p:nvSpPr>
        <p:spPr>
          <a:xfrm>
            <a:off x="975360" y="3387566"/>
            <a:ext cx="6111835"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Open a pull request with the optimizer’s fact-stuffed candidate</a:t>
            </a:r>
            <a:endParaRPr lang="en-US" sz="1620" dirty="0"/>
          </a:p>
        </p:txBody>
      </p:sp>
      <p:sp>
        <p:nvSpPr>
          <p:cNvPr id="5" name="static:3:text"/>
          <p:cNvSpPr/>
          <p:nvPr/>
        </p:nvSpPr>
        <p:spPr>
          <a:xfrm>
            <a:off x="975360" y="3665220"/>
            <a:ext cx="6111835"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and watch the gate stop it.</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9403" y="6461760"/>
            <a:ext cx="1214438"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16</a:t>
            </a:r>
            <a:endParaRPr lang="en-US" sz="7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From test cases to production">
    <p:spTree>
      <p:nvGrpSpPr>
        <p:cNvPr id="1" name=""/>
        <p:cNvGrpSpPr/>
        <p:nvPr/>
      </p:nvGrpSpPr>
      <p:grpSpPr>
        <a:xfrm>
          <a:off x="0" y="0"/>
          <a:ext cx="0" cy="0"/>
          <a:chOff x="0" y="0"/>
          <a:chExt cx="0" cy="0"/>
        </a:xfrm>
      </p:grpSpPr>
      <p:sp>
        <p:nvSpPr>
          <p:cNvPr id="2" name="static:0:text"/>
          <p:cNvSpPr/>
          <p:nvPr/>
        </p:nvSpPr>
        <p:spPr>
          <a:xfrm>
            <a:off x="2727960" y="870109"/>
            <a:ext cx="2821900" cy="152400"/>
          </a:xfrm>
          <a:prstGeom prst="rect">
            <a:avLst/>
          </a:prstGeom>
          <a:noFill/>
          <a:ln/>
        </p:spPr>
        <p:txBody>
          <a:bodyPr wrap="none" lIns="0" tIns="0" rIns="0" bIns="0" rtlCol="0" anchor="ctr"/>
          <a:lstStyle/>
          <a:p>
            <a:pPr marL="0" indent="0" algn="l">
              <a:buNone/>
            </a:pPr>
            <a:r>
              <a:rPr lang="en-US" sz="960" b="1" kern="0" spc="154" dirty="0">
                <a:solidFill>
                  <a:srgbClr val="4DA6FF"/>
                </a:solidFill>
                <a:latin typeface="Arial" pitchFamily="34" charset="0"/>
                <a:ea typeface="Arial" pitchFamily="34" charset="-122"/>
                <a:cs typeface="Arial" pitchFamily="34" charset="-120"/>
              </a:rPr>
              <a:t>AFTER RELEASE</a:t>
            </a:r>
            <a:endParaRPr lang="en-US" sz="960" dirty="0"/>
          </a:p>
        </p:txBody>
      </p:sp>
      <p:sp>
        <p:nvSpPr>
          <p:cNvPr id="3" name="static:1:text"/>
          <p:cNvSpPr/>
          <p:nvPr/>
        </p:nvSpPr>
        <p:spPr>
          <a:xfrm>
            <a:off x="975360" y="1068229"/>
            <a:ext cx="4356473"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Production feeds the tests</a:t>
            </a:r>
            <a:endParaRPr lang="en-US" sz="2640" dirty="0"/>
          </a:p>
        </p:txBody>
      </p:sp>
      <p:grpSp>
        <p:nvGrpSpPr>
          <p:cNvPr id="52" name="Reveal 1"/>
          <p:cNvGrpSpPr/>
          <p:nvPr/>
        </p:nvGrpSpPr>
        <p:grpSpPr>
          <a:xfrm>
            <a:off x="975360" y="1868329"/>
            <a:ext cx="3220641" cy="3791902"/>
            <a:chOff x="975360" y="1868329"/>
            <a:chExt cx="3220641" cy="3791902"/>
          </a:xfrm>
        </p:grpSpPr>
        <p:sp>
          <p:nvSpPr>
            <p:cNvPr id="53"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4" name="reveal-1:2:shape:border-0"/>
            <p:cNvSpPr/>
            <p:nvPr/>
          </p:nvSpPr>
          <p:spPr>
            <a:xfrm>
              <a:off x="1066800" y="1883569"/>
              <a:ext cx="3037761" cy="0"/>
            </a:xfrm>
            <a:prstGeom prst="line">
              <a:avLst/>
            </a:prstGeom>
            <a:noFill/>
            <a:ln w="30480">
              <a:solidFill>
                <a:srgbClr val="4DA6FF"/>
              </a:solidFill>
              <a:prstDash val="solid"/>
              <a:headEnd type="none"/>
              <a:tailEnd type="none"/>
            </a:ln>
          </p:spPr>
          <p:txBody>
            <a:bodyPr/>
            <a:lstStyle/>
            <a:p>
              <a:endParaRPr lang="en-US"/>
            </a:p>
          </p:txBody>
        </p:sp>
        <p:sp>
          <p:nvSpPr>
            <p:cNvPr id="55"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56" name="reveal-1:4:text"/>
            <p:cNvSpPr/>
            <p:nvPr/>
          </p:nvSpPr>
          <p:spPr>
            <a:xfrm>
              <a:off x="1181100"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4DA6FF"/>
                  </a:solidFill>
                  <a:latin typeface="Arial" pitchFamily="34" charset="0"/>
                  <a:ea typeface="Arial" pitchFamily="34" charset="-122"/>
                  <a:cs typeface="Arial" pitchFamily="34" charset="-120"/>
                </a:rPr>
                <a:t>1</a:t>
              </a:r>
              <a:endParaRPr lang="en-US" sz="1200" dirty="0"/>
            </a:p>
          </p:txBody>
        </p:sp>
        <p:sp>
          <p:nvSpPr>
            <p:cNvPr id="57" name="reveal-1:5:text"/>
            <p:cNvSpPr/>
            <p:nvPr/>
          </p:nvSpPr>
          <p:spPr>
            <a:xfrm>
              <a:off x="1181100" y="2698909"/>
              <a:ext cx="2809161" cy="266700"/>
            </a:xfrm>
            <a:prstGeom prst="rect">
              <a:avLst/>
            </a:prstGeom>
            <a:noFill/>
            <a:ln/>
          </p:spPr>
          <p:txBody>
            <a:bodyPr wrap="squar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Sample traces</a:t>
              </a:r>
              <a:endParaRPr lang="en-US" sz="1680" dirty="0"/>
            </a:p>
          </p:txBody>
        </p:sp>
        <p:sp>
          <p:nvSpPr>
            <p:cNvPr id="58" name="reveal-1:6:text"/>
            <p:cNvSpPr/>
            <p:nvPr/>
          </p:nvSpPr>
          <p:spPr>
            <a:xfrm>
              <a:off x="1181100" y="3047881"/>
              <a:ext cx="2809161" cy="5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Continuous evaluation scores a sample of real conversations.</a:t>
              </a:r>
              <a:endParaRPr lang="en-US" sz="1140" dirty="0"/>
            </a:p>
          </p:txBody>
        </p:sp>
        <p:sp>
          <p:nvSpPr>
            <p:cNvPr id="60" name="reveal-1:8:shape"/>
            <p:cNvSpPr/>
            <p:nvPr/>
          </p:nvSpPr>
          <p:spPr>
            <a:xfrm>
              <a:off x="1181100" y="3652004"/>
              <a:ext cx="2809161"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61" name="reveal-1:9:text"/>
            <p:cNvSpPr/>
            <p:nvPr/>
          </p:nvSpPr>
          <p:spPr>
            <a:xfrm>
              <a:off x="1287780" y="3732004"/>
              <a:ext cx="2595801"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Alert on quality, latency and cost.</a:t>
              </a:r>
              <a:endParaRPr lang="en-US" sz="900" dirty="0"/>
            </a:p>
          </p:txBody>
        </p:sp>
      </p:grpSp>
      <p:grpSp>
        <p:nvGrpSpPr>
          <p:cNvPr id="62" name="Reveal 2"/>
          <p:cNvGrpSpPr/>
          <p:nvPr/>
        </p:nvGrpSpPr>
        <p:grpSpPr>
          <a:xfrm>
            <a:off x="4348401" y="1868329"/>
            <a:ext cx="3220641" cy="3791902"/>
            <a:chOff x="4348401" y="1868329"/>
            <a:chExt cx="3220641" cy="3791902"/>
          </a:xfrm>
        </p:grpSpPr>
        <p:sp>
          <p:nvSpPr>
            <p:cNvPr id="63" name="reveal-1:2:shape"/>
            <p:cNvSpPr/>
            <p:nvPr/>
          </p:nvSpPr>
          <p:spPr>
            <a:xfrm>
              <a:off x="4348401"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64" name="reveal-1:2:shape:border-0"/>
            <p:cNvSpPr/>
            <p:nvPr/>
          </p:nvSpPr>
          <p:spPr>
            <a:xfrm>
              <a:off x="4439841"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65" name="reveal-1:3:shape"/>
            <p:cNvSpPr/>
            <p:nvPr/>
          </p:nvSpPr>
          <p:spPr>
            <a:xfrm>
              <a:off x="4554141"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66" name="reveal-1:4:text"/>
            <p:cNvSpPr/>
            <p:nvPr/>
          </p:nvSpPr>
          <p:spPr>
            <a:xfrm>
              <a:off x="4554141"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FBBF24"/>
                  </a:solidFill>
                  <a:latin typeface="Arial" pitchFamily="34" charset="0"/>
                  <a:ea typeface="Arial" pitchFamily="34" charset="-122"/>
                  <a:cs typeface="Arial" pitchFamily="34" charset="-120"/>
                </a:rPr>
                <a:t>2</a:t>
              </a:r>
              <a:endParaRPr lang="en-US" sz="1200" dirty="0"/>
            </a:p>
          </p:txBody>
        </p:sp>
        <p:sp>
          <p:nvSpPr>
            <p:cNvPr id="67" name="reveal-1:5:text"/>
            <p:cNvSpPr/>
            <p:nvPr/>
          </p:nvSpPr>
          <p:spPr>
            <a:xfrm>
              <a:off x="4554141" y="2698909"/>
              <a:ext cx="2809161" cy="266700"/>
            </a:xfrm>
            <a:prstGeom prst="rect">
              <a:avLst/>
            </a:prstGeom>
            <a:noFill/>
            <a:ln/>
          </p:spPr>
          <p:txBody>
            <a:bodyPr wrap="squar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Keep the failures</a:t>
              </a:r>
              <a:endParaRPr lang="en-US" sz="1680" dirty="0"/>
            </a:p>
          </p:txBody>
        </p:sp>
        <p:sp>
          <p:nvSpPr>
            <p:cNvPr id="68" name="reveal-1:6:text"/>
            <p:cNvSpPr/>
            <p:nvPr/>
          </p:nvSpPr>
          <p:spPr>
            <a:xfrm>
              <a:off x="4554141" y="3047881"/>
              <a:ext cx="2809161" cy="5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Turn interesting failures into new, reviewed test rows.</a:t>
              </a:r>
              <a:endParaRPr lang="en-US" sz="1140" dirty="0"/>
            </a:p>
          </p:txBody>
        </p:sp>
        <p:sp>
          <p:nvSpPr>
            <p:cNvPr id="70" name="reveal-1:8:shape"/>
            <p:cNvSpPr/>
            <p:nvPr/>
          </p:nvSpPr>
          <p:spPr>
            <a:xfrm>
              <a:off x="4554141" y="3652004"/>
              <a:ext cx="2809161"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71" name="reveal-1:9:text"/>
            <p:cNvSpPr/>
            <p:nvPr/>
          </p:nvSpPr>
          <p:spPr>
            <a:xfrm>
              <a:off x="4660821" y="3732004"/>
              <a:ext cx="2595801"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Redact personal data first.</a:t>
              </a:r>
              <a:endParaRPr lang="en-US" sz="900" dirty="0"/>
            </a:p>
          </p:txBody>
        </p:sp>
      </p:grpSp>
      <p:grpSp>
        <p:nvGrpSpPr>
          <p:cNvPr id="72" name="Reveal 3"/>
          <p:cNvGrpSpPr/>
          <p:nvPr/>
        </p:nvGrpSpPr>
        <p:grpSpPr>
          <a:xfrm>
            <a:off x="7721442" y="1868329"/>
            <a:ext cx="3220641" cy="3791902"/>
            <a:chOff x="7721442" y="1868329"/>
            <a:chExt cx="3220641" cy="3791902"/>
          </a:xfrm>
        </p:grpSpPr>
        <p:sp>
          <p:nvSpPr>
            <p:cNvPr id="73" name="reveal-1:2:shape"/>
            <p:cNvSpPr/>
            <p:nvPr/>
          </p:nvSpPr>
          <p:spPr>
            <a:xfrm>
              <a:off x="7721442"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74" name="reveal-1:2:shape:border-0"/>
            <p:cNvSpPr/>
            <p:nvPr/>
          </p:nvSpPr>
          <p:spPr>
            <a:xfrm>
              <a:off x="7812882"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75" name="reveal-1:3:shape"/>
            <p:cNvSpPr/>
            <p:nvPr/>
          </p:nvSpPr>
          <p:spPr>
            <a:xfrm>
              <a:off x="7927182"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76" name="reveal-1:4:text"/>
            <p:cNvSpPr/>
            <p:nvPr/>
          </p:nvSpPr>
          <p:spPr>
            <a:xfrm>
              <a:off x="7927182"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4ADE80"/>
                  </a:solidFill>
                  <a:latin typeface="Arial" pitchFamily="34" charset="0"/>
                  <a:ea typeface="Arial" pitchFamily="34" charset="-122"/>
                  <a:cs typeface="Arial" pitchFamily="34" charset="-120"/>
                </a:rPr>
                <a:t>3</a:t>
              </a:r>
              <a:endParaRPr lang="en-US" sz="1200" dirty="0"/>
            </a:p>
          </p:txBody>
        </p:sp>
        <p:sp>
          <p:nvSpPr>
            <p:cNvPr id="77" name="reveal-1:5:text"/>
            <p:cNvSpPr/>
            <p:nvPr/>
          </p:nvSpPr>
          <p:spPr>
            <a:xfrm>
              <a:off x="7927182" y="2698909"/>
              <a:ext cx="2809161" cy="266700"/>
            </a:xfrm>
            <a:prstGeom prst="rect">
              <a:avLst/>
            </a:prstGeom>
            <a:noFill/>
            <a:ln/>
          </p:spPr>
          <p:txBody>
            <a:bodyPr wrap="squar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Same gate</a:t>
              </a:r>
              <a:endParaRPr lang="en-US" sz="1680" dirty="0"/>
            </a:p>
          </p:txBody>
        </p:sp>
        <p:sp>
          <p:nvSpPr>
            <p:cNvPr id="78" name="reveal-1:6:text"/>
            <p:cNvSpPr/>
            <p:nvPr/>
          </p:nvSpPr>
          <p:spPr>
            <a:xfrm>
              <a:off x="7927182" y="3047881"/>
              <a:ext cx="2809161" cy="5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The next change, human or optimizer, runs against them.</a:t>
              </a:r>
              <a:endParaRPr lang="en-US" sz="1140" dirty="0"/>
            </a:p>
          </p:txBody>
        </p:sp>
        <p:sp>
          <p:nvSpPr>
            <p:cNvPr id="80" name="reveal-1:8:shape"/>
            <p:cNvSpPr/>
            <p:nvPr/>
          </p:nvSpPr>
          <p:spPr>
            <a:xfrm>
              <a:off x="7927182" y="3652004"/>
              <a:ext cx="2809161"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81" name="reveal-1:9:text"/>
            <p:cNvSpPr/>
            <p:nvPr/>
          </p:nvSpPr>
          <p:spPr>
            <a:xfrm>
              <a:off x="8033862" y="3732004"/>
              <a:ext cx="2595801"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Every production failure becomes a test.</a:t>
              </a:r>
              <a:endParaRPr lang="en-US" sz="900" dirty="0"/>
            </a:p>
          </p:txBody>
        </p:sp>
      </p:grpSp>
      <p:sp>
        <p:nvSpPr>
          <p:cNvPr id="50" name="static:47: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51" name="static:48:text"/>
          <p:cNvSpPr/>
          <p:nvPr/>
        </p:nvSpPr>
        <p:spPr>
          <a:xfrm>
            <a:off x="10457736" y="6461760"/>
            <a:ext cx="1216104"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17</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Worth exploring next">
    <p:spTree>
      <p:nvGrpSpPr>
        <p:cNvPr id="1" name=""/>
        <p:cNvGrpSpPr/>
        <p:nvPr/>
      </p:nvGrpSpPr>
      <p:grpSpPr>
        <a:xfrm>
          <a:off x="0" y="0"/>
          <a:ext cx="0" cy="0"/>
          <a:chOff x="0" y="0"/>
          <a:chExt cx="0" cy="0"/>
        </a:xfrm>
      </p:grpSpPr>
      <p:sp>
        <p:nvSpPr>
          <p:cNvPr id="2" name="static:0:text"/>
          <p:cNvSpPr/>
          <p:nvPr/>
        </p:nvSpPr>
        <p:spPr>
          <a:xfrm>
            <a:off x="2727960" y="870109"/>
            <a:ext cx="2479715" cy="152400"/>
          </a:xfrm>
          <a:prstGeom prst="rect">
            <a:avLst/>
          </a:prstGeom>
          <a:noFill/>
          <a:ln/>
        </p:spPr>
        <p:txBody>
          <a:bodyPr wrap="none" lIns="0" tIns="0" rIns="0" bIns="0" rtlCol="0" anchor="ctr"/>
          <a:lstStyle/>
          <a:p>
            <a:pPr marL="0" indent="0" algn="l">
              <a:buNone/>
            </a:pPr>
            <a:r>
              <a:rPr lang="en-US" sz="960" b="1" kern="0" spc="154" dirty="0">
                <a:solidFill>
                  <a:srgbClr val="4DA6FF"/>
                </a:solidFill>
                <a:latin typeface="Arial" pitchFamily="34" charset="0"/>
                <a:ea typeface="Arial" pitchFamily="34" charset="-122"/>
                <a:cs typeface="Arial" pitchFamily="34" charset="-120"/>
              </a:rPr>
              <a:t>MORE IN MICROSOFT FOUNDRY</a:t>
            </a:r>
            <a:endParaRPr lang="en-US" sz="960" dirty="0"/>
          </a:p>
        </p:txBody>
      </p:sp>
      <p:sp>
        <p:nvSpPr>
          <p:cNvPr id="3" name="static:1:text"/>
          <p:cNvSpPr/>
          <p:nvPr/>
        </p:nvSpPr>
        <p:spPr>
          <a:xfrm>
            <a:off x="975360" y="1068229"/>
            <a:ext cx="3094530"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Worth exploring next</a:t>
            </a:r>
            <a:endParaRPr lang="en-US" sz="2640" dirty="0"/>
          </a:p>
        </p:txBody>
      </p:sp>
      <p:sp>
        <p:nvSpPr>
          <p:cNvPr id="4" name="static:2:text"/>
          <p:cNvSpPr/>
          <p:nvPr/>
        </p:nvSpPr>
        <p:spPr>
          <a:xfrm>
            <a:off x="975360" y="2251234"/>
            <a:ext cx="348377"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01</a:t>
            </a:r>
            <a:endParaRPr lang="en-US" sz="1680" dirty="0"/>
          </a:p>
        </p:txBody>
      </p:sp>
      <p:sp>
        <p:nvSpPr>
          <p:cNvPr id="5" name="static:3:text"/>
          <p:cNvSpPr/>
          <p:nvPr/>
        </p:nvSpPr>
        <p:spPr>
          <a:xfrm>
            <a:off x="975360" y="2578894"/>
            <a:ext cx="1962507"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Human Annotation</a:t>
            </a:r>
            <a:endParaRPr lang="en-US" sz="1680" dirty="0"/>
          </a:p>
        </p:txBody>
      </p:sp>
      <p:sp>
        <p:nvSpPr>
          <p:cNvPr id="6" name="static:4:text"/>
          <p:cNvSpPr/>
          <p:nvPr/>
        </p:nvSpPr>
        <p:spPr>
          <a:xfrm>
            <a:off x="975360" y="2912626"/>
            <a:ext cx="2510076"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Bring domain experts into evaluation</a:t>
            </a:r>
            <a:endParaRPr lang="en-US" sz="1200" dirty="0"/>
          </a:p>
        </p:txBody>
      </p:sp>
      <p:sp>
        <p:nvSpPr>
          <p:cNvPr id="7" name="static:5:text"/>
          <p:cNvSpPr/>
          <p:nvPr/>
        </p:nvSpPr>
        <p:spPr>
          <a:xfrm>
            <a:off x="4256961" y="2251234"/>
            <a:ext cx="374690" cy="266700"/>
          </a:xfrm>
          <a:prstGeom prst="rect">
            <a:avLst/>
          </a:prstGeom>
          <a:noFill/>
          <a:ln/>
        </p:spPr>
        <p:txBody>
          <a:bodyPr wrap="none" lIns="0" tIns="0" rIns="0" bIns="0" rtlCol="0" anchor="ctr"/>
          <a:lstStyle/>
          <a:p>
            <a:pPr marL="0" indent="0" algn="l">
              <a:buNone/>
            </a:pPr>
            <a:r>
              <a:rPr lang="en-US" sz="1680" b="1" dirty="0">
                <a:solidFill>
                  <a:srgbClr val="FD8EA1"/>
                </a:solidFill>
                <a:latin typeface="Arial" pitchFamily="34" charset="0"/>
                <a:ea typeface="Arial" pitchFamily="34" charset="-122"/>
                <a:cs typeface="Arial" pitchFamily="34" charset="-120"/>
              </a:rPr>
              <a:t>02</a:t>
            </a:r>
            <a:endParaRPr lang="en-US" sz="1680" dirty="0"/>
          </a:p>
        </p:txBody>
      </p:sp>
      <p:sp>
        <p:nvSpPr>
          <p:cNvPr id="8" name="static:6:text"/>
          <p:cNvSpPr/>
          <p:nvPr/>
        </p:nvSpPr>
        <p:spPr>
          <a:xfrm>
            <a:off x="4256961" y="2578894"/>
            <a:ext cx="2031682"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Synthetic Test Data</a:t>
            </a:r>
            <a:endParaRPr lang="en-US" sz="1680" dirty="0"/>
          </a:p>
        </p:txBody>
      </p:sp>
      <p:sp>
        <p:nvSpPr>
          <p:cNvPr id="9" name="static:7:text"/>
          <p:cNvSpPr/>
          <p:nvPr/>
        </p:nvSpPr>
        <p:spPr>
          <a:xfrm>
            <a:off x="4256961" y="2912626"/>
            <a:ext cx="1836182"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Expand the cases you test</a:t>
            </a:r>
            <a:endParaRPr lang="en-US" sz="1200" dirty="0"/>
          </a:p>
        </p:txBody>
      </p:sp>
      <p:sp>
        <p:nvSpPr>
          <p:cNvPr id="10" name="static:8:text"/>
          <p:cNvSpPr/>
          <p:nvPr/>
        </p:nvSpPr>
        <p:spPr>
          <a:xfrm>
            <a:off x="7538680" y="2251234"/>
            <a:ext cx="380881"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03</a:t>
            </a:r>
            <a:endParaRPr lang="en-US" sz="1680" dirty="0"/>
          </a:p>
        </p:txBody>
      </p:sp>
      <p:sp>
        <p:nvSpPr>
          <p:cNvPr id="11" name="static:9:text"/>
          <p:cNvSpPr/>
          <p:nvPr/>
        </p:nvSpPr>
        <p:spPr>
          <a:xfrm>
            <a:off x="7538680" y="2578894"/>
            <a:ext cx="1626156"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AI Red Teaming</a:t>
            </a:r>
            <a:endParaRPr lang="en-US" sz="1680" dirty="0"/>
          </a:p>
        </p:txBody>
      </p:sp>
      <p:sp>
        <p:nvSpPr>
          <p:cNvPr id="12" name="static:10:text"/>
          <p:cNvSpPr/>
          <p:nvPr/>
        </p:nvSpPr>
        <p:spPr>
          <a:xfrm>
            <a:off x="7538680" y="2912626"/>
            <a:ext cx="1828681"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Test adversarial behaviour</a:t>
            </a:r>
            <a:endParaRPr lang="en-US" sz="1200" dirty="0"/>
          </a:p>
        </p:txBody>
      </p:sp>
      <p:sp>
        <p:nvSpPr>
          <p:cNvPr id="13" name="static:11:text"/>
          <p:cNvSpPr/>
          <p:nvPr/>
        </p:nvSpPr>
        <p:spPr>
          <a:xfrm>
            <a:off x="975360" y="3622834"/>
            <a:ext cx="385286"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04</a:t>
            </a:r>
            <a:endParaRPr lang="en-US" sz="1680" dirty="0"/>
          </a:p>
        </p:txBody>
      </p:sp>
      <p:sp>
        <p:nvSpPr>
          <p:cNvPr id="14" name="static:12:text"/>
          <p:cNvSpPr/>
          <p:nvPr/>
        </p:nvSpPr>
        <p:spPr>
          <a:xfrm>
            <a:off x="975360" y="3950494"/>
            <a:ext cx="1121212"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Guardrails</a:t>
            </a:r>
            <a:endParaRPr lang="en-US" sz="1680" dirty="0"/>
          </a:p>
        </p:txBody>
      </p:sp>
      <p:sp>
        <p:nvSpPr>
          <p:cNvPr id="15" name="static:13:text"/>
          <p:cNvSpPr/>
          <p:nvPr/>
        </p:nvSpPr>
        <p:spPr>
          <a:xfrm>
            <a:off x="975360" y="4284226"/>
            <a:ext cx="2325291"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Protect inputs and tool responses</a:t>
            </a:r>
            <a:endParaRPr lang="en-US" sz="1200" dirty="0"/>
          </a:p>
        </p:txBody>
      </p:sp>
      <p:sp>
        <p:nvSpPr>
          <p:cNvPr id="16" name="static:14:text"/>
          <p:cNvSpPr/>
          <p:nvPr/>
        </p:nvSpPr>
        <p:spPr>
          <a:xfrm>
            <a:off x="4256961" y="3622834"/>
            <a:ext cx="378619" cy="266700"/>
          </a:xfrm>
          <a:prstGeom prst="rect">
            <a:avLst/>
          </a:prstGeom>
          <a:noFill/>
          <a:ln/>
        </p:spPr>
        <p:txBody>
          <a:bodyPr wrap="none" lIns="0" tIns="0" rIns="0" bIns="0" rtlCol="0" anchor="ctr"/>
          <a:lstStyle/>
          <a:p>
            <a:pPr marL="0" indent="0" algn="l">
              <a:buNone/>
            </a:pPr>
            <a:r>
              <a:rPr lang="en-US" sz="1680" b="1" dirty="0">
                <a:solidFill>
                  <a:srgbClr val="F87171"/>
                </a:solidFill>
                <a:latin typeface="Arial" pitchFamily="34" charset="0"/>
                <a:ea typeface="Arial" pitchFamily="34" charset="-122"/>
                <a:cs typeface="Arial" pitchFamily="34" charset="-120"/>
              </a:rPr>
              <a:t>05</a:t>
            </a:r>
            <a:endParaRPr lang="en-US" sz="1680" dirty="0"/>
          </a:p>
        </p:txBody>
      </p:sp>
      <p:sp>
        <p:nvSpPr>
          <p:cNvPr id="17" name="static:15:text"/>
          <p:cNvSpPr/>
          <p:nvPr/>
        </p:nvSpPr>
        <p:spPr>
          <a:xfrm>
            <a:off x="4256961" y="3950494"/>
            <a:ext cx="2318385"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Identity &amp; Permissions</a:t>
            </a:r>
            <a:endParaRPr lang="en-US" sz="1680" dirty="0"/>
          </a:p>
        </p:txBody>
      </p:sp>
      <p:sp>
        <p:nvSpPr>
          <p:cNvPr id="18" name="static:16:text"/>
          <p:cNvSpPr/>
          <p:nvPr/>
        </p:nvSpPr>
        <p:spPr>
          <a:xfrm>
            <a:off x="4256961" y="4284226"/>
            <a:ext cx="2229922"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Limit what the agent can access</a:t>
            </a:r>
            <a:endParaRPr lang="en-US" sz="1200" dirty="0"/>
          </a:p>
        </p:txBody>
      </p:sp>
      <p:sp>
        <p:nvSpPr>
          <p:cNvPr id="19" name="static:17:text"/>
          <p:cNvSpPr/>
          <p:nvPr/>
        </p:nvSpPr>
        <p:spPr>
          <a:xfrm>
            <a:off x="7538680" y="3622834"/>
            <a:ext cx="385405"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06</a:t>
            </a:r>
            <a:endParaRPr lang="en-US" sz="1680" dirty="0"/>
          </a:p>
        </p:txBody>
      </p:sp>
      <p:sp>
        <p:nvSpPr>
          <p:cNvPr id="20" name="static:18:text"/>
          <p:cNvSpPr/>
          <p:nvPr/>
        </p:nvSpPr>
        <p:spPr>
          <a:xfrm>
            <a:off x="7538680" y="3950494"/>
            <a:ext cx="1861423"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Human Approvals</a:t>
            </a:r>
            <a:endParaRPr lang="en-US" sz="1680" dirty="0"/>
          </a:p>
        </p:txBody>
      </p:sp>
      <p:sp>
        <p:nvSpPr>
          <p:cNvPr id="21" name="static:19:text"/>
          <p:cNvSpPr/>
          <p:nvPr/>
        </p:nvSpPr>
        <p:spPr>
          <a:xfrm>
            <a:off x="7538680" y="4284226"/>
            <a:ext cx="2269450"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Keep people in control of actions</a:t>
            </a:r>
            <a:endParaRPr lang="en-US" sz="1200" dirty="0"/>
          </a:p>
        </p:txBody>
      </p:sp>
      <p:sp>
        <p:nvSpPr>
          <p:cNvPr id="22" name="static:20: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23" name="static:21:text"/>
          <p:cNvSpPr/>
          <p:nvPr/>
        </p:nvSpPr>
        <p:spPr>
          <a:xfrm>
            <a:off x="10463927" y="6461760"/>
            <a:ext cx="1209913"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18</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Build measure improve repeat">
    <p:spTree>
      <p:nvGrpSpPr>
        <p:cNvPr id="1" name=""/>
        <p:cNvGrpSpPr/>
        <p:nvPr/>
      </p:nvGrpSpPr>
      <p:grpSpPr>
        <a:xfrm>
          <a:off x="0" y="0"/>
          <a:ext cx="0" cy="0"/>
          <a:chOff x="0" y="0"/>
          <a:chExt cx="0" cy="0"/>
        </a:xfrm>
      </p:grpSpPr>
      <p:sp>
        <p:nvSpPr>
          <p:cNvPr id="2" name="static:0:text"/>
          <p:cNvSpPr/>
          <p:nvPr/>
        </p:nvSpPr>
        <p:spPr>
          <a:xfrm>
            <a:off x="975360" y="2343626"/>
            <a:ext cx="496133" cy="190500"/>
          </a:xfrm>
          <a:prstGeom prst="rect">
            <a:avLst/>
          </a:prstGeom>
          <a:noFill/>
          <a:ln/>
        </p:spPr>
        <p:txBody>
          <a:bodyPr wrap="none" lIns="0" tIns="0" rIns="0" bIns="0" rtlCol="0" anchor="ctr"/>
          <a:lstStyle/>
          <a:p>
            <a:pPr marL="0" indent="0" algn="l">
              <a:buNone/>
            </a:pPr>
            <a:r>
              <a:rPr lang="en-US" sz="1200" b="1" kern="0" spc="180" dirty="0">
                <a:solidFill>
                  <a:srgbClr val="4DA6FF"/>
                </a:solidFill>
                <a:latin typeface="Arial" pitchFamily="34" charset="0"/>
                <a:ea typeface="Arial" pitchFamily="34" charset="-122"/>
                <a:cs typeface="Arial" pitchFamily="34" charset="-120"/>
              </a:rPr>
              <a:t>Q&amp;A</a:t>
            </a:r>
            <a:endParaRPr lang="en-US" sz="1200" dirty="0"/>
          </a:p>
        </p:txBody>
      </p:sp>
      <p:sp>
        <p:nvSpPr>
          <p:cNvPr id="3" name="static:1:text"/>
          <p:cNvSpPr/>
          <p:nvPr/>
        </p:nvSpPr>
        <p:spPr>
          <a:xfrm>
            <a:off x="975360" y="2640806"/>
            <a:ext cx="8494705"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Build → Measure → Improve → Repeat</a:t>
            </a:r>
            <a:endParaRPr lang="en-US" sz="4080" dirty="0"/>
          </a:p>
        </p:txBody>
      </p:sp>
      <p:sp>
        <p:nvSpPr>
          <p:cNvPr id="4" name="static:2:text"/>
          <p:cNvSpPr/>
          <p:nvPr/>
        </p:nvSpPr>
        <p:spPr>
          <a:xfrm>
            <a:off x="975360" y="3387566"/>
            <a:ext cx="5526524"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One working agent. Consistent answers. Measured trade-offs.</a:t>
            </a:r>
            <a:endParaRPr lang="en-US" sz="1620" dirty="0"/>
          </a:p>
        </p:txBody>
      </p:sp>
      <p:sp>
        <p:nvSpPr>
          <p:cNvPr id="5" name="static:3:text"/>
          <p:cNvSpPr/>
          <p:nvPr/>
        </p:nvSpPr>
        <p:spPr>
          <a:xfrm>
            <a:off x="975360" y="3665220"/>
            <a:ext cx="2498288"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Repeatable release checks.</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7617" y="6461760"/>
            <a:ext cx="1216223"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19</a:t>
            </a:r>
            <a:endParaRPr lang="en-US" sz="72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0:text"/>
          <p:cNvSpPr/>
          <p:nvPr/>
        </p:nvSpPr>
        <p:spPr>
          <a:xfrm>
            <a:off x="2727960" y="870109"/>
            <a:ext cx="2995255" cy="152400"/>
          </a:xfrm>
          <a:prstGeom prst="rect">
            <a:avLst/>
          </a:prstGeom>
          <a:noFill/>
          <a:ln/>
        </p:spPr>
        <p:txBody>
          <a:bodyPr wrap="none" lIns="0" tIns="0" rIns="0" bIns="0" rtlCol="0" anchor="ctr"/>
          <a:lstStyle/>
          <a:p>
            <a:pPr marL="0" indent="0" algn="l">
              <a:buNone/>
            </a:pPr>
            <a:r>
              <a:rPr lang="en-US" sz="960" b="1" kern="0" spc="154" dirty="0">
                <a:solidFill>
                  <a:srgbClr val="4DA6FF"/>
                </a:solidFill>
                <a:latin typeface="Arial" pitchFamily="34" charset="0"/>
                <a:ea typeface="Arial" pitchFamily="34" charset="-122"/>
                <a:cs typeface="Arial" pitchFamily="34" charset="-120"/>
              </a:rPr>
              <a:t>RELEASE GATES FOR AGENTS</a:t>
            </a:r>
            <a:endParaRPr lang="en-US" sz="960" dirty="0"/>
          </a:p>
        </p:txBody>
      </p:sp>
      <p:sp>
        <p:nvSpPr>
          <p:cNvPr id="3" name="static:1:text"/>
          <p:cNvSpPr/>
          <p:nvPr/>
        </p:nvSpPr>
        <p:spPr>
          <a:xfrm>
            <a:off x="975360" y="1068229"/>
            <a:ext cx="6000000"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What the gate checks</a:t>
            </a:r>
            <a:endParaRPr lang="en-US" sz="2640" dirty="0"/>
          </a:p>
        </p:txBody>
      </p:sp>
      <p:grpSp>
        <p:nvGrpSpPr>
          <p:cNvPr id="35" name="Reveal 1"/>
          <p:cNvGrpSpPr/>
          <p:nvPr/>
        </p:nvGrpSpPr>
        <p:grpSpPr>
          <a:xfrm>
            <a:off x="975360" y="1868329"/>
            <a:ext cx="2377160" cy="3791902"/>
            <a:chOff x="975360" y="1868329"/>
            <a:chExt cx="2377160" cy="3791902"/>
          </a:xfrm>
        </p:grpSpPr>
        <p:sp>
          <p:nvSpPr>
            <p:cNvPr id="4" name="reveal-1:2:shape"/>
            <p:cNvSpPr/>
            <p:nvPr/>
          </p:nvSpPr>
          <p:spPr>
            <a:xfrm>
              <a:off x="975360" y="1868329"/>
              <a:ext cx="2377160"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2194280" cy="0"/>
            </a:xfrm>
            <a:prstGeom prst="line">
              <a:avLst/>
            </a:prstGeom>
            <a:noFill/>
            <a:ln w="30480">
              <a:solidFill>
                <a:srgbClr val="4DA6FF"/>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7" name="reveal-1:4:text"/>
            <p:cNvSpPr/>
            <p:nvPr/>
          </p:nvSpPr>
          <p:spPr>
            <a:xfrm>
              <a:off x="1181100"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4DA6FF"/>
                  </a:solidFill>
                  <a:latin typeface="Arial" pitchFamily="34" charset="0"/>
                  <a:ea typeface="Arial" pitchFamily="34" charset="-122"/>
                  <a:cs typeface="Arial" pitchFamily="34" charset="-120"/>
                </a:rPr>
                <a:t>1</a:t>
              </a:r>
              <a:endParaRPr lang="en-US" sz="1200" dirty="0"/>
            </a:p>
          </p:txBody>
        </p:sp>
        <p:sp>
          <p:nvSpPr>
            <p:cNvPr id="8" name="reveal-1:5:text"/>
            <p:cNvSpPr/>
            <p:nvPr/>
          </p:nvSpPr>
          <p:spPr>
            <a:xfrm>
              <a:off x="1181100" y="2698909"/>
              <a:ext cx="1965680" cy="266700"/>
            </a:xfrm>
            <a:prstGeom prst="rect">
              <a:avLst/>
            </a:prstGeom>
            <a:noFill/>
            <a:ln/>
          </p:spPr>
          <p:txBody>
            <a:bodyPr wrap="square" lIns="0" tIns="0" rIns="0" bIns="0" rtlCol="0" anchor="ctr"/>
            <a:lstStyle/>
            <a:p>
              <a:pPr marL="0" indent="0" algn="l">
                <a:buNone/>
              </a:pPr>
              <a:r>
                <a:rPr lang="en-US" sz="1440" b="1" dirty="0">
                  <a:solidFill>
                    <a:srgbClr val="4DA6FF"/>
                  </a:solidFill>
                  <a:latin typeface="Arial" pitchFamily="34" charset="0"/>
                  <a:ea typeface="Arial" pitchFamily="34" charset="-122"/>
                  <a:cs typeface="Arial" pitchFamily="34" charset="-120"/>
                </a:rPr>
                <a:t>Facts in the prompt</a:t>
              </a:r>
              <a:endParaRPr lang="en-US" sz="1440" dirty="0"/>
            </a:p>
          </p:txBody>
        </p:sp>
        <p:sp>
          <p:nvSpPr>
            <p:cNvPr id="9" name="reveal-1:6:text"/>
            <p:cNvSpPr/>
            <p:nvPr/>
          </p:nvSpPr>
          <p:spPr>
            <a:xfrm>
              <a:off x="1181100" y="3047881"/>
              <a:ext cx="1965680" cy="7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Did the candidate copy amounts, dates or names into its instructions?</a:t>
              </a:r>
              <a:endParaRPr lang="en-US" sz="1140" dirty="0"/>
            </a:p>
          </p:txBody>
        </p:sp>
        <p:sp>
          <p:nvSpPr>
            <p:cNvPr id="11" name="reveal-1:8:shape"/>
            <p:cNvSpPr/>
            <p:nvPr/>
          </p:nvSpPr>
          <p:spPr>
            <a:xfrm>
              <a:off x="1181100" y="3852004"/>
              <a:ext cx="1965680" cy="78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932004"/>
              <a:ext cx="1752320" cy="62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Seconds. No LLM needed.</a:t>
              </a:r>
              <a:endParaRPr lang="en-US" sz="900" dirty="0"/>
            </a:p>
          </p:txBody>
        </p:sp>
      </p:grpSp>
      <p:grpSp>
        <p:nvGrpSpPr>
          <p:cNvPr id="36" name="Reveal 2"/>
          <p:cNvGrpSpPr/>
          <p:nvPr/>
        </p:nvGrpSpPr>
        <p:grpSpPr>
          <a:xfrm>
            <a:off x="3504920" y="1868329"/>
            <a:ext cx="2377160" cy="3791902"/>
            <a:chOff x="3504920" y="1868329"/>
            <a:chExt cx="2377160" cy="3791902"/>
          </a:xfrm>
        </p:grpSpPr>
        <p:sp>
          <p:nvSpPr>
            <p:cNvPr id="13" name="reveal-2:10:shape"/>
            <p:cNvSpPr/>
            <p:nvPr/>
          </p:nvSpPr>
          <p:spPr>
            <a:xfrm>
              <a:off x="3504920" y="1868329"/>
              <a:ext cx="23771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4" name="reveal-2:10:shape:border-0"/>
            <p:cNvSpPr/>
            <p:nvPr/>
          </p:nvSpPr>
          <p:spPr>
            <a:xfrm>
              <a:off x="3596360" y="1883569"/>
              <a:ext cx="2194280" cy="0"/>
            </a:xfrm>
            <a:prstGeom prst="line">
              <a:avLst/>
            </a:prstGeom>
            <a:noFill/>
            <a:ln w="30480">
              <a:solidFill>
                <a:srgbClr val="4ADE80"/>
              </a:solidFill>
              <a:prstDash val="solid"/>
              <a:headEnd type="none"/>
              <a:tailEnd type="none"/>
            </a:ln>
          </p:spPr>
          <p:txBody>
            <a:bodyPr/>
            <a:lstStyle/>
            <a:p>
              <a:endParaRPr lang="en-US"/>
            </a:p>
          </p:txBody>
        </p:sp>
        <p:sp>
          <p:nvSpPr>
            <p:cNvPr id="15" name="reveal-2:11:shape"/>
            <p:cNvSpPr/>
            <p:nvPr/>
          </p:nvSpPr>
          <p:spPr>
            <a:xfrm>
              <a:off x="3710660"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16" name="reveal-2:12:text"/>
            <p:cNvSpPr/>
            <p:nvPr/>
          </p:nvSpPr>
          <p:spPr>
            <a:xfrm>
              <a:off x="3710660"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4ADE80"/>
                  </a:solidFill>
                  <a:latin typeface="Arial" pitchFamily="34" charset="0"/>
                  <a:ea typeface="Arial" pitchFamily="34" charset="-122"/>
                  <a:cs typeface="Arial" pitchFamily="34" charset="-120"/>
                </a:rPr>
                <a:t>2</a:t>
              </a:r>
              <a:endParaRPr lang="en-US" sz="1200" dirty="0"/>
            </a:p>
          </p:txBody>
        </p:sp>
        <p:sp>
          <p:nvSpPr>
            <p:cNvPr id="17" name="reveal-2:13:text"/>
            <p:cNvSpPr/>
            <p:nvPr/>
          </p:nvSpPr>
          <p:spPr>
            <a:xfrm>
              <a:off x="3710660" y="2698909"/>
              <a:ext cx="1965680" cy="266700"/>
            </a:xfrm>
            <a:prstGeom prst="rect">
              <a:avLst/>
            </a:prstGeom>
            <a:noFill/>
            <a:ln/>
          </p:spPr>
          <p:txBody>
            <a:bodyPr wrap="square" lIns="0" tIns="0" rIns="0" bIns="0" rtlCol="0" anchor="ctr"/>
            <a:lstStyle/>
            <a:p>
              <a:pPr marL="0" indent="0" algn="l">
                <a:buNone/>
              </a:pPr>
              <a:r>
                <a:rPr lang="en-US" sz="1440" b="1" dirty="0">
                  <a:solidFill>
                    <a:srgbClr val="4ADE80"/>
                  </a:solidFill>
                  <a:latin typeface="Arial" pitchFamily="34" charset="0"/>
                  <a:ea typeface="Arial" pitchFamily="34" charset="-122"/>
                  <a:cs typeface="Arial" pitchFamily="34" charset="-120"/>
                </a:rPr>
                <a:t>Change vs baseline</a:t>
              </a:r>
              <a:endParaRPr lang="en-US" sz="1440" dirty="0"/>
            </a:p>
          </p:txBody>
        </p:sp>
        <p:sp>
          <p:nvSpPr>
            <p:cNvPr id="18" name="reveal-2:14:text"/>
            <p:cNvSpPr/>
            <p:nvPr/>
          </p:nvSpPr>
          <p:spPr>
            <a:xfrm>
              <a:off x="3710660" y="3047881"/>
              <a:ext cx="1965680" cy="7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Fail on a drop bigger than the noise, not below a fixed number.</a:t>
              </a:r>
              <a:endParaRPr lang="en-US" sz="1140" dirty="0"/>
            </a:p>
          </p:txBody>
        </p:sp>
        <p:sp>
          <p:nvSpPr>
            <p:cNvPr id="20" name="reveal-2:16:shape"/>
            <p:cNvSpPr/>
            <p:nvPr/>
          </p:nvSpPr>
          <p:spPr>
            <a:xfrm>
              <a:off x="3710660" y="3852004"/>
              <a:ext cx="1965680" cy="78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1" name="reveal-2:17:text"/>
            <p:cNvSpPr/>
            <p:nvPr/>
          </p:nvSpPr>
          <p:spPr>
            <a:xfrm>
              <a:off x="3817340" y="3932004"/>
              <a:ext cx="1752320" cy="62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Foundry treats changes under 0.03 as noise.</a:t>
              </a:r>
              <a:endParaRPr lang="en-US" sz="900" dirty="0"/>
            </a:p>
          </p:txBody>
        </p:sp>
      </p:grpSp>
      <p:grpSp>
        <p:nvGrpSpPr>
          <p:cNvPr id="37" name="Reveal 3"/>
          <p:cNvGrpSpPr/>
          <p:nvPr/>
        </p:nvGrpSpPr>
        <p:grpSpPr>
          <a:xfrm>
            <a:off x="6034480" y="1868329"/>
            <a:ext cx="2377160" cy="3791902"/>
            <a:chOff x="6034480" y="1868329"/>
            <a:chExt cx="2377160" cy="3791902"/>
          </a:xfrm>
        </p:grpSpPr>
        <p:sp>
          <p:nvSpPr>
            <p:cNvPr id="23" name="reveal-3:19:shape"/>
            <p:cNvSpPr/>
            <p:nvPr/>
          </p:nvSpPr>
          <p:spPr>
            <a:xfrm>
              <a:off x="6034480" y="1868329"/>
              <a:ext cx="2377160"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4" name="reveal-3:19:shape:border-0"/>
            <p:cNvSpPr/>
            <p:nvPr/>
          </p:nvSpPr>
          <p:spPr>
            <a:xfrm>
              <a:off x="6125920" y="1883569"/>
              <a:ext cx="2194280" cy="0"/>
            </a:xfrm>
            <a:prstGeom prst="line">
              <a:avLst/>
            </a:prstGeom>
            <a:noFill/>
            <a:ln w="30480">
              <a:solidFill>
                <a:srgbClr val="FBBF24"/>
              </a:solidFill>
              <a:prstDash val="solid"/>
              <a:headEnd type="none"/>
              <a:tailEnd type="none"/>
            </a:ln>
          </p:spPr>
          <p:txBody>
            <a:bodyPr/>
            <a:lstStyle/>
            <a:p>
              <a:endParaRPr lang="en-US"/>
            </a:p>
          </p:txBody>
        </p:sp>
        <p:sp>
          <p:nvSpPr>
            <p:cNvPr id="25" name="reveal-3:20:shape"/>
            <p:cNvSpPr/>
            <p:nvPr/>
          </p:nvSpPr>
          <p:spPr>
            <a:xfrm>
              <a:off x="6240220"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26" name="reveal-3:21:text"/>
            <p:cNvSpPr/>
            <p:nvPr/>
          </p:nvSpPr>
          <p:spPr>
            <a:xfrm>
              <a:off x="6240220"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FBBF24"/>
                  </a:solidFill>
                  <a:latin typeface="Arial" pitchFamily="34" charset="0"/>
                  <a:ea typeface="Arial" pitchFamily="34" charset="-122"/>
                  <a:cs typeface="Arial" pitchFamily="34" charset="-120"/>
                </a:rPr>
                <a:t>3</a:t>
              </a:r>
              <a:endParaRPr lang="en-US" sz="1200" dirty="0"/>
            </a:p>
          </p:txBody>
        </p:sp>
        <p:sp>
          <p:nvSpPr>
            <p:cNvPr id="27" name="reveal-3:22:text"/>
            <p:cNvSpPr/>
            <p:nvPr/>
          </p:nvSpPr>
          <p:spPr>
            <a:xfrm>
              <a:off x="6240220" y="2698909"/>
              <a:ext cx="1965680" cy="266700"/>
            </a:xfrm>
            <a:prstGeom prst="rect">
              <a:avLst/>
            </a:prstGeom>
            <a:noFill/>
            <a:ln/>
          </p:spPr>
          <p:txBody>
            <a:bodyPr wrap="square" lIns="0" tIns="0" rIns="0" bIns="0" rtlCol="0" anchor="ctr"/>
            <a:lstStyle/>
            <a:p>
              <a:pPr marL="0" indent="0" algn="l">
                <a:buNone/>
              </a:pPr>
              <a:r>
                <a:rPr lang="en-US" sz="1440" b="1" dirty="0">
                  <a:solidFill>
                    <a:srgbClr val="FBBF24"/>
                  </a:solidFill>
                  <a:latin typeface="Arial" pitchFamily="34" charset="0"/>
                  <a:ea typeface="Arial" pitchFamily="34" charset="-122"/>
                  <a:cs typeface="Arial" pitchFamily="34" charset="-120"/>
                </a:rPr>
                <a:t>Must-pass cases</a:t>
              </a:r>
              <a:endParaRPr lang="en-US" sz="1440" dirty="0"/>
            </a:p>
          </p:txBody>
        </p:sp>
        <p:sp>
          <p:nvSpPr>
            <p:cNvPr id="28" name="reveal-3:23:text"/>
            <p:cNvSpPr/>
            <p:nvPr/>
          </p:nvSpPr>
          <p:spPr>
            <a:xfrm>
              <a:off x="6240220" y="3047881"/>
              <a:ext cx="1965680" cy="7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Wrong approver, or obeying an email, blocks the release whatever the average.</a:t>
              </a:r>
              <a:endParaRPr lang="en-US" sz="1140" dirty="0"/>
            </a:p>
          </p:txBody>
        </p:sp>
        <p:sp>
          <p:nvSpPr>
            <p:cNvPr id="30" name="reveal-3:25:shape"/>
            <p:cNvSpPr/>
            <p:nvPr/>
          </p:nvSpPr>
          <p:spPr>
            <a:xfrm>
              <a:off x="6240220" y="3852004"/>
              <a:ext cx="1965680" cy="78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31" name="reveal-3:26:text"/>
            <p:cNvSpPr/>
            <p:nvPr/>
          </p:nvSpPr>
          <p:spPr>
            <a:xfrm>
              <a:off x="6346900" y="3932004"/>
              <a:ext cx="1752320" cy="62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Averages hide the failures that matter.</a:t>
              </a:r>
              <a:endParaRPr lang="en-US" sz="900" dirty="0"/>
            </a:p>
          </p:txBody>
        </p:sp>
      </p:grpSp>
      <p:grpSp>
        <p:nvGrpSpPr>
          <p:cNvPr id="38" name="Reveal 4"/>
          <p:cNvGrpSpPr/>
          <p:nvPr/>
        </p:nvGrpSpPr>
        <p:grpSpPr>
          <a:xfrm>
            <a:off x="8564040" y="1868329"/>
            <a:ext cx="2377160" cy="3791902"/>
            <a:chOff x="8564040" y="1868329"/>
            <a:chExt cx="2377160" cy="3791902"/>
          </a:xfrm>
        </p:grpSpPr>
        <p:sp>
          <p:nvSpPr>
            <p:cNvPr id="39" name="reveal-1:2:shape"/>
            <p:cNvSpPr/>
            <p:nvPr/>
          </p:nvSpPr>
          <p:spPr>
            <a:xfrm>
              <a:off x="8564040" y="1868329"/>
              <a:ext cx="2377160"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40" name="reveal-1:2:shape:border-0"/>
            <p:cNvSpPr/>
            <p:nvPr/>
          </p:nvSpPr>
          <p:spPr>
            <a:xfrm>
              <a:off x="8655480" y="1883569"/>
              <a:ext cx="2194280" cy="0"/>
            </a:xfrm>
            <a:prstGeom prst="line">
              <a:avLst/>
            </a:prstGeom>
            <a:noFill/>
            <a:ln w="30480">
              <a:solidFill>
                <a:srgbClr val="B88CFF"/>
              </a:solidFill>
              <a:prstDash val="solid"/>
              <a:headEnd type="none"/>
              <a:tailEnd type="none"/>
            </a:ln>
          </p:spPr>
          <p:txBody>
            <a:bodyPr/>
            <a:lstStyle/>
            <a:p>
              <a:endParaRPr lang="en-US"/>
            </a:p>
          </p:txBody>
        </p:sp>
        <p:sp>
          <p:nvSpPr>
            <p:cNvPr id="41" name="reveal-1:3:shape"/>
            <p:cNvSpPr/>
            <p:nvPr/>
          </p:nvSpPr>
          <p:spPr>
            <a:xfrm>
              <a:off x="8769780" y="2096929"/>
              <a:ext cx="411480" cy="411480"/>
            </a:xfrm>
            <a:prstGeom prst="roundRect">
              <a:avLst>
                <a:gd name="adj" fmla="val 25926"/>
              </a:avLst>
            </a:prstGeom>
            <a:solidFill>
              <a:srgbClr val="000000">
                <a:alpha val="0"/>
              </a:srgbClr>
            </a:solidFill>
            <a:ln w="15240">
              <a:solidFill>
                <a:srgbClr val="B88CFF"/>
              </a:solidFill>
              <a:prstDash val="solid"/>
            </a:ln>
          </p:spPr>
          <p:txBody>
            <a:bodyPr/>
            <a:lstStyle/>
            <a:p>
              <a:endParaRPr lang="en-US"/>
            </a:p>
          </p:txBody>
        </p:sp>
        <p:sp>
          <p:nvSpPr>
            <p:cNvPr id="42" name="reveal-1:4:text"/>
            <p:cNvSpPr/>
            <p:nvPr/>
          </p:nvSpPr>
          <p:spPr>
            <a:xfrm>
              <a:off x="8769780"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B88CFF"/>
                  </a:solidFill>
                  <a:latin typeface="Arial" pitchFamily="34" charset="0"/>
                  <a:ea typeface="Arial" pitchFamily="34" charset="-122"/>
                  <a:cs typeface="Arial" pitchFamily="34" charset="-120"/>
                </a:rPr>
                <a:t>4</a:t>
              </a:r>
              <a:endParaRPr lang="en-US" sz="1200" dirty="0"/>
            </a:p>
          </p:txBody>
        </p:sp>
        <p:sp>
          <p:nvSpPr>
            <p:cNvPr id="43" name="reveal-1:5:text"/>
            <p:cNvSpPr/>
            <p:nvPr/>
          </p:nvSpPr>
          <p:spPr>
            <a:xfrm>
              <a:off x="8769780" y="2698909"/>
              <a:ext cx="1965680" cy="266700"/>
            </a:xfrm>
            <a:prstGeom prst="rect">
              <a:avLst/>
            </a:prstGeom>
            <a:noFill/>
            <a:ln/>
          </p:spPr>
          <p:txBody>
            <a:bodyPr wrap="square" lIns="0" tIns="0" rIns="0" bIns="0" rtlCol="0" anchor="ctr"/>
            <a:lstStyle/>
            <a:p>
              <a:pPr marL="0" indent="0" algn="l">
                <a:buNone/>
              </a:pPr>
              <a:r>
                <a:rPr lang="en-US" sz="1440" b="1" dirty="0">
                  <a:solidFill>
                    <a:srgbClr val="B88CFF"/>
                  </a:solidFill>
                  <a:latin typeface="Arial" pitchFamily="34" charset="0"/>
                  <a:ea typeface="Arial" pitchFamily="34" charset="-122"/>
                  <a:cs typeface="Arial" pitchFamily="34" charset="-120"/>
                </a:rPr>
                <a:t>Pinned together</a:t>
              </a:r>
              <a:endParaRPr lang="en-US" sz="1440" dirty="0"/>
            </a:p>
          </p:txBody>
        </p:sp>
        <p:sp>
          <p:nvSpPr>
            <p:cNvPr id="44" name="reveal-1:6:text"/>
            <p:cNvSpPr/>
            <p:nvPr/>
          </p:nvSpPr>
          <p:spPr>
            <a:xfrm>
              <a:off x="8769780" y="3047881"/>
              <a:ext cx="1965680" cy="7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Prompt, tool descriptions, model and dataset version.</a:t>
              </a:r>
              <a:endParaRPr lang="en-US" sz="1140" dirty="0"/>
            </a:p>
          </p:txBody>
        </p:sp>
        <p:sp>
          <p:nvSpPr>
            <p:cNvPr id="46" name="reveal-1:8:shape"/>
            <p:cNvSpPr/>
            <p:nvPr/>
          </p:nvSpPr>
          <p:spPr>
            <a:xfrm>
              <a:off x="8769780" y="3852004"/>
              <a:ext cx="1965680"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47" name="reveal-1:9:text"/>
            <p:cNvSpPr/>
            <p:nvPr/>
          </p:nvSpPr>
          <p:spPr>
            <a:xfrm>
              <a:off x="8876460" y="3932004"/>
              <a:ext cx="1752320"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A score is only comparable if all four are recorded.</a:t>
              </a:r>
              <a:endParaRPr lang="en-US" sz="900" dirty="0"/>
            </a:p>
          </p:txBody>
        </p:sp>
      </p:grpSp>
      <p:sp>
        <p:nvSpPr>
          <p:cNvPr id="33" name="static:28: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4" name="static:29:text"/>
          <p:cNvSpPr/>
          <p:nvPr/>
        </p:nvSpPr>
        <p:spPr>
          <a:xfrm>
            <a:off x="10457140" y="6461760"/>
            <a:ext cx="121670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15</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efa4170-0d19-0005-0004-bc88714345d2}" enabled="1" method="Standard" siteId="{4b5f3023-3641-4fd5-9aa3-170596dd4367}" contentBits="0" removed="0"/>
</clbl:labelList>
</file>

<file path=docProps/app.xml><?xml version="1.0" encoding="utf-8"?>
<Properties xmlns="http://schemas.openxmlformats.org/officeDocument/2006/extended-properties" xmlns:vt="http://schemas.openxmlformats.org/officeDocument/2006/docPropsVTypes">
  <TotalTime>381</TotalTime>
  <Words>4091</Words>
  <Application>Microsoft Macintosh PowerPoint</Application>
  <PresentationFormat>Widescreen</PresentationFormat>
  <Paragraphs>298</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 to Production</dc:title>
  <dc:subject>AI Genius S6 E2 - From Prompt to Production</dc:subject>
  <dc:creator>Graeme Foster</dc:creator>
  <cp:lastModifiedBy>Graeme Foster</cp:lastModifiedBy>
  <cp:revision>3</cp:revision>
  <dcterms:created xsi:type="dcterms:W3CDTF">2026-09-24T03:46:03Z</dcterms:created>
  <dcterms:modified xsi:type="dcterms:W3CDTF">2026-10-09T07:57:39Z</dcterms:modified>
</cp:coreProperties>
</file>