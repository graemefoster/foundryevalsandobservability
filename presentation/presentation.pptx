
<file path=[Content_Types].xml><?xml version="1.0" encoding="utf-8"?>
<Types xmlns="http://schemas.openxmlformats.org/package/2006/content-types">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svg" ContentType="image/svg+xml"/>
  <Override PartName="/ppt/media/image2.jpg" ContentType="image/jpg"/>
  <Override PartName="/ppt/media/image3.jpg" ContentType="image/jpg"/>
  <Override PartName="/ppt/media/image4.jpg" ContentType="image/jpg"/>
  <Override PartName="/ppt/media/image5.jpg" ContentType="image/jpg"/>
  <Override PartName="/ppt/media/image6.jpg" ContentType="image/jpg"/>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67"/>
    <p:restoredTop sz="94610"/>
  </p:normalViewPr>
  <p:slideViewPr>
    <p:cSldViewPr snapToGrid="0" snapToObjects="1">
      <p:cViewPr>
        <p:scale>
          <a:sx n="156" d="100"/>
          <a:sy n="156" d="100"/>
        </p:scale>
        <p:origin x="2048"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Prompt to Production</a:t>
            </a:r>
          </a:p>
          <a:p/>
          <a:p>
            <a:r>
              <a:t>Suggested timing: 1 minutes</a:t>
            </a:r>
          </a:p>
          <a:p/>
          <a:p>
            <a:r>
              <a:t>KEY MESSAGE</a:t>
            </a:r>
          </a:p>
          <a:p>
            <a:r>
              <a:t>Microsoft Foundry connects model choice, context, evaluation, optimisation and delivery.</a:t>
            </a:r>
          </a:p>
          <a:p/>
          <a:p>
            <a:r>
              <a:t>DEFINITION</a:t>
            </a:r>
          </a:p>
          <a:p>
            <a:r>
              <a:t>An agent combines a model, instructions, tools and context to work towards a goal.</a:t>
            </a:r>
          </a:p>
          <a:p/>
          <a:p>
            <a:r>
              <a:t>TALK TRACK</a:t>
            </a:r>
          </a:p>
          <a:p>
            <a:r>
              <a:t>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a:t>
            </a:r>
          </a:p>
          <a:p/>
          <a:p>
            <a:r>
              <a:t>TRANSITION</a:t>
            </a:r>
          </a:p>
          <a:p>
            <a:r>
              <a:t>Preview the agenda, starting with model choice.</a:t>
            </a:r>
          </a:p>
          <a:p/>
          <a:p>
            <a:r>
              <a:t>SOURCES</a:t>
            </a:r>
          </a:p>
          <a:p>
            <a:r>
              <a:t>Session framing.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Agenda</a:t>
            </a:r>
          </a:p>
          <a:p/>
          <a:p>
            <a:r>
              <a:t>Suggested timing: 1 minutes</a:t>
            </a:r>
          </a:p>
          <a:p/>
          <a:p>
            <a:r>
              <a:t>KEY MESSAGE</a:t>
            </a:r>
          </a:p>
          <a:p>
            <a:r>
              <a:t>Model Choice, Grounding, Observe, Evaluate, Optimise, Automate.</a:t>
            </a:r>
          </a:p>
          <a:p/>
          <a:p>
            <a:r>
              <a:t>DEFINITION</a:t>
            </a:r>
          </a:p>
          <a:p>
            <a:r>
              <a:t>These are the six topics we will cover, in presentation order.</a:t>
            </a:r>
          </a:p>
          <a:p/>
          <a:p>
            <a:r>
              <a:t>TALK TRACK</a:t>
            </a:r>
          </a:p>
          <a:p>
            <a:r>
              <a:t>Introduce the six topics and their corresponding stage folders. One shared agent implementation runs throughout; each stage records configuration, actions and evidence. Observe and Evaluate add visibility and measurement without requiring a different agent.</a:t>
            </a:r>
          </a:p>
          <a:p/>
          <a:p>
            <a:r>
              <a:t>TRANSITION</a:t>
            </a:r>
          </a:p>
          <a:p>
            <a:r>
              <a:t>First, meet the agent we'll use throughout the session.</a:t>
            </a:r>
          </a:p>
          <a:p/>
          <a:p>
            <a:r>
              <a:t>SOURCES</a:t>
            </a:r>
          </a:p>
          <a:p>
            <a:r>
              <a:t>Session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Meet the agent</a:t>
            </a:r>
          </a:p>
          <a:p/>
          <a:p>
            <a:r>
              <a:t>Suggested timing: 1 minutes</a:t>
            </a:r>
          </a:p>
          <a:p/>
          <a:p>
            <a:r>
              <a:t>KEY MESSAGE</a:t>
            </a:r>
          </a:p>
          <a:p>
            <a:r>
              <a:t>One purchasing advice agent and one question connect the demonstrations.</a:t>
            </a:r>
          </a:p>
          <a:p/>
          <a:p>
            <a:r>
              <a:t>DEFINITION</a:t>
            </a:r>
          </a:p>
          <a:p>
            <a:r>
              <a:t>The agent helps employees interpret purchasing guidance and identify the approvals they need.</a:t>
            </a:r>
          </a:p>
          <a:p/>
          <a:p>
            <a:r>
              <a:t>TALK TRACK</a:t>
            </a:r>
          </a:p>
          <a:p>
            <a:r>
              <a:t>Introduce the team lead and read the dinner question. Leave alcohol out on purpose: the agent should ask about it. The agent advises on purchasing; the employee follows the approval process. This one question carries the whole session: policy (Foundry IQ), who can approve today (Work IQ), and budget (Fabric IQ). Later we expand to different dates, purchase types and incomplete requests when evaluating consistency.</a:t>
            </a:r>
          </a:p>
          <a:p/>
          <a:p>
            <a:r>
              <a:t>TRANSITION</a:t>
            </a:r>
          </a:p>
          <a:p>
            <a:r>
              <a:t>The first choice is normally which model to use.</a:t>
            </a:r>
          </a:p>
          <a:p/>
          <a:p>
            <a:r>
              <a:t>SOURCES</a:t>
            </a:r>
          </a:p>
          <a:p>
            <a:r>
              <a:t>Team dinner scenario (fictional).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Choice</a:t>
            </a:r>
          </a:p>
          <a:p/>
          <a:p>
            <a:r>
              <a:t>Suggested timing: 2 minutes</a:t>
            </a:r>
          </a:p>
          <a:p/>
          <a:p>
            <a:r>
              <a:t>KEY MESSAGE</a:t>
            </a:r>
          </a:p>
          <a:p>
            <a:r>
              <a:t>The first choice is normally which model to use.</a:t>
            </a:r>
          </a:p>
          <a:p/>
          <a:p>
            <a:r>
              <a:t>DEFINITION</a:t>
            </a:r>
          </a:p>
          <a:p>
            <a:r>
              <a:t>Quality, speed and cost are different priorities when choosing a model.</a:t>
            </a:r>
          </a:p>
          <a:p/>
          <a:p>
            <a:r>
              <a:t>TALK TRACK</a:t>
            </a:r>
          </a:p>
          <a:p>
            <a:r>
              <a:t>Model 1 handles complex reasoning, at higher cost and with slower responses. Model 2 prioritises speed but is less capable on complex tasks. Model 3 keeps high-volume work inexpensive but is less suited to nuanced requests. Compare the trade-offs in Foundry, then revisit the starting choice with task-specific evaluations.</a:t>
            </a:r>
          </a:p>
          <a:p/>
          <a:p>
            <a:r>
              <a:t>TRANSITION</a:t>
            </a:r>
          </a:p>
          <a:p>
            <a:r>
              <a:t>Open the Foundry portal to compare real models and see where Model Router fits.</a:t>
            </a:r>
          </a:p>
          <a:p/>
          <a:p>
            <a:r>
              <a:t>SOURCES</a:t>
            </a:r>
          </a:p>
          <a:p>
            <a:r>
              <a:t>Session framing.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1 - Foundry Model Comparison</a:t>
            </a:r>
          </a:p>
          <a:p/>
          <a:p>
            <a:r>
              <a:t>Suggested timing: 3 minutes</a:t>
            </a:r>
          </a:p>
          <a:p/>
          <a:p>
            <a:r>
              <a:t>KEY MESSAGE</a:t>
            </a:r>
          </a:p>
          <a:p>
            <a:r>
              <a:t>The first model choice is a hypothesis.</a:t>
            </a:r>
          </a:p>
          <a:p/>
          <a:p>
            <a:r>
              <a:t>DEFINITION</a:t>
            </a:r>
          </a:p>
          <a:p>
            <a:r>
              <a:t>A starting configuration is an engineering choice that must later be tested against the real business task.</a:t>
            </a:r>
          </a:p>
          <a:p/>
          <a:p>
            <a:r>
              <a:t>TALK TRACK</a:t>
            </a:r>
          </a:p>
          <a:p>
            <a:r>
              <a:t>Compare a small fixed-model shortlist and Model Router in Foundry. Record the starting model or routing configuration and explain the choice. Keep later baseline comparisons tied to that exact configuration.</a:t>
            </a:r>
          </a:p>
          <a:p/>
          <a:p>
            <a:r>
              <a:t>DEMO CHECKPOINT</a:t>
            </a:r>
          </a:p>
          <a:p>
            <a:r>
              <a:t>01-model-choice: save the starting model/configuration and portal comparison evidence. The stage playbook records prerequisites, commands, portal steps and the reset procedure.</a:t>
            </a:r>
          </a:p>
          <a:p/>
          <a:p>
            <a:r>
              <a:t>TRANSITION</a:t>
            </a:r>
          </a:p>
          <a:p>
            <a:r>
              <a:t>Now give the starting agent the organisational context it needs.</a:t>
            </a:r>
          </a:p>
          <a:p/>
          <a:p>
            <a:r>
              <a:t>SOURCES</a:t>
            </a:r>
          </a:p>
          <a:p>
            <a:r>
              <a:t>Microsoft Foundry model catalog and Model Router demonstration.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Grounding</a:t>
            </a:r>
          </a:p>
          <a:p/>
          <a:p>
            <a:r>
              <a:t>Suggested timing: 3 minutes</a:t>
            </a:r>
          </a:p>
          <a:p/>
          <a:p>
            <a:r>
              <a:t>KEY MESSAGE</a:t>
            </a:r>
          </a:p>
          <a:p>
            <a:r>
              <a:t>Different sources provide different kinds of organisational context.</a:t>
            </a:r>
          </a:p>
          <a:p/>
          <a:p>
            <a:r>
              <a:t>DEFINITION</a:t>
            </a:r>
          </a:p>
          <a:p>
            <a:r>
              <a:t>Foundry IQ provides institutional knowledge, Fabric IQ provides governed business entities and state, and Work IQ provides workplace context.</a:t>
            </a:r>
          </a:p>
          <a:p/>
          <a:p>
            <a:r>
              <a:t>TALK TRACK</a:t>
            </a:r>
          </a:p>
          <a:p>
            <a:r>
              <a:t>Return to the purchasing question and explain the three source types: institutional documents, business records and workplace conversations. Open tools.py: each IQ is a tool shaped like the real MCP tool. Foundry IQ is knowledge_base_retrieve over policies, Work IQ is ask over people, roles, leave, recorded delegations and messages, and Fabric IQ is search_ontology returning one fixed budget. Line to land: policy tells you who must approve; Work IQ tells you who that is today. Tim, the Hospitality Lead, is on leave; the Approvals Register records Priya as his delegate. A chat message or an email can tell you who to contact, but never transfers approval authority. Real IQs are LLM-backed agents with generic tool descriptions; domain guidance lives in the knowledge base or ontology. Ours are deterministic local stand-ins, so none is a real IQ connection.</a:t>
            </a:r>
          </a:p>
          <a:p/>
          <a:p>
            <a:r>
              <a:t>TRANSITION</a:t>
            </a:r>
          </a:p>
          <a:p>
            <a:r>
              <a:t>Let's ask the agent and explore the context available to it.</a:t>
            </a:r>
          </a:p>
          <a:p/>
          <a:p>
            <a:r>
              <a:t>SOURCES</a:t>
            </a:r>
          </a:p>
          <a:p>
            <a:r>
              <a:t>Microsoft IQ concepts and fictional scenario.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2 - Run the Starting Agent</a:t>
            </a:r>
          </a:p>
          <a:p/>
          <a:p>
            <a:r>
              <a:t>Suggested timing: 5 minutes</a:t>
            </a:r>
          </a:p>
          <a:p/>
          <a:p>
            <a:r>
              <a:t>KEY MESSAGE</a:t>
            </a:r>
          </a:p>
          <a:p>
            <a:r>
              <a:t>Establish the working baseline and preserve its evidence.</a:t>
            </a:r>
          </a:p>
          <a:p/>
          <a:p>
            <a:r>
              <a:t>DEFINITION</a:t>
            </a:r>
          </a:p>
          <a:p>
            <a:r>
              <a:t>Instructions define the task and boundaries; tool descriptions explain when a source is useful and what it returns.</a:t>
            </a:r>
          </a:p>
          <a:p/>
          <a:p>
            <a:r>
              <a:t>TALK TRACK</a:t>
            </a:r>
          </a:p>
          <a:p>
            <a:r>
              <a:t>Ask the dinner question first (playbook command). It should ask about alcohol; reply 'Yes, there will be wine.' Hospitality Lead approval is needed, Tim is on leave, and the Approvals Register records Priya as his delegate: Work IQ doing its job. Then ask the second question: Marcus Webb in Engineering, 21 October, a $6,800 video-conferencing system with two quotes. Expect a confident answer: Samuel is on leave and Leah Fischer holds his delegation, so ask Leah. It used Work IQ, checked leave, found the delegation and cited everything, and it is wrong: above $5,000 the policy needs Category Manager approval, and Marco is away until 2 November with no delegate. It asked Work IQ the wrong question. One question can't tell you how often this happens; that's what evaluation is for.</a:t>
            </a:r>
          </a:p>
          <a:p/>
          <a:p>
            <a:r>
              <a:t>DEMO CHECKPOINT</a:t>
            </a:r>
          </a:p>
          <a:p>
            <a:r>
              <a:t>Rehearse the Marcus question three times. If it ever answers correctly, say so and move on: Demo 4 shows the same failure in a recorded run (Wen Li, $9,300). Screenshot both answers as a backup.</a:t>
            </a:r>
          </a:p>
          <a:p/>
          <a:p>
            <a:r>
              <a:t>TRANSITION</a:t>
            </a:r>
          </a:p>
          <a:p>
            <a:r>
              <a:t>Open the trace to inspect how the answer was produced.</a:t>
            </a:r>
          </a:p>
          <a:p/>
          <a:p>
            <a:r>
              <a:t>SOURCES</a:t>
            </a:r>
          </a:p>
          <a:p>
            <a:r>
              <a:t>Demo implementation to be rehearsed.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Observe</a:t>
            </a:r>
          </a:p>
          <a:p/>
          <a:p>
            <a:r>
              <a:t>Suggested timing: 2 minutes</a:t>
            </a:r>
          </a:p>
          <a:p/>
          <a:p>
            <a:r>
              <a:t>KEY MESSAGE</a:t>
            </a:r>
          </a:p>
          <a:p>
            <a:r>
              <a:t>Inspect the calls, inputs and outputs behind the answer.</a:t>
            </a:r>
          </a:p>
          <a:p/>
          <a:p>
            <a:r>
              <a:t>DEFINITION</a:t>
            </a:r>
          </a:p>
          <a:p>
            <a:r>
              <a:t>A trace records LLM calls, tool calls and timings, with captured prompts and responses.</a:t>
            </a:r>
          </a:p>
          <a:p/>
          <a:p>
            <a:r>
              <a:t>TALK TRACK</a:t>
            </a:r>
          </a:p>
          <a:p>
            <a:r>
              <a:t>Introduce the three things to inspect: call order, inputs and outputs, and duration. Explain how these let us reconstruct a run. Ask what evidence the audience would look for in the trace.</a:t>
            </a:r>
          </a:p>
          <a:p/>
          <a:p>
            <a:r>
              <a:t>TRANSITION</a:t>
            </a:r>
          </a:p>
          <a:p>
            <a:r>
              <a:t>Let's follow the run that produced this answer.</a:t>
            </a:r>
          </a:p>
          <a:p/>
          <a:p>
            <a:r>
              <a:t>SOURCES</a:t>
            </a:r>
          </a:p>
          <a:p>
            <a:r>
              <a:t>Microsoft Foundry observability concepts.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3 - Inspect the Trace</a:t>
            </a:r>
          </a:p>
          <a:p/>
          <a:p>
            <a:r>
              <a:t>Suggested timing: 4 minutes</a:t>
            </a:r>
          </a:p>
          <a:p/>
          <a:p>
            <a:r>
              <a:t>KEY MESSAGE</a:t>
            </a:r>
          </a:p>
          <a:p>
            <a:r>
              <a:t>Understand how the agent produced the answer and where it spent time.</a:t>
            </a:r>
          </a:p>
          <a:p/>
          <a:p>
            <a:r>
              <a:t>DEFINITION</a:t>
            </a:r>
          </a:p>
          <a:p>
            <a:r>
              <a:t>Tool-call inputs and outputs show what was requested and returned.</a:t>
            </a:r>
          </a:p>
          <a:p/>
          <a:p>
            <a:r>
              <a:t>TALK TRACK</a:t>
            </a:r>
          </a:p>
          <a:p>
            <a:r>
              <a:t>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a:t>
            </a:r>
          </a:p>
          <a:p/>
          <a:p>
            <a:r>
              <a:t>DEMO CHECKPOINT</a:t>
            </a:r>
          </a:p>
          <a:p>
            <a:r>
              <a:t>03-observe: save the trace, call sequence and timing evidence. Keep the same agent configuration as stage 02.</a:t>
            </a:r>
          </a:p>
          <a:p/>
          <a:p>
            <a:r>
              <a:t>TRANSITION</a:t>
            </a:r>
          </a:p>
          <a:p>
            <a:r>
              <a:t>We've inspected one run. How consistently does the agent handle other purchasing situations?</a:t>
            </a:r>
          </a:p>
          <a:p/>
          <a:p>
            <a:r>
              <a:t>SOURCES</a:t>
            </a:r>
          </a:p>
          <a:p>
            <a:r>
              <a:t>Microsoft Foundry tracing demonstration.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Evaluate</a:t>
            </a:r>
          </a:p>
          <a:p/>
          <a:p>
            <a:r>
              <a:t>Suggested timing: 3 minutes</a:t>
            </a:r>
          </a:p>
          <a:p/>
          <a:p>
            <a:r>
              <a:t>KEY MESSAGE</a:t>
            </a:r>
          </a:p>
          <a:p>
            <a:r>
              <a:t>Judge the next step first, then the quality of the answer, then task-specific checks.</a:t>
            </a:r>
          </a:p>
          <a:p/>
          <a:p>
            <a:r>
              <a:t>DEFINITION</a:t>
            </a:r>
          </a:p>
          <a:p>
            <a:r>
              <a:t>A judge is an LLM evaluator. Its reason matters as much as its score.</a:t>
            </a:r>
          </a:p>
          <a:p/>
          <a:p>
            <a:r>
              <a:t>TALK TRACK</a:t>
            </a:r>
          </a:p>
          <a:p>
            <a:r>
              <a:t>These are the evaluators we actually run. The next-action judge is a custom prompt evaluator: pass/fail against a reference answer, and its reason starts with what the tools did, for example 'used the line-manager lookup instead of the required higher-level route'. That reason is what the optimizer learns from: Microsoft's own lesson is that the reflector only sees what the evaluator returns. The rubric scores weighted dimensions such as approval route, current approver and citations. Per-question criteria are specific checks, such as 'asks for the total cost first', which the optimizer also uses. Built-in evaluators such as Groundedness exist; we chose task-specific ones because the failure we care about is a wrong approver, not an unsupported claim. The rubric evaluator is in preview.</a:t>
            </a:r>
          </a:p>
          <a:p/>
          <a:p>
            <a:r>
              <a:t>TRANSITION</a:t>
            </a:r>
          </a:p>
          <a:p>
            <a:r>
              <a:t>Let's measure the starting agent against these criteria across purchasing cases.</a:t>
            </a:r>
          </a:p>
          <a:p/>
          <a:p>
            <a:r>
              <a:t>SOURCES</a:t>
            </a:r>
          </a:p>
          <a:p>
            <a:r>
              <a:t>Microsoft Learn: rubric evaluators https://learn.microsoft.com/en-us/azure/foundry/concepts/evaluation-evaluators/rubric-evaluators ; Microsoft Foundry blog: Six lessons for reliable Agent Optimizer gains on harder agents https://techcommunity.microsoft.com/blog/azure-ai-foundry-blog/six-lessons-for-reliable-agent-optimizer-gains-on-harder-agents/4551357</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4 - Evaluate Across Cases</a:t>
            </a:r>
          </a:p>
          <a:p/>
          <a:p>
            <a:r>
              <a:t>Suggested timing: 6 minutes</a:t>
            </a:r>
          </a:p>
          <a:p/>
          <a:p>
            <a:r>
              <a:t>KEY MESSAGE</a:t>
            </a:r>
          </a:p>
          <a:p>
            <a:r>
              <a:t>Measure consistency across cases, not just the opening answer.</a:t>
            </a:r>
          </a:p>
          <a:p/>
          <a:p>
            <a:r>
              <a:t>DEFINITION</a:t>
            </a:r>
          </a:p>
          <a:p>
            <a:r>
              <a:t>Tokens are units of model input and output; response time is the user's end-to-end wait.</a:t>
            </a:r>
          </a:p>
          <a:p/>
          <a:p>
            <a:r>
              <a:t>TALK TRACK</a:t>
            </a:r>
          </a:p>
          <a:p>
            <a:r>
              <a:t>Open the holdout evaluation run in Foundry: 22 questions, with different departments, people and dates from the ones the optimizer trains on. Baseline: 18 of 22. Click Wen Li, $9,300 of laptops: sent to her line manager instead of the Category Manager, the same failure as Marcus. Read the judge's reason. Tell the earlier story briefly: with our first mock search tool the baseline scored 12 of 18; fixing two tools, not the prompt, took it to 18 of 18, so we added harder questions. Two runs of the same agent differ by about one question, so only trust changes of two or more.</a:t>
            </a:r>
          </a:p>
          <a:p/>
          <a:p>
            <a:r>
              <a:t>DEMO CHECKPOINT</a:t>
            </a:r>
          </a:p>
          <a:p>
            <a:r>
              <a:t>Prepared run: the 18/22 holdout evaluation, open in a tab, with Wen Li's row ready. Screenshot it as a backup.</a:t>
            </a:r>
          </a:p>
          <a:p/>
          <a:p>
            <a:r>
              <a:t>TRANSITION</a:t>
            </a:r>
          </a:p>
          <a:p>
            <a:r>
              <a:t>Use these results to set the optimisation goal, then keep the tests fixed.</a:t>
            </a:r>
          </a:p>
          <a:p/>
          <a:p>
            <a:r>
              <a:t>SOURCES</a:t>
            </a:r>
          </a:p>
          <a:p>
            <a:r>
              <a:t>Microsoft Foundry model comparison and evaluation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Optimise</a:t>
            </a:r>
          </a:p>
          <a:p/>
          <a:p>
            <a:r>
              <a:t>Suggested timing: 3 minutes</a:t>
            </a:r>
          </a:p>
          <a:p/>
          <a:p>
            <a:r>
              <a:t>KEY MESSAGE</a:t>
            </a:r>
          </a:p>
          <a:p>
            <a:r>
              <a:t>Compare candidate scores and configuration changes with the baseline.</a:t>
            </a:r>
          </a:p>
          <a:p/>
          <a:p>
            <a:r>
              <a:t>DEFINITION</a:t>
            </a:r>
          </a:p>
          <a:p>
            <a:r>
              <a:t>A baseline is the starting configuration; candidates are alternatives generated and evaluated by Agent Optimizer.</a:t>
            </a:r>
          </a:p>
          <a:p/>
          <a:p>
            <a:r>
              <a:t>TALK TRACK</a:t>
            </a:r>
          </a:p>
          <a:p>
            <a:r>
              <a:t>The optimizer evaluates the baseline, reflects on failed practice questions, proposes a change, tests it on a few training questions, then scores it on the holdout it never trains on. Microsoft's guidance: changes under 0.03 are noise, 0.03 to 0.10 are moderate. Land the takeaway: fix the tools first. The optimizer refines a working agent; it doesn't rescue a broken one. Our first runs started from a broken search tool, and the optimizer learned to memorise its way around it.</a:t>
            </a:r>
          </a:p>
          <a:p/>
          <a:p>
            <a:r>
              <a:t>TRANSITION</a:t>
            </a:r>
          </a:p>
          <a:p>
            <a:r>
              <a:t>Let's open the Optimizer run and compare the candidates.</a:t>
            </a:r>
          </a:p>
          <a:p/>
          <a:p>
            <a:r>
              <a:t>SOURCES</a:t>
            </a:r>
          </a:p>
          <a:p>
            <a:r>
              <a:t>Microsoft Learn: Agent optimizer overview (score interpretation); Microsoft Foundry blog: Six lessons for reliable Agent Optimizer gains on harder agents.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5 - Agent Optimizer</a:t>
            </a:r>
          </a:p>
          <a:p/>
          <a:p>
            <a:r>
              <a:t>Suggested timing: 6 minutes</a:t>
            </a:r>
          </a:p>
          <a:p/>
          <a:p>
            <a:r>
              <a:t>KEY MESSAGE</a:t>
            </a:r>
          </a:p>
          <a:p>
            <a:r>
              <a:t>Inspect the evidence behind the recommended candidate.</a:t>
            </a:r>
          </a:p>
          <a:p/>
          <a:p>
            <a:r>
              <a:t>DEFINITION</a:t>
            </a:r>
          </a:p>
          <a:p>
            <a:r>
              <a:t>The optional validation dataset supplies separate evaluation cases within the optimisation run.</a:t>
            </a:r>
          </a:p>
          <a:p/>
          <a:p>
            <a:r>
              <a:t>TALK TRACK</a:t>
            </a:r>
          </a:p>
          <a:p>
            <a:r>
              <a:t>Open the agent's Optimize tab and the completed run. Best candidate: 0.691 on the holdout, +0.078, a moderate gain. Click View changes and sort what you see into two piles. Rules: answer-first wording, no extra 'confirm the approval is recorded' step, budget kept to one sentence. Copied facts: training names and amounts, some hidden in the tool descriptions where reviewers rarely look: Quentin Blake, 'Grace already approved', $460 printer toner on 27 October. And the rule that mattered, find the role the policy requires before looking up who holds it, isn't there. The score went up; that doesn't mean you ship it.</a:t>
            </a:r>
          </a:p>
          <a:p/>
          <a:p>
            <a:r>
              <a:t>DEMO CHECKPOINT</a:t>
            </a:r>
          </a:p>
          <a:p>
            <a:r>
              <a:t>Prepared run: Optimize tab open on the completed run, with View changes ready on the instructions and on the ask tool description. Screenshot both. The candidate is saved in sample/evaluation/candidates/optimiser-0.691/.</a:t>
            </a:r>
          </a:p>
          <a:p/>
          <a:p>
            <a:r>
              <a:t>TRANSITION</a:t>
            </a:r>
          </a:p>
          <a:p>
            <a:r>
              <a:t>Carry the same evidence into the release process.</a:t>
            </a:r>
          </a:p>
          <a:p/>
          <a:p>
            <a:r>
              <a:t>SOURCES</a:t>
            </a:r>
          </a:p>
          <a:p>
            <a:r>
              <a:t>Microsoft Learn: Optimize agent instructions, skills, tools, and models; Agent optimizer cost and token usage overview. Checked 24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test sets</a:t>
            </a:r>
          </a:p>
          <a:p/>
          <a:p>
            <a:r>
              <a:t>Suggested timing: 2 minutes</a:t>
            </a:r>
          </a:p>
          <a:p/>
          <a:p>
            <a:r>
              <a:t>KEY MESSAGE</a:t>
            </a:r>
          </a:p>
          <a:p>
            <a:r>
              <a:t>Three test sets, three jobs.</a:t>
            </a:r>
          </a:p>
          <a:p/>
          <a:p>
            <a:r>
              <a:t>DEFINITION</a:t>
            </a:r>
          </a:p>
          <a:p>
            <a:r>
              <a:t>Development data trains the optimizer, holdout data validates it, and a drift set is never shown to it.</a:t>
            </a:r>
          </a:p>
          <a:p/>
          <a:p>
            <a:r>
              <a:t>TALK TRACK</a:t>
            </a:r>
          </a:p>
          <a:p>
            <a:r>
              <a:t>Homework, practice exam, surprise exam. The optimizer trains on development and validates on holdout, and we look at both often, so both wear down over time. Our holdout was the same kind of question about the same policies, so a candidate that memorised the policies passed both. The drift set is never shown to the optimizer and its answers change with the date: Tim comes back, Priya's delegation ends, 2027 thresholds start. An agent that looks things up passes; an agent with facts in its prompt confidently gives the old answer.</a:t>
            </a:r>
          </a:p>
          <a:p/>
          <a:p>
            <a:r>
              <a:t>TRANSITION</a:t>
            </a:r>
          </a:p>
          <a:p>
            <a:r>
              <a:t>So what does the gate actually check?</a:t>
            </a:r>
          </a:p>
          <a:p/>
          <a:p>
            <a:r>
              <a:t>SOURCES</a:t>
            </a:r>
          </a:p>
          <a:p>
            <a:r>
              <a:t>Microsoft Learn: Optimize agent instructions, skills, tools, and models (validation_dataset).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6 - The check that goes red</a:t>
            </a:r>
          </a:p>
          <a:p/>
          <a:p>
            <a:r>
              <a:t>Suggested timing: 5 minutes</a:t>
            </a:r>
          </a:p>
          <a:p/>
          <a:p>
            <a:r>
              <a:t>KEY MESSAGE</a:t>
            </a:r>
          </a:p>
          <a:p>
            <a:r>
              <a:t>The cheapest check catches the copied facts in a second.</a:t>
            </a:r>
          </a:p>
          <a:p/>
          <a:p>
            <a:r>
              <a:t>DEFINITION</a:t>
            </a:r>
          </a:p>
          <a:p>
            <a:r>
              <a:t>Release gates check evaluation results; approvals record the release decision.</a:t>
            </a:r>
          </a:p>
          <a:p/>
          <a:p>
            <a:r>
              <a:t>TALK TRACK</a:t>
            </a:r>
          </a:p>
          <a:p>
            <a:r>
              <a:t>In the terminal, run check_prompt_facts.py with the baseline and the optimizer's candidate (playbook command). One second, no model: it lists the seven copied facts. Then switch to GitHub: the same script is the first step of the pull-request workflow, before any evaluation spends money. Show the workflow file and one completed run. Close the loop: a person keeps the good rules, removes the copied facts and adds the missing role rule. That reviewed version is in candidates/reviewed, and it goes through the same gate.</a:t>
            </a:r>
          </a:p>
          <a:p/>
          <a:p>
            <a:r>
              <a:t>DEMO CHECKPOINT</a:t>
            </a:r>
          </a:p>
          <a:p>
            <a:r>
              <a:t>Live: the fact-check command. Prepared: the GitHub Actions tab with one completed workflow run. If CI isn't working on the day, use slides 14 and 15 with the live command.</a:t>
            </a:r>
          </a:p>
          <a:p/>
          <a:p>
            <a:r>
              <a:t>TRANSITION</a:t>
            </a:r>
          </a:p>
          <a:p>
            <a:r>
              <a:t>And after release, production keeps feeding the tests.</a:t>
            </a:r>
          </a:p>
          <a:p/>
          <a:p>
            <a:r>
              <a:t>SOURCES</a:t>
            </a:r>
          </a:p>
          <a:p>
            <a:r>
              <a:t>GitHub Actions release-check demonstration.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Production feeds the tests</a:t>
            </a:r>
          </a:p>
          <a:p/>
          <a:p>
            <a:r>
              <a:t>Suggested timing: 2 minutes</a:t>
            </a:r>
          </a:p>
          <a:p/>
          <a:p>
            <a:r>
              <a:t>KEY MESSAGE</a:t>
            </a:r>
          </a:p>
          <a:p>
            <a:r>
              <a:t>Every production failure becomes a test.</a:t>
            </a:r>
          </a:p>
          <a:p/>
          <a:p>
            <a:r>
              <a:t>DEFINITION</a:t>
            </a:r>
          </a:p>
          <a:p>
            <a:r>
              <a:t>Continuous evaluation scores a sample of real conversations after release.</a:t>
            </a:r>
          </a:p>
          <a:p/>
          <a:p>
            <a:r>
              <a:t>TALK TRACK</a:t>
            </a:r>
          </a:p>
          <a:p>
            <a:r>
              <a:t>Turn on continuous evaluation in Foundry to score a sample of real conversations and alert on quality, latency and cost. Review interesting failures, redact personal data, and add them as new test rows. The next change, whether from a person or the optimizer, goes through the same gate against them. Simulation and trace-to-dataset generation are preview capabilities; verify before relying on them.</a:t>
            </a:r>
          </a:p>
          <a:p/>
          <a:p>
            <a:r>
              <a:t>TRANSITION</a:t>
            </a:r>
          </a:p>
          <a:p>
            <a:r>
              <a:t>Here are six related capabilities worth exploring beyond today's demonstrations.</a:t>
            </a:r>
          </a:p>
          <a:p/>
          <a:p>
            <a:r>
              <a:t>SOURCES</a:t>
            </a:r>
          </a:p>
          <a:p>
            <a:r>
              <a:t>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Worth exploring next</a:t>
            </a:r>
          </a:p>
          <a:p/>
          <a:p>
            <a:r>
              <a:t>Suggested timing: 1 minutes</a:t>
            </a:r>
          </a:p>
          <a:p/>
          <a:p>
            <a:r>
              <a:t>KEY MESSAGE</a:t>
            </a:r>
          </a:p>
          <a:p>
            <a:r>
              <a:t>Six next steps for extending the purchasing agent.</a:t>
            </a:r>
          </a:p>
          <a:p/>
          <a:p>
            <a:r>
              <a:t>DEFINITION</a:t>
            </a:r>
          </a:p>
          <a:p>
            <a:r>
              <a:t>Human annotation assesses an answer; human approval authorises an action.</a:t>
            </a:r>
          </a:p>
          <a:p/>
          <a:p>
            <a:r>
              <a:t>TALK TRACK</a:t>
            </a:r>
          </a:p>
          <a:p>
            <a:r>
              <a:t>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a:t>
            </a:r>
          </a:p>
          <a:p/>
          <a:p>
            <a:r>
              <a:t>TRANSITION</a:t>
            </a:r>
          </a:p>
          <a:p>
            <a:r>
              <a:t>Return to the complete process, then take questions.</a:t>
            </a:r>
          </a:p>
          <a:p/>
          <a:p>
            <a:r>
              <a:t>SOURCES</a:t>
            </a:r>
          </a:p>
          <a:p>
            <a:r>
              <a:t>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 measure improve repeat</a:t>
            </a:r>
          </a:p>
          <a:p/>
          <a:p>
            <a:r>
              <a:t>Suggested timing: 10 minutes</a:t>
            </a:r>
          </a:p>
          <a:p/>
          <a:p>
            <a:r>
              <a:t>KEY MESSAGE</a:t>
            </a:r>
          </a:p>
          <a:p>
            <a:r>
              <a:t>Build, measure, improve and repeat.</a:t>
            </a:r>
          </a:p>
          <a:p/>
          <a:p>
            <a:r>
              <a:t>DEFINITION</a:t>
            </a:r>
          </a:p>
          <a:p>
            <a:r>
              <a:t>No new definition. This slide summarises the complete process.</a:t>
            </a:r>
          </a:p>
          <a:p/>
          <a:p>
            <a:r>
              <a:t>TALK TRACK</a:t>
            </a:r>
          </a:p>
          <a:p>
            <a:r>
              <a:t>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a:t>
            </a:r>
          </a:p>
          <a:p/>
          <a:p>
            <a:r>
              <a:t>TRANSITION</a:t>
            </a:r>
          </a:p>
          <a:p>
            <a:r>
              <a:t>Move into questions.</a:t>
            </a:r>
          </a:p>
          <a:p/>
          <a:p>
            <a:r>
              <a:t>SOURCES</a:t>
            </a:r>
          </a:p>
          <a:p>
            <a:r>
              <a:t>Session synthesis.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gate checks</a:t>
            </a:r>
          </a:p>
          <a:p/>
          <a:p>
            <a:r>
              <a:t>Suggested timing: 2 minutes</a:t>
            </a:r>
          </a:p>
          <a:p/>
          <a:p>
            <a:r>
              <a:t>KEY MESSAGE</a:t>
            </a:r>
          </a:p>
          <a:p>
            <a:r>
              <a:t>Cheapest check first.</a:t>
            </a:r>
          </a:p>
          <a:p/>
          <a:p>
            <a:r>
              <a:t>DEFINITION</a:t>
            </a:r>
          </a:p>
          <a:p>
            <a:r>
              <a:t>A release gate is an automated check that can stop a change from being promoted.</a:t>
            </a:r>
          </a:p>
          <a:p/>
          <a:p>
            <a:r>
              <a:t>TALK TRACK</a:t>
            </a:r>
          </a:p>
          <a:p>
            <a:r>
              <a:t>One: a script scans the candidate prompt and tool descriptions for amounts, dates, durations and names that the baseline didn't have. Seconds, no LLM. Two: compare against the stored baseline, not a fixed threshold. LLM-judged scores move between runs; Foundry's own optimizer guidance treats changes under 0.03 as noise, so fail on a bigger drop. Three: some failures block regardless of the average, such as sending someone to the wrong approver or following an instruction in an email. Four: pin prompt, tool descriptions, model and dataset version together, or scores aren't comparable.</a:t>
            </a:r>
          </a:p>
          <a:p/>
          <a:p>
            <a:r>
              <a:t>TRANSITION</a:t>
            </a:r>
          </a:p>
          <a:p>
            <a:r>
              <a:t>Let's run that first check on the optimizer's candidate.</a:t>
            </a:r>
          </a:p>
          <a:p/>
          <a:p>
            <a:r>
              <a:t>SOURCES</a:t>
            </a:r>
          </a:p>
          <a:p>
            <a:r>
              <a:t>Microsoft Learn: Agent optimizer overview (score interpretation).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svg"/><Relationship Id="rId4" Type="http://schemas.openxmlformats.org/officeDocument/2006/relationships/image" Target="../media/image9.sv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marL="0" indent="0" algn="l">
              <a:buNone/>
            </a:pPr>
            <a:r>
              <a:rPr lang="en-US" sz="5280" b="1" kern="0" spc="-238"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marL="0" indent="0" algn="l">
              <a:buNone/>
            </a:pPr>
            <a:r>
              <a:rPr lang="en-US" sz="5280" b="1" kern="0" spc="-238" dirty="0">
                <a:solidFill>
                  <a:srgbClr val="FBBF24"/>
                </a:solidFill>
                <a:latin typeface="Arial" pitchFamily="34" charset="0"/>
                <a:ea typeface="Arial" pitchFamily="34" charset="-122"/>
                <a:cs typeface="Arial" pitchFamily="34" charset="-120"/>
              </a:rPr>
              <a:t>to Production</a:t>
            </a:r>
            <a:endParaRPr lang="en-US" sz="528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marL="0" indent="0" algn="l">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21" name="static:1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2" name="static:20:text"/>
          <p:cNvSpPr/>
          <p:nvPr/>
        </p:nvSpPr>
        <p:spPr>
          <a:xfrm>
            <a:off x="972681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01</a:t>
            </a:r>
            <a:endParaRPr lang="en-US" sz="200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Model Choice</a:t>
            </a:r>
            <a:endParaRPr lang="en-US" sz="200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Model comparison + Model Router</a:t>
            </a:r>
            <a:endParaRPr lang="en-US" sz="1600" dirty="0"/>
          </a:p>
        </p:txBody>
      </p:sp>
      <p:sp>
        <p:nvSpPr>
          <p:cNvPr id="7" name="static:5:text"/>
          <p:cNvSpPr/>
          <p:nvPr/>
        </p:nvSpPr>
        <p:spPr>
          <a:xfrm>
            <a:off x="4535741" y="2265472"/>
            <a:ext cx="374690" cy="266700"/>
          </a:xfrm>
          <a:prstGeom prst="rect">
            <a:avLst/>
          </a:prstGeom>
          <a:noFill/>
          <a:ln/>
        </p:spPr>
        <p:txBody>
          <a:bodyPr wrap="none" lIns="0" tIns="0" rIns="0" bIns="0" rtlCol="0" anchor="ctr"/>
          <a:lstStyle/>
          <a:p>
            <a:pPr marL="0" indent="0" algn="l">
              <a:buNone/>
            </a:pPr>
            <a:r>
              <a:rPr lang="en-US" sz="2000" b="1" dirty="0">
                <a:solidFill>
                  <a:srgbClr val="FD8EA1"/>
                </a:solidFill>
                <a:latin typeface="Arial" pitchFamily="34" charset="0"/>
                <a:ea typeface="Arial" pitchFamily="34" charset="-122"/>
                <a:cs typeface="Arial" pitchFamily="34" charset="-120"/>
              </a:rPr>
              <a:t>02</a:t>
            </a:r>
            <a:endParaRPr lang="en-US" sz="2000" dirty="0"/>
          </a:p>
        </p:txBody>
      </p:sp>
      <p:sp>
        <p:nvSpPr>
          <p:cNvPr id="8" name="static:6:text"/>
          <p:cNvSpPr/>
          <p:nvPr/>
        </p:nvSpPr>
        <p:spPr>
          <a:xfrm>
            <a:off x="4535741" y="2593132"/>
            <a:ext cx="11428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Grounding</a:t>
            </a:r>
            <a:endParaRPr lang="en-US" sz="2000" dirty="0"/>
          </a:p>
        </p:txBody>
      </p:sp>
      <p:sp>
        <p:nvSpPr>
          <p:cNvPr id="9" name="static:7:text"/>
          <p:cNvSpPr/>
          <p:nvPr/>
        </p:nvSpPr>
        <p:spPr>
          <a:xfrm>
            <a:off x="4535741" y="2926864"/>
            <a:ext cx="2186583"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IQ, Fabric IQ + Work IQ</a:t>
            </a:r>
            <a:endParaRPr lang="en-US" sz="1600" dirty="0"/>
          </a:p>
        </p:txBody>
      </p:sp>
      <p:sp>
        <p:nvSpPr>
          <p:cNvPr id="16" name="static:14:text"/>
          <p:cNvSpPr/>
          <p:nvPr/>
        </p:nvSpPr>
        <p:spPr>
          <a:xfrm>
            <a:off x="4535741" y="3637072"/>
            <a:ext cx="378619" cy="266700"/>
          </a:xfrm>
          <a:prstGeom prst="rect">
            <a:avLst/>
          </a:prstGeom>
          <a:noFill/>
          <a:ln/>
        </p:spPr>
        <p:txBody>
          <a:bodyPr wrap="none" lIns="0" tIns="0" rIns="0" bIns="0" rtlCol="0" anchor="ctr"/>
          <a:lstStyle/>
          <a:p>
            <a:pPr marL="0" indent="0" algn="l">
              <a:buNone/>
            </a:pPr>
            <a:r>
              <a:rPr lang="en-US" sz="2000" b="1" dirty="0">
                <a:solidFill>
                  <a:srgbClr val="F87171"/>
                </a:solidFill>
                <a:latin typeface="Arial" pitchFamily="34" charset="0"/>
                <a:ea typeface="Arial" pitchFamily="34" charset="-122"/>
                <a:cs typeface="Arial" pitchFamily="34" charset="-120"/>
              </a:rPr>
              <a:t>05</a:t>
            </a:r>
            <a:endParaRPr lang="en-US" sz="2000" dirty="0"/>
          </a:p>
        </p:txBody>
      </p:sp>
      <p:sp>
        <p:nvSpPr>
          <p:cNvPr id="17" name="static:15:text"/>
          <p:cNvSpPr/>
          <p:nvPr/>
        </p:nvSpPr>
        <p:spPr>
          <a:xfrm>
            <a:off x="4535741" y="3964732"/>
            <a:ext cx="9929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Optimise</a:t>
            </a:r>
            <a:endParaRPr lang="en-US" sz="2000" dirty="0"/>
          </a:p>
        </p:txBody>
      </p:sp>
      <p:sp>
        <p:nvSpPr>
          <p:cNvPr id="18" name="static:16:text"/>
          <p:cNvSpPr/>
          <p:nvPr/>
        </p:nvSpPr>
        <p:spPr>
          <a:xfrm>
            <a:off x="4535741" y="4298464"/>
            <a:ext cx="11735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Agent Optimizer</a:t>
            </a:r>
            <a:endParaRPr lang="en-US" sz="1600" dirty="0"/>
          </a:p>
        </p:txBody>
      </p:sp>
      <p:sp>
        <p:nvSpPr>
          <p:cNvPr id="19" name="static:17:text"/>
          <p:cNvSpPr/>
          <p:nvPr/>
        </p:nvSpPr>
        <p:spPr>
          <a:xfrm>
            <a:off x="7817460" y="3637072"/>
            <a:ext cx="385405"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06</a:t>
            </a:r>
            <a:endParaRPr lang="en-US" sz="2000" dirty="0"/>
          </a:p>
        </p:txBody>
      </p:sp>
      <p:sp>
        <p:nvSpPr>
          <p:cNvPr id="20" name="static:18:text"/>
          <p:cNvSpPr/>
          <p:nvPr/>
        </p:nvSpPr>
        <p:spPr>
          <a:xfrm>
            <a:off x="7817460" y="3964732"/>
            <a:ext cx="107203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Automate</a:t>
            </a:r>
            <a:endParaRPr lang="en-US" sz="2000" dirty="0"/>
          </a:p>
        </p:txBody>
      </p:sp>
      <p:sp>
        <p:nvSpPr>
          <p:cNvPr id="21" name="static:19:text"/>
          <p:cNvSpPr/>
          <p:nvPr/>
        </p:nvSpPr>
        <p:spPr>
          <a:xfrm>
            <a:off x="7817460" y="4231432"/>
            <a:ext cx="3856380" cy="243294"/>
          </a:xfrm>
          <a:prstGeom prst="rect">
            <a:avLst/>
          </a:prstGeom>
          <a:noFill/>
          <a:ln/>
        </p:spPr>
        <p:txBody>
          <a:bodyPr wrap="none" lIns="0" tIns="0" rIns="0" bIns="0" rtlCol="0" anchor="ctr"/>
          <a:lstStyle/>
          <a:p>
            <a:r>
              <a:rPr lang="en-US" sz="1600" dirty="0">
                <a:solidFill>
                  <a:srgbClr val="B0B0B0"/>
                </a:solidFill>
                <a:latin typeface="Arial" pitchFamily="34" charset="0"/>
                <a:ea typeface="Arial" pitchFamily="34" charset="-122"/>
                <a:cs typeface="Arial" pitchFamily="34" charset="-120"/>
              </a:rPr>
              <a:t>Continuous evaluation + GitHub Actions</a:t>
            </a:r>
            <a:endParaRPr lang="en-US" sz="1600" dirty="0"/>
          </a:p>
        </p:txBody>
      </p:sp>
      <p:sp>
        <p:nvSpPr>
          <p:cNvPr id="22" name="static:20:text"/>
          <p:cNvSpPr/>
          <p:nvPr/>
        </p:nvSpPr>
        <p:spPr>
          <a:xfrm>
            <a:off x="7817460" y="4496584"/>
            <a:ext cx="1227296" cy="190500"/>
          </a:xfrm>
          <a:prstGeom prst="rect">
            <a:avLst/>
          </a:prstGeom>
          <a:noFill/>
          <a:ln/>
        </p:spPr>
        <p:txBody>
          <a:bodyPr wrap="none" lIns="0" tIns="0" rIns="0" bIns="0" rtlCol="0" anchor="ctr"/>
          <a:lstStyle/>
          <a:p>
            <a:pPr marL="0" indent="0" algn="l">
              <a:buNone/>
            </a:pPr>
            <a:endParaRPr lang="en-US" sz="16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02</a:t>
            </a:r>
            <a:endParaRPr lang="en-US" sz="720" dirty="0"/>
          </a:p>
        </p:txBody>
      </p:sp>
      <p:sp>
        <p:nvSpPr>
          <p:cNvPr id="25" name="static:11:text">
            <a:extLst>
              <a:ext uri="{FF2B5EF4-FFF2-40B4-BE49-F238E27FC236}">
                <a16:creationId xmlns:a16="http://schemas.microsoft.com/office/drawing/2014/main" id="{46F7BA72-CF14-DB79-C5D6-9262140E2D71}"/>
              </a:ext>
            </a:extLst>
          </p:cNvPr>
          <p:cNvSpPr/>
          <p:nvPr/>
        </p:nvSpPr>
        <p:spPr>
          <a:xfrm>
            <a:off x="975360" y="3637072"/>
            <a:ext cx="385286" cy="266700"/>
          </a:xfrm>
          <a:prstGeom prst="rect">
            <a:avLst/>
          </a:prstGeom>
          <a:noFill/>
          <a:ln/>
        </p:spPr>
        <p:txBody>
          <a:bodyPr wrap="none" lIns="0" tIns="0" rIns="0" bIns="0" rtlCol="0" anchor="ctr"/>
          <a:lstStyle/>
          <a:p>
            <a:pPr marL="0" indent="0" algn="l">
              <a:buNone/>
            </a:pPr>
            <a:r>
              <a:rPr lang="en-US" sz="2000" b="1" dirty="0">
                <a:solidFill>
                  <a:srgbClr val="4ADE80"/>
                </a:solidFill>
                <a:latin typeface="Arial" pitchFamily="34" charset="0"/>
                <a:ea typeface="Arial" pitchFamily="34" charset="-122"/>
                <a:cs typeface="Arial" pitchFamily="34" charset="-120"/>
              </a:rPr>
              <a:t>04</a:t>
            </a:r>
            <a:endParaRPr lang="en-US" sz="2000" dirty="0"/>
          </a:p>
        </p:txBody>
      </p:sp>
      <p:sp>
        <p:nvSpPr>
          <p:cNvPr id="26" name="static:12:text">
            <a:extLst>
              <a:ext uri="{FF2B5EF4-FFF2-40B4-BE49-F238E27FC236}">
                <a16:creationId xmlns:a16="http://schemas.microsoft.com/office/drawing/2014/main" id="{DC9D1AEF-5283-3F46-85E0-99FD3B08DD09}"/>
              </a:ext>
            </a:extLst>
          </p:cNvPr>
          <p:cNvSpPr/>
          <p:nvPr/>
        </p:nvSpPr>
        <p:spPr>
          <a:xfrm>
            <a:off x="986511" y="3964732"/>
            <a:ext cx="948214"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Evaluate</a:t>
            </a:r>
            <a:endParaRPr lang="en-US" sz="2000" dirty="0"/>
          </a:p>
        </p:txBody>
      </p:sp>
      <p:sp>
        <p:nvSpPr>
          <p:cNvPr id="27" name="static:13:text">
            <a:extLst>
              <a:ext uri="{FF2B5EF4-FFF2-40B4-BE49-F238E27FC236}">
                <a16:creationId xmlns:a16="http://schemas.microsoft.com/office/drawing/2014/main" id="{E094F1BF-7F3B-FF59-1E91-CAA7077A788D}"/>
              </a:ext>
            </a:extLst>
          </p:cNvPr>
          <p:cNvSpPr/>
          <p:nvPr/>
        </p:nvSpPr>
        <p:spPr>
          <a:xfrm>
            <a:off x="975360" y="4298464"/>
            <a:ext cx="296576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Quality, safety, stays on-task</a:t>
            </a:r>
            <a:endParaRPr lang="en-US" sz="1600" dirty="0"/>
          </a:p>
        </p:txBody>
      </p:sp>
      <p:sp>
        <p:nvSpPr>
          <p:cNvPr id="28" name="static:8:text">
            <a:extLst>
              <a:ext uri="{FF2B5EF4-FFF2-40B4-BE49-F238E27FC236}">
                <a16:creationId xmlns:a16="http://schemas.microsoft.com/office/drawing/2014/main" id="{E56A732E-8F30-CD8D-7275-EA11D4A84FDF}"/>
              </a:ext>
            </a:extLst>
          </p:cNvPr>
          <p:cNvSpPr/>
          <p:nvPr/>
        </p:nvSpPr>
        <p:spPr>
          <a:xfrm>
            <a:off x="7817460" y="2265472"/>
            <a:ext cx="380881" cy="266700"/>
          </a:xfrm>
          <a:prstGeom prst="rect">
            <a:avLst/>
          </a:prstGeom>
          <a:noFill/>
          <a:ln/>
        </p:spPr>
        <p:txBody>
          <a:bodyPr wrap="none" lIns="0" tIns="0" rIns="0" bIns="0" rtlCol="0" anchor="ctr"/>
          <a:lstStyle/>
          <a:p>
            <a:pPr marL="0" indent="0" algn="l">
              <a:buNone/>
            </a:pPr>
            <a:r>
              <a:rPr lang="en-US" sz="2000" b="1" dirty="0">
                <a:solidFill>
                  <a:srgbClr val="FBBF24"/>
                </a:solidFill>
                <a:latin typeface="Arial" pitchFamily="34" charset="0"/>
                <a:ea typeface="Arial" pitchFamily="34" charset="-122"/>
                <a:cs typeface="Arial" pitchFamily="34" charset="-120"/>
              </a:rPr>
              <a:t>03</a:t>
            </a:r>
            <a:endParaRPr lang="en-US" sz="2000" dirty="0"/>
          </a:p>
        </p:txBody>
      </p:sp>
      <p:sp>
        <p:nvSpPr>
          <p:cNvPr id="29" name="static:9:text">
            <a:extLst>
              <a:ext uri="{FF2B5EF4-FFF2-40B4-BE49-F238E27FC236}">
                <a16:creationId xmlns:a16="http://schemas.microsoft.com/office/drawing/2014/main" id="{20133A28-79B6-B053-E2A8-D6393DE731EE}"/>
              </a:ext>
            </a:extLst>
          </p:cNvPr>
          <p:cNvSpPr/>
          <p:nvPr/>
        </p:nvSpPr>
        <p:spPr>
          <a:xfrm>
            <a:off x="7817460" y="2593132"/>
            <a:ext cx="1752600" cy="244966"/>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Observability</a:t>
            </a:r>
            <a:endParaRPr lang="en-US" sz="2000" dirty="0"/>
          </a:p>
        </p:txBody>
      </p:sp>
      <p:sp>
        <p:nvSpPr>
          <p:cNvPr id="30" name="static:10:text">
            <a:extLst>
              <a:ext uri="{FF2B5EF4-FFF2-40B4-BE49-F238E27FC236}">
                <a16:creationId xmlns:a16="http://schemas.microsoft.com/office/drawing/2014/main" id="{BEA8599D-63C7-A5D6-7BCF-AEE8E0DE2EC6}"/>
              </a:ext>
            </a:extLst>
          </p:cNvPr>
          <p:cNvSpPr/>
          <p:nvPr/>
        </p:nvSpPr>
        <p:spPr>
          <a:xfrm>
            <a:off x="7817459" y="2926864"/>
            <a:ext cx="18949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tracing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841784"/>
            <a:ext cx="6900000" cy="1516380"/>
          </a:xfrm>
          <a:prstGeom prst="roundRect">
            <a:avLst>
              <a:gd name="adj" fmla="val 8040"/>
            </a:avLst>
          </a:prstGeom>
          <a:solidFill>
            <a:srgbClr val="292929"/>
          </a:solidFill>
          <a:ln w="7620">
            <a:solidFill>
              <a:srgbClr val="474747"/>
            </a:solidFill>
            <a:prstDash val="solid"/>
          </a:ln>
        </p:spPr>
        <p:txBody>
          <a:bodyPr/>
          <a:lstStyle/>
          <a:p>
            <a:endParaRPr lang="en-US"/>
          </a:p>
        </p:txBody>
      </p:sp>
      <p:sp>
        <p:nvSpPr>
          <p:cNvPr id="11" name="static:9:text"/>
          <p:cNvSpPr/>
          <p:nvPr/>
        </p:nvSpPr>
        <p:spPr>
          <a:xfrm>
            <a:off x="4000500" y="3085624"/>
            <a:ext cx="2094667" cy="190500"/>
          </a:xfrm>
          <a:prstGeom prst="rect">
            <a:avLst/>
          </a:prstGeom>
          <a:noFill/>
          <a:ln/>
        </p:spPr>
        <p:txBody>
          <a:bodyPr wrap="none" lIns="0" tIns="0" rIns="0" bIns="0" rtlCol="0" anchor="ctr"/>
          <a:lstStyle/>
          <a:p>
            <a:pPr marL="0" indent="0" algn="l">
              <a:buNone/>
            </a:pPr>
            <a:r>
              <a:rPr lang="en-US" sz="1200" b="1" dirty="0">
                <a:solidFill>
                  <a:srgbClr val="4DA6FF"/>
                </a:solidFill>
                <a:latin typeface="Arial" pitchFamily="34" charset="0"/>
                <a:ea typeface="Arial" pitchFamily="34" charset="-122"/>
                <a:cs typeface="Arial" pitchFamily="34" charset="-120"/>
              </a:rPr>
              <a:t>A team lead asks:</a:t>
            </a:r>
            <a:endParaRPr lang="en-US" sz="1200" dirty="0"/>
          </a:p>
        </p:txBody>
      </p:sp>
      <p:sp>
        <p:nvSpPr>
          <p:cNvPr id="12" name="static:10:text"/>
          <p:cNvSpPr/>
          <p:nvPr/>
        </p:nvSpPr>
        <p:spPr>
          <a:xfrm>
            <a:off x="4000500" y="3420904"/>
            <a:ext cx="5370076"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“Can I book a team dinner for six this Thursday?</a:t>
            </a:r>
            <a:endParaRPr lang="en-US" sz="2160" dirty="0"/>
          </a:p>
        </p:txBody>
      </p:sp>
      <p:sp>
        <p:nvSpPr>
          <p:cNvPr id="13" name="static:11:text"/>
          <p:cNvSpPr/>
          <p:nvPr/>
        </p:nvSpPr>
        <p:spPr>
          <a:xfrm>
            <a:off x="4000500" y="3763804"/>
            <a:ext cx="5550218"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It’s about $540, and my manager’s approved it.”</a:t>
            </a:r>
            <a:endParaRPr lang="en-US" sz="2160" dirty="0"/>
          </a:p>
        </p:txBody>
      </p:sp>
      <p:sp>
        <p:nvSpPr>
          <p:cNvPr id="14" name="static:12: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15" name="static:13:text"/>
          <p:cNvSpPr/>
          <p:nvPr/>
        </p:nvSpPr>
        <p:spPr>
          <a:xfrm>
            <a:off x="10443448" y="6461760"/>
            <a:ext cx="123039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6" name="Reveal 1"/>
          <p:cNvGrpSpPr/>
          <p:nvPr/>
        </p:nvGrpSpPr>
        <p:grpSpPr>
          <a:xfrm>
            <a:off x="975360" y="1949172"/>
            <a:ext cx="2834640" cy="3569137"/>
            <a:chOff x="975360" y="1949172"/>
            <a:chExt cx="2834640" cy="3569137"/>
          </a:xfrm>
        </p:grpSpPr>
        <p:sp>
          <p:nvSpPr>
            <p:cNvPr id="4" name="reveal-1:2:shape"/>
            <p:cNvSpPr/>
            <p:nvPr/>
          </p:nvSpPr>
          <p:spPr>
            <a:xfrm>
              <a:off x="97536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964412"/>
              <a:ext cx="2651760" cy="0"/>
            </a:xfrm>
            <a:prstGeom prst="line">
              <a:avLst/>
            </a:prstGeom>
            <a:noFill/>
            <a:ln w="30480">
              <a:solidFill>
                <a:srgbClr val="FBBF24"/>
              </a:solidFill>
              <a:prstDash val="solid"/>
              <a:headEnd type="none"/>
              <a:tailEnd type="none"/>
            </a:ln>
          </p:spPr>
          <p:txBody>
            <a:bodyPr/>
            <a:lstStyle/>
            <a:p>
              <a:endParaRPr lang="en-US"/>
            </a:p>
          </p:txBody>
        </p:sp>
        <p:pic>
          <p:nvPicPr>
            <p:cNvPr id="6" name="reveal-1:3:svg:vector-4-3" descr="Model 1: a robot with a connected reasoning diagram"/>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6880" y="2193012"/>
              <a:ext cx="1371600" cy="1249680"/>
            </a:xfrm>
            <a:prstGeom prst="rect">
              <a:avLst/>
            </a:prstGeom>
          </p:spPr>
        </p:pic>
        <p:sp>
          <p:nvSpPr>
            <p:cNvPr id="7" name="reveal-1:4:text"/>
            <p:cNvSpPr/>
            <p:nvPr/>
          </p:nvSpPr>
          <p:spPr>
            <a:xfrm>
              <a:off x="2064782" y="3549372"/>
              <a:ext cx="747236" cy="228600"/>
            </a:xfrm>
            <a:prstGeom prst="rect">
              <a:avLst/>
            </a:prstGeom>
            <a:noFill/>
            <a:ln/>
          </p:spPr>
          <p:txBody>
            <a:bodyPr wrap="non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857149"/>
              <a:ext cx="204704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192429"/>
              <a:ext cx="1373624"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398169"/>
              <a:ext cx="14501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12" name="reveal-1:9:text"/>
            <p:cNvSpPr/>
            <p:nvPr/>
          </p:nvSpPr>
          <p:spPr>
            <a:xfrm>
              <a:off x="1909643" y="4832509"/>
              <a:ext cx="1057394"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5003959"/>
              <a:ext cx="1253966"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7" name="Reveal 2"/>
          <p:cNvGrpSpPr/>
          <p:nvPr/>
        </p:nvGrpSpPr>
        <p:grpSpPr>
          <a:xfrm>
            <a:off x="3992880" y="1949172"/>
            <a:ext cx="2834640" cy="3569137"/>
            <a:chOff x="3992880" y="1949172"/>
            <a:chExt cx="2834640" cy="3569137"/>
          </a:xfrm>
        </p:grpSpPr>
        <p:sp>
          <p:nvSpPr>
            <p:cNvPr id="14" name="reveal-2:11:shape"/>
            <p:cNvSpPr/>
            <p:nvPr/>
          </p:nvSpPr>
          <p:spPr>
            <a:xfrm>
              <a:off x="399288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084320" y="1964412"/>
              <a:ext cx="2651760" cy="0"/>
            </a:xfrm>
            <a:prstGeom prst="line">
              <a:avLst/>
            </a:prstGeom>
            <a:noFill/>
            <a:ln w="30480">
              <a:solidFill>
                <a:srgbClr val="4DA6FF"/>
              </a:solidFill>
              <a:prstDash val="solid"/>
              <a:headEnd type="none"/>
              <a:tailEnd type="none"/>
            </a:ln>
          </p:spPr>
          <p:txBody>
            <a:bodyPr/>
            <a:lstStyle/>
            <a:p>
              <a:endParaRPr lang="en-US"/>
            </a:p>
          </p:txBody>
        </p:sp>
        <p:pic>
          <p:nvPicPr>
            <p:cNvPr id="16" name="reveal-2:12:svg:vector-4-12" descr="Model 2: a robot with a lightning bolt and speed lin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4400" y="2193012"/>
              <a:ext cx="1371600" cy="1249680"/>
            </a:xfrm>
            <a:prstGeom prst="rect">
              <a:avLst/>
            </a:prstGeom>
          </p:spPr>
        </p:pic>
        <p:sp>
          <p:nvSpPr>
            <p:cNvPr id="17" name="reveal-2:13:text"/>
            <p:cNvSpPr/>
            <p:nvPr/>
          </p:nvSpPr>
          <p:spPr>
            <a:xfrm>
              <a:off x="5070872" y="3549372"/>
              <a:ext cx="770096" cy="228600"/>
            </a:xfrm>
            <a:prstGeom prst="rect">
              <a:avLst/>
            </a:prstGeom>
            <a:noFill/>
            <a:ln/>
          </p:spPr>
          <p:txBody>
            <a:bodyPr wrap="non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464368" y="3857149"/>
              <a:ext cx="1983105"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speed</a:t>
              </a:r>
              <a:endParaRPr lang="en-US" sz="1560" dirty="0"/>
            </a:p>
          </p:txBody>
        </p:sp>
        <p:sp>
          <p:nvSpPr>
            <p:cNvPr id="19" name="reveal-2:15:text"/>
            <p:cNvSpPr/>
            <p:nvPr/>
          </p:nvSpPr>
          <p:spPr>
            <a:xfrm>
              <a:off x="4862393" y="4192429"/>
              <a:ext cx="118705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Responsive chat</a:t>
              </a:r>
              <a:endParaRPr lang="en-US" sz="1200" dirty="0"/>
            </a:p>
          </p:txBody>
        </p:sp>
        <p:sp>
          <p:nvSpPr>
            <p:cNvPr id="20" name="reveal-2:16:text"/>
            <p:cNvSpPr/>
            <p:nvPr/>
          </p:nvSpPr>
          <p:spPr>
            <a:xfrm>
              <a:off x="4676894" y="4398169"/>
              <a:ext cx="155793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quick interactions</a:t>
              </a:r>
              <a:endParaRPr lang="en-US" sz="1200" dirty="0"/>
            </a:p>
          </p:txBody>
        </p:sp>
        <p:sp>
          <p:nvSpPr>
            <p:cNvPr id="21" name="reveal-2:17:shape"/>
            <p:cNvSpPr/>
            <p:nvPr/>
          </p:nvSpPr>
          <p:spPr>
            <a:xfrm>
              <a:off x="421386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22" name="reveal-2:18:text"/>
            <p:cNvSpPr/>
            <p:nvPr/>
          </p:nvSpPr>
          <p:spPr>
            <a:xfrm>
              <a:off x="4654272" y="4832509"/>
              <a:ext cx="160317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5003959"/>
              <a:ext cx="122848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8" name="Reveal 3"/>
          <p:cNvGrpSpPr/>
          <p:nvPr/>
        </p:nvGrpSpPr>
        <p:grpSpPr>
          <a:xfrm>
            <a:off x="7010400" y="1949172"/>
            <a:ext cx="2834640" cy="3569137"/>
            <a:chOff x="7010400" y="1949172"/>
            <a:chExt cx="2834640" cy="3569137"/>
          </a:xfrm>
        </p:grpSpPr>
        <p:sp>
          <p:nvSpPr>
            <p:cNvPr id="24" name="reveal-3:20:shape"/>
            <p:cNvSpPr/>
            <p:nvPr/>
          </p:nvSpPr>
          <p:spPr>
            <a:xfrm>
              <a:off x="701040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101840" y="1964412"/>
              <a:ext cx="2651760" cy="0"/>
            </a:xfrm>
            <a:prstGeom prst="line">
              <a:avLst/>
            </a:prstGeom>
            <a:noFill/>
            <a:ln w="30480">
              <a:solidFill>
                <a:srgbClr val="4ADE80"/>
              </a:solidFill>
              <a:prstDash val="solid"/>
              <a:headEnd type="none"/>
              <a:tailEnd type="none"/>
            </a:ln>
          </p:spPr>
          <p:txBody>
            <a:bodyPr/>
            <a:lstStyle/>
            <a:p>
              <a:endParaRPr lang="en-US"/>
            </a:p>
          </p:txBody>
        </p:sp>
        <p:pic>
          <p:nvPicPr>
            <p:cNvPr id="26" name="reveal-3:21:svg:vector-4-21" descr="Model 3: a compact robot beside a stack of coin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1920" y="2193012"/>
              <a:ext cx="1371600" cy="1249680"/>
            </a:xfrm>
            <a:prstGeom prst="rect">
              <a:avLst/>
            </a:prstGeom>
          </p:spPr>
        </p:pic>
        <p:sp>
          <p:nvSpPr>
            <p:cNvPr id="27" name="reveal-3:22:text"/>
            <p:cNvSpPr/>
            <p:nvPr/>
          </p:nvSpPr>
          <p:spPr>
            <a:xfrm>
              <a:off x="8086011" y="3549372"/>
              <a:ext cx="774859" cy="228600"/>
            </a:xfrm>
            <a:prstGeom prst="rect">
              <a:avLst/>
            </a:prstGeom>
            <a:noFill/>
            <a:ln/>
          </p:spPr>
          <p:txBody>
            <a:bodyPr wrap="non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Model 3</a:t>
              </a:r>
              <a:endParaRPr lang="en-US" sz="1440" dirty="0"/>
            </a:p>
          </p:txBody>
        </p:sp>
        <p:sp>
          <p:nvSpPr>
            <p:cNvPr id="28" name="reveal-3:23:text"/>
            <p:cNvSpPr/>
            <p:nvPr/>
          </p:nvSpPr>
          <p:spPr>
            <a:xfrm>
              <a:off x="7565469" y="3857149"/>
              <a:ext cx="181582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cost</a:t>
              </a:r>
              <a:endParaRPr lang="en-US" sz="1560" dirty="0"/>
            </a:p>
          </p:txBody>
        </p:sp>
        <p:sp>
          <p:nvSpPr>
            <p:cNvPr id="29" name="reveal-3:24:text"/>
            <p:cNvSpPr/>
            <p:nvPr/>
          </p:nvSpPr>
          <p:spPr>
            <a:xfrm>
              <a:off x="7977188" y="4192429"/>
              <a:ext cx="99238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High-volume,</a:t>
              </a:r>
              <a:endParaRPr lang="en-US" sz="1200" dirty="0"/>
            </a:p>
          </p:txBody>
        </p:sp>
        <p:sp>
          <p:nvSpPr>
            <p:cNvPr id="30" name="reveal-3:25:text"/>
            <p:cNvSpPr/>
            <p:nvPr/>
          </p:nvSpPr>
          <p:spPr>
            <a:xfrm>
              <a:off x="7878961" y="4398169"/>
              <a:ext cx="118895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repeatable tasks</a:t>
              </a:r>
              <a:endParaRPr lang="en-US" sz="1200" dirty="0"/>
            </a:p>
          </p:txBody>
        </p:sp>
        <p:sp>
          <p:nvSpPr>
            <p:cNvPr id="31" name="reveal-3:26:shape"/>
            <p:cNvSpPr/>
            <p:nvPr/>
          </p:nvSpPr>
          <p:spPr>
            <a:xfrm>
              <a:off x="723138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32" name="reveal-3:27:text"/>
            <p:cNvSpPr/>
            <p:nvPr/>
          </p:nvSpPr>
          <p:spPr>
            <a:xfrm>
              <a:off x="7726204" y="4832509"/>
              <a:ext cx="149435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suited</a:t>
              </a:r>
              <a:endParaRPr lang="en-US" sz="1080" dirty="0"/>
            </a:p>
          </p:txBody>
        </p:sp>
        <p:sp>
          <p:nvSpPr>
            <p:cNvPr id="33" name="reveal-3:28:text"/>
            <p:cNvSpPr/>
            <p:nvPr/>
          </p:nvSpPr>
          <p:spPr>
            <a:xfrm>
              <a:off x="7756684" y="5003959"/>
              <a:ext cx="143339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to nuanced requests</a:t>
              </a:r>
              <a:endParaRPr lang="en-US" sz="108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1900" y="6461760"/>
            <a:ext cx="12319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04</a:t>
            </a:r>
            <a:endParaRPr lang="en-US" sz="720" dirty="0"/>
          </a:p>
        </p:txBody>
      </p:sp>
      <p:sp>
        <p:nvSpPr>
          <p:cNvPr id="39" name="Reveal 4">
            <a:extLst>
              <a:ext uri="{FF2B5EF4-FFF2-40B4-BE49-F238E27FC236}">
                <a16:creationId xmlns:a16="http://schemas.microsoft.com/office/drawing/2014/main" id="{331D5248-8C74-A1DD-589D-B0FEC9852322}"/>
              </a:ext>
            </a:extLst>
          </p:cNvPr>
          <p:cNvSpPr/>
          <p:nvPr/>
        </p:nvSpPr>
        <p:spPr>
          <a:xfrm>
            <a:off x="3461862" y="5686247"/>
            <a:ext cx="4633703" cy="311824"/>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Or a model which can decide on the fly?</a:t>
            </a:r>
            <a:endParaRPr lang="en-US" sz="156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343626"/>
            <a:ext cx="788432"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640806"/>
            <a:ext cx="625716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387566"/>
            <a:ext cx="5726549"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fixed models and Model Router, then choose a starting</a:t>
            </a:r>
            <a:endParaRPr lang="en-US" sz="1620" dirty="0"/>
          </a:p>
        </p:txBody>
      </p:sp>
      <p:sp>
        <p:nvSpPr>
          <p:cNvPr id="5" name="static:3:text"/>
          <p:cNvSpPr/>
          <p:nvPr/>
        </p:nvSpPr>
        <p:spPr>
          <a:xfrm>
            <a:off x="975360" y="3665220"/>
            <a:ext cx="130861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4282" y="6461760"/>
            <a:ext cx="122955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Grounding</a:t>
            </a:r>
            <a:endParaRPr lang="en-US" sz="2640" dirty="0"/>
          </a:p>
        </p:txBody>
      </p:sp>
      <p:grpSp>
        <p:nvGrpSpPr>
          <p:cNvPr id="38"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7" name="reveal-1:4:text"/>
            <p:cNvSpPr/>
            <p:nvPr/>
          </p:nvSpPr>
          <p:spPr>
            <a:xfrm>
              <a:off x="1265873" y="2207419"/>
              <a:ext cx="333256"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03037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sp>
          <p:nvSpPr>
            <p:cNvPr id="14" name="reveal-1:11:text"/>
            <p:cNvSpPr/>
            <p:nvPr/>
          </p:nvSpPr>
          <p:spPr>
            <a:xfrm>
              <a:off x="1287780" y="4071104"/>
              <a:ext cx="148149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KNOWLEDGE_BASE_RETRIEVE</a:t>
              </a:r>
              <a:endParaRPr lang="en-US" sz="720" dirty="0"/>
            </a:p>
          </p:txBody>
        </p:sp>
      </p:grpSp>
      <p:grpSp>
        <p:nvGrpSpPr>
          <p:cNvPr id="39" name="Reveal 2"/>
          <p:cNvGrpSpPr/>
          <p:nvPr/>
        </p:nvGrpSpPr>
        <p:grpSpPr>
          <a:xfrm>
            <a:off x="4348401" y="1868329"/>
            <a:ext cx="3220760" cy="3791902"/>
            <a:chOff x="4348401" y="1868329"/>
            <a:chExt cx="3220760" cy="3791902"/>
          </a:xfrm>
        </p:grpSpPr>
        <p:sp>
          <p:nvSpPr>
            <p:cNvPr id="15" name="reveal-2:12: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6" name="reveal-2:12: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7" name="reveal-2:13: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8" name="reveal-2:14:text"/>
            <p:cNvSpPr/>
            <p:nvPr/>
          </p:nvSpPr>
          <p:spPr>
            <a:xfrm>
              <a:off x="4631174" y="2207419"/>
              <a:ext cx="348734"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BIQ</a:t>
              </a:r>
              <a:endParaRPr lang="en-US" sz="1200" dirty="0"/>
            </a:p>
          </p:txBody>
        </p:sp>
        <p:sp>
          <p:nvSpPr>
            <p:cNvPr id="19" name="reveal-2:15:text"/>
            <p:cNvSpPr/>
            <p:nvPr/>
          </p:nvSpPr>
          <p:spPr>
            <a:xfrm>
              <a:off x="4554141" y="2698909"/>
              <a:ext cx="97857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20" name="reveal-2:16:text"/>
            <p:cNvSpPr/>
            <p:nvPr/>
          </p:nvSpPr>
          <p:spPr>
            <a:xfrm>
              <a:off x="4554141" y="3047881"/>
              <a:ext cx="260973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1" name="reveal-2:17:text"/>
            <p:cNvSpPr/>
            <p:nvPr/>
          </p:nvSpPr>
          <p:spPr>
            <a:xfrm>
              <a:off x="4554141" y="3243263"/>
              <a:ext cx="105644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2" name="reveal-2:18:shape"/>
            <p:cNvSpPr/>
            <p:nvPr/>
          </p:nvSpPr>
          <p:spPr>
            <a:xfrm>
              <a:off x="4554141" y="3652004"/>
              <a:ext cx="2809280"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23" name="reveal-2:19:text"/>
            <p:cNvSpPr/>
            <p:nvPr/>
          </p:nvSpPr>
          <p:spPr>
            <a:xfrm>
              <a:off x="4660821" y="3735824"/>
              <a:ext cx="2595086"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4" name="reveal-2:20:text"/>
            <p:cNvSpPr/>
            <p:nvPr/>
          </p:nvSpPr>
          <p:spPr>
            <a:xfrm>
              <a:off x="4660821" y="3884414"/>
              <a:ext cx="5594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sp>
          <p:nvSpPr>
            <p:cNvPr id="25" name="reveal-2:21:text"/>
            <p:cNvSpPr/>
            <p:nvPr/>
          </p:nvSpPr>
          <p:spPr>
            <a:xfrm>
              <a:off x="4660821" y="4071104"/>
              <a:ext cx="21652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SEARCH_ONTOLOGY</a:t>
              </a:r>
              <a:endParaRPr lang="en-US" sz="720" dirty="0"/>
            </a:p>
          </p:txBody>
        </p:sp>
      </p:grpSp>
      <p:grpSp>
        <p:nvGrpSpPr>
          <p:cNvPr id="41" name="Reveal 3">
            <a:extLst>
              <a:ext uri="{FF2B5EF4-FFF2-40B4-BE49-F238E27FC236}">
                <a16:creationId xmlns:a16="http://schemas.microsoft.com/office/drawing/2014/main" id="{AE4E581A-2C22-B249-A8A6-1CDB33248A80}"/>
              </a:ext>
            </a:extLst>
          </p:cNvPr>
          <p:cNvGrpSpPr/>
          <p:nvPr/>
        </p:nvGrpSpPr>
        <p:grpSpPr>
          <a:xfrm>
            <a:off x="7721560" y="1868329"/>
            <a:ext cx="3220641" cy="3791902"/>
            <a:chOff x="7721560" y="1868329"/>
            <a:chExt cx="3220641" cy="3791902"/>
          </a:xfrm>
        </p:grpSpPr>
        <p:sp>
          <p:nvSpPr>
            <p:cNvPr id="26" name="reveal-3:22: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7" name="reveal-3:22: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8" name="reveal-3:23: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9" name="reveal-3:24:text"/>
            <p:cNvSpPr/>
            <p:nvPr/>
          </p:nvSpPr>
          <p:spPr>
            <a:xfrm>
              <a:off x="7979926" y="2207419"/>
              <a:ext cx="397550"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WIQ</a:t>
              </a:r>
              <a:endParaRPr lang="en-US" sz="1200" dirty="0"/>
            </a:p>
          </p:txBody>
        </p:sp>
        <p:sp>
          <p:nvSpPr>
            <p:cNvPr id="30" name="reveal-3:25:text"/>
            <p:cNvSpPr/>
            <p:nvPr/>
          </p:nvSpPr>
          <p:spPr>
            <a:xfrm>
              <a:off x="7927300" y="2698909"/>
              <a:ext cx="87915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31" name="reveal-3:26:text"/>
            <p:cNvSpPr/>
            <p:nvPr/>
          </p:nvSpPr>
          <p:spPr>
            <a:xfrm>
              <a:off x="7927300" y="3047881"/>
              <a:ext cx="288988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2" name="reveal-3:27:shape"/>
            <p:cNvSpPr/>
            <p:nvPr/>
          </p:nvSpPr>
          <p:spPr>
            <a:xfrm>
              <a:off x="79273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3" name="reveal-3:28:text"/>
            <p:cNvSpPr/>
            <p:nvPr/>
          </p:nvSpPr>
          <p:spPr>
            <a:xfrm>
              <a:off x="8033980" y="3735824"/>
              <a:ext cx="212812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 holds a role today, who’s away and</a:t>
              </a:r>
              <a:endParaRPr lang="en-US" sz="900" dirty="0"/>
            </a:p>
          </p:txBody>
        </p:sp>
        <p:sp>
          <p:nvSpPr>
            <p:cNvPr id="34" name="reveal-3:29:text"/>
            <p:cNvSpPr/>
            <p:nvPr/>
          </p:nvSpPr>
          <p:spPr>
            <a:xfrm>
              <a:off x="8033980" y="3884414"/>
              <a:ext cx="67591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who’s covering.</a:t>
              </a:r>
              <a:endParaRPr lang="en-US" sz="900" dirty="0"/>
            </a:p>
          </p:txBody>
        </p:sp>
        <p:sp>
          <p:nvSpPr>
            <p:cNvPr id="35" name="reveal-3:30:text"/>
            <p:cNvSpPr/>
            <p:nvPr/>
          </p:nvSpPr>
          <p:spPr>
            <a:xfrm>
              <a:off x="8033980" y="4071104"/>
              <a:ext cx="220718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SIMULATED: ASK</a:t>
              </a:r>
              <a:endParaRPr lang="en-US" sz="720" dirty="0"/>
            </a:p>
          </p:txBody>
        </p:sp>
      </p:grpSp>
      <p:sp>
        <p:nvSpPr>
          <p:cNvPr id="36" name="static:3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7" name="static:32: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06</a:t>
            </a:r>
            <a:endParaRPr lang="en-US" sz="720" dirty="0"/>
          </a:p>
        </p:txBody>
      </p:sp>
      <p:sp>
        <p:nvSpPr>
          <p:cNvPr id="42" name="takeaway"/>
          <p:cNvSpPr txBox="1"/>
          <p:nvPr/>
        </p:nvSpPr>
        <p:spPr>
          <a:xfrm>
            <a:off x="975360" y="5800000"/>
            <a:ext cx="9965841" cy="400000"/>
          </a:xfrm>
          <a:prstGeom prst="rect">
            <a:avLst/>
          </a:prstGeom>
          <a:noFill/>
        </p:spPr>
        <p:txBody>
          <a:bodyPr wrap="square" lIns="0" rIns="0" tIns="0" bIns="0">
            <a:spAutoFit/>
          </a:bodyPr>
          <a:lstStyle/>
          <a:p>
            <a:r>
              <a:rPr sz="1800" b="1">
                <a:solidFill>
                  <a:srgbClr val="DEDEDE"/>
                </a:solidFill>
                <a:latin typeface="Arial"/>
              </a:rPr>
              <a:t>Policy tells you </a:t>
            </a:r>
            <a:r>
              <a:rPr sz="1800" b="1">
                <a:solidFill>
                  <a:srgbClr val="FBBF24"/>
                </a:solidFill>
                <a:latin typeface="Arial"/>
              </a:rPr>
              <a:t>who must approve</a:t>
            </a:r>
            <a:r>
              <a:rPr sz="1800" b="1">
                <a:solidFill>
                  <a:srgbClr val="DEDEDE"/>
                </a:solidFill>
                <a:latin typeface="Arial"/>
              </a:rPr>
              <a:t>. Work IQ tells you </a:t>
            </a:r>
            <a:r>
              <a:rPr sz="1800" b="1">
                <a:solidFill>
                  <a:srgbClr val="FBBF24"/>
                </a:solidFill>
                <a:latin typeface="Arial"/>
              </a:rPr>
              <a:t>who that is today</a:t>
            </a:r>
            <a:r>
              <a:rPr sz="18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343626"/>
            <a:ext cx="807839"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640806"/>
            <a:ext cx="512904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387566"/>
            <a:ext cx="627507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Ask two questions: one it gets right, and one that</a:t>
            </a:r>
            <a:endParaRPr lang="en-US" sz="1620" dirty="0"/>
          </a:p>
        </p:txBody>
      </p:sp>
      <p:sp>
        <p:nvSpPr>
          <p:cNvPr id="5" name="static:3:text"/>
          <p:cNvSpPr/>
          <p:nvPr/>
        </p:nvSpPr>
        <p:spPr>
          <a:xfrm>
            <a:off x="975360" y="3665220"/>
            <a:ext cx="42743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looks right but isn’t.</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0473" y="6461760"/>
            <a:ext cx="1223367"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1" name="reveal-1:8:text"/>
            <p:cNvSpPr/>
            <p:nvPr/>
          </p:nvSpPr>
          <p:spPr>
            <a:xfrm>
              <a:off x="1287780" y="3540443"/>
              <a:ext cx="2099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5" name="reveal-2:11: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739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Inspect captured prompts, responses and</a:t>
              </a:r>
              <a:endParaRPr lang="en-US" sz="1140" dirty="0"/>
            </a:p>
          </p:txBody>
        </p:sp>
        <p:sp>
          <p:nvSpPr>
            <p:cNvPr id="18" name="reveal-2:14:text"/>
            <p:cNvSpPr/>
            <p:nvPr/>
          </p:nvSpPr>
          <p:spPr>
            <a:xfrm>
              <a:off x="4554141" y="3243263"/>
              <a:ext cx="7121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evidence.</a:t>
              </a:r>
              <a:endParaRPr lang="en-US" sz="1140" dirty="0"/>
            </a:p>
          </p:txBody>
        </p:sp>
        <p:sp>
          <p:nvSpPr>
            <p:cNvPr id="19" name="reveal-2:15: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0" name="reveal-2:16:text"/>
            <p:cNvSpPr/>
            <p:nvPr/>
          </p:nvSpPr>
          <p:spPr>
            <a:xfrm>
              <a:off x="4660821" y="3735824"/>
              <a:ext cx="263247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1" name="reveal-3:17: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2" name="reveal-3:17: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3" name="reveal-3:18: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4" name="reveal-3:19: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5" name="reveal-3:20:text"/>
            <p:cNvSpPr/>
            <p:nvPr/>
          </p:nvSpPr>
          <p:spPr>
            <a:xfrm>
              <a:off x="7927300" y="2698909"/>
              <a:ext cx="76902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Timing</a:t>
              </a:r>
              <a:endParaRPr lang="en-US" sz="1680" dirty="0"/>
            </a:p>
          </p:txBody>
        </p:sp>
        <p:sp>
          <p:nvSpPr>
            <p:cNvPr id="26" name="reveal-3:21:text"/>
            <p:cNvSpPr/>
            <p:nvPr/>
          </p:nvSpPr>
          <p:spPr>
            <a:xfrm>
              <a:off x="7927300" y="3047881"/>
              <a:ext cx="195834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See the duration of each call.</a:t>
              </a:r>
              <a:endParaRPr lang="en-US" sz="1140" dirty="0"/>
            </a:p>
          </p:txBody>
        </p:sp>
        <p:sp>
          <p:nvSpPr>
            <p:cNvPr id="27" name="reveal-3:22: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8" name="reveal-3:23:text"/>
            <p:cNvSpPr/>
            <p:nvPr/>
          </p:nvSpPr>
          <p:spPr>
            <a:xfrm>
              <a:off x="8033980" y="3540443"/>
              <a:ext cx="209442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510790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calls, evidence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 name="reveal-1:4:text"/>
            <p:cNvSpPr/>
            <p:nvPr/>
          </p:nvSpPr>
          <p:spPr>
            <a:xfrm>
              <a:off x="1332071" y="2207419"/>
              <a:ext cx="200858"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J</a:t>
              </a:r>
              <a:endParaRPr lang="en-US" sz="1200" dirty="0"/>
            </a:p>
          </p:txBody>
        </p:sp>
        <p:sp>
          <p:nvSpPr>
            <p:cNvPr id="8" name="reveal-1:5:text"/>
            <p:cNvSpPr/>
            <p:nvPr/>
          </p:nvSpPr>
          <p:spPr>
            <a:xfrm>
              <a:off x="1181100" y="2698909"/>
              <a:ext cx="155733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Next-action judge</a:t>
              </a:r>
              <a:endParaRPr lang="en-US" sz="1680" dirty="0"/>
            </a:p>
          </p:txBody>
        </p:sp>
        <p:sp>
          <p:nvSpPr>
            <p:cNvPr id="9" name="reveal-1:6:text"/>
            <p:cNvSpPr/>
            <p:nvPr/>
          </p:nvSpPr>
          <p:spPr>
            <a:xfrm>
              <a:off x="1181100" y="3285649"/>
              <a:ext cx="266152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Right next step?</a:t>
              </a:r>
              <a:endParaRPr lang="en-US" sz="1140" dirty="0"/>
            </a:p>
          </p:txBody>
        </p:sp>
        <p:sp>
          <p:nvSpPr>
            <p:cNvPr id="10" name="reveal-1:7:text"/>
            <p:cNvSpPr/>
            <p:nvPr/>
          </p:nvSpPr>
          <p:spPr>
            <a:xfrm>
              <a:off x="1181100" y="3481030"/>
              <a:ext cx="64377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Right approver?</a:t>
              </a:r>
              <a:endParaRPr lang="en-US" sz="1140" dirty="0"/>
            </a:p>
          </p:txBody>
        </p:sp>
        <p:sp>
          <p:nvSpPr>
            <p:cNvPr id="11" name="reveal-1:8:shape"/>
            <p:cNvSpPr/>
            <p:nvPr/>
          </p:nvSpPr>
          <p:spPr>
            <a:xfrm>
              <a:off x="1181100" y="3889772"/>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73592"/>
              <a:ext cx="211288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Pass/fail, with a reason about the tool calls.</a:t>
              </a:r>
              <a:endParaRPr lang="en-US" sz="900" dirty="0"/>
            </a:p>
          </p:txBody>
        </p:sp>
        <p:sp>
          <p:nvSpPr>
            <p:cNvPr id="13" name="reveal-1:10:text"/>
            <p:cNvSpPr/>
            <p:nvPr/>
          </p:nvSpPr>
          <p:spPr>
            <a:xfrm>
              <a:off x="1287780" y="4160282"/>
              <a:ext cx="118860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CUSTOM PROMPT EVALUATOR</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7" name="reveal-2:13:text"/>
            <p:cNvSpPr/>
            <p:nvPr/>
          </p:nvSpPr>
          <p:spPr>
            <a:xfrm>
              <a:off x="4651772" y="2207419"/>
              <a:ext cx="30753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R</a:t>
              </a:r>
              <a:endParaRPr lang="en-US" sz="1200" dirty="0"/>
            </a:p>
          </p:txBody>
        </p:sp>
        <p:sp>
          <p:nvSpPr>
            <p:cNvPr id="18" name="reveal-2:14:text"/>
            <p:cNvSpPr/>
            <p:nvPr/>
          </p:nvSpPr>
          <p:spPr>
            <a:xfrm>
              <a:off x="4554141" y="2698909"/>
              <a:ext cx="2320528"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Rubric</a:t>
              </a:r>
              <a:endParaRPr lang="en-US" sz="1680" dirty="0"/>
            </a:p>
          </p:txBody>
        </p:sp>
        <p:sp>
          <p:nvSpPr>
            <p:cNvPr id="19" name="reveal-2:15:text"/>
            <p:cNvSpPr/>
            <p:nvPr/>
          </p:nvSpPr>
          <p:spPr>
            <a:xfrm>
              <a:off x="4554141" y="3285649"/>
              <a:ext cx="269295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How well does the answer meet each</a:t>
              </a:r>
              <a:endParaRPr lang="en-US" sz="1140" dirty="0"/>
            </a:p>
          </p:txBody>
        </p:sp>
        <p:sp>
          <p:nvSpPr>
            <p:cNvPr id="20" name="reveal-2:16:text"/>
            <p:cNvSpPr/>
            <p:nvPr/>
          </p:nvSpPr>
          <p:spPr>
            <a:xfrm>
              <a:off x="4554141" y="3481030"/>
              <a:ext cx="98679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requirement?</a:t>
              </a:r>
              <a:endParaRPr lang="en-US" sz="1140" dirty="0"/>
            </a:p>
          </p:txBody>
        </p:sp>
        <p:sp>
          <p:nvSpPr>
            <p:cNvPr id="21" name="reveal-2:17:shape"/>
            <p:cNvSpPr/>
            <p:nvPr/>
          </p:nvSpPr>
          <p:spPr>
            <a:xfrm>
              <a:off x="4554141" y="3889772"/>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973592"/>
              <a:ext cx="257925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Weighted: route, approver, citations, clarity.</a:t>
              </a:r>
              <a:endParaRPr lang="en-US" sz="900" dirty="0"/>
            </a:p>
          </p:txBody>
        </p:sp>
        <p:sp>
          <p:nvSpPr>
            <p:cNvPr id="23" name="reveal-2:19:text"/>
            <p:cNvSpPr/>
            <p:nvPr/>
          </p:nvSpPr>
          <p:spPr>
            <a:xfrm>
              <a:off x="4660821" y="4160282"/>
              <a:ext cx="17511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RUBRIC EVALUATOR / PREVIEW</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7" name="reveal-3:22:text"/>
            <p:cNvSpPr/>
            <p:nvPr/>
          </p:nvSpPr>
          <p:spPr>
            <a:xfrm>
              <a:off x="8082677" y="2207419"/>
              <a:ext cx="192048"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Per-question criteria</a:t>
              </a:r>
              <a:endParaRPr lang="en-US" sz="1680" dirty="0"/>
            </a:p>
          </p:txBody>
        </p:sp>
        <p:sp>
          <p:nvSpPr>
            <p:cNvPr id="29" name="reveal-3:24:text"/>
            <p:cNvSpPr/>
            <p:nvPr/>
          </p:nvSpPr>
          <p:spPr>
            <a:xfrm>
              <a:off x="7927300" y="3285649"/>
              <a:ext cx="282511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What must this answer get right?</a:t>
              </a:r>
              <a:endParaRPr lang="en-US" sz="1140" dirty="0"/>
            </a:p>
          </p:txBody>
        </p:sp>
        <p:sp>
          <p:nvSpPr>
            <p:cNvPr id="30" name="reveal-3:25:text"/>
            <p:cNvSpPr/>
            <p:nvPr/>
          </p:nvSpPr>
          <p:spPr>
            <a:xfrm>
              <a:off x="7927300" y="3481030"/>
              <a:ext cx="70139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973592"/>
              <a:ext cx="260615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Specific checks, such as “asks for the total</a:t>
              </a:r>
              <a:endParaRPr lang="en-US" sz="900" dirty="0"/>
            </a:p>
          </p:txBody>
        </p:sp>
        <p:sp>
          <p:nvSpPr>
            <p:cNvPr id="33" name="reveal-3:28:text"/>
            <p:cNvSpPr/>
            <p:nvPr/>
          </p:nvSpPr>
          <p:spPr>
            <a:xfrm>
              <a:off x="8033980" y="4122182"/>
              <a:ext cx="98429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cost first”.</a:t>
              </a:r>
              <a:endParaRPr lang="en-US" sz="900" dirty="0"/>
            </a:p>
          </p:txBody>
        </p:sp>
        <p:sp>
          <p:nvSpPr>
            <p:cNvPr id="34" name="reveal-3:29:text"/>
            <p:cNvSpPr/>
            <p:nvPr/>
          </p:nvSpPr>
          <p:spPr>
            <a:xfrm>
              <a:off x="8033980" y="4308872"/>
              <a:ext cx="161603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USED BY AGENT OPTIMIZER</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631900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How consistently does the agent handle different purchases, dates and</a:t>
            </a:r>
            <a:endParaRPr lang="en-US" sz="1620" dirty="0"/>
          </a:p>
        </p:txBody>
      </p:sp>
      <p:sp>
        <p:nvSpPr>
          <p:cNvPr id="5" name="static:3:text"/>
          <p:cNvSpPr/>
          <p:nvPr/>
        </p:nvSpPr>
        <p:spPr>
          <a:xfrm>
            <a:off x="975360" y="3665220"/>
            <a:ext cx="1919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missing 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marL="0" indent="0" algn="l">
              <a:buNone/>
            </a:pPr>
            <a:r>
              <a:rPr lang="en-US" sz="960" b="1" kern="0" spc="154"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Optimise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txBody>
            <a:bodyPr/>
            <a:lstStyle/>
            <a:p>
              <a:endParaRPr lang="en-US"/>
            </a:p>
          </p:txBody>
        </p:sp>
        <p:sp>
          <p:nvSpPr>
            <p:cNvPr id="7" name="reveal-1:4:text"/>
            <p:cNvSpPr/>
            <p:nvPr/>
          </p:nvSpPr>
          <p:spPr>
            <a:xfrm>
              <a:off x="1336715" y="2207419"/>
              <a:ext cx="191572" cy="190500"/>
            </a:xfrm>
            <a:prstGeom prst="rect">
              <a:avLst/>
            </a:prstGeom>
            <a:noFill/>
            <a:ln/>
          </p:spPr>
          <p:txBody>
            <a:bodyPr wrap="none" lIns="0" tIns="0" rIns="0" bIns="0" rtlCol="0" anchor="ctr"/>
            <a:lstStyle/>
            <a:p>
              <a:pPr marL="0" indent="0" algn="l">
                <a:buNone/>
              </a:pPr>
              <a:r>
                <a:rPr lang="en-US" sz="1200" b="1" kern="0" spc="-24"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38136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17" name="reveal-2:13:text"/>
            <p:cNvSpPr/>
            <p:nvPr/>
          </p:nvSpPr>
          <p:spPr>
            <a:xfrm>
              <a:off x="4706183" y="2207419"/>
              <a:ext cx="19883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735824"/>
              <a:ext cx="242268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7" name="reveal-3:22: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735824"/>
              <a:ext cx="252091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quality improve, or hold at lower cost?</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7412831" y="6461760"/>
            <a:ext cx="12130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12</a:t>
            </a:r>
            <a:endParaRPr lang="en-US" sz="720" dirty="0"/>
          </a:p>
        </p:txBody>
      </p:sp>
      <p:sp>
        <p:nvSpPr>
          <p:cNvPr id="38" name="takeaway"/>
          <p:cNvSpPr txBox="1"/>
          <p:nvPr/>
        </p:nvSpPr>
        <p:spPr>
          <a:xfrm>
            <a:off x="975360" y="5650000"/>
            <a:ext cx="7400000" cy="600000"/>
          </a:xfrm>
          <a:prstGeom prst="rect">
            <a:avLst/>
          </a:prstGeom>
          <a:noFill/>
        </p:spPr>
        <p:txBody>
          <a:bodyPr wrap="square" lIns="0" rIns="0" tIns="0" bIns="0">
            <a:spAutoFit/>
          </a:bodyPr>
          <a:lstStyle/>
          <a:p>
            <a:r>
              <a:rPr sz="1800" b="1">
                <a:solidFill>
                  <a:srgbClr val="DEDEDE"/>
                </a:solidFill>
                <a:latin typeface="Arial"/>
              </a:rPr>
              <a:t>Fix the tools first. </a:t>
            </a:r>
            <a:r>
              <a:rPr sz="1800" b="1">
                <a:solidFill>
                  <a:srgbClr val="F87171"/>
                </a:solidFill>
                <a:latin typeface="Arial"/>
              </a:rPr>
              <a:t>The optimizer refines a working agent; it doesn’t rescue a broken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343626"/>
            <a:ext cx="811292" cy="190500"/>
          </a:xfrm>
          <a:prstGeom prst="rect">
            <a:avLst/>
          </a:prstGeom>
          <a:noFill/>
          <a:ln/>
        </p:spPr>
        <p:txBody>
          <a:bodyPr wrap="none" lIns="0" tIns="0" rIns="0" bIns="0" rtlCol="0" anchor="ctr"/>
          <a:lstStyle/>
          <a:p>
            <a:pPr marL="0" indent="0" algn="l">
              <a:buNone/>
            </a:pPr>
            <a:r>
              <a:rPr lang="en-US" sz="1200" b="1" kern="0" spc="18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640806"/>
            <a:ext cx="374351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387566"/>
            <a:ext cx="562665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The score went up. Now read the change: which parts</a:t>
            </a:r>
            <a:endParaRPr lang="en-US" sz="1620" dirty="0"/>
          </a:p>
        </p:txBody>
      </p:sp>
      <p:sp>
        <p:nvSpPr>
          <p:cNvPr id="5" name="static:3:text"/>
          <p:cNvSpPr/>
          <p:nvPr/>
        </p:nvSpPr>
        <p:spPr>
          <a:xfrm>
            <a:off x="975360" y="3665220"/>
            <a:ext cx="2113002"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are rules, and which are copied facts?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8688" y="6461760"/>
            <a:ext cx="121515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utomate">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Three test sets, three jobs</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D</a:t>
              </a:r>
              <a:endParaRPr lang="en-US" sz="1200" dirty="0"/>
            </a:p>
          </p:txBody>
        </p:sp>
        <p:sp>
          <p:nvSpPr>
            <p:cNvPr id="8"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Development</a:t>
              </a:r>
              <a:endParaRPr lang="en-US" sz="1680" dirty="0"/>
            </a:p>
          </p:txBody>
        </p:sp>
        <p:sp>
          <p:nvSpPr>
            <p:cNvPr id="9"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trains on it.</a:t>
              </a:r>
              <a:endParaRPr lang="en-US" sz="1140" dirty="0"/>
            </a:p>
          </p:txBody>
        </p:sp>
        <p:sp>
          <p:nvSpPr>
            <p:cNvPr id="11"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every pull request, as a small, quick subset.</a:t>
              </a:r>
              <a:endParaRPr lang="en-US" sz="900" dirty="0"/>
            </a:p>
          </p:txBody>
        </p:sp>
      </p:grpSp>
      <p:grpSp>
        <p:nvGrpSpPr>
          <p:cNvPr id="36" name="Reveal 2"/>
          <p:cNvGrpSpPr/>
          <p:nvPr/>
        </p:nvGrpSpPr>
        <p:grpSpPr>
          <a:xfrm>
            <a:off x="4348401" y="1868329"/>
            <a:ext cx="3220641" cy="3791902"/>
            <a:chOff x="4348401" y="1868329"/>
            <a:chExt cx="3220641" cy="3791902"/>
          </a:xfrm>
        </p:grpSpPr>
        <p:sp>
          <p:nvSpPr>
            <p:cNvPr id="13" name="reveal-2:10:shape"/>
            <p:cNvSpPr/>
            <p:nvPr/>
          </p:nvSpPr>
          <p:spPr>
            <a:xfrm>
              <a:off x="4348401" y="1868329"/>
              <a:ext cx="3220641"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4439841"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H</a:t>
              </a:r>
              <a:endParaRPr lang="en-US" sz="1200" dirty="0"/>
            </a:p>
          </p:txBody>
        </p:sp>
        <p:sp>
          <p:nvSpPr>
            <p:cNvPr id="17" name="reveal-2:13: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Holdout</a:t>
              </a:r>
              <a:endParaRPr lang="en-US" sz="1680" dirty="0"/>
            </a:p>
          </p:txBody>
        </p:sp>
        <p:sp>
          <p:nvSpPr>
            <p:cNvPr id="18" name="reveal-2:14: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optimizer validates against it.</a:t>
              </a:r>
              <a:endParaRPr lang="en-US" sz="1140" dirty="0"/>
            </a:p>
          </p:txBody>
        </p:sp>
        <p:sp>
          <p:nvSpPr>
            <p:cNvPr id="20" name="reveal-2:16: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on merge to main.</a:t>
              </a:r>
              <a:endParaRPr lang="en-US" sz="900" dirty="0"/>
            </a:p>
          </p:txBody>
        </p:sp>
      </p:grpSp>
      <p:grpSp>
        <p:nvGrpSpPr>
          <p:cNvPr id="37" name="Reveal 3"/>
          <p:cNvGrpSpPr/>
          <p:nvPr/>
        </p:nvGrpSpPr>
        <p:grpSpPr>
          <a:xfrm>
            <a:off x="7721442" y="1868329"/>
            <a:ext cx="3220641" cy="3791902"/>
            <a:chOff x="7721442" y="1868329"/>
            <a:chExt cx="3220641" cy="3791902"/>
          </a:xfrm>
        </p:grpSpPr>
        <p:sp>
          <p:nvSpPr>
            <p:cNvPr id="23" name="reveal-3:19: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7812882"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7927182"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Δ</a:t>
              </a:r>
              <a:endParaRPr lang="en-US" sz="1200" dirty="0"/>
            </a:p>
          </p:txBody>
        </p:sp>
        <p:sp>
          <p:nvSpPr>
            <p:cNvPr id="27" name="reveal-3:22: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Drift</a:t>
              </a:r>
              <a:endParaRPr lang="en-US" sz="1680" dirty="0"/>
            </a:p>
          </p:txBody>
        </p:sp>
        <p:sp>
          <p:nvSpPr>
            <p:cNvPr id="28" name="reveal-3:23: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Never shown to the optimizer. The right answers change with the date.</a:t>
              </a:r>
              <a:endParaRPr lang="en-US" sz="1140" dirty="0"/>
            </a:p>
          </p:txBody>
        </p:sp>
        <p:sp>
          <p:nvSpPr>
            <p:cNvPr id="30" name="reveal-3:25: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Runs before a candidate is promoted.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14</a:t>
            </a:r>
            <a:endParaRPr lang="en-US" sz="720" dirty="0"/>
          </a:p>
        </p:txBody>
      </p:sp>
      <p:sp>
        <p:nvSpPr>
          <p:cNvPr id="38" name="takeaway"/>
          <p:cNvSpPr txBox="1"/>
          <p:nvPr/>
        </p:nvSpPr>
        <p:spPr>
          <a:xfrm>
            <a:off x="975360" y="5800000"/>
            <a:ext cx="9965841" cy="400000"/>
          </a:xfrm>
          <a:prstGeom prst="rect">
            <a:avLst/>
          </a:prstGeom>
          <a:noFill/>
        </p:spPr>
        <p:txBody>
          <a:bodyPr wrap="square" lIns="0" rIns="0" tIns="0" bIns="0">
            <a:spAutoFit/>
          </a:bodyPr>
          <a:lstStyle/>
          <a:p>
            <a:r>
              <a:rPr sz="1800" b="1">
                <a:solidFill>
                  <a:srgbClr val="DEDEDE"/>
                </a:solidFill>
                <a:latin typeface="Arial"/>
              </a:rPr>
              <a:t>Homework, practice exam, </a:t>
            </a:r>
            <a:r>
              <a:rPr sz="1800" b="1">
                <a:solidFill>
                  <a:srgbClr val="4DA6FF"/>
                </a:solidFill>
                <a:latin typeface="Arial"/>
              </a:rPr>
              <a:t>surprise exam</a:t>
            </a:r>
            <a:r>
              <a:rPr sz="1800" b="1">
                <a:solidFill>
                  <a:srgbClr val="DEDEDE"/>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RELEASE GATES FOR AGENTS</a:t>
            </a:r>
            <a:endParaRPr lang="en-US" sz="960" dirty="0"/>
          </a:p>
        </p:txBody>
      </p:sp>
      <p:sp>
        <p:nvSpPr>
          <p:cNvPr id="3" name="static:1:text"/>
          <p:cNvSpPr/>
          <p:nvPr/>
        </p:nvSpPr>
        <p:spPr>
          <a:xfrm>
            <a:off x="975360" y="1068229"/>
            <a:ext cx="600000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the gate checks</a:t>
            </a:r>
            <a:endParaRPr lang="en-US" sz="2640" dirty="0"/>
          </a:p>
        </p:txBody>
      </p:sp>
      <p:grpSp>
        <p:nvGrpSpPr>
          <p:cNvPr id="35" name="Reveal 1"/>
          <p:cNvGrpSpPr/>
          <p:nvPr/>
        </p:nvGrpSpPr>
        <p:grpSpPr>
          <a:xfrm>
            <a:off x="975360" y="1868329"/>
            <a:ext cx="2377160" cy="3791902"/>
            <a:chOff x="975360" y="1868329"/>
            <a:chExt cx="2377160" cy="3791902"/>
          </a:xfrm>
        </p:grpSpPr>
        <p:sp>
          <p:nvSpPr>
            <p:cNvPr id="4" name="reveal-1:2:shape"/>
            <p:cNvSpPr/>
            <p:nvPr/>
          </p:nvSpPr>
          <p:spPr>
            <a:xfrm>
              <a:off x="97536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2194280"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1965680" cy="266700"/>
            </a:xfrm>
            <a:prstGeom prst="rect">
              <a:avLst/>
            </a:prstGeom>
            <a:noFill/>
            <a:ln/>
          </p:spPr>
          <p:txBody>
            <a:bodyPr wrap="squar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Facts in the prompt</a:t>
              </a:r>
              <a:endParaRPr lang="en-US" sz="1440" dirty="0"/>
            </a:p>
          </p:txBody>
        </p:sp>
        <p:sp>
          <p:nvSpPr>
            <p:cNvPr id="9" name="reveal-1:6:text"/>
            <p:cNvSpPr/>
            <p:nvPr/>
          </p:nvSpPr>
          <p:spPr>
            <a:xfrm>
              <a:off x="118110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Did the candidate copy amounts, dates or names into its instructions?</a:t>
              </a:r>
              <a:endParaRPr lang="en-US" sz="1140" dirty="0"/>
            </a:p>
          </p:txBody>
        </p:sp>
        <p:sp>
          <p:nvSpPr>
            <p:cNvPr id="11" name="reveal-1:8:shape"/>
            <p:cNvSpPr/>
            <p:nvPr/>
          </p:nvSpPr>
          <p:spPr>
            <a:xfrm>
              <a:off x="118110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Seconds. No LLM needed.</a:t>
              </a:r>
              <a:endParaRPr lang="en-US" sz="900" dirty="0"/>
            </a:p>
          </p:txBody>
        </p:sp>
      </p:grpSp>
      <p:grpSp>
        <p:nvGrpSpPr>
          <p:cNvPr id="36" name="Reveal 2"/>
          <p:cNvGrpSpPr/>
          <p:nvPr/>
        </p:nvGrpSpPr>
        <p:grpSpPr>
          <a:xfrm>
            <a:off x="3504920" y="1868329"/>
            <a:ext cx="2377160" cy="3791902"/>
            <a:chOff x="3504920" y="1868329"/>
            <a:chExt cx="2377160" cy="3791902"/>
          </a:xfrm>
        </p:grpSpPr>
        <p:sp>
          <p:nvSpPr>
            <p:cNvPr id="13" name="reveal-2:10:shape"/>
            <p:cNvSpPr/>
            <p:nvPr/>
          </p:nvSpPr>
          <p:spPr>
            <a:xfrm>
              <a:off x="3504920" y="1868329"/>
              <a:ext cx="23771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3596360" y="1883569"/>
              <a:ext cx="2194280"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371066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371066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7" name="reveal-2:13:text"/>
            <p:cNvSpPr/>
            <p:nvPr/>
          </p:nvSpPr>
          <p:spPr>
            <a:xfrm>
              <a:off x="3710660" y="2698909"/>
              <a:ext cx="1965680" cy="266700"/>
            </a:xfrm>
            <a:prstGeom prst="rect">
              <a:avLst/>
            </a:prstGeom>
            <a:noFill/>
            <a:ln/>
          </p:spPr>
          <p:txBody>
            <a:bodyPr wrap="squar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Change vs baseline</a:t>
              </a:r>
              <a:endParaRPr lang="en-US" sz="1440" dirty="0"/>
            </a:p>
          </p:txBody>
        </p:sp>
        <p:sp>
          <p:nvSpPr>
            <p:cNvPr id="18" name="reveal-2:14:text"/>
            <p:cNvSpPr/>
            <p:nvPr/>
          </p:nvSpPr>
          <p:spPr>
            <a:xfrm>
              <a:off x="371066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Fail on a drop bigger than the noise, not below a fixed number.</a:t>
              </a:r>
              <a:endParaRPr lang="en-US" sz="1140" dirty="0"/>
            </a:p>
          </p:txBody>
        </p:sp>
        <p:sp>
          <p:nvSpPr>
            <p:cNvPr id="20" name="reveal-2:16:shape"/>
            <p:cNvSpPr/>
            <p:nvPr/>
          </p:nvSpPr>
          <p:spPr>
            <a:xfrm>
              <a:off x="371066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381734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Foundry treats changes under 0.03 as noise.</a:t>
              </a:r>
              <a:endParaRPr lang="en-US" sz="900" dirty="0"/>
            </a:p>
          </p:txBody>
        </p:sp>
      </p:grpSp>
      <p:grpSp>
        <p:nvGrpSpPr>
          <p:cNvPr id="37" name="Reveal 3"/>
          <p:cNvGrpSpPr/>
          <p:nvPr/>
        </p:nvGrpSpPr>
        <p:grpSpPr>
          <a:xfrm>
            <a:off x="6034480" y="1868329"/>
            <a:ext cx="2377160" cy="3791902"/>
            <a:chOff x="6034480" y="1868329"/>
            <a:chExt cx="2377160" cy="3791902"/>
          </a:xfrm>
        </p:grpSpPr>
        <p:sp>
          <p:nvSpPr>
            <p:cNvPr id="23" name="reveal-3:19:shape"/>
            <p:cNvSpPr/>
            <p:nvPr/>
          </p:nvSpPr>
          <p:spPr>
            <a:xfrm>
              <a:off x="603448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6125920" y="1883569"/>
              <a:ext cx="2194280"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624022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624022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7" name="reveal-3:22:text"/>
            <p:cNvSpPr/>
            <p:nvPr/>
          </p:nvSpPr>
          <p:spPr>
            <a:xfrm>
              <a:off x="6240220" y="2698909"/>
              <a:ext cx="1965680" cy="266700"/>
            </a:xfrm>
            <a:prstGeom prst="rect">
              <a:avLst/>
            </a:prstGeom>
            <a:noFill/>
            <a:ln/>
          </p:spPr>
          <p:txBody>
            <a:bodyPr wrap="squar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Must-pass cases</a:t>
              </a:r>
              <a:endParaRPr lang="en-US" sz="1440" dirty="0"/>
            </a:p>
          </p:txBody>
        </p:sp>
        <p:sp>
          <p:nvSpPr>
            <p:cNvPr id="28" name="reveal-3:23:text"/>
            <p:cNvSpPr/>
            <p:nvPr/>
          </p:nvSpPr>
          <p:spPr>
            <a:xfrm>
              <a:off x="624022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Wrong approver, or obeying an email, blocks the release whatever the average.</a:t>
              </a:r>
              <a:endParaRPr lang="en-US" sz="1140" dirty="0"/>
            </a:p>
          </p:txBody>
        </p:sp>
        <p:sp>
          <p:nvSpPr>
            <p:cNvPr id="30" name="reveal-3:25:shape"/>
            <p:cNvSpPr/>
            <p:nvPr/>
          </p:nvSpPr>
          <p:spPr>
            <a:xfrm>
              <a:off x="6240220" y="3852004"/>
              <a:ext cx="1965680" cy="78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6346900" y="3932004"/>
              <a:ext cx="1752320" cy="62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Averages hide the failures that matter.</a:t>
              </a:r>
              <a:endParaRPr lang="en-US" sz="900" dirty="0"/>
            </a:p>
          </p:txBody>
        </p:sp>
      </p:grpSp>
      <p:grpSp>
        <p:nvGrpSpPr>
          <p:cNvPr id="38" name="Reveal 4"/>
          <p:cNvGrpSpPr/>
          <p:nvPr/>
        </p:nvGrpSpPr>
        <p:grpSpPr>
          <a:xfrm>
            <a:off x="8564040" y="1868329"/>
            <a:ext cx="2377160" cy="3791902"/>
            <a:chOff x="8564040" y="1868329"/>
            <a:chExt cx="2377160" cy="3791902"/>
          </a:xfrm>
        </p:grpSpPr>
        <p:sp>
          <p:nvSpPr>
            <p:cNvPr id="39" name="reveal-1:2:shape"/>
            <p:cNvSpPr/>
            <p:nvPr/>
          </p:nvSpPr>
          <p:spPr>
            <a:xfrm>
              <a:off x="8564040" y="1868329"/>
              <a:ext cx="2377160"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40" name="reveal-1:2:shape:border-0"/>
            <p:cNvSpPr/>
            <p:nvPr/>
          </p:nvSpPr>
          <p:spPr>
            <a:xfrm>
              <a:off x="8655480" y="1883569"/>
              <a:ext cx="2194280" cy="0"/>
            </a:xfrm>
            <a:prstGeom prst="line">
              <a:avLst/>
            </a:prstGeom>
            <a:noFill/>
            <a:ln w="30480">
              <a:solidFill>
                <a:srgbClr val="B88CFF"/>
              </a:solidFill>
              <a:prstDash val="solid"/>
              <a:headEnd type="none"/>
              <a:tailEnd type="none"/>
            </a:ln>
          </p:spPr>
          <p:txBody>
            <a:bodyPr/>
            <a:lstStyle/>
            <a:p>
              <a:endParaRPr lang="en-US"/>
            </a:p>
          </p:txBody>
        </p:sp>
        <p:sp>
          <p:nvSpPr>
            <p:cNvPr id="41" name="reveal-1:3:shape"/>
            <p:cNvSpPr/>
            <p:nvPr/>
          </p:nvSpPr>
          <p:spPr>
            <a:xfrm>
              <a:off x="8769780" y="2096929"/>
              <a:ext cx="411480" cy="411480"/>
            </a:xfrm>
            <a:prstGeom prst="roundRect">
              <a:avLst>
                <a:gd name="adj" fmla="val 25926"/>
              </a:avLst>
            </a:prstGeom>
            <a:solidFill>
              <a:srgbClr val="000000">
                <a:alpha val="0"/>
              </a:srgbClr>
            </a:solidFill>
            <a:ln w="15240">
              <a:solidFill>
                <a:srgbClr val="B88CFF"/>
              </a:solidFill>
              <a:prstDash val="solid"/>
            </a:ln>
          </p:spPr>
          <p:txBody>
            <a:bodyPr/>
            <a:lstStyle/>
            <a:p>
              <a:endParaRPr lang="en-US"/>
            </a:p>
          </p:txBody>
        </p:sp>
        <p:sp>
          <p:nvSpPr>
            <p:cNvPr id="42" name="reveal-1:4:text"/>
            <p:cNvSpPr/>
            <p:nvPr/>
          </p:nvSpPr>
          <p:spPr>
            <a:xfrm>
              <a:off x="876978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B88CFF"/>
                  </a:solidFill>
                  <a:latin typeface="Arial" pitchFamily="34" charset="0"/>
                  <a:ea typeface="Arial" pitchFamily="34" charset="-122"/>
                  <a:cs typeface="Arial" pitchFamily="34" charset="-120"/>
                </a:rPr>
                <a:t>4</a:t>
              </a:r>
              <a:endParaRPr lang="en-US" sz="1200" dirty="0"/>
            </a:p>
          </p:txBody>
        </p:sp>
        <p:sp>
          <p:nvSpPr>
            <p:cNvPr id="43" name="reveal-1:5:text"/>
            <p:cNvSpPr/>
            <p:nvPr/>
          </p:nvSpPr>
          <p:spPr>
            <a:xfrm>
              <a:off x="8769780" y="2698909"/>
              <a:ext cx="1965680" cy="266700"/>
            </a:xfrm>
            <a:prstGeom prst="rect">
              <a:avLst/>
            </a:prstGeom>
            <a:noFill/>
            <a:ln/>
          </p:spPr>
          <p:txBody>
            <a:bodyPr wrap="square" lIns="0" tIns="0" rIns="0" bIns="0" rtlCol="0" anchor="ctr"/>
            <a:lstStyle/>
            <a:p>
              <a:pPr marL="0" indent="0" algn="l">
                <a:buNone/>
              </a:pPr>
              <a:r>
                <a:rPr lang="en-US" sz="1440" b="1" dirty="0">
                  <a:solidFill>
                    <a:srgbClr val="B88CFF"/>
                  </a:solidFill>
                  <a:latin typeface="Arial" pitchFamily="34" charset="0"/>
                  <a:ea typeface="Arial" pitchFamily="34" charset="-122"/>
                  <a:cs typeface="Arial" pitchFamily="34" charset="-120"/>
                </a:rPr>
                <a:t>Pinned together</a:t>
              </a:r>
              <a:endParaRPr lang="en-US" sz="1440" dirty="0"/>
            </a:p>
          </p:txBody>
        </p:sp>
        <p:sp>
          <p:nvSpPr>
            <p:cNvPr id="44" name="reveal-1:6:text"/>
            <p:cNvSpPr/>
            <p:nvPr/>
          </p:nvSpPr>
          <p:spPr>
            <a:xfrm>
              <a:off x="8769780" y="3047881"/>
              <a:ext cx="1965680" cy="7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Prompt, tool descriptions, model and dataset version.</a:t>
              </a:r>
              <a:endParaRPr lang="en-US" sz="1140" dirty="0"/>
            </a:p>
          </p:txBody>
        </p:sp>
        <p:sp>
          <p:nvSpPr>
            <p:cNvPr id="46" name="reveal-1:8:shape"/>
            <p:cNvSpPr/>
            <p:nvPr/>
          </p:nvSpPr>
          <p:spPr>
            <a:xfrm>
              <a:off x="8769780" y="3852004"/>
              <a:ext cx="1965680"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47" name="reveal-1:9:text"/>
            <p:cNvSpPr/>
            <p:nvPr/>
          </p:nvSpPr>
          <p:spPr>
            <a:xfrm>
              <a:off x="8876460" y="3932004"/>
              <a:ext cx="1752320"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 score is only comparable if all four are recorded.</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Demo 6 - Release Check">
    <p:spTree>
      <p:nvGrpSpPr>
        <p:cNvPr id="1" name=""/>
        <p:cNvGrpSpPr/>
        <p:nvPr/>
      </p:nvGrpSpPr>
      <p:grpSpPr>
        <a:xfrm>
          <a:off x="0" y="0"/>
          <a:ext cx="0" cy="0"/>
          <a:chOff x="0" y="0"/>
          <a:chExt cx="0" cy="0"/>
        </a:xfrm>
      </p:grpSpPr>
      <p:sp>
        <p:nvSpPr>
          <p:cNvPr id="2" name="static:0:text"/>
          <p:cNvSpPr/>
          <p:nvPr/>
        </p:nvSpPr>
        <p:spPr>
          <a:xfrm>
            <a:off x="975360" y="2343626"/>
            <a:ext cx="814626"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640806"/>
            <a:ext cx="7000000"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The check that goes red</a:t>
            </a:r>
            <a:endParaRPr lang="en-US" sz="4080" dirty="0"/>
          </a:p>
        </p:txBody>
      </p:sp>
      <p:sp>
        <p:nvSpPr>
          <p:cNvPr id="4" name="static:2:text"/>
          <p:cNvSpPr/>
          <p:nvPr/>
        </p:nvSpPr>
        <p:spPr>
          <a:xfrm>
            <a:off x="975360" y="3387566"/>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Run the fact check on the optimizer’s candidate, then find</a:t>
            </a:r>
            <a:endParaRPr lang="en-US" sz="1620" dirty="0"/>
          </a:p>
        </p:txBody>
      </p:sp>
      <p:sp>
        <p:nvSpPr>
          <p:cNvPr id="5" name="static:3:text"/>
          <p:cNvSpPr/>
          <p:nvPr/>
        </p:nvSpPr>
        <p:spPr>
          <a:xfrm>
            <a:off x="975360" y="3665220"/>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the same check in the pipeline.</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9403" y="6461760"/>
            <a:ext cx="121443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AFTER RELEASE</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Production feeds the tests</a:t>
            </a:r>
            <a:endParaRPr lang="en-US" sz="2640" dirty="0"/>
          </a:p>
        </p:txBody>
      </p:sp>
      <p:grpSp>
        <p:nvGrpSpPr>
          <p:cNvPr id="52" name="Reveal 1"/>
          <p:cNvGrpSpPr/>
          <p:nvPr/>
        </p:nvGrpSpPr>
        <p:grpSpPr>
          <a:xfrm>
            <a:off x="975360" y="1868329"/>
            <a:ext cx="3220641" cy="3791902"/>
            <a:chOff x="975360" y="1868329"/>
            <a:chExt cx="3220641" cy="3791902"/>
          </a:xfrm>
        </p:grpSpPr>
        <p:sp>
          <p:nvSpPr>
            <p:cNvPr id="53"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4"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55"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56" name="reveal-1:4:text"/>
            <p:cNvSpPr/>
            <p:nvPr/>
          </p:nvSpPr>
          <p:spPr>
            <a:xfrm>
              <a:off x="1181100"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57" name="reveal-1:5:text"/>
            <p:cNvSpPr/>
            <p:nvPr/>
          </p:nvSpPr>
          <p:spPr>
            <a:xfrm>
              <a:off x="1181100" y="2698909"/>
              <a:ext cx="2809161" cy="266700"/>
            </a:xfrm>
            <a:prstGeom prst="rect">
              <a:avLst/>
            </a:prstGeom>
            <a:noFill/>
            <a:ln/>
          </p:spPr>
          <p:txBody>
            <a:bodyPr wrap="squar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Sample traces</a:t>
              </a:r>
              <a:endParaRPr lang="en-US" sz="1680" dirty="0"/>
            </a:p>
          </p:txBody>
        </p:sp>
        <p:sp>
          <p:nvSpPr>
            <p:cNvPr id="58" name="reveal-1:6:text"/>
            <p:cNvSpPr/>
            <p:nvPr/>
          </p:nvSpPr>
          <p:spPr>
            <a:xfrm>
              <a:off x="1181100"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Continuous evaluation scores a sample of real conversations.</a:t>
              </a:r>
              <a:endParaRPr lang="en-US" sz="1140" dirty="0"/>
            </a:p>
          </p:txBody>
        </p:sp>
        <p:sp>
          <p:nvSpPr>
            <p:cNvPr id="60" name="reveal-1:8:shape"/>
            <p:cNvSpPr/>
            <p:nvPr/>
          </p:nvSpPr>
          <p:spPr>
            <a:xfrm>
              <a:off x="1181100"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61" name="reveal-1:9:text"/>
            <p:cNvSpPr/>
            <p:nvPr/>
          </p:nvSpPr>
          <p:spPr>
            <a:xfrm>
              <a:off x="1287780"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Alert on quality, latency and cost.</a:t>
              </a:r>
              <a:endParaRPr lang="en-US" sz="900" dirty="0"/>
            </a:p>
          </p:txBody>
        </p:sp>
      </p:grpSp>
      <p:grpSp>
        <p:nvGrpSpPr>
          <p:cNvPr id="62" name="Reveal 2"/>
          <p:cNvGrpSpPr/>
          <p:nvPr/>
        </p:nvGrpSpPr>
        <p:grpSpPr>
          <a:xfrm>
            <a:off x="4348401" y="1868329"/>
            <a:ext cx="3220641" cy="3791902"/>
            <a:chOff x="4348401" y="1868329"/>
            <a:chExt cx="3220641" cy="3791902"/>
          </a:xfrm>
        </p:grpSpPr>
        <p:sp>
          <p:nvSpPr>
            <p:cNvPr id="63" name="reveal-1:2:shape"/>
            <p:cNvSpPr/>
            <p:nvPr/>
          </p:nvSpPr>
          <p:spPr>
            <a:xfrm>
              <a:off x="4348401"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64" name="reveal-1:2:shape:border-0"/>
            <p:cNvSpPr/>
            <p:nvPr/>
          </p:nvSpPr>
          <p:spPr>
            <a:xfrm>
              <a:off x="4439841"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5" name="reveal-1:3: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66" name="reveal-1:4:text"/>
            <p:cNvSpPr/>
            <p:nvPr/>
          </p:nvSpPr>
          <p:spPr>
            <a:xfrm>
              <a:off x="4554141"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FBBF24"/>
                  </a:solidFill>
                  <a:latin typeface="Arial" pitchFamily="34" charset="0"/>
                  <a:ea typeface="Arial" pitchFamily="34" charset="-122"/>
                  <a:cs typeface="Arial" pitchFamily="34" charset="-120"/>
                </a:rPr>
                <a:t>2</a:t>
              </a:r>
              <a:endParaRPr lang="en-US" sz="1200" dirty="0"/>
            </a:p>
          </p:txBody>
        </p:sp>
        <p:sp>
          <p:nvSpPr>
            <p:cNvPr id="67" name="reveal-1:5:text"/>
            <p:cNvSpPr/>
            <p:nvPr/>
          </p:nvSpPr>
          <p:spPr>
            <a:xfrm>
              <a:off x="4554141" y="2698909"/>
              <a:ext cx="2809161" cy="266700"/>
            </a:xfrm>
            <a:prstGeom prst="rect">
              <a:avLst/>
            </a:prstGeom>
            <a:noFill/>
            <a:ln/>
          </p:spPr>
          <p:txBody>
            <a:bodyPr wrap="squar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Keep the failures</a:t>
              </a:r>
              <a:endParaRPr lang="en-US" sz="1680" dirty="0"/>
            </a:p>
          </p:txBody>
        </p:sp>
        <p:sp>
          <p:nvSpPr>
            <p:cNvPr id="68" name="reveal-1:6:text"/>
            <p:cNvSpPr/>
            <p:nvPr/>
          </p:nvSpPr>
          <p:spPr>
            <a:xfrm>
              <a:off x="4554141"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Turn interesting failures into new, reviewed test rows.</a:t>
              </a:r>
              <a:endParaRPr lang="en-US" sz="1140" dirty="0"/>
            </a:p>
          </p:txBody>
        </p:sp>
        <p:sp>
          <p:nvSpPr>
            <p:cNvPr id="70" name="reveal-1:8:shape"/>
            <p:cNvSpPr/>
            <p:nvPr/>
          </p:nvSpPr>
          <p:spPr>
            <a:xfrm>
              <a:off x="4554141"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71" name="reveal-1:9:text"/>
            <p:cNvSpPr/>
            <p:nvPr/>
          </p:nvSpPr>
          <p:spPr>
            <a:xfrm>
              <a:off x="4660821"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Redact personal data first.</a:t>
              </a:r>
              <a:endParaRPr lang="en-US" sz="900" dirty="0"/>
            </a:p>
          </p:txBody>
        </p:sp>
      </p:grpSp>
      <p:grpSp>
        <p:nvGrpSpPr>
          <p:cNvPr id="72" name="Reveal 3"/>
          <p:cNvGrpSpPr/>
          <p:nvPr/>
        </p:nvGrpSpPr>
        <p:grpSpPr>
          <a:xfrm>
            <a:off x="7721442" y="1868329"/>
            <a:ext cx="3220641" cy="3791902"/>
            <a:chOff x="7721442" y="1868329"/>
            <a:chExt cx="3220641" cy="3791902"/>
          </a:xfrm>
        </p:grpSpPr>
        <p:sp>
          <p:nvSpPr>
            <p:cNvPr id="73" name="reveal-1:2:shape"/>
            <p:cNvSpPr/>
            <p:nvPr/>
          </p:nvSpPr>
          <p:spPr>
            <a:xfrm>
              <a:off x="7721442"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74" name="reveal-1:2:shape:border-0"/>
            <p:cNvSpPr/>
            <p:nvPr/>
          </p:nvSpPr>
          <p:spPr>
            <a:xfrm>
              <a:off x="7812882"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75" name="reveal-1:3:shape"/>
            <p:cNvSpPr/>
            <p:nvPr/>
          </p:nvSpPr>
          <p:spPr>
            <a:xfrm>
              <a:off x="7927182"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6" name="reveal-1:4:text"/>
            <p:cNvSpPr/>
            <p:nvPr/>
          </p:nvSpPr>
          <p:spPr>
            <a:xfrm>
              <a:off x="7927182" y="2207419"/>
              <a:ext cx="411480" cy="190500"/>
            </a:xfrm>
            <a:prstGeom prst="rect">
              <a:avLst/>
            </a:prstGeom>
            <a:noFill/>
            <a:ln/>
          </p:spPr>
          <p:txBody>
            <a:bodyPr wrap="square" lIns="0" tIns="0" rIns="0" bIns="0" rtlCol="0" anchor="ctr"/>
            <a:lstStyle/>
            <a:p>
              <a:pPr marL="0" indent="0" algn="ctr">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77" name="reveal-1:5:text"/>
            <p:cNvSpPr/>
            <p:nvPr/>
          </p:nvSpPr>
          <p:spPr>
            <a:xfrm>
              <a:off x="7927182" y="2698909"/>
              <a:ext cx="2809161" cy="266700"/>
            </a:xfrm>
            <a:prstGeom prst="rect">
              <a:avLst/>
            </a:prstGeom>
            <a:noFill/>
            <a:ln/>
          </p:spPr>
          <p:txBody>
            <a:bodyPr wrap="squar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Same gate</a:t>
              </a:r>
              <a:endParaRPr lang="en-US" sz="1680" dirty="0"/>
            </a:p>
          </p:txBody>
        </p:sp>
        <p:sp>
          <p:nvSpPr>
            <p:cNvPr id="78" name="reveal-1:6:text"/>
            <p:cNvSpPr/>
            <p:nvPr/>
          </p:nvSpPr>
          <p:spPr>
            <a:xfrm>
              <a:off x="7927182" y="3047881"/>
              <a:ext cx="2809161" cy="564123"/>
            </a:xfrm>
            <a:prstGeom prst="rect">
              <a:avLst/>
            </a:prstGeom>
            <a:noFill/>
            <a:ln/>
          </p:spPr>
          <p:txBody>
            <a:bodyPr wrap="square" lIns="0" tIns="0" rIns="0" bIns="0" rtlCol="0" anchor="t"/>
            <a:lstStyle/>
            <a:p>
              <a:pPr marL="0" indent="0" algn="l">
                <a:buNone/>
              </a:pPr>
              <a:r>
                <a:rPr lang="en-US" sz="1140" dirty="0">
                  <a:solidFill>
                    <a:srgbClr val="B0B0B0"/>
                  </a:solidFill>
                  <a:latin typeface="Arial" pitchFamily="34" charset="0"/>
                  <a:ea typeface="Arial" pitchFamily="34" charset="-122"/>
                  <a:cs typeface="Arial" pitchFamily="34" charset="-120"/>
                </a:rPr>
                <a:t>The next change, human or optimizer, runs against them.</a:t>
              </a:r>
              <a:endParaRPr lang="en-US" sz="1140" dirty="0"/>
            </a:p>
          </p:txBody>
        </p:sp>
        <p:sp>
          <p:nvSpPr>
            <p:cNvPr id="80" name="reveal-1:8:shape"/>
            <p:cNvSpPr/>
            <p:nvPr/>
          </p:nvSpPr>
          <p:spPr>
            <a:xfrm>
              <a:off x="7927182" y="3652004"/>
              <a:ext cx="2809161" cy="66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81" name="reveal-1:9:text"/>
            <p:cNvSpPr/>
            <p:nvPr/>
          </p:nvSpPr>
          <p:spPr>
            <a:xfrm>
              <a:off x="8033862" y="3732004"/>
              <a:ext cx="2595801" cy="508640"/>
            </a:xfrm>
            <a:prstGeom prst="rect">
              <a:avLst/>
            </a:prstGeom>
            <a:noFill/>
            <a:ln/>
          </p:spPr>
          <p:txBody>
            <a:bodyPr wrap="square" lIns="0" tIns="0" rIns="0" bIns="0" rtlCol="0" anchor="t"/>
            <a:lstStyle/>
            <a:p>
              <a:pPr marL="0" indent="0" algn="l">
                <a:buNone/>
              </a:pPr>
              <a:r>
                <a:rPr lang="en-US" sz="900" b="1" dirty="0">
                  <a:solidFill>
                    <a:srgbClr val="DEDEDE"/>
                  </a:solidFill>
                  <a:latin typeface="Arial" pitchFamily="34" charset="0"/>
                  <a:ea typeface="Arial" pitchFamily="34" charset="-122"/>
                  <a:cs typeface="Arial" pitchFamily="34" charset="-120"/>
                </a:rPr>
                <a:t>Every production failure becomes a test.</a:t>
              </a:r>
              <a:endParaRPr lang="en-US" sz="900" dirty="0"/>
            </a:p>
          </p:txBody>
        </p:sp>
      </p:grpSp>
      <p:sp>
        <p:nvSpPr>
          <p:cNvPr id="50" name="static:47: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8:text"/>
          <p:cNvSpPr/>
          <p:nvPr/>
        </p:nvSpPr>
        <p:spPr>
          <a:xfrm>
            <a:off x="10457736" y="6461760"/>
            <a:ext cx="1216104"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63927" y="6461760"/>
            <a:ext cx="120991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7617" y="6461760"/>
            <a:ext cx="121622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19</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4b5f3023-3641-4fd5-9aa3-170596dd4367}" contentBits="0" removed="0"/>
</clbl:labelList>
</file>

<file path=docProps/app.xml><?xml version="1.0" encoding="utf-8"?>
<Properties xmlns="http://schemas.openxmlformats.org/officeDocument/2006/extended-properties" xmlns:vt="http://schemas.openxmlformats.org/officeDocument/2006/docPropsVTypes">
  <TotalTime>381</TotalTime>
  <Words>4091</Words>
  <Application>Microsoft Macintosh PowerPoint</Application>
  <PresentationFormat>Widescreen</PresentationFormat>
  <Paragraphs>298</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3</cp:revision>
  <dcterms:created xsi:type="dcterms:W3CDTF">2026-09-24T03:46:03Z</dcterms:created>
  <dcterms:modified xsi:type="dcterms:W3CDTF">2026-10-09T07:57:39Z</dcterms:modified>
</cp:coreProperties>
</file>