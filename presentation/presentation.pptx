
<file path=[Content_Types].xml><?xml version="1.0" encoding="utf-8"?>
<Types xmlns="http://schemas.openxmlformats.org/package/2006/content-types">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media/image1.jpg" ContentType="image/jpg"/>
  <Override PartName="/ppt/media/image10.svg" ContentType="image/svg+xml"/>
  <Override PartName="/ppt/media/image2.jpg" ContentType="image/jpg"/>
  <Override PartName="/ppt/media/image3.jpg" ContentType="image/jpg"/>
  <Override PartName="/ppt/media/image4.jpg" ContentType="image/jpg"/>
  <Override PartName="/ppt/media/image5.jpg" ContentType="image/jpg"/>
  <Override PartName="/ppt/media/image6.jpg" ContentType="image/jpg"/>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2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67"/>
    <p:restoredTop sz="94610"/>
  </p:normalViewPr>
  <p:slideViewPr>
    <p:cSldViewPr snapToGrid="0" snapToObjects="1">
      <p:cViewPr>
        <p:scale>
          <a:sx n="156" d="100"/>
          <a:sy n="156" d="100"/>
        </p:scale>
        <p:origin x="2048" y="15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From Prompt to Production</a:t>
            </a:r>
          </a:p>
          <a:p/>
          <a:p>
            <a:r>
              <a:t>Suggested timing: 1 minutes</a:t>
            </a:r>
          </a:p>
          <a:p/>
          <a:p>
            <a:r>
              <a:t>KEY MESSAGE</a:t>
            </a:r>
          </a:p>
          <a:p>
            <a:r>
              <a:t>Microsoft Foundry connects model choice, context, evaluation, optimisation and delivery.</a:t>
            </a:r>
          </a:p>
          <a:p/>
          <a:p>
            <a:r>
              <a:t>DEFINITION</a:t>
            </a:r>
          </a:p>
          <a:p>
            <a:r>
              <a:t>An agent combines a model, instructions, tools and context to work towards a goal.</a:t>
            </a:r>
          </a:p>
          <a:p/>
          <a:p>
            <a:r>
              <a:t>TALK TRACK</a:t>
            </a:r>
          </a:p>
          <a:p>
            <a:r>
              <a:t>Frame the session around a working purchasing agent. The question is how consistently it answers across real tasks, what each successful answer costs and how to improve it. Follow the same implementation through six saved checkpoints, using live questions and traces alongside completed evaluation and optimisation runs.</a:t>
            </a:r>
          </a:p>
          <a:p/>
          <a:p>
            <a:r>
              <a:t>TRANSITION</a:t>
            </a:r>
          </a:p>
          <a:p>
            <a:r>
              <a:t>Preview the agenda, starting with model choice.</a:t>
            </a:r>
          </a:p>
          <a:p/>
          <a:p>
            <a:r>
              <a:t>SOURCES</a:t>
            </a:r>
          </a:p>
          <a:p>
            <a:r>
              <a:t>Session framing.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a:t>
            </a:r>
          </a:p>
          <a:p/>
          <a:p>
            <a:r>
              <a:t>Suggested timing: 1 minutes</a:t>
            </a:r>
          </a:p>
          <a:p/>
          <a:p>
            <a:r>
              <a:t>KEY MESSAGE</a:t>
            </a:r>
          </a:p>
          <a:p>
            <a:r>
              <a:t>Model Choice, Grounding, Observe, Evaluate, Optimise, Automate.</a:t>
            </a:r>
          </a:p>
          <a:p/>
          <a:p>
            <a:r>
              <a:t>DEFINITION</a:t>
            </a:r>
          </a:p>
          <a:p>
            <a:r>
              <a:t>These are the six topics we will cover, in presentation order.</a:t>
            </a:r>
          </a:p>
          <a:p/>
          <a:p>
            <a:r>
              <a:t>TALK TRACK</a:t>
            </a:r>
          </a:p>
          <a:p>
            <a:r>
              <a:t>Introduce the six topics and their corresponding stage folders. One shared agent implementation runs throughout; each stage records configuration, actions and evidence. Observe and Evaluate add visibility and measurement without requiring a different agent.</a:t>
            </a:r>
          </a:p>
          <a:p/>
          <a:p>
            <a:r>
              <a:t>TRANSITION</a:t>
            </a:r>
          </a:p>
          <a:p>
            <a:r>
              <a:t>First, meet the agent we'll use throughout the session.</a:t>
            </a:r>
          </a:p>
          <a:p/>
          <a:p>
            <a:r>
              <a:t>SOURCES</a:t>
            </a:r>
          </a:p>
          <a:p>
            <a:r>
              <a:t>Session structure.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Meet the agent</a:t>
            </a:r>
          </a:p>
          <a:p/>
          <a:p>
            <a:r>
              <a:t>Suggested timing: 1 minutes</a:t>
            </a:r>
          </a:p>
          <a:p/>
          <a:p>
            <a:r>
              <a:t>KEY MESSAGE</a:t>
            </a:r>
          </a:p>
          <a:p>
            <a:r>
              <a:t>One purchasing advice agent and one question connect the demonstrations.</a:t>
            </a:r>
          </a:p>
          <a:p/>
          <a:p>
            <a:r>
              <a:t>DEFINITION</a:t>
            </a:r>
          </a:p>
          <a:p>
            <a:r>
              <a:t>The agent helps employees interpret purchasing guidance and identify the approvals they need.</a:t>
            </a:r>
          </a:p>
          <a:p/>
          <a:p>
            <a:r>
              <a:t>TALK TRACK</a:t>
            </a:r>
          </a:p>
          <a:p>
            <a:r>
              <a:t>Introduce the team lead and read the dinner question. Leave alcohol out on purpose: the agent should ask about it. The agent advises on purchasing; the employee follows the approval process. This one question carries the whole session: policy (Foundry IQ), who can approve today (Work IQ), and budget (Fabric IQ). Later we expand to different dates, purchase types and incomplete requests when evaluating consistency.</a:t>
            </a:r>
          </a:p>
          <a:p/>
          <a:p>
            <a:r>
              <a:t>TRANSITION</a:t>
            </a:r>
          </a:p>
          <a:p>
            <a:r>
              <a:t>The first choice is normally which model to use.</a:t>
            </a:r>
          </a:p>
          <a:p/>
          <a:p>
            <a:r>
              <a:t>SOURCES</a:t>
            </a:r>
          </a:p>
          <a:p>
            <a:r>
              <a:t>Team dinner scenario (fictional).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Model Choice</a:t>
            </a:r>
          </a:p>
          <a:p/>
          <a:p>
            <a:r>
              <a:t>Suggested timing: 1 minutes</a:t>
            </a:r>
          </a:p>
          <a:p/>
          <a:p>
            <a:r>
              <a:t>KEY MESSAGE</a:t>
            </a:r>
          </a:p>
          <a:p>
            <a:r>
              <a:t>The first choice is normally which model to use.</a:t>
            </a:r>
          </a:p>
          <a:p/>
          <a:p>
            <a:r>
              <a:t>DEFINITION</a:t>
            </a:r>
          </a:p>
          <a:p>
            <a:r>
              <a:t>Speed is how long the user waits; cost is what you pay. Smaller models usually win on both, so they share a card.</a:t>
            </a:r>
          </a:p>
          <a:p/>
          <a:p>
            <a:r>
              <a:t>TALK TRACK</a:t>
            </a:r>
          </a:p>
          <a:p>
            <a:r>
              <a:t>Keep this short. Model 1 handles complex reasoning, at higher cost and with slower responses. Model 2 is fast and cheap but less capable on complex tasks; speed and cost usually go together, though not always (batch jobs are cheap but slow). Model Router picks a model per request, sending simple questions to small models and hard ones to strong models; it saves money but is less predictable, so test it like any other model. Land the line at the bottom: the first choice is a hypothesis, and evaluations are how you test it.</a:t>
            </a:r>
          </a:p>
          <a:p/>
          <a:p>
            <a:r>
              <a:t>TRANSITION</a:t>
            </a:r>
          </a:p>
          <a:p>
            <a:r>
              <a:t>Open the Foundry portal to compare real models and see where Model Router fits.</a:t>
            </a:r>
          </a:p>
          <a:p/>
          <a:p>
            <a:r>
              <a:t>SOURCES</a:t>
            </a:r>
          </a:p>
          <a:p>
            <a:r>
              <a:t>Session framing.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1 - Foundry Model Comparison</a:t>
            </a:r>
          </a:p>
          <a:p/>
          <a:p>
            <a:r>
              <a:t>Suggested timing: 2 minutes</a:t>
            </a:r>
          </a:p>
          <a:p/>
          <a:p>
            <a:r>
              <a:t>KEY MESSAGE</a:t>
            </a:r>
          </a:p>
          <a:p>
            <a:r>
              <a:t>The first model choice is a hypothesis.</a:t>
            </a:r>
          </a:p>
          <a:p/>
          <a:p>
            <a:r>
              <a:t>DEFINITION</a:t>
            </a:r>
          </a:p>
          <a:p>
            <a:r>
              <a:t>A starting configuration is an engineering choice that must later be tested against the real business task.</a:t>
            </a:r>
          </a:p>
          <a:p/>
          <a:p>
            <a:r>
              <a:t>TALK TRACK</a:t>
            </a:r>
          </a:p>
          <a:p>
            <a:r>
              <a:t>Compare a small fixed-model shortlist and Model Router in Foundry. Record the starting model or routing configuration and explain the choice. Keep later baseline comparisons tied to that exact configuration.</a:t>
            </a:r>
          </a:p>
          <a:p/>
          <a:p>
            <a:r>
              <a:t>DEMO CHECKPOINT</a:t>
            </a:r>
          </a:p>
          <a:p>
            <a:r>
              <a:t>01-model-choice: save the starting model/configuration and portal comparison evidence. The stage playbook records prerequisites, commands, portal steps and the reset procedure.</a:t>
            </a:r>
          </a:p>
          <a:p/>
          <a:p>
            <a:r>
              <a:t>TRANSITION</a:t>
            </a:r>
          </a:p>
          <a:p>
            <a:r>
              <a:t>Now give the starting agent the organisational context it needs.</a:t>
            </a:r>
          </a:p>
          <a:p/>
          <a:p>
            <a:r>
              <a:t>SOURCES</a:t>
            </a:r>
          </a:p>
          <a:p>
            <a:r>
              <a:t>Microsoft Foundry model catalog and Model Router demonstration.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Grounding</a:t>
            </a:r>
          </a:p>
          <a:p/>
          <a:p>
            <a:r>
              <a:t>Suggested timing: 3 minutes</a:t>
            </a:r>
          </a:p>
          <a:p/>
          <a:p>
            <a:r>
              <a:t>KEY MESSAGE</a:t>
            </a:r>
          </a:p>
          <a:p>
            <a:r>
              <a:t>Different sources provide different kinds of organisational context.</a:t>
            </a:r>
          </a:p>
          <a:p/>
          <a:p>
            <a:r>
              <a:t>DEFINITION</a:t>
            </a:r>
          </a:p>
          <a:p>
            <a:r>
              <a:t>Foundry IQ provides institutional knowledge, Fabric IQ provides governed business entities and state, and Work IQ provides workplace context.</a:t>
            </a:r>
          </a:p>
          <a:p/>
          <a:p>
            <a:r>
              <a:t>TALK TRACK</a:t>
            </a:r>
          </a:p>
          <a:p>
            <a:r>
              <a:t>Return to the purchasing question and explain the three source types: institutional documents, business records and workplace conversations. Open tools.py: each IQ is a tool shaped like the real MCP tool. Foundry IQ is knowledge_base_retrieve over policies, Work IQ is ask over people, roles, leave, recorded delegations and messages, and Fabric IQ is search_ontology returning one fixed budget. Line to land: Foundry IQ tells you what the rules say, Work IQ tells you who can approve today, and Fabric IQ tells you whether there is budget left. (Our Fabric stand-in always returns the same budget, so it never changes the answer in the demo.) Tim, the Hospitality Lead, is on leave; the Approvals Register records Priya as his delegate. A chat message or an email can tell you who to contact, but never transfers approval authority. Real IQs are LLM-backed agents with generic tool descriptions; domain guidance lives in the knowledge base or ontology. Ours are deterministic local stand-ins, so none is a real IQ connection.</a:t>
            </a:r>
          </a:p>
          <a:p/>
          <a:p>
            <a:r>
              <a:t>TRANSITION</a:t>
            </a:r>
          </a:p>
          <a:p>
            <a:r>
              <a:t>Let's ask the agent and explore the context available to it.</a:t>
            </a:r>
          </a:p>
          <a:p/>
          <a:p>
            <a:r>
              <a:t>SOURCES</a:t>
            </a:r>
          </a:p>
          <a:p>
            <a:r>
              <a:t>Microsoft IQ concepts and fictional scenario.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2 - Run the Starting Agent</a:t>
            </a:r>
          </a:p>
          <a:p/>
          <a:p>
            <a:r>
              <a:t>Suggested timing: 4 minutes</a:t>
            </a:r>
          </a:p>
          <a:p/>
          <a:p>
            <a:r>
              <a:t>KEY MESSAGE</a:t>
            </a:r>
          </a:p>
          <a:p>
            <a:r>
              <a:t>Establish the working baseline and preserve its evidence.</a:t>
            </a:r>
          </a:p>
          <a:p/>
          <a:p>
            <a:r>
              <a:t>DEFINITION</a:t>
            </a:r>
          </a:p>
          <a:p>
            <a:r>
              <a:t>Instructions define the task and boundaries; tool descriptions explain when a source is useful and what it returns.</a:t>
            </a:r>
          </a:p>
          <a:p/>
          <a:p>
            <a:r>
              <a:t>TALK TRACK</a:t>
            </a:r>
          </a:p>
          <a:p>
            <a:r>
              <a:t>Ask the dinner question first (playbook command). It should ask about alcohol; reply 'Yes, there will be wine.' Hospitality Lead approval is needed, Tim is on leave, and the Approvals Register records Priya as his delegate: Work IQ doing its job. Then ask the second question: Marcus Webb in Engineering, 21 October, a $6,800 video-conferencing system with two quotes. The right answer: above $5,000 the policy needs Category Manager approval, and Marco is away until 2 November with no delegate; Leah Fischer's delegation covers line-manager approval only. It sometimes gets this right and sometimes names Leah. If it's wrong: it used Work IQ, checked leave, found the delegation and cited everything, and still asked the wrong question. If it's right: good answer, but it's one run; how often does it get this right? Either way: one answer isn't evidence; that's what evaluation is for.</a:t>
            </a:r>
          </a:p>
          <a:p/>
          <a:p>
            <a:r>
              <a:t>DEMO CHECKPOINT</a:t>
            </a:r>
          </a:p>
          <a:p>
            <a:r>
              <a:t>Rehearse the Marcus question three times and note what it says. Whichever way it answers, the line is the same: one answer isn't evidence. If the network fails, show your screenshots, then a failing question from the prepared holdout run in Demo 4.</a:t>
            </a:r>
          </a:p>
          <a:p/>
          <a:p>
            <a:r>
              <a:t>TRANSITION</a:t>
            </a:r>
          </a:p>
          <a:p>
            <a:r>
              <a:t>Open the trace to inspect how the answer was produced.</a:t>
            </a:r>
          </a:p>
          <a:p/>
          <a:p>
            <a:r>
              <a:t>SOURCES</a:t>
            </a:r>
          </a:p>
          <a:p>
            <a:r>
              <a:t>Demo implementation to be rehearsed.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Observe</a:t>
            </a:r>
          </a:p>
          <a:p/>
          <a:p>
            <a:r>
              <a:t>Suggested timing: 2 minutes</a:t>
            </a:r>
          </a:p>
          <a:p/>
          <a:p>
            <a:r>
              <a:t>KEY MESSAGE</a:t>
            </a:r>
          </a:p>
          <a:p>
            <a:r>
              <a:t>Inspect the calls, inputs and outputs behind the answer.</a:t>
            </a:r>
          </a:p>
          <a:p/>
          <a:p>
            <a:r>
              <a:t>DEFINITION</a:t>
            </a:r>
          </a:p>
          <a:p>
            <a:r>
              <a:t>A trace records LLM calls, tool calls and timings, with captured prompts and responses.</a:t>
            </a:r>
          </a:p>
          <a:p/>
          <a:p>
            <a:r>
              <a:t>TALK TRACK</a:t>
            </a:r>
          </a:p>
          <a:p>
            <a:r>
              <a:t>Introduce the three things to inspect: call order, inputs and outputs, and duration. Explain how these let us reconstruct a run. Ask what evidence the audience would look for in the trace.</a:t>
            </a:r>
          </a:p>
          <a:p/>
          <a:p>
            <a:r>
              <a:t>TRANSITION</a:t>
            </a:r>
          </a:p>
          <a:p>
            <a:r>
              <a:t>Let's follow the run that produced this answer.</a:t>
            </a:r>
          </a:p>
          <a:p/>
          <a:p>
            <a:r>
              <a:t>SOURCES</a:t>
            </a:r>
          </a:p>
          <a:p>
            <a:r>
              <a:t>Microsoft Foundry observability concepts.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3 - Inspect the Trace</a:t>
            </a:r>
          </a:p>
          <a:p/>
          <a:p>
            <a:r>
              <a:t>Suggested timing: 3 minutes</a:t>
            </a:r>
          </a:p>
          <a:p/>
          <a:p>
            <a:r>
              <a:t>KEY MESSAGE</a:t>
            </a:r>
          </a:p>
          <a:p>
            <a:r>
              <a:t>Understand how the agent produced the answer and where it spent time.</a:t>
            </a:r>
          </a:p>
          <a:p/>
          <a:p>
            <a:r>
              <a:t>DEFINITION</a:t>
            </a:r>
          </a:p>
          <a:p>
            <a:r>
              <a:t>Tool-call inputs and outputs show what was requested and returned.</a:t>
            </a:r>
          </a:p>
          <a:p/>
          <a:p>
            <a:r>
              <a:t>TALK TRACK</a:t>
            </a:r>
          </a:p>
          <a:p>
            <a:r>
              <a:t>Open the saved baseline run and follow the LLM and tool calls, including both context sources when used. Inspect captured prompts, returned evidence, responses and timings. Discuss repeated calls or slow steps only where the trace shows them. Use the request and expected outcome as an evaluation case.</a:t>
            </a:r>
          </a:p>
          <a:p/>
          <a:p>
            <a:r>
              <a:t>DEMO CHECKPOINT</a:t>
            </a:r>
          </a:p>
          <a:p>
            <a:r>
              <a:t>03-observe: save the trace, call sequence and timing evidence. Keep the same agent configuration as stage 02.</a:t>
            </a:r>
          </a:p>
          <a:p/>
          <a:p>
            <a:r>
              <a:t>TRANSITION</a:t>
            </a:r>
          </a:p>
          <a:p>
            <a:r>
              <a:t>We've inspected one run. How consistently does the agent handle other purchasing situations?</a:t>
            </a:r>
          </a:p>
          <a:p/>
          <a:p>
            <a:r>
              <a:t>SOURCES</a:t>
            </a:r>
          </a:p>
          <a:p>
            <a:r>
              <a:t>Microsoft Foundry tracing demonstration.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Evaluate</a:t>
            </a:r>
          </a:p>
          <a:p/>
          <a:p>
            <a:r>
              <a:t>Suggested timing: 3 minutes</a:t>
            </a:r>
          </a:p>
          <a:p/>
          <a:p>
            <a:r>
              <a:t>KEY MESSAGE</a:t>
            </a:r>
          </a:p>
          <a:p>
            <a:r>
              <a:t>Judge the next step first, then the quality of the answer, then task-specific checks.</a:t>
            </a:r>
          </a:p>
          <a:p/>
          <a:p>
            <a:r>
              <a:t>DEFINITION</a:t>
            </a:r>
          </a:p>
          <a:p>
            <a:r>
              <a:t>A judge is an LLM evaluator. Its reason matters as much as its score.</a:t>
            </a:r>
          </a:p>
          <a:p/>
          <a:p>
            <a:r>
              <a:t>TALK TRACK</a:t>
            </a:r>
          </a:p>
          <a:p>
            <a:r>
              <a:t>These are the evaluators we actually run. The next-action judge is a custom prompt evaluator: pass/fail against a reference answer, and its reason starts with what the tools did, for example 'used the line-manager lookup instead of the required higher-level route'. That reason is what the optimizer learns from: Microsoft's own lesson is that the reflector only sees what the evaluator returns. The rubric scores weighted dimensions such as approval route, current approver and citations. Built-in evaluators such as Groundedness exist; we chose task-specific ones because the failure we care about is a wrong approver, not an unsupported claim. The rubric evaluator is in preview.</a:t>
            </a:r>
          </a:p>
          <a:p/>
          <a:p>
            <a:r>
              <a:t>TRANSITION</a:t>
            </a:r>
          </a:p>
          <a:p>
            <a:r>
              <a:t>Let's measure the starting agent with these two judges across purchasing cases.</a:t>
            </a:r>
          </a:p>
          <a:p/>
          <a:p>
            <a:r>
              <a:t>SOURCES</a:t>
            </a:r>
          </a:p>
          <a:p>
            <a:r>
              <a:t>Microsoft Learn: rubric evaluators https://learn.microsoft.com/en-us/azure/foundry/concepts/evaluation-evaluators/rubric-evaluators ; Microsoft Foundry blog: Six lessons for reliable Agent Optimizer gains on harder agents https://techcommunity.microsoft.com/blog/azure-ai-foundry-blog/six-lessons-for-reliable-agent-optimizer-gains-on-harder-agents/4551357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4 - Evaluate Across Cases</a:t>
            </a:r>
          </a:p>
          <a:p/>
          <a:p>
            <a:r>
              <a:t>Suggested timing: 7 minutes</a:t>
            </a:r>
          </a:p>
          <a:p/>
          <a:p>
            <a:r>
              <a:t>KEY MESSAGE</a:t>
            </a:r>
          </a:p>
          <a:p>
            <a:r>
              <a:t>Measure consistency across cases, not just the opening answer.</a:t>
            </a:r>
          </a:p>
          <a:p/>
          <a:p>
            <a:r>
              <a:t>DEFINITION</a:t>
            </a:r>
          </a:p>
          <a:p>
            <a:r>
              <a:t>Tokens are units of model input and output; response time is the user's end-to-end wait.</a:t>
            </a:r>
          </a:p>
          <a:p/>
          <a:p>
            <a:r>
              <a:t>TALK TRACK</a:t>
            </a:r>
          </a:p>
          <a:p>
            <a:r>
              <a:t>Open your prepared holdout run in Foundry: questions with different departments, people and dates from the ones the optimizer trains on. Click a failing question and read the judge's reason: it describes what the tools did, not just that the answer was wrong. Which questions fail varies from run to run; when we built this, the over-$5,000 ones did, sending the employee to their line manager instead of the Category Manager, the same failure as Marcus. Then the story from building it: with our first mock search tool the baseline scored 12 of 18; fixing two tools, not the prompt, took it to 18 of 18, so we wrote harder questions. Finish with your own noise level from the two baseline runs: only trust a change bigger than that.</a:t>
            </a:r>
          </a:p>
          <a:p/>
          <a:p>
            <a:r>
              <a:t>DEMO CHECKPOINT</a:t>
            </a:r>
          </a:p>
          <a:p>
            <a:r>
              <a:t>Prepared: your holdout evaluation run, open in a tab, with a failing question ready, and your noise level from two baseline runs. Screenshot both as a backup.</a:t>
            </a:r>
          </a:p>
          <a:p/>
          <a:p>
            <a:r>
              <a:t>TRANSITION</a:t>
            </a:r>
          </a:p>
          <a:p>
            <a:r>
              <a:t>Use these results to set the optimisation goal, then keep the tests fixed.</a:t>
            </a:r>
          </a:p>
          <a:p/>
          <a:p>
            <a:r>
              <a:t>SOURCES</a:t>
            </a:r>
          </a:p>
          <a:p>
            <a:r>
              <a:t>Microsoft Foundry model comparison and evaluation demonstration.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Optimise</a:t>
            </a:r>
          </a:p>
          <a:p/>
          <a:p>
            <a:r>
              <a:t>Suggested timing: 3 minutes</a:t>
            </a:r>
          </a:p>
          <a:p/>
          <a:p>
            <a:r>
              <a:t>KEY MESSAGE</a:t>
            </a:r>
          </a:p>
          <a:p>
            <a:r>
              <a:t>Compare candidate scores and configuration changes with the baseline.</a:t>
            </a:r>
          </a:p>
          <a:p/>
          <a:p>
            <a:r>
              <a:t>DEFINITION</a:t>
            </a:r>
          </a:p>
          <a:p>
            <a:r>
              <a:t>A baseline is the starting configuration; candidates are alternatives generated and evaluated by Agent Optimizer.</a:t>
            </a:r>
          </a:p>
          <a:p/>
          <a:p>
            <a:r>
              <a:t>TALK TRACK</a:t>
            </a:r>
          </a:p>
          <a:p>
            <a:r>
              <a:t>The optimizer evaluates the baseline, reflects on failed practice questions, proposes a change, tests it on a few training questions, then scores it on the validation set, which influences candidate selection. Microsoft's guidance: changes under 0.03 are noise, 0.03 to 0.10 are moderate. The optimizer can also use per-question criteria, specific checks such as 'asks for the total cost first'; our evaluation runs don't use them, so mention them here, not on the Evaluate slide. Land the takeaway: grounding first. Work IQ and the other IQ tools expose fixed interfaces; optimise how the agent queries them and applies the returned evidence. Use traces to distinguish missing evidence from incorrect reasoning. Our early mock search needed repair: the score went up by copying facts into the prompt, but that did not fix retrieval.</a:t>
            </a:r>
          </a:p>
          <a:p/>
          <a:p>
            <a:r>
              <a:t>TRANSITION</a:t>
            </a:r>
          </a:p>
          <a:p>
            <a:r>
              <a:t>Let's open the Optimizer run and compare the candidates.</a:t>
            </a:r>
          </a:p>
          <a:p/>
          <a:p>
            <a:r>
              <a:t>SOURCES</a:t>
            </a:r>
          </a:p>
          <a:p>
            <a:r>
              <a:t>Microsoft Learn: Agent optimizer overview (score interpretation); Microsoft Foundry blog: Six lessons for reliable Agent Optimizer gains on harder agents.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5 - Agent Optimizer</a:t>
            </a:r>
          </a:p>
          <a:p/>
          <a:p>
            <a:r>
              <a:t>Suggested timing: 6 minutes</a:t>
            </a:r>
          </a:p>
          <a:p/>
          <a:p>
            <a:r>
              <a:t>KEY MESSAGE</a:t>
            </a:r>
          </a:p>
          <a:p>
            <a:r>
              <a:t>Inspect the evidence behind the recommended candidate.</a:t>
            </a:r>
          </a:p>
          <a:p/>
          <a:p>
            <a:r>
              <a:t>DEFINITION</a:t>
            </a:r>
          </a:p>
          <a:p>
            <a:r>
              <a:t>The optional validation dataset supplies separate evaluation cases within the optimisation run.</a:t>
            </a:r>
          </a:p>
          <a:p/>
          <a:p>
            <a:r>
              <a:t>TALK TRACK</a:t>
            </a:r>
          </a:p>
          <a:p>
            <a:r>
              <a:t>Open the agent's Optimize tab and your prepared run. Every run differs, so read it rather than following a script. First, the score change on the holdout: by Microsoft's scale, under 0.03 is noise and 0.03 to 0.10 is moderate; also count how many questions changed, against your noise level. Then View changes on the best candidate, in the instructions and the tool descriptions, and sort what you find: rules worth keeping, such as answer-first wording; copied facts, such as training names and amounts, which in ours were hidden in the tool descriptions; and what's missing, such as a rule for the Demo 4 failure. The score went up; that doesn't mean you ship it.</a:t>
            </a:r>
          </a:p>
          <a:p/>
          <a:p>
            <a:r>
              <a:t>DEMO CHECKPOINT</a:t>
            </a:r>
          </a:p>
          <a:p>
            <a:r>
              <a:t>Prepared: the Optimize tab on your completed run, with View changes ready on the instructions and the ask tool description. If your run has nothing worth showing, use the candidate saved from ours in sample/evaluation/candidates/optimiser-0.691/: +0.078 on the holdout, three good rules, training names and amounts in its tool descriptions, and no role rule.</a:t>
            </a:r>
          </a:p>
          <a:p/>
          <a:p>
            <a:r>
              <a:t>TRANSITION</a:t>
            </a:r>
          </a:p>
          <a:p>
            <a:r>
              <a:t>Carry the same evidence into the release process.</a:t>
            </a:r>
          </a:p>
          <a:p/>
          <a:p>
            <a:r>
              <a:t>SOURCES</a:t>
            </a:r>
          </a:p>
          <a:p>
            <a:r>
              <a:t>Microsoft Learn: Optimize agent instructions, skills, tools, and models; Agent optimizer cost and token usage overview. Checked 24 September 2026.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test sets</a:t>
            </a:r>
          </a:p>
          <a:p/>
          <a:p>
            <a:r>
              <a:t>Suggested timing: 2 minutes</a:t>
            </a:r>
          </a:p>
          <a:p/>
          <a:p>
            <a:r>
              <a:t>KEY MESSAGE</a:t>
            </a:r>
          </a:p>
          <a:p>
            <a:r>
              <a:t>Three test sets, three jobs.</a:t>
            </a:r>
          </a:p>
          <a:p/>
          <a:p>
            <a:r>
              <a:t>DEFINITION</a:t>
            </a:r>
          </a:p>
          <a:p>
            <a:r>
              <a:t>Development data trains the optimizer, holdout data validates it, and a drift set is never shown to it.</a:t>
            </a:r>
          </a:p>
          <a:p/>
          <a:p>
            <a:r>
              <a:t>TALK TRACK</a:t>
            </a:r>
          </a:p>
          <a:p>
            <a:r>
              <a:t>Homework, practice exam, surprise exam. The optimizer trains on development and validates on holdout, and we look at both often, so both wear down over time. Our holdout was the same kind of question about the same policies, so a candidate that memorised the policies passed both. The drift set is never shown to the optimizer and its answers change with the date: Tim comes back, Priya's delegation ends, 2027 thresholds start. An agent that looks things up passes; an agent with facts in its prompt confidently gives the old answer.</a:t>
            </a:r>
          </a:p>
          <a:p/>
          <a:p>
            <a:r>
              <a:t>TRANSITION</a:t>
            </a:r>
          </a:p>
          <a:p>
            <a:r>
              <a:t>So what does the gate actually check?</a:t>
            </a:r>
          </a:p>
          <a:p/>
          <a:p>
            <a:r>
              <a:t>SOURCES</a:t>
            </a:r>
          </a:p>
          <a:p>
            <a:r>
              <a:t>Microsoft Learn: Optimize agent instructions, skills, tools, and models (validation_dataset).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6 - Three pull requests</a:t>
            </a:r>
          </a:p>
          <a:p/>
          <a:p>
            <a:r>
              <a:t>Suggested timing: 8 minutes</a:t>
            </a:r>
          </a:p>
          <a:p/>
          <a:p>
            <a:r>
              <a:t>KEY MESSAGE</a:t>
            </a:r>
          </a:p>
          <a:p>
            <a:r>
              <a:t>The cheapest check runs first; the evaluation catches what it can't.</a:t>
            </a:r>
          </a:p>
          <a:p/>
          <a:p>
            <a:r>
              <a:t>DEFINITION</a:t>
            </a:r>
          </a:p>
          <a:p>
            <a:r>
              <a:t>A pull request check runs on every proposed change; it blocks merging only if the branch's ruleset requires it.</a:t>
            </a:r>
          </a:p>
          <a:p/>
          <a:p>
            <a:r>
              <a:t>TALK TRACK</a:t>
            </a:r>
          </a:p>
          <a:p>
            <a:r>
              <a:t>Three prepared pull requests, one per outcome. First, the optimizer's saved candidate: the offline fact check goes red in seconds, listing the seven names, amounts and dates it copied in, and no evaluation runs. Run the same check live in the terminal to show it's one second and no model. Second, a change titled 'Speed up: skip the Work IQ lookup': it passes the fact check, but the development set catches it, because questions about leave, delegation and the Category Manager start failing. It looked like an optimisation; only the evaluation could tell. Third, the reviewed version: the optimizer's good rules, no copied facts, plus the rule it missed. It passes. The gate only asks that a change not fall below the baseline by more than the normal wobble. And it blocks merging only if a ruleset on main requires it; admins can still bypass, and every bypass is recorded.</a:t>
            </a:r>
          </a:p>
          <a:p/>
          <a:p>
            <a:r>
              <a:t>DEMO CHECKPOINT</a:t>
            </a:r>
          </a:p>
          <a:p>
            <a:r>
              <a:t>Prepared: the three pull requests, opened after the optimizer finished and left open. Live: the fact-check command from the playbook. If CI isn't working on the day, use slides 14 and 15 with the live command.</a:t>
            </a:r>
          </a:p>
          <a:p/>
          <a:p>
            <a:r>
              <a:t>TRANSITION</a:t>
            </a:r>
          </a:p>
          <a:p>
            <a:r>
              <a:t>And after release, production keeps feeding the tests.</a:t>
            </a:r>
          </a:p>
          <a:p/>
          <a:p>
            <a:r>
              <a:t>SOURCES</a:t>
            </a:r>
          </a:p>
          <a:p>
            <a:r>
              <a:t>GitHub Actions release-check demonstration.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Production feeds the tests</a:t>
            </a:r>
          </a:p>
          <a:p/>
          <a:p>
            <a:r>
              <a:t>Suggested timing: 2 minutes</a:t>
            </a:r>
          </a:p>
          <a:p/>
          <a:p>
            <a:r>
              <a:t>KEY MESSAGE</a:t>
            </a:r>
          </a:p>
          <a:p>
            <a:r>
              <a:t>Every production failure becomes a test.</a:t>
            </a:r>
          </a:p>
          <a:p/>
          <a:p>
            <a:r>
              <a:t>DEFINITION</a:t>
            </a:r>
          </a:p>
          <a:p>
            <a:r>
              <a:t>Continuous evaluation scores a sample of real conversations after release.</a:t>
            </a:r>
          </a:p>
          <a:p/>
          <a:p>
            <a:r>
              <a:t>TALK TRACK</a:t>
            </a:r>
          </a:p>
          <a:p>
            <a:r>
              <a:t>Turn on continuous evaluation in Foundry to score a sample of real conversations and alert on quality, latency and cost. Review interesting failures, redact personal data, and add them as new test rows. The next change, whether from a person or the optimizer, goes through the same gate against them. Simulation and trace-to-dataset generation are preview capabilities; verify before relying on them.</a:t>
            </a:r>
          </a:p>
          <a:p/>
          <a:p>
            <a:r>
              <a:t>TRANSITION</a:t>
            </a:r>
          </a:p>
          <a:p>
            <a:r>
              <a:t>Here are six related capabilities worth exploring beyond today's demonstrations.</a:t>
            </a:r>
          </a:p>
          <a:p/>
          <a:p>
            <a:r>
              <a:t>SOURCES</a:t>
            </a:r>
          </a:p>
          <a:p>
            <a:r>
              <a:t>Microsoft Learn and GitHub Docs, checked 24 September 2026: https://learn.microsoft.com/en-us/azure/foundry/observability/how-to/evaluation-dataset-synthetic ; https://learn.microsoft.com/en-us/azure/foundry/observability/how-to/evaluation-datasets ; https://learn.microsoft.com/en-us/azure/foundry/observability/how-to/traces-to-dataset ; https://learn.microsoft.com/en-us/azure/foundry/concepts/observability ; https://docs.github.com/en/actions/reference/workflows-and-actions/deployments-and-environments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Worth exploring next</a:t>
            </a:r>
          </a:p>
          <a:p/>
          <a:p>
            <a:r>
              <a:t>Suggested timing: 1 minutes</a:t>
            </a:r>
          </a:p>
          <a:p/>
          <a:p>
            <a:r>
              <a:t>KEY MESSAGE</a:t>
            </a:r>
          </a:p>
          <a:p>
            <a:r>
              <a:t>Six next steps for extending the purchasing agent.</a:t>
            </a:r>
          </a:p>
          <a:p/>
          <a:p>
            <a:r>
              <a:t>DEFINITION</a:t>
            </a:r>
          </a:p>
          <a:p>
            <a:r>
              <a:t>Human annotation assesses an answer; human approval authorises an action.</a:t>
            </a:r>
          </a:p>
          <a:p/>
          <a:p>
            <a:r>
              <a:t>TALK TRACK</a:t>
            </a:r>
          </a:p>
          <a:p>
            <a:r>
              <a:t>Spend no more than one minute signposting these topics. Human annotation captures expert assessments: explicitly curate that feedback into better criteria and tests rather than imply automatic learning. Synthetic data expands purchase types, dates and ambiguous requests; review generated cases. AI Red Teaming probes adversarial behaviour, while guardrails such as Prompt Shields help detect malicious instructions in requests and retrieved emails or documents. Identity and permissions limit real enterprise access. Human approval workflows are an extension beyond our advice-only agent: pause before submitting a purchase request and resume after an authorised decision. Human Evaluation, synthetic data generation and the documented long-running hosted-agent approval workflow are in preview; verify availability and agent support before implementation.</a:t>
            </a:r>
          </a:p>
          <a:p/>
          <a:p>
            <a:r>
              <a:t>TRANSITION</a:t>
            </a:r>
          </a:p>
          <a:p>
            <a:r>
              <a:t>Return to the complete process, then take questions.</a:t>
            </a:r>
          </a:p>
          <a:p/>
          <a:p>
            <a:r>
              <a:t>SOURCES</a:t>
            </a:r>
          </a:p>
          <a:p>
            <a:r>
              <a:t>Microsoft Learn, checked 24 September 2026: Human Evaluation https://learn.microsoft.com/en-us/azure/foundry/observability/how-to/human-evaluation ; Synthetic Test Data https://learn.microsoft.com/en-us/azure/foundry/observability/how-to/evaluation-dataset-synthetic ; AI Red Teaming https://learn.microsoft.com/en-us/azure/foundry/concepts/ai-red-teaming-agent ; Prompt Shields https://learn.microsoft.com/en-us/azure/foundry/openai/concepts/content-filter-prompt-shields ; Agent Identity https://learn.microsoft.com/en-us/azure/foundry/agents/concepts/agent-identity ; Human Approval https://learn.microsoft.com/en-us/azure/foundry/agents/how-to/add-human-in-the-loop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Build measure improve repeat</a:t>
            </a:r>
          </a:p>
          <a:p/>
          <a:p>
            <a:r>
              <a:t>Suggested timing: 10 minutes</a:t>
            </a:r>
          </a:p>
          <a:p/>
          <a:p>
            <a:r>
              <a:t>KEY MESSAGE</a:t>
            </a:r>
          </a:p>
          <a:p>
            <a:r>
              <a:t>Build, measure, improve and repeat.</a:t>
            </a:r>
          </a:p>
          <a:p/>
          <a:p>
            <a:r>
              <a:t>DEFINITION</a:t>
            </a:r>
          </a:p>
          <a:p>
            <a:r>
              <a:t>No new definition. This slide summarises the complete process.</a:t>
            </a:r>
          </a:p>
          <a:p/>
          <a:p>
            <a:r>
              <a:t>TALK TRACK</a:t>
            </a:r>
          </a:p>
          <a:p>
            <a:r>
              <a:t>Close on one working agent, consistent answers, measured trade-offs and repeatable release checks. Return to the six stage playbooks: each records what changed, how it was run and the evidence collected. Discuss what the measured runs demonstrated and which configuration was retained, then take questions.</a:t>
            </a:r>
          </a:p>
          <a:p/>
          <a:p>
            <a:r>
              <a:t>TRANSITION</a:t>
            </a:r>
          </a:p>
          <a:p>
            <a:r>
              <a:t>Move into questions.</a:t>
            </a:r>
          </a:p>
          <a:p/>
          <a:p>
            <a:r>
              <a:t>SOURCES</a:t>
            </a:r>
          </a:p>
          <a:p>
            <a:r>
              <a:t>Session synthesis.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gate checks</a:t>
            </a:r>
          </a:p>
          <a:p/>
          <a:p>
            <a:r>
              <a:t>Suggested timing: 2 minutes</a:t>
            </a:r>
          </a:p>
          <a:p/>
          <a:p>
            <a:r>
              <a:t>KEY MESSAGE</a:t>
            </a:r>
          </a:p>
          <a:p>
            <a:r>
              <a:t>Cheapest check first.</a:t>
            </a:r>
          </a:p>
          <a:p/>
          <a:p>
            <a:r>
              <a:t>DEFINITION</a:t>
            </a:r>
          </a:p>
          <a:p>
            <a:r>
              <a:t>A release gate is an automated check that can stop a change from being promoted.</a:t>
            </a:r>
          </a:p>
          <a:p/>
          <a:p>
            <a:r>
              <a:t>TALK TRACK</a:t>
            </a:r>
          </a:p>
          <a:p>
            <a:r>
              <a:t>One: a script scans the candidate prompt and tool descriptions for amounts, dates, durations and names that the baseline didn't have. Seconds, no LLM. Two: compare against the stored baseline, not a fixed threshold. LLM-judged scores move between runs; Foundry's own optimizer guidance treats changes under 0.03 as noise, so fail on a bigger drop. Three: some failures block regardless of the average, such as sending someone to the wrong approver or following an instruction in an email. Four: pin prompt, tool descriptions, model and dataset version together, or scores aren't comparable.</a:t>
            </a:r>
          </a:p>
          <a:p/>
          <a:p>
            <a:r>
              <a:t>TRANSITION</a:t>
            </a:r>
          </a:p>
          <a:p>
            <a:r>
              <a:t>Let's see the gate handle three real pull requests.</a:t>
            </a:r>
          </a:p>
          <a:p/>
          <a:p>
            <a:r>
              <a:t>SOURCES</a:t>
            </a:r>
          </a:p>
          <a:p>
            <a:r>
              <a:t>Microsoft Learn: Agent optimizer overview (score interpretation).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I Genius - ai-genius-title">
    <p:bg>
      <p:bgPr>
        <a:solidFill>
          <a:srgbClr val="000000"/>
        </a:solidFill>
        <a:effectLst/>
      </p:bgPr>
    </p:bg>
    <p:spTree>
      <p:nvGrpSpPr>
        <p:cNvPr id="1" name=""/>
        <p:cNvGrpSpPr/>
        <p:nvPr/>
      </p:nvGrpSpPr>
      <p:grpSpPr>
        <a:xfrm>
          <a:off x="0" y="0"/>
          <a:ext cx="0" cy="0"/>
          <a:chOff x="0" y="0"/>
          <a:chExt cx="0" cy="0"/>
        </a:xfrm>
      </p:grpSpPr>
      <p:pic>
        <p:nvPicPr>
          <p:cNvPr id="2" name="Image 0" descr="Official AI Genius template artwork"/>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I Genius - ai-genius-content-minimal">
    <p:bg>
      <p:bgPr>
        <a:solidFill>
          <a:srgbClr val="000000"/>
        </a:solidFill>
        <a:effectLst/>
      </p:bgPr>
    </p:bg>
    <p:spTree>
      <p:nvGrpSpPr>
        <p:cNvPr id="1" name=""/>
        <p:cNvGrpSpPr/>
        <p:nvPr/>
      </p:nvGrpSpPr>
      <p:grpSpPr>
        <a:xfrm>
          <a:off x="0" y="0"/>
          <a:ext cx="0" cy="0"/>
          <a:chOff x="0" y="0"/>
          <a:chExt cx="0" cy="0"/>
        </a:xfrm>
      </p:grpSpPr>
      <p:pic>
        <p:nvPicPr>
          <p:cNvPr id="2" name="Image 0" descr="Official AI Genius template artwork"/>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I Genius - ai-genius-content-framed">
    <p:bg>
      <p:bgPr>
        <a:solidFill>
          <a:srgbClr val="000000"/>
        </a:solidFill>
        <a:effectLst/>
      </p:bgPr>
    </p:bg>
    <p:spTree>
      <p:nvGrpSpPr>
        <p:cNvPr id="1" name=""/>
        <p:cNvGrpSpPr/>
        <p:nvPr/>
      </p:nvGrpSpPr>
      <p:grpSpPr>
        <a:xfrm>
          <a:off x="0" y="0"/>
          <a:ext cx="0" cy="0"/>
          <a:chOff x="0" y="0"/>
          <a:chExt cx="0" cy="0"/>
        </a:xfrm>
      </p:grpSpPr>
      <p:pic>
        <p:nvPicPr>
          <p:cNvPr id="2" name="Image 0" descr="Official AI Genius template artwork"/>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I Genius - ai-genius-content-green">
    <p:bg>
      <p:bgPr>
        <a:solidFill>
          <a:srgbClr val="000000"/>
        </a:solidFill>
        <a:effectLst/>
      </p:bgPr>
    </p:bg>
    <p:spTree>
      <p:nvGrpSpPr>
        <p:cNvPr id="1" name=""/>
        <p:cNvGrpSpPr/>
        <p:nvPr/>
      </p:nvGrpSpPr>
      <p:grpSpPr>
        <a:xfrm>
          <a:off x="0" y="0"/>
          <a:ext cx="0" cy="0"/>
          <a:chOff x="0" y="0"/>
          <a:chExt cx="0" cy="0"/>
        </a:xfrm>
      </p:grpSpPr>
      <p:pic>
        <p:nvPicPr>
          <p:cNvPr id="2" name="Image 0" descr="Official AI Genius template artwork"/>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I Genius - ai-genius-framed-green">
    <p:bg>
      <p:bgPr>
        <a:solidFill>
          <a:srgbClr val="000000"/>
        </a:solidFill>
        <a:effectLst/>
      </p:bgPr>
    </p:bg>
    <p:spTree>
      <p:nvGrpSpPr>
        <p:cNvPr id="1" name=""/>
        <p:cNvGrpSpPr/>
        <p:nvPr/>
      </p:nvGrpSpPr>
      <p:grpSpPr>
        <a:xfrm>
          <a:off x="0" y="0"/>
          <a:ext cx="0" cy="0"/>
          <a:chOff x="0" y="0"/>
          <a:chExt cx="0" cy="0"/>
        </a:xfrm>
      </p:grpSpPr>
      <p:pic>
        <p:nvPicPr>
          <p:cNvPr id="2" name="Image 0" descr="Official AI Genius template artwork"/>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I Genius - ai-genius-content-red">
    <p:bg>
      <p:bgPr>
        <a:solidFill>
          <a:srgbClr val="000000"/>
        </a:solidFill>
        <a:effectLst/>
      </p:bgPr>
    </p:bg>
    <p:spTree>
      <p:nvGrpSpPr>
        <p:cNvPr id="1" name=""/>
        <p:cNvGrpSpPr/>
        <p:nvPr/>
      </p:nvGrpSpPr>
      <p:grpSpPr>
        <a:xfrm>
          <a:off x="0" y="0"/>
          <a:ext cx="0" cy="0"/>
          <a:chOff x="0" y="0"/>
          <a:chExt cx="0" cy="0"/>
        </a:xfrm>
      </p:grpSpPr>
      <p:pic>
        <p:nvPicPr>
          <p:cNvPr id="2" name="Image 0" descr="Official AI Genius template artwork"/>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I Genius - ai-genius-framed-red">
    <p:bg>
      <p:bgPr>
        <a:solidFill>
          <a:srgbClr val="000000"/>
        </a:solidFill>
        <a:effectLst/>
      </p:bgPr>
    </p:bg>
    <p:spTree>
      <p:nvGrpSpPr>
        <p:cNvPr id="1" name=""/>
        <p:cNvGrpSpPr/>
        <p:nvPr/>
      </p:nvGrpSpPr>
      <p:grpSpPr>
        <a:xfrm>
          <a:off x="0" y="0"/>
          <a:ext cx="0" cy="0"/>
          <a:chOff x="0" y="0"/>
          <a:chExt cx="0" cy="0"/>
        </a:xfrm>
      </p:grpSpPr>
      <p:pic>
        <p:nvPicPr>
          <p:cNvPr id="2" name="Image 0" descr="Official AI Genius template artwork"/>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From Prompt to Production">
    <p:spTree>
      <p:nvGrpSpPr>
        <p:cNvPr id="1" name=""/>
        <p:cNvGrpSpPr/>
        <p:nvPr/>
      </p:nvGrpSpPr>
      <p:grpSpPr>
        <a:xfrm>
          <a:off x="0" y="0"/>
          <a:ext cx="0" cy="0"/>
          <a:chOff x="0" y="0"/>
          <a:chExt cx="0" cy="0"/>
        </a:xfrm>
      </p:grpSpPr>
      <p:sp>
        <p:nvSpPr>
          <p:cNvPr id="2" name="static:0:text"/>
          <p:cNvSpPr/>
          <p:nvPr/>
        </p:nvSpPr>
        <p:spPr>
          <a:xfrm>
            <a:off x="975360" y="2199918"/>
            <a:ext cx="2768322" cy="152400"/>
          </a:xfrm>
          <a:prstGeom prst="rect">
            <a:avLst/>
          </a:prstGeom>
          <a:noFill/>
          <a:ln/>
        </p:spPr>
        <p:txBody>
          <a:bodyPr wrap="none" lIns="0" tIns="0" rIns="0" bIns="0" rtlCol="0" anchor="ctr"/>
          <a:lstStyle/>
          <a:p>
            <a:pPr marL="0" indent="0" algn="l">
              <a:buNone/>
            </a:pPr>
            <a:r>
              <a:rPr lang="en-US" sz="960" b="1" kern="0" spc="154" dirty="0">
                <a:solidFill>
                  <a:srgbClr val="FBBF24"/>
                </a:solidFill>
                <a:latin typeface="Arial" pitchFamily="34" charset="0"/>
                <a:ea typeface="Arial" pitchFamily="34" charset="-122"/>
                <a:cs typeface="Arial" pitchFamily="34" charset="-120"/>
              </a:rPr>
              <a:t>AI GENIUS / SEASON 6 / EPISODE 2</a:t>
            </a:r>
            <a:endParaRPr lang="en-US" sz="960" dirty="0"/>
          </a:p>
        </p:txBody>
      </p:sp>
      <p:sp>
        <p:nvSpPr>
          <p:cNvPr id="3" name="static:1:text"/>
          <p:cNvSpPr/>
          <p:nvPr/>
        </p:nvSpPr>
        <p:spPr>
          <a:xfrm>
            <a:off x="975360" y="2359938"/>
            <a:ext cx="3810786" cy="807720"/>
          </a:xfrm>
          <a:prstGeom prst="rect">
            <a:avLst/>
          </a:prstGeom>
          <a:noFill/>
          <a:ln/>
        </p:spPr>
        <p:txBody>
          <a:bodyPr wrap="none" lIns="0" tIns="0" rIns="0" bIns="0" rtlCol="0" anchor="ctr"/>
          <a:lstStyle/>
          <a:p>
            <a:pPr marL="0" indent="0" algn="l">
              <a:buNone/>
            </a:pPr>
            <a:r>
              <a:rPr lang="en-US" sz="5280" b="1" kern="0" spc="-238" dirty="0">
                <a:solidFill>
                  <a:srgbClr val="DEDEDE"/>
                </a:solidFill>
                <a:latin typeface="Arial" pitchFamily="34" charset="0"/>
                <a:ea typeface="Arial" pitchFamily="34" charset="-122"/>
                <a:cs typeface="Arial" pitchFamily="34" charset="-120"/>
              </a:rPr>
              <a:t>From Prompt</a:t>
            </a:r>
            <a:endParaRPr lang="en-US" sz="5280" dirty="0"/>
          </a:p>
        </p:txBody>
      </p:sp>
      <p:sp>
        <p:nvSpPr>
          <p:cNvPr id="4" name="static:2:text"/>
          <p:cNvSpPr/>
          <p:nvPr/>
        </p:nvSpPr>
        <p:spPr>
          <a:xfrm>
            <a:off x="975360" y="3017044"/>
            <a:ext cx="3911275" cy="807720"/>
          </a:xfrm>
          <a:prstGeom prst="rect">
            <a:avLst/>
          </a:prstGeom>
          <a:noFill/>
          <a:ln/>
        </p:spPr>
        <p:txBody>
          <a:bodyPr wrap="none" lIns="0" tIns="0" rIns="0" bIns="0" rtlCol="0" anchor="ctr"/>
          <a:lstStyle/>
          <a:p>
            <a:pPr marL="0" indent="0" algn="l">
              <a:buNone/>
            </a:pPr>
            <a:r>
              <a:rPr lang="en-US" sz="5280" b="1" kern="0" spc="-238" dirty="0">
                <a:solidFill>
                  <a:srgbClr val="FBBF24"/>
                </a:solidFill>
                <a:latin typeface="Arial" pitchFamily="34" charset="0"/>
                <a:ea typeface="Arial" pitchFamily="34" charset="-122"/>
                <a:cs typeface="Arial" pitchFamily="34" charset="-120"/>
              </a:rPr>
              <a:t>to Production</a:t>
            </a:r>
            <a:endParaRPr lang="en-US" sz="5280" dirty="0"/>
          </a:p>
        </p:txBody>
      </p:sp>
      <p:sp>
        <p:nvSpPr>
          <p:cNvPr id="8" name="static:6:text"/>
          <p:cNvSpPr/>
          <p:nvPr/>
        </p:nvSpPr>
        <p:spPr>
          <a:xfrm>
            <a:off x="975360" y="4918591"/>
            <a:ext cx="819388" cy="144780"/>
          </a:xfrm>
          <a:prstGeom prst="rect">
            <a:avLst/>
          </a:prstGeom>
          <a:noFill/>
          <a:ln/>
        </p:spPr>
        <p:txBody>
          <a:bodyPr wrap="none" lIns="0" tIns="0" rIns="0" bIns="0" rtlCol="0" anchor="ctr"/>
          <a:lstStyle/>
          <a:p>
            <a:pPr marL="0" indent="0" algn="l">
              <a:buNone/>
            </a:pPr>
            <a:r>
              <a:rPr lang="en-US" sz="840" dirty="0">
                <a:solidFill>
                  <a:srgbClr val="919191"/>
                </a:solidFill>
                <a:latin typeface="Arial" pitchFamily="34" charset="0"/>
                <a:ea typeface="Arial" pitchFamily="34" charset="-122"/>
                <a:cs typeface="Arial" pitchFamily="34" charset="-120"/>
              </a:rPr>
              <a:t>Graeme Foster</a:t>
            </a:r>
            <a:endParaRPr lang="en-US" sz="840" dirty="0"/>
          </a:p>
        </p:txBody>
      </p:sp>
      <p:sp>
        <p:nvSpPr>
          <p:cNvPr id="21" name="static:19: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22" name="static:20:text"/>
          <p:cNvSpPr/>
          <p:nvPr/>
        </p:nvSpPr>
        <p:spPr>
          <a:xfrm>
            <a:off x="9726811" y="6461760"/>
            <a:ext cx="1215509"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01</a:t>
            </a:r>
            <a:endParaRPr lang="en-US" sz="7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sp>
        <p:nvSpPr>
          <p:cNvPr id="2" name="static:0:text"/>
          <p:cNvSpPr/>
          <p:nvPr/>
        </p:nvSpPr>
        <p:spPr>
          <a:xfrm>
            <a:off x="2727960" y="870109"/>
            <a:ext cx="2556391" cy="152400"/>
          </a:xfrm>
          <a:prstGeom prst="rect">
            <a:avLst/>
          </a:prstGeom>
          <a:noFill/>
          <a:ln/>
        </p:spPr>
        <p:txBody>
          <a:bodyPr wrap="none" lIns="0" tIns="0" rIns="0" bIns="0" rtlCol="0" anchor="ctr"/>
          <a:lstStyle/>
          <a:p>
            <a:pPr marL="0" indent="0" algn="l">
              <a:buNone/>
            </a:pPr>
            <a:r>
              <a:rPr lang="en-US" sz="960" b="1" kern="0" spc="154" dirty="0">
                <a:solidFill>
                  <a:srgbClr val="FBBF24"/>
                </a:solidFill>
                <a:latin typeface="Arial" pitchFamily="34" charset="0"/>
                <a:ea typeface="Arial" pitchFamily="34" charset="-122"/>
                <a:cs typeface="Arial" pitchFamily="34" charset="-120"/>
              </a:rPr>
              <a:t>TODAY IN MICROSOFT FOUNDRY</a:t>
            </a:r>
            <a:endParaRPr lang="en-US" sz="960" dirty="0"/>
          </a:p>
        </p:txBody>
      </p:sp>
      <p:sp>
        <p:nvSpPr>
          <p:cNvPr id="3" name="static:1:text"/>
          <p:cNvSpPr/>
          <p:nvPr/>
        </p:nvSpPr>
        <p:spPr>
          <a:xfrm>
            <a:off x="975360" y="1068229"/>
            <a:ext cx="2515291" cy="411480"/>
          </a:xfrm>
          <a:prstGeom prst="rect">
            <a:avLst/>
          </a:prstGeom>
          <a:noFill/>
          <a:ln/>
        </p:spPr>
        <p:txBody>
          <a:bodyPr wrap="none" lIns="0" tIns="0" rIns="0" bIns="0" rtlCol="0" anchor="ctr"/>
          <a:lstStyle/>
          <a:p>
            <a:pPr marL="0" indent="0" algn="l">
              <a:buNone/>
            </a:pPr>
            <a:r>
              <a:rPr lang="en-US" sz="2640" b="1" kern="0" spc="-92" dirty="0">
                <a:solidFill>
                  <a:srgbClr val="DEDEDE"/>
                </a:solidFill>
                <a:latin typeface="Arial" pitchFamily="34" charset="0"/>
                <a:ea typeface="Arial" pitchFamily="34" charset="-122"/>
                <a:cs typeface="Arial" pitchFamily="34" charset="-120"/>
              </a:rPr>
              <a:t>What we'll cover.</a:t>
            </a:r>
            <a:endParaRPr lang="en-US" sz="2640" dirty="0"/>
          </a:p>
        </p:txBody>
      </p:sp>
      <p:sp>
        <p:nvSpPr>
          <p:cNvPr id="4" name="static:2:text"/>
          <p:cNvSpPr/>
          <p:nvPr/>
        </p:nvSpPr>
        <p:spPr>
          <a:xfrm>
            <a:off x="975360" y="2251234"/>
            <a:ext cx="348377" cy="266700"/>
          </a:xfrm>
          <a:prstGeom prst="rect">
            <a:avLst/>
          </a:prstGeom>
          <a:noFill/>
          <a:ln/>
        </p:spPr>
        <p:txBody>
          <a:bodyPr wrap="none" lIns="0" tIns="0" rIns="0" bIns="0" rtlCol="0" anchor="ctr"/>
          <a:lstStyle/>
          <a:p>
            <a:pPr marL="0" indent="0" algn="l">
              <a:buNone/>
            </a:pPr>
            <a:r>
              <a:rPr lang="en-US" sz="2000" b="1" dirty="0">
                <a:solidFill>
                  <a:srgbClr val="4DA6FF"/>
                </a:solidFill>
                <a:latin typeface="Arial" pitchFamily="34" charset="0"/>
                <a:ea typeface="Arial" pitchFamily="34" charset="-122"/>
                <a:cs typeface="Arial" pitchFamily="34" charset="-120"/>
              </a:rPr>
              <a:t>01</a:t>
            </a:r>
            <a:endParaRPr lang="en-US" sz="2000" dirty="0"/>
          </a:p>
        </p:txBody>
      </p:sp>
      <p:sp>
        <p:nvSpPr>
          <p:cNvPr id="5" name="static:3:text"/>
          <p:cNvSpPr/>
          <p:nvPr/>
        </p:nvSpPr>
        <p:spPr>
          <a:xfrm>
            <a:off x="975360" y="2578894"/>
            <a:ext cx="1456849" cy="266700"/>
          </a:xfrm>
          <a:prstGeom prst="rect">
            <a:avLst/>
          </a:prstGeom>
          <a:noFill/>
          <a:ln/>
        </p:spPr>
        <p:txBody>
          <a:bodyPr wrap="none" lIns="0" tIns="0" rIns="0" bIns="0" rtlCol="0" anchor="ctr"/>
          <a:lstStyle/>
          <a:p>
            <a:pPr marL="0" indent="0" algn="l">
              <a:buNone/>
            </a:pPr>
            <a:r>
              <a:rPr lang="en-US" sz="2000" b="1" dirty="0">
                <a:solidFill>
                  <a:srgbClr val="DEDEDE"/>
                </a:solidFill>
                <a:latin typeface="Arial" pitchFamily="34" charset="0"/>
                <a:ea typeface="Arial" pitchFamily="34" charset="-122"/>
                <a:cs typeface="Arial" pitchFamily="34" charset="-120"/>
              </a:rPr>
              <a:t>Model Choice</a:t>
            </a:r>
            <a:endParaRPr lang="en-US" sz="2000" dirty="0"/>
          </a:p>
        </p:txBody>
      </p:sp>
      <p:sp>
        <p:nvSpPr>
          <p:cNvPr id="6" name="static:4:text"/>
          <p:cNvSpPr/>
          <p:nvPr/>
        </p:nvSpPr>
        <p:spPr>
          <a:xfrm>
            <a:off x="975360" y="2912626"/>
            <a:ext cx="2387560" cy="190500"/>
          </a:xfrm>
          <a:prstGeom prst="rect">
            <a:avLst/>
          </a:prstGeom>
          <a:noFill/>
          <a:ln/>
        </p:spPr>
        <p:txBody>
          <a:bodyPr wrap="none" lIns="0" tIns="0" rIns="0" bIns="0" rtlCol="0" anchor="ctr"/>
          <a:lstStyle/>
          <a:p>
            <a:pPr marL="0" indent="0" algn="l">
              <a:buNone/>
            </a:pPr>
            <a:r>
              <a:rPr lang="en-US" sz="1600" dirty="0">
                <a:solidFill>
                  <a:srgbClr val="B0B0B0"/>
                </a:solidFill>
                <a:latin typeface="Arial" pitchFamily="34" charset="0"/>
                <a:ea typeface="Arial" pitchFamily="34" charset="-122"/>
                <a:cs typeface="Arial" pitchFamily="34" charset="-120"/>
              </a:rPr>
              <a:t>Model comparison + Model Router</a:t>
            </a:r>
            <a:endParaRPr lang="en-US" sz="1600" dirty="0"/>
          </a:p>
        </p:txBody>
      </p:sp>
      <p:sp>
        <p:nvSpPr>
          <p:cNvPr id="7" name="static:5:text"/>
          <p:cNvSpPr/>
          <p:nvPr/>
        </p:nvSpPr>
        <p:spPr>
          <a:xfrm>
            <a:off x="4535741" y="2265472"/>
            <a:ext cx="374690" cy="266700"/>
          </a:xfrm>
          <a:prstGeom prst="rect">
            <a:avLst/>
          </a:prstGeom>
          <a:noFill/>
          <a:ln/>
        </p:spPr>
        <p:txBody>
          <a:bodyPr wrap="none" lIns="0" tIns="0" rIns="0" bIns="0" rtlCol="0" anchor="ctr"/>
          <a:lstStyle/>
          <a:p>
            <a:pPr marL="0" indent="0" algn="l">
              <a:buNone/>
            </a:pPr>
            <a:r>
              <a:rPr lang="en-US" sz="2000" b="1" dirty="0">
                <a:solidFill>
                  <a:srgbClr val="FD8EA1"/>
                </a:solidFill>
                <a:latin typeface="Arial" pitchFamily="34" charset="0"/>
                <a:ea typeface="Arial" pitchFamily="34" charset="-122"/>
                <a:cs typeface="Arial" pitchFamily="34" charset="-120"/>
              </a:rPr>
              <a:t>02</a:t>
            </a:r>
            <a:endParaRPr lang="en-US" sz="2000" dirty="0"/>
          </a:p>
        </p:txBody>
      </p:sp>
      <p:sp>
        <p:nvSpPr>
          <p:cNvPr id="8" name="static:6:text"/>
          <p:cNvSpPr/>
          <p:nvPr/>
        </p:nvSpPr>
        <p:spPr>
          <a:xfrm>
            <a:off x="4535741" y="2593132"/>
            <a:ext cx="1142881" cy="266700"/>
          </a:xfrm>
          <a:prstGeom prst="rect">
            <a:avLst/>
          </a:prstGeom>
          <a:noFill/>
          <a:ln/>
        </p:spPr>
        <p:txBody>
          <a:bodyPr wrap="none" lIns="0" tIns="0" rIns="0" bIns="0" rtlCol="0" anchor="ctr"/>
          <a:lstStyle/>
          <a:p>
            <a:pPr marL="0" indent="0" algn="l">
              <a:buNone/>
            </a:pPr>
            <a:r>
              <a:rPr lang="en-US" sz="2000" b="1" dirty="0">
                <a:solidFill>
                  <a:srgbClr val="DEDEDE"/>
                </a:solidFill>
                <a:latin typeface="Arial" pitchFamily="34" charset="0"/>
                <a:ea typeface="Arial" pitchFamily="34" charset="-122"/>
                <a:cs typeface="Arial" pitchFamily="34" charset="-120"/>
              </a:rPr>
              <a:t>Grounding</a:t>
            </a:r>
            <a:endParaRPr lang="en-US" sz="2000" dirty="0"/>
          </a:p>
        </p:txBody>
      </p:sp>
      <p:sp>
        <p:nvSpPr>
          <p:cNvPr id="9" name="static:7:text"/>
          <p:cNvSpPr/>
          <p:nvPr/>
        </p:nvSpPr>
        <p:spPr>
          <a:xfrm>
            <a:off x="4535741" y="2926864"/>
            <a:ext cx="2186583" cy="190500"/>
          </a:xfrm>
          <a:prstGeom prst="rect">
            <a:avLst/>
          </a:prstGeom>
          <a:noFill/>
          <a:ln/>
        </p:spPr>
        <p:txBody>
          <a:bodyPr wrap="none" lIns="0" tIns="0" rIns="0" bIns="0" rtlCol="0" anchor="ctr"/>
          <a:lstStyle/>
          <a:p>
            <a:pPr marL="0" indent="0" algn="l">
              <a:buNone/>
            </a:pPr>
            <a:r>
              <a:rPr lang="en-US" sz="1600" dirty="0">
                <a:solidFill>
                  <a:srgbClr val="B0B0B0"/>
                </a:solidFill>
                <a:latin typeface="Arial" pitchFamily="34" charset="0"/>
                <a:ea typeface="Arial" pitchFamily="34" charset="-122"/>
                <a:cs typeface="Arial" pitchFamily="34" charset="-120"/>
              </a:rPr>
              <a:t>Foundry IQ, Fabric IQ + Work IQ</a:t>
            </a:r>
            <a:endParaRPr lang="en-US" sz="1600" dirty="0"/>
          </a:p>
        </p:txBody>
      </p:sp>
      <p:sp>
        <p:nvSpPr>
          <p:cNvPr id="16" name="static:14:text"/>
          <p:cNvSpPr/>
          <p:nvPr/>
        </p:nvSpPr>
        <p:spPr>
          <a:xfrm>
            <a:off x="4535741" y="3637072"/>
            <a:ext cx="378619" cy="266700"/>
          </a:xfrm>
          <a:prstGeom prst="rect">
            <a:avLst/>
          </a:prstGeom>
          <a:noFill/>
          <a:ln/>
        </p:spPr>
        <p:txBody>
          <a:bodyPr wrap="none" lIns="0" tIns="0" rIns="0" bIns="0" rtlCol="0" anchor="ctr"/>
          <a:lstStyle/>
          <a:p>
            <a:pPr marL="0" indent="0" algn="l">
              <a:buNone/>
            </a:pPr>
            <a:r>
              <a:rPr lang="en-US" sz="2000" b="1" dirty="0">
                <a:solidFill>
                  <a:srgbClr val="F87171"/>
                </a:solidFill>
                <a:latin typeface="Arial" pitchFamily="34" charset="0"/>
                <a:ea typeface="Arial" pitchFamily="34" charset="-122"/>
                <a:cs typeface="Arial" pitchFamily="34" charset="-120"/>
              </a:rPr>
              <a:t>05</a:t>
            </a:r>
            <a:endParaRPr lang="en-US" sz="2000" dirty="0"/>
          </a:p>
        </p:txBody>
      </p:sp>
      <p:sp>
        <p:nvSpPr>
          <p:cNvPr id="17" name="static:15:text"/>
          <p:cNvSpPr/>
          <p:nvPr/>
        </p:nvSpPr>
        <p:spPr>
          <a:xfrm>
            <a:off x="4535741" y="3964732"/>
            <a:ext cx="992981" cy="266700"/>
          </a:xfrm>
          <a:prstGeom prst="rect">
            <a:avLst/>
          </a:prstGeom>
          <a:noFill/>
          <a:ln/>
        </p:spPr>
        <p:txBody>
          <a:bodyPr wrap="none" lIns="0" tIns="0" rIns="0" bIns="0" rtlCol="0" anchor="ctr"/>
          <a:lstStyle/>
          <a:p>
            <a:pPr marL="0" indent="0" algn="l">
              <a:buNone/>
            </a:pPr>
            <a:r>
              <a:rPr lang="en-US" sz="2000" b="1" dirty="0">
                <a:solidFill>
                  <a:srgbClr val="DEDEDE"/>
                </a:solidFill>
                <a:latin typeface="Arial" pitchFamily="34" charset="0"/>
                <a:ea typeface="Arial" pitchFamily="34" charset="-122"/>
                <a:cs typeface="Arial" pitchFamily="34" charset="-120"/>
              </a:rPr>
              <a:t>Optimise</a:t>
            </a:r>
            <a:endParaRPr lang="en-US" sz="2000" dirty="0"/>
          </a:p>
        </p:txBody>
      </p:sp>
      <p:sp>
        <p:nvSpPr>
          <p:cNvPr id="18" name="static:16:text"/>
          <p:cNvSpPr/>
          <p:nvPr/>
        </p:nvSpPr>
        <p:spPr>
          <a:xfrm>
            <a:off x="4535741" y="4298464"/>
            <a:ext cx="1173599" cy="190500"/>
          </a:xfrm>
          <a:prstGeom prst="rect">
            <a:avLst/>
          </a:prstGeom>
          <a:noFill/>
          <a:ln/>
        </p:spPr>
        <p:txBody>
          <a:bodyPr wrap="none" lIns="0" tIns="0" rIns="0" bIns="0" rtlCol="0" anchor="ctr"/>
          <a:lstStyle/>
          <a:p>
            <a:pPr marL="0" indent="0" algn="l">
              <a:buNone/>
            </a:pPr>
            <a:r>
              <a:rPr lang="en-US" sz="1600" dirty="0">
                <a:solidFill>
                  <a:srgbClr val="B0B0B0"/>
                </a:solidFill>
                <a:latin typeface="Arial" pitchFamily="34" charset="0"/>
                <a:ea typeface="Arial" pitchFamily="34" charset="-122"/>
                <a:cs typeface="Arial" pitchFamily="34" charset="-120"/>
              </a:rPr>
              <a:t>Agent Optimizer</a:t>
            </a:r>
            <a:endParaRPr lang="en-US" sz="1600" dirty="0"/>
          </a:p>
        </p:txBody>
      </p:sp>
      <p:sp>
        <p:nvSpPr>
          <p:cNvPr id="19" name="static:17:text"/>
          <p:cNvSpPr/>
          <p:nvPr/>
        </p:nvSpPr>
        <p:spPr>
          <a:xfrm>
            <a:off x="7817460" y="3637072"/>
            <a:ext cx="385405" cy="266700"/>
          </a:xfrm>
          <a:prstGeom prst="rect">
            <a:avLst/>
          </a:prstGeom>
          <a:noFill/>
          <a:ln/>
        </p:spPr>
        <p:txBody>
          <a:bodyPr wrap="none" lIns="0" tIns="0" rIns="0" bIns="0" rtlCol="0" anchor="ctr"/>
          <a:lstStyle/>
          <a:p>
            <a:pPr marL="0" indent="0" algn="l">
              <a:buNone/>
            </a:pPr>
            <a:r>
              <a:rPr lang="en-US" sz="2000" b="1" dirty="0">
                <a:solidFill>
                  <a:srgbClr val="4DA6FF"/>
                </a:solidFill>
                <a:latin typeface="Arial" pitchFamily="34" charset="0"/>
                <a:ea typeface="Arial" pitchFamily="34" charset="-122"/>
                <a:cs typeface="Arial" pitchFamily="34" charset="-120"/>
              </a:rPr>
              <a:t>06</a:t>
            </a:r>
            <a:endParaRPr lang="en-US" sz="2000" dirty="0"/>
          </a:p>
        </p:txBody>
      </p:sp>
      <p:sp>
        <p:nvSpPr>
          <p:cNvPr id="20" name="static:18:text"/>
          <p:cNvSpPr/>
          <p:nvPr/>
        </p:nvSpPr>
        <p:spPr>
          <a:xfrm>
            <a:off x="7817460" y="3964732"/>
            <a:ext cx="1072039" cy="266700"/>
          </a:xfrm>
          <a:prstGeom prst="rect">
            <a:avLst/>
          </a:prstGeom>
          <a:noFill/>
          <a:ln/>
        </p:spPr>
        <p:txBody>
          <a:bodyPr wrap="none" lIns="0" tIns="0" rIns="0" bIns="0" rtlCol="0" anchor="ctr"/>
          <a:lstStyle/>
          <a:p>
            <a:pPr marL="0" indent="0" algn="l">
              <a:buNone/>
            </a:pPr>
            <a:r>
              <a:rPr lang="en-US" sz="2000" b="1" dirty="0">
                <a:solidFill>
                  <a:srgbClr val="DEDEDE"/>
                </a:solidFill>
                <a:latin typeface="Arial" pitchFamily="34" charset="0"/>
                <a:ea typeface="Arial" pitchFamily="34" charset="-122"/>
                <a:cs typeface="Arial" pitchFamily="34" charset="-120"/>
              </a:rPr>
              <a:t>Automate</a:t>
            </a:r>
            <a:endParaRPr lang="en-US" sz="2000" dirty="0"/>
          </a:p>
        </p:txBody>
      </p:sp>
      <p:sp>
        <p:nvSpPr>
          <p:cNvPr id="21" name="static:19:text"/>
          <p:cNvSpPr/>
          <p:nvPr/>
        </p:nvSpPr>
        <p:spPr>
          <a:xfrm>
            <a:off x="7817460" y="4231432"/>
            <a:ext cx="3856380" cy="243294"/>
          </a:xfrm>
          <a:prstGeom prst="rect">
            <a:avLst/>
          </a:prstGeom>
          <a:noFill/>
          <a:ln/>
        </p:spPr>
        <p:txBody>
          <a:bodyPr wrap="none" lIns="0" tIns="0" rIns="0" bIns="0" rtlCol="0" anchor="ctr"/>
          <a:lstStyle/>
          <a:p>
            <a:r>
              <a:rPr lang="en-US" sz="1600" dirty="0">
                <a:solidFill>
                  <a:srgbClr val="B0B0B0"/>
                </a:solidFill>
                <a:latin typeface="Arial" pitchFamily="34" charset="0"/>
                <a:ea typeface="Arial" pitchFamily="34" charset="-122"/>
                <a:cs typeface="Arial" pitchFamily="34" charset="-120"/>
              </a:rPr>
              <a:t>Continuous evaluation + GitHub Actions</a:t>
            </a:r>
            <a:endParaRPr lang="en-US" sz="1600" dirty="0"/>
          </a:p>
        </p:txBody>
      </p:sp>
      <p:sp>
        <p:nvSpPr>
          <p:cNvPr id="22" name="static:20:text"/>
          <p:cNvSpPr/>
          <p:nvPr/>
        </p:nvSpPr>
        <p:spPr>
          <a:xfrm>
            <a:off x="7817460" y="4496584"/>
            <a:ext cx="1227296" cy="190500"/>
          </a:xfrm>
          <a:prstGeom prst="rect">
            <a:avLst/>
          </a:prstGeom>
          <a:noFill/>
          <a:ln/>
        </p:spPr>
        <p:txBody>
          <a:bodyPr wrap="none" lIns="0" tIns="0" rIns="0" bIns="0" rtlCol="0" anchor="ctr"/>
          <a:lstStyle/>
          <a:p>
            <a:pPr marL="0" indent="0" algn="l">
              <a:buNone/>
            </a:pPr>
            <a:endParaRPr lang="en-US" sz="1600" dirty="0"/>
          </a:p>
        </p:txBody>
      </p:sp>
      <p:sp>
        <p:nvSpPr>
          <p:cNvPr id="23" name="static:21: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24" name="static:22:text"/>
          <p:cNvSpPr/>
          <p:nvPr/>
        </p:nvSpPr>
        <p:spPr>
          <a:xfrm>
            <a:off x="10445591" y="6461760"/>
            <a:ext cx="1228249"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02</a:t>
            </a:r>
            <a:endParaRPr lang="en-US" sz="720" dirty="0"/>
          </a:p>
        </p:txBody>
      </p:sp>
      <p:sp>
        <p:nvSpPr>
          <p:cNvPr id="25" name="static:11:text">
            <a:extLst>
              <a:ext uri="{FF2B5EF4-FFF2-40B4-BE49-F238E27FC236}">
                <a16:creationId xmlns:a16="http://schemas.microsoft.com/office/drawing/2014/main" id="{46F7BA72-CF14-DB79-C5D6-9262140E2D71}"/>
              </a:ext>
            </a:extLst>
          </p:cNvPr>
          <p:cNvSpPr/>
          <p:nvPr/>
        </p:nvSpPr>
        <p:spPr>
          <a:xfrm>
            <a:off x="975360" y="3637072"/>
            <a:ext cx="385286" cy="266700"/>
          </a:xfrm>
          <a:prstGeom prst="rect">
            <a:avLst/>
          </a:prstGeom>
          <a:noFill/>
          <a:ln/>
        </p:spPr>
        <p:txBody>
          <a:bodyPr wrap="none" lIns="0" tIns="0" rIns="0" bIns="0" rtlCol="0" anchor="ctr"/>
          <a:lstStyle/>
          <a:p>
            <a:pPr marL="0" indent="0" algn="l">
              <a:buNone/>
            </a:pPr>
            <a:r>
              <a:rPr lang="en-US" sz="2000" b="1" dirty="0">
                <a:solidFill>
                  <a:srgbClr val="4ADE80"/>
                </a:solidFill>
                <a:latin typeface="Arial" pitchFamily="34" charset="0"/>
                <a:ea typeface="Arial" pitchFamily="34" charset="-122"/>
                <a:cs typeface="Arial" pitchFamily="34" charset="-120"/>
              </a:rPr>
              <a:t>04</a:t>
            </a:r>
            <a:endParaRPr lang="en-US" sz="2000" dirty="0"/>
          </a:p>
        </p:txBody>
      </p:sp>
      <p:sp>
        <p:nvSpPr>
          <p:cNvPr id="26" name="static:12:text">
            <a:extLst>
              <a:ext uri="{FF2B5EF4-FFF2-40B4-BE49-F238E27FC236}">
                <a16:creationId xmlns:a16="http://schemas.microsoft.com/office/drawing/2014/main" id="{DC9D1AEF-5283-3F46-85E0-99FD3B08DD09}"/>
              </a:ext>
            </a:extLst>
          </p:cNvPr>
          <p:cNvSpPr/>
          <p:nvPr/>
        </p:nvSpPr>
        <p:spPr>
          <a:xfrm>
            <a:off x="986511" y="3964732"/>
            <a:ext cx="948214" cy="266700"/>
          </a:xfrm>
          <a:prstGeom prst="rect">
            <a:avLst/>
          </a:prstGeom>
          <a:noFill/>
          <a:ln/>
        </p:spPr>
        <p:txBody>
          <a:bodyPr wrap="none" lIns="0" tIns="0" rIns="0" bIns="0" rtlCol="0" anchor="ctr"/>
          <a:lstStyle/>
          <a:p>
            <a:pPr marL="0" indent="0" algn="l">
              <a:buNone/>
            </a:pPr>
            <a:r>
              <a:rPr lang="en-US" sz="2000" b="1" dirty="0">
                <a:solidFill>
                  <a:srgbClr val="DEDEDE"/>
                </a:solidFill>
                <a:latin typeface="Arial" pitchFamily="34" charset="0"/>
                <a:ea typeface="Arial" pitchFamily="34" charset="-122"/>
                <a:cs typeface="Arial" pitchFamily="34" charset="-120"/>
              </a:rPr>
              <a:t>Evaluate</a:t>
            </a:r>
            <a:endParaRPr lang="en-US" sz="2000" dirty="0"/>
          </a:p>
        </p:txBody>
      </p:sp>
      <p:sp>
        <p:nvSpPr>
          <p:cNvPr id="27" name="static:13:text">
            <a:extLst>
              <a:ext uri="{FF2B5EF4-FFF2-40B4-BE49-F238E27FC236}">
                <a16:creationId xmlns:a16="http://schemas.microsoft.com/office/drawing/2014/main" id="{E094F1BF-7F3B-FF59-1E91-CAA7077A788D}"/>
              </a:ext>
            </a:extLst>
          </p:cNvPr>
          <p:cNvSpPr/>
          <p:nvPr/>
        </p:nvSpPr>
        <p:spPr>
          <a:xfrm>
            <a:off x="975360" y="4298464"/>
            <a:ext cx="2965769" cy="190500"/>
          </a:xfrm>
          <a:prstGeom prst="rect">
            <a:avLst/>
          </a:prstGeom>
          <a:noFill/>
          <a:ln/>
        </p:spPr>
        <p:txBody>
          <a:bodyPr wrap="none" lIns="0" tIns="0" rIns="0" bIns="0" rtlCol="0" anchor="ctr"/>
          <a:lstStyle/>
          <a:p>
            <a:pPr marL="0" indent="0" algn="l">
              <a:buNone/>
            </a:pPr>
            <a:r>
              <a:rPr lang="en-US" sz="1600" dirty="0">
                <a:solidFill>
                  <a:srgbClr val="B0B0B0"/>
                </a:solidFill>
                <a:latin typeface="Arial" pitchFamily="34" charset="0"/>
                <a:ea typeface="Arial" pitchFamily="34" charset="-122"/>
                <a:cs typeface="Arial" pitchFamily="34" charset="-120"/>
              </a:rPr>
              <a:t>Quality, safety, stays on-task</a:t>
            </a:r>
            <a:endParaRPr lang="en-US" sz="1600" dirty="0"/>
          </a:p>
        </p:txBody>
      </p:sp>
      <p:sp>
        <p:nvSpPr>
          <p:cNvPr id="28" name="static:8:text">
            <a:extLst>
              <a:ext uri="{FF2B5EF4-FFF2-40B4-BE49-F238E27FC236}">
                <a16:creationId xmlns:a16="http://schemas.microsoft.com/office/drawing/2014/main" id="{E56A732E-8F30-CD8D-7275-EA11D4A84FDF}"/>
              </a:ext>
            </a:extLst>
          </p:cNvPr>
          <p:cNvSpPr/>
          <p:nvPr/>
        </p:nvSpPr>
        <p:spPr>
          <a:xfrm>
            <a:off x="7817460" y="2265472"/>
            <a:ext cx="380881" cy="266700"/>
          </a:xfrm>
          <a:prstGeom prst="rect">
            <a:avLst/>
          </a:prstGeom>
          <a:noFill/>
          <a:ln/>
        </p:spPr>
        <p:txBody>
          <a:bodyPr wrap="none" lIns="0" tIns="0" rIns="0" bIns="0" rtlCol="0" anchor="ctr"/>
          <a:lstStyle/>
          <a:p>
            <a:pPr marL="0" indent="0" algn="l">
              <a:buNone/>
            </a:pPr>
            <a:r>
              <a:rPr lang="en-US" sz="2000" b="1" dirty="0">
                <a:solidFill>
                  <a:srgbClr val="FBBF24"/>
                </a:solidFill>
                <a:latin typeface="Arial" pitchFamily="34" charset="0"/>
                <a:ea typeface="Arial" pitchFamily="34" charset="-122"/>
                <a:cs typeface="Arial" pitchFamily="34" charset="-120"/>
              </a:rPr>
              <a:t>03</a:t>
            </a:r>
            <a:endParaRPr lang="en-US" sz="2000" dirty="0"/>
          </a:p>
        </p:txBody>
      </p:sp>
      <p:sp>
        <p:nvSpPr>
          <p:cNvPr id="29" name="static:9:text">
            <a:extLst>
              <a:ext uri="{FF2B5EF4-FFF2-40B4-BE49-F238E27FC236}">
                <a16:creationId xmlns:a16="http://schemas.microsoft.com/office/drawing/2014/main" id="{20133A28-79B6-B053-E2A8-D6393DE731EE}"/>
              </a:ext>
            </a:extLst>
          </p:cNvPr>
          <p:cNvSpPr/>
          <p:nvPr/>
        </p:nvSpPr>
        <p:spPr>
          <a:xfrm>
            <a:off x="7817460" y="2593132"/>
            <a:ext cx="1752600" cy="244966"/>
          </a:xfrm>
          <a:prstGeom prst="rect">
            <a:avLst/>
          </a:prstGeom>
          <a:noFill/>
          <a:ln/>
        </p:spPr>
        <p:txBody>
          <a:bodyPr wrap="none" lIns="0" tIns="0" rIns="0" bIns="0" rtlCol="0" anchor="ctr"/>
          <a:lstStyle/>
          <a:p>
            <a:pPr marL="0" indent="0" algn="l">
              <a:buNone/>
            </a:pPr>
            <a:r>
              <a:rPr lang="en-US" sz="2000" b="1" dirty="0">
                <a:solidFill>
                  <a:srgbClr val="DEDEDE"/>
                </a:solidFill>
                <a:latin typeface="Arial" pitchFamily="34" charset="0"/>
                <a:ea typeface="Arial" pitchFamily="34" charset="-122"/>
                <a:cs typeface="Arial" pitchFamily="34" charset="-120"/>
              </a:rPr>
              <a:t>Observability</a:t>
            </a:r>
            <a:endParaRPr lang="en-US" sz="2000" dirty="0"/>
          </a:p>
        </p:txBody>
      </p:sp>
      <p:sp>
        <p:nvSpPr>
          <p:cNvPr id="30" name="static:10:text">
            <a:extLst>
              <a:ext uri="{FF2B5EF4-FFF2-40B4-BE49-F238E27FC236}">
                <a16:creationId xmlns:a16="http://schemas.microsoft.com/office/drawing/2014/main" id="{BEA8599D-63C7-A5D6-7BCF-AEE8E0DE2EC6}"/>
              </a:ext>
            </a:extLst>
          </p:cNvPr>
          <p:cNvSpPr/>
          <p:nvPr/>
        </p:nvSpPr>
        <p:spPr>
          <a:xfrm>
            <a:off x="7817459" y="2926864"/>
            <a:ext cx="1894999" cy="190500"/>
          </a:xfrm>
          <a:prstGeom prst="rect">
            <a:avLst/>
          </a:prstGeom>
          <a:noFill/>
          <a:ln/>
        </p:spPr>
        <p:txBody>
          <a:bodyPr wrap="none" lIns="0" tIns="0" rIns="0" bIns="0" rtlCol="0" anchor="ctr"/>
          <a:lstStyle/>
          <a:p>
            <a:pPr marL="0" indent="0" algn="l">
              <a:buNone/>
            </a:pPr>
            <a:r>
              <a:rPr lang="en-US" sz="1600" dirty="0">
                <a:solidFill>
                  <a:srgbClr val="B0B0B0"/>
                </a:solidFill>
                <a:latin typeface="Arial" pitchFamily="34" charset="0"/>
                <a:ea typeface="Arial" pitchFamily="34" charset="-122"/>
                <a:cs typeface="Arial" pitchFamily="34" charset="-120"/>
              </a:rPr>
              <a:t>Foundry tracing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Meet the agent">
    <p:spTree>
      <p:nvGrpSpPr>
        <p:cNvPr id="1" name=""/>
        <p:cNvGrpSpPr/>
        <p:nvPr/>
      </p:nvGrpSpPr>
      <p:grpSpPr>
        <a:xfrm>
          <a:off x="0" y="0"/>
          <a:ext cx="0" cy="0"/>
          <a:chOff x="0" y="0"/>
          <a:chExt cx="0" cy="0"/>
        </a:xfrm>
      </p:grpSpPr>
      <p:sp>
        <p:nvSpPr>
          <p:cNvPr id="2" name="static:0:text"/>
          <p:cNvSpPr/>
          <p:nvPr/>
        </p:nvSpPr>
        <p:spPr>
          <a:xfrm>
            <a:off x="2727960" y="870109"/>
            <a:ext cx="1179671" cy="152400"/>
          </a:xfrm>
          <a:prstGeom prst="rect">
            <a:avLst/>
          </a:prstGeom>
          <a:noFill/>
          <a:ln/>
        </p:spPr>
        <p:txBody>
          <a:bodyPr wrap="none" lIns="0" tIns="0" rIns="0" bIns="0" rtlCol="0" anchor="ctr"/>
          <a:lstStyle/>
          <a:p>
            <a:pPr marL="0" indent="0" algn="l">
              <a:buNone/>
            </a:pPr>
            <a:r>
              <a:rPr lang="en-US" sz="960" b="1" kern="0" spc="154" dirty="0">
                <a:solidFill>
                  <a:srgbClr val="FBBF24"/>
                </a:solidFill>
                <a:latin typeface="Arial" pitchFamily="34" charset="0"/>
                <a:ea typeface="Arial" pitchFamily="34" charset="-122"/>
                <a:cs typeface="Arial" pitchFamily="34" charset="-120"/>
              </a:rPr>
              <a:t>OUR EXAMPLE</a:t>
            </a:r>
            <a:endParaRPr lang="en-US" sz="960" dirty="0"/>
          </a:p>
        </p:txBody>
      </p:sp>
      <p:sp>
        <p:nvSpPr>
          <p:cNvPr id="3" name="static:1:text"/>
          <p:cNvSpPr/>
          <p:nvPr/>
        </p:nvSpPr>
        <p:spPr>
          <a:xfrm>
            <a:off x="975360" y="1068229"/>
            <a:ext cx="2270379" cy="411480"/>
          </a:xfrm>
          <a:prstGeom prst="rect">
            <a:avLst/>
          </a:prstGeom>
          <a:noFill/>
          <a:ln/>
        </p:spPr>
        <p:txBody>
          <a:bodyPr wrap="none" lIns="0" tIns="0" rIns="0" bIns="0" rtlCol="0" anchor="ctr"/>
          <a:lstStyle/>
          <a:p>
            <a:pPr marL="0" indent="0" algn="l">
              <a:buNone/>
            </a:pPr>
            <a:r>
              <a:rPr lang="en-US" sz="2640" b="1" kern="0" spc="-92" dirty="0">
                <a:solidFill>
                  <a:srgbClr val="DEDEDE"/>
                </a:solidFill>
                <a:latin typeface="Arial" pitchFamily="34" charset="0"/>
                <a:ea typeface="Arial" pitchFamily="34" charset="-122"/>
                <a:cs typeface="Arial" pitchFamily="34" charset="-120"/>
              </a:rPr>
              <a:t>Meet the agent</a:t>
            </a:r>
            <a:endParaRPr lang="en-US" sz="2640" dirty="0"/>
          </a:p>
        </p:txBody>
      </p:sp>
      <p:pic>
        <p:nvPicPr>
          <p:cNvPr id="4" name="static:2:svg:vector-3-2" descr="Purchasing advice age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80160" y="2088952"/>
            <a:ext cx="1676400" cy="1524000"/>
          </a:xfrm>
          <a:prstGeom prst="rect">
            <a:avLst/>
          </a:prstGeom>
        </p:spPr>
      </p:pic>
      <p:sp>
        <p:nvSpPr>
          <p:cNvPr id="5" name="static:3:text"/>
          <p:cNvSpPr/>
          <p:nvPr/>
        </p:nvSpPr>
        <p:spPr>
          <a:xfrm>
            <a:off x="1202531" y="3734872"/>
            <a:ext cx="1923098" cy="266700"/>
          </a:xfrm>
          <a:prstGeom prst="rect">
            <a:avLst/>
          </a:prstGeom>
          <a:noFill/>
          <a:ln/>
        </p:spPr>
        <p:txBody>
          <a:bodyPr wrap="none" lIns="0" tIns="0" rIns="0" bIns="0" rtlCol="0" anchor="ctr"/>
          <a:lstStyle/>
          <a:p>
            <a:pPr marL="0" indent="0" algn="l">
              <a:buNone/>
            </a:pPr>
            <a:r>
              <a:rPr lang="en-US" sz="1680" b="1" dirty="0">
                <a:solidFill>
                  <a:srgbClr val="4ADE80"/>
                </a:solidFill>
                <a:latin typeface="Arial" pitchFamily="34" charset="0"/>
                <a:ea typeface="Arial" pitchFamily="34" charset="-122"/>
                <a:cs typeface="Arial" pitchFamily="34" charset="-120"/>
              </a:rPr>
              <a:t>Purchasing advice</a:t>
            </a:r>
            <a:endParaRPr lang="en-US" sz="1680" dirty="0"/>
          </a:p>
        </p:txBody>
      </p:sp>
      <p:sp>
        <p:nvSpPr>
          <p:cNvPr id="6" name="static:4:text"/>
          <p:cNvSpPr/>
          <p:nvPr/>
        </p:nvSpPr>
        <p:spPr>
          <a:xfrm>
            <a:off x="1830705" y="3969544"/>
            <a:ext cx="666631" cy="266700"/>
          </a:xfrm>
          <a:prstGeom prst="rect">
            <a:avLst/>
          </a:prstGeom>
          <a:noFill/>
          <a:ln/>
        </p:spPr>
        <p:txBody>
          <a:bodyPr wrap="none" lIns="0" tIns="0" rIns="0" bIns="0" rtlCol="0" anchor="ctr"/>
          <a:lstStyle/>
          <a:p>
            <a:pPr marL="0" indent="0" algn="l">
              <a:buNone/>
            </a:pPr>
            <a:r>
              <a:rPr lang="en-US" sz="1680" b="1" dirty="0">
                <a:solidFill>
                  <a:srgbClr val="4ADE80"/>
                </a:solidFill>
                <a:latin typeface="Arial" pitchFamily="34" charset="0"/>
                <a:ea typeface="Arial" pitchFamily="34" charset="-122"/>
                <a:cs typeface="Arial" pitchFamily="34" charset="-120"/>
              </a:rPr>
              <a:t>agent</a:t>
            </a:r>
            <a:endParaRPr lang="en-US" sz="1680" dirty="0"/>
          </a:p>
        </p:txBody>
      </p:sp>
      <p:sp>
        <p:nvSpPr>
          <p:cNvPr id="7" name="static:5:text"/>
          <p:cNvSpPr/>
          <p:nvPr/>
        </p:nvSpPr>
        <p:spPr>
          <a:xfrm>
            <a:off x="1147882" y="4326136"/>
            <a:ext cx="2032278" cy="190500"/>
          </a:xfrm>
          <a:prstGeom prst="rect">
            <a:avLst/>
          </a:prstGeom>
          <a:noFill/>
          <a:ln/>
        </p:spPr>
        <p:txBody>
          <a:bodyPr wrap="none" lIns="0" tIns="0" rIns="0" bIns="0" rtlCol="0" anchor="ctr"/>
          <a:lstStyle/>
          <a:p>
            <a:pPr marL="0" indent="0" algn="l">
              <a:buNone/>
            </a:pPr>
            <a:r>
              <a:rPr lang="en-US" sz="1200" dirty="0">
                <a:solidFill>
                  <a:srgbClr val="B0B0B0"/>
                </a:solidFill>
                <a:latin typeface="Arial" pitchFamily="34" charset="0"/>
                <a:ea typeface="Arial" pitchFamily="34" charset="-122"/>
                <a:cs typeface="Arial" pitchFamily="34" charset="-120"/>
              </a:rPr>
              <a:t>Helps employees understand</a:t>
            </a:r>
            <a:endParaRPr lang="en-US" sz="1200" dirty="0"/>
          </a:p>
        </p:txBody>
      </p:sp>
      <p:sp>
        <p:nvSpPr>
          <p:cNvPr id="8" name="static:6:text"/>
          <p:cNvSpPr/>
          <p:nvPr/>
        </p:nvSpPr>
        <p:spPr>
          <a:xfrm>
            <a:off x="1365885" y="4539496"/>
            <a:ext cx="1596271" cy="190500"/>
          </a:xfrm>
          <a:prstGeom prst="rect">
            <a:avLst/>
          </a:prstGeom>
          <a:noFill/>
          <a:ln/>
        </p:spPr>
        <p:txBody>
          <a:bodyPr wrap="none" lIns="0" tIns="0" rIns="0" bIns="0" rtlCol="0" anchor="ctr"/>
          <a:lstStyle/>
          <a:p>
            <a:pPr marL="0" indent="0" algn="l">
              <a:buNone/>
            </a:pPr>
            <a:r>
              <a:rPr lang="en-US" sz="1200" dirty="0">
                <a:solidFill>
                  <a:srgbClr val="B0B0B0"/>
                </a:solidFill>
                <a:latin typeface="Arial" pitchFamily="34" charset="0"/>
                <a:ea typeface="Arial" pitchFamily="34" charset="-122"/>
                <a:cs typeface="Arial" pitchFamily="34" charset="-120"/>
              </a:rPr>
              <a:t>what they can buy and</a:t>
            </a:r>
            <a:endParaRPr lang="en-US" sz="1200" dirty="0"/>
          </a:p>
        </p:txBody>
      </p:sp>
      <p:sp>
        <p:nvSpPr>
          <p:cNvPr id="9" name="static:7:text"/>
          <p:cNvSpPr/>
          <p:nvPr/>
        </p:nvSpPr>
        <p:spPr>
          <a:xfrm>
            <a:off x="1211461" y="4752856"/>
            <a:ext cx="1905238" cy="190500"/>
          </a:xfrm>
          <a:prstGeom prst="rect">
            <a:avLst/>
          </a:prstGeom>
          <a:noFill/>
          <a:ln/>
        </p:spPr>
        <p:txBody>
          <a:bodyPr wrap="none" lIns="0" tIns="0" rIns="0" bIns="0" rtlCol="0" anchor="ctr"/>
          <a:lstStyle/>
          <a:p>
            <a:pPr marL="0" indent="0" algn="l">
              <a:buNone/>
            </a:pPr>
            <a:r>
              <a:rPr lang="en-US" sz="1200" dirty="0">
                <a:solidFill>
                  <a:srgbClr val="B0B0B0"/>
                </a:solidFill>
                <a:latin typeface="Arial" pitchFamily="34" charset="0"/>
                <a:ea typeface="Arial" pitchFamily="34" charset="-122"/>
                <a:cs typeface="Arial" pitchFamily="34" charset="-120"/>
              </a:rPr>
              <a:t>which approvals they need.</a:t>
            </a:r>
            <a:endParaRPr lang="en-US" sz="1200" dirty="0"/>
          </a:p>
        </p:txBody>
      </p:sp>
      <p:sp>
        <p:nvSpPr>
          <p:cNvPr id="10" name="static:8:shape"/>
          <p:cNvSpPr/>
          <p:nvPr/>
        </p:nvSpPr>
        <p:spPr>
          <a:xfrm>
            <a:off x="3749040" y="2841784"/>
            <a:ext cx="6900000" cy="1516380"/>
          </a:xfrm>
          <a:prstGeom prst="roundRect">
            <a:avLst>
              <a:gd name="adj" fmla="val 8040"/>
            </a:avLst>
          </a:prstGeom>
          <a:solidFill>
            <a:srgbClr val="292929"/>
          </a:solidFill>
          <a:ln w="7620">
            <a:solidFill>
              <a:srgbClr val="474747"/>
            </a:solidFill>
            <a:prstDash val="solid"/>
          </a:ln>
        </p:spPr>
        <p:txBody>
          <a:bodyPr/>
          <a:lstStyle/>
          <a:p>
            <a:endParaRPr lang="en-US"/>
          </a:p>
        </p:txBody>
      </p:sp>
      <p:sp>
        <p:nvSpPr>
          <p:cNvPr id="11" name="static:9:text"/>
          <p:cNvSpPr/>
          <p:nvPr/>
        </p:nvSpPr>
        <p:spPr>
          <a:xfrm>
            <a:off x="4000500" y="3085624"/>
            <a:ext cx="2094667" cy="190500"/>
          </a:xfrm>
          <a:prstGeom prst="rect">
            <a:avLst/>
          </a:prstGeom>
          <a:noFill/>
          <a:ln/>
        </p:spPr>
        <p:txBody>
          <a:bodyPr wrap="none" lIns="0" tIns="0" rIns="0" bIns="0" rtlCol="0" anchor="ctr"/>
          <a:lstStyle/>
          <a:p>
            <a:pPr marL="0" indent="0" algn="l">
              <a:buNone/>
            </a:pPr>
            <a:r>
              <a:rPr lang="en-US" sz="1200" b="1" dirty="0">
                <a:solidFill>
                  <a:srgbClr val="4DA6FF"/>
                </a:solidFill>
                <a:latin typeface="Arial" pitchFamily="34" charset="0"/>
                <a:ea typeface="Arial" pitchFamily="34" charset="-122"/>
                <a:cs typeface="Arial" pitchFamily="34" charset="-120"/>
              </a:rPr>
              <a:t>A team lead asks:</a:t>
            </a:r>
            <a:endParaRPr lang="en-US" sz="1200" dirty="0"/>
          </a:p>
        </p:txBody>
      </p:sp>
      <p:sp>
        <p:nvSpPr>
          <p:cNvPr id="12" name="static:10:text"/>
          <p:cNvSpPr/>
          <p:nvPr/>
        </p:nvSpPr>
        <p:spPr>
          <a:xfrm>
            <a:off x="4000500" y="3420904"/>
            <a:ext cx="5370076" cy="342900"/>
          </a:xfrm>
          <a:prstGeom prst="rect">
            <a:avLst/>
          </a:prstGeom>
          <a:noFill/>
          <a:ln/>
        </p:spPr>
        <p:txBody>
          <a:bodyPr wrap="none" lIns="0" tIns="0" rIns="0" bIns="0" rtlCol="0" anchor="ctr"/>
          <a:lstStyle/>
          <a:p>
            <a:pPr marL="0" indent="0" algn="l">
              <a:buNone/>
            </a:pPr>
            <a:r>
              <a:rPr lang="en-US" sz="2160" b="1" dirty="0">
                <a:solidFill>
                  <a:srgbClr val="DEDEDE"/>
                </a:solidFill>
                <a:latin typeface="Arial" pitchFamily="34" charset="0"/>
                <a:ea typeface="Arial" pitchFamily="34" charset="-122"/>
                <a:cs typeface="Arial" pitchFamily="34" charset="-120"/>
              </a:rPr>
              <a:t>“Can I book a team dinner for six this Thursday?</a:t>
            </a:r>
            <a:endParaRPr lang="en-US" sz="2160" dirty="0"/>
          </a:p>
        </p:txBody>
      </p:sp>
      <p:sp>
        <p:nvSpPr>
          <p:cNvPr id="13" name="static:11:text"/>
          <p:cNvSpPr/>
          <p:nvPr/>
        </p:nvSpPr>
        <p:spPr>
          <a:xfrm>
            <a:off x="4000500" y="3763804"/>
            <a:ext cx="5550218" cy="342900"/>
          </a:xfrm>
          <a:prstGeom prst="rect">
            <a:avLst/>
          </a:prstGeom>
          <a:noFill/>
          <a:ln/>
        </p:spPr>
        <p:txBody>
          <a:bodyPr wrap="none" lIns="0" tIns="0" rIns="0" bIns="0" rtlCol="0" anchor="ctr"/>
          <a:lstStyle/>
          <a:p>
            <a:pPr marL="0" indent="0" algn="l">
              <a:buNone/>
            </a:pPr>
            <a:r>
              <a:rPr lang="en-US" sz="2160" b="1" dirty="0">
                <a:solidFill>
                  <a:srgbClr val="DEDEDE"/>
                </a:solidFill>
                <a:latin typeface="Arial" pitchFamily="34" charset="0"/>
                <a:ea typeface="Arial" pitchFamily="34" charset="-122"/>
                <a:cs typeface="Arial" pitchFamily="34" charset="-120"/>
              </a:rPr>
              <a:t>It’s about $540, and my manager’s approved it.”</a:t>
            </a:r>
            <a:endParaRPr lang="en-US" sz="2160" dirty="0"/>
          </a:p>
        </p:txBody>
      </p:sp>
      <p:sp>
        <p:nvSpPr>
          <p:cNvPr id="14" name="static:12: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15" name="static:13:text"/>
          <p:cNvSpPr/>
          <p:nvPr/>
        </p:nvSpPr>
        <p:spPr>
          <a:xfrm>
            <a:off x="10443448" y="6461760"/>
            <a:ext cx="1230392"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03</a:t>
            </a:r>
            <a:endParaRPr lang="en-US" sz="7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Model Choice">
    <p:spTree>
      <p:nvGrpSpPr>
        <p:cNvPr id="1" name=""/>
        <p:cNvGrpSpPr/>
        <p:nvPr/>
      </p:nvGrpSpPr>
      <p:grpSpPr>
        <a:xfrm>
          <a:off x="0" y="0"/>
          <a:ext cx="0" cy="0"/>
          <a:chOff x="0" y="0"/>
          <a:chExt cx="0" cy="0"/>
        </a:xfrm>
      </p:grpSpPr>
      <p:sp>
        <p:nvSpPr>
          <p:cNvPr id="2" name="static:0:text"/>
          <p:cNvSpPr/>
          <p:nvPr/>
        </p:nvSpPr>
        <p:spPr>
          <a:xfrm>
            <a:off x="2727960" y="870109"/>
            <a:ext cx="3541514" cy="152400"/>
          </a:xfrm>
          <a:prstGeom prst="rect">
            <a:avLst/>
          </a:prstGeom>
          <a:noFill/>
          <a:ln/>
        </p:spPr>
        <p:txBody>
          <a:bodyPr wrap="none" lIns="0" tIns="0" rIns="0" bIns="0" rtlCol="0" anchor="ctr"/>
          <a:lstStyle/>
          <a:p>
            <a:pPr marL="0" indent="0" algn="l">
              <a:buNone/>
            </a:pPr>
            <a:r>
              <a:rPr lang="en-US" sz="960" b="1" kern="0" spc="154" dirty="0">
                <a:solidFill>
                  <a:srgbClr val="FBBF24"/>
                </a:solidFill>
                <a:latin typeface="Arial" pitchFamily="34" charset="0"/>
                <a:ea typeface="Arial" pitchFamily="34" charset="-122"/>
                <a:cs typeface="Arial" pitchFamily="34" charset="-120"/>
              </a:rPr>
              <a:t>DIFFERENT MODELS. DIFFERENT PRIORITIES.</a:t>
            </a:r>
            <a:endParaRPr lang="en-US" sz="960" dirty="0"/>
          </a:p>
        </p:txBody>
      </p:sp>
      <p:sp>
        <p:nvSpPr>
          <p:cNvPr id="3" name="static:1:text"/>
          <p:cNvSpPr/>
          <p:nvPr/>
        </p:nvSpPr>
        <p:spPr>
          <a:xfrm>
            <a:off x="975360" y="1068229"/>
            <a:ext cx="2083808" cy="411480"/>
          </a:xfrm>
          <a:prstGeom prst="rect">
            <a:avLst/>
          </a:prstGeom>
          <a:noFill/>
          <a:ln/>
        </p:spPr>
        <p:txBody>
          <a:bodyPr wrap="none" lIns="0" tIns="0" rIns="0" bIns="0" rtlCol="0" anchor="ctr"/>
          <a:lstStyle/>
          <a:p>
            <a:pPr marL="0" indent="0" algn="l">
              <a:buNone/>
            </a:pPr>
            <a:r>
              <a:rPr lang="en-US" sz="2640" b="1" kern="0" spc="-92" dirty="0">
                <a:solidFill>
                  <a:srgbClr val="DEDEDE"/>
                </a:solidFill>
                <a:latin typeface="Arial" pitchFamily="34" charset="0"/>
                <a:ea typeface="Arial" pitchFamily="34" charset="-122"/>
                <a:cs typeface="Arial" pitchFamily="34" charset="-120"/>
              </a:rPr>
              <a:t>Model Choice</a:t>
            </a:r>
            <a:endParaRPr lang="en-US" sz="2640" dirty="0"/>
          </a:p>
        </p:txBody>
      </p:sp>
      <p:grpSp>
        <p:nvGrpSpPr>
          <p:cNvPr id="36" name="Reveal 1"/>
          <p:cNvGrpSpPr/>
          <p:nvPr/>
        </p:nvGrpSpPr>
        <p:grpSpPr>
          <a:xfrm>
            <a:off x="975360" y="1949172"/>
            <a:ext cx="2834640" cy="3569137"/>
            <a:chOff x="975360" y="1949172"/>
            <a:chExt cx="2834640" cy="3569137"/>
          </a:xfrm>
        </p:grpSpPr>
        <p:sp>
          <p:nvSpPr>
            <p:cNvPr id="4" name="reveal-1:2:shape"/>
            <p:cNvSpPr/>
            <p:nvPr/>
          </p:nvSpPr>
          <p:spPr>
            <a:xfrm>
              <a:off x="975360" y="1949172"/>
              <a:ext cx="2834640" cy="3569137"/>
            </a:xfrm>
            <a:prstGeom prst="roundRect">
              <a:avLst>
                <a:gd name="adj" fmla="val 4839"/>
              </a:avLst>
            </a:prstGeom>
            <a:solidFill>
              <a:srgbClr val="292929"/>
            </a:solidFill>
            <a:ln w="7620">
              <a:solidFill>
                <a:srgbClr val="474747"/>
              </a:solidFill>
              <a:prstDash val="solid"/>
            </a:ln>
          </p:spPr>
          <p:txBody>
            <a:bodyPr/>
            <a:lstStyle/>
            <a:p>
              <a:endParaRPr lang="en-US"/>
            </a:p>
          </p:txBody>
        </p:sp>
        <p:sp>
          <p:nvSpPr>
            <p:cNvPr id="5" name="reveal-1:2:shape:border-0"/>
            <p:cNvSpPr/>
            <p:nvPr/>
          </p:nvSpPr>
          <p:spPr>
            <a:xfrm>
              <a:off x="1066800" y="1964412"/>
              <a:ext cx="2651760" cy="0"/>
            </a:xfrm>
            <a:prstGeom prst="line">
              <a:avLst/>
            </a:prstGeom>
            <a:noFill/>
            <a:ln w="30480">
              <a:solidFill>
                <a:srgbClr val="FBBF24"/>
              </a:solidFill>
              <a:prstDash val="solid"/>
              <a:headEnd type="none"/>
              <a:tailEnd type="none"/>
            </a:ln>
          </p:spPr>
          <p:txBody>
            <a:bodyPr/>
            <a:lstStyle/>
            <a:p>
              <a:endParaRPr lang="en-US"/>
            </a:p>
          </p:txBody>
        </p:sp>
        <p:pic>
          <p:nvPicPr>
            <p:cNvPr id="6" name="reveal-1:3:svg:vector-4-3" descr="Model 1: a robot with a connected reasoning diagram"/>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6880" y="2193012"/>
              <a:ext cx="1371600" cy="1249680"/>
            </a:xfrm>
            <a:prstGeom prst="rect">
              <a:avLst/>
            </a:prstGeom>
          </p:spPr>
        </p:pic>
        <p:sp>
          <p:nvSpPr>
            <p:cNvPr id="7" name="reveal-1:4:text"/>
            <p:cNvSpPr/>
            <p:nvPr/>
          </p:nvSpPr>
          <p:spPr>
            <a:xfrm>
              <a:off x="1066800" y="3549372"/>
              <a:ext cx="2651760" cy="228600"/>
            </a:xfrm>
            <a:prstGeom prst="rect">
              <a:avLst/>
            </a:prstGeom>
            <a:noFill/>
            <a:ln/>
          </p:spPr>
          <p:txBody>
            <a:bodyPr wrap="none" lIns="0" tIns="0" rIns="0" bIns="0" rtlCol="0" anchor="ctr"/>
            <a:lstStyle/>
            <a:p>
              <a:pPr marL="0" indent="0" algn="ctr">
                <a:buNone/>
              </a:pPr>
              <a:r>
                <a:rPr lang="en-US" sz="1440" b="1" dirty="0">
                  <a:solidFill>
                    <a:srgbClr val="FBBF24"/>
                  </a:solidFill>
                  <a:latin typeface="Arial" pitchFamily="34" charset="0"/>
                  <a:ea typeface="Arial" pitchFamily="34" charset="-122"/>
                  <a:cs typeface="Arial" pitchFamily="34" charset="-120"/>
                </a:rPr>
                <a:t>Model 1</a:t>
              </a:r>
              <a:endParaRPr lang="en-US" sz="1440" dirty="0"/>
            </a:p>
          </p:txBody>
        </p:sp>
        <p:sp>
          <p:nvSpPr>
            <p:cNvPr id="8" name="reveal-1:5:text"/>
            <p:cNvSpPr/>
            <p:nvPr/>
          </p:nvSpPr>
          <p:spPr>
            <a:xfrm>
              <a:off x="1066800" y="3857149"/>
              <a:ext cx="2651760" cy="243840"/>
            </a:xfrm>
            <a:prstGeom prst="rect">
              <a:avLst/>
            </a:prstGeom>
            <a:noFill/>
            <a:ln/>
          </p:spPr>
          <p:txBody>
            <a:bodyPr wrap="none" lIns="0" tIns="0" rIns="0" bIns="0" rtlCol="0" anchor="ctr"/>
            <a:lstStyle/>
            <a:p>
              <a:pPr marL="0" indent="0" algn="ctr">
                <a:buNone/>
              </a:pPr>
              <a:r>
                <a:rPr lang="en-US" sz="1560" b="1" dirty="0">
                  <a:solidFill>
                    <a:srgbClr val="DEDEDE"/>
                  </a:solidFill>
                  <a:latin typeface="Arial" pitchFamily="34" charset="0"/>
                  <a:ea typeface="Arial" pitchFamily="34" charset="-122"/>
                  <a:cs typeface="Arial" pitchFamily="34" charset="-120"/>
                </a:rPr>
                <a:t>Optimised for quality</a:t>
              </a:r>
              <a:endParaRPr lang="en-US" sz="1560" dirty="0"/>
            </a:p>
          </p:txBody>
        </p:sp>
        <p:sp>
          <p:nvSpPr>
            <p:cNvPr id="9" name="reveal-1:6:text"/>
            <p:cNvSpPr/>
            <p:nvPr/>
          </p:nvSpPr>
          <p:spPr>
            <a:xfrm>
              <a:off x="1066800" y="4192429"/>
              <a:ext cx="2651760" cy="190500"/>
            </a:xfrm>
            <a:prstGeom prst="rect">
              <a:avLst/>
            </a:prstGeom>
            <a:noFill/>
            <a:ln/>
          </p:spPr>
          <p:txBody>
            <a:bodyPr wrap="none" lIns="0" tIns="0" rIns="0" bIns="0" rtlCol="0" anchor="ctr"/>
            <a:lstStyle/>
            <a:p>
              <a:pPr marL="0" indent="0" algn="ctr">
                <a:buNone/>
              </a:pPr>
              <a:r>
                <a:rPr lang="en-US" sz="1200" dirty="0">
                  <a:solidFill>
                    <a:srgbClr val="B0B0B0"/>
                  </a:solidFill>
                  <a:latin typeface="Arial" pitchFamily="34" charset="0"/>
                  <a:ea typeface="Arial" pitchFamily="34" charset="-122"/>
                  <a:cs typeface="Arial" pitchFamily="34" charset="-120"/>
                </a:rPr>
                <a:t>Complex reasoning</a:t>
              </a:r>
              <a:endParaRPr lang="en-US" sz="1200" dirty="0"/>
            </a:p>
          </p:txBody>
        </p:sp>
        <p:sp>
          <p:nvSpPr>
            <p:cNvPr id="10" name="reveal-1:7:text"/>
            <p:cNvSpPr/>
            <p:nvPr/>
          </p:nvSpPr>
          <p:spPr>
            <a:xfrm>
              <a:off x="1066800" y="4398169"/>
              <a:ext cx="2651760" cy="190500"/>
            </a:xfrm>
            <a:prstGeom prst="rect">
              <a:avLst/>
            </a:prstGeom>
            <a:noFill/>
            <a:ln/>
          </p:spPr>
          <p:txBody>
            <a:bodyPr wrap="none" lIns="0" tIns="0" rIns="0" bIns="0" rtlCol="0" anchor="ctr"/>
            <a:lstStyle/>
            <a:p>
              <a:pPr marL="0" indent="0" algn="ctr">
                <a:buNone/>
              </a:pPr>
              <a:r>
                <a:rPr lang="en-US" sz="1200" dirty="0">
                  <a:solidFill>
                    <a:srgbClr val="B0B0B0"/>
                  </a:solidFill>
                  <a:latin typeface="Arial" pitchFamily="34" charset="0"/>
                  <a:ea typeface="Arial" pitchFamily="34" charset="-122"/>
                  <a:cs typeface="Arial" pitchFamily="34" charset="-120"/>
                </a:rPr>
                <a:t>and multi-step tasks</a:t>
              </a:r>
              <a:endParaRPr lang="en-US" sz="1200" dirty="0"/>
            </a:p>
          </p:txBody>
        </p:sp>
        <p:sp>
          <p:nvSpPr>
            <p:cNvPr id="11" name="reveal-1:8:shape"/>
            <p:cNvSpPr/>
            <p:nvPr/>
          </p:nvSpPr>
          <p:spPr>
            <a:xfrm>
              <a:off x="1196340" y="4748689"/>
              <a:ext cx="2392680" cy="548640"/>
            </a:xfrm>
            <a:prstGeom prst="roundRect">
              <a:avLst>
                <a:gd name="adj" fmla="val 13889"/>
              </a:avLst>
            </a:prstGeom>
            <a:solidFill>
              <a:srgbClr val="2E2E2E"/>
            </a:solidFill>
            <a:ln w="12700">
              <a:solidFill>
                <a:srgbClr val="333333">
                  <a:alpha val="0"/>
                </a:srgbClr>
              </a:solidFill>
              <a:prstDash val="solid"/>
            </a:ln>
          </p:spPr>
          <p:txBody>
            <a:bodyPr/>
            <a:lstStyle/>
            <a:p>
              <a:endParaRPr lang="en-US"/>
            </a:p>
          </p:txBody>
        </p:sp>
        <p:sp>
          <p:nvSpPr>
            <p:cNvPr id="12" name="reveal-1:9:text"/>
            <p:cNvSpPr/>
            <p:nvPr/>
          </p:nvSpPr>
          <p:spPr>
            <a:xfrm>
              <a:off x="1066800" y="4832509"/>
              <a:ext cx="2651760" cy="175260"/>
            </a:xfrm>
            <a:prstGeom prst="rect">
              <a:avLst/>
            </a:prstGeom>
            <a:noFill/>
            <a:ln/>
          </p:spPr>
          <p:txBody>
            <a:bodyPr wrap="none" lIns="0" tIns="0" rIns="0" bIns="0" rtlCol="0" anchor="ctr"/>
            <a:lstStyle/>
            <a:p>
              <a:pPr marL="0" indent="0" algn="ctr">
                <a:buNone/>
              </a:pPr>
              <a:r>
                <a:rPr lang="en-US" sz="1080" b="1" dirty="0">
                  <a:solidFill>
                    <a:srgbClr val="DEDEDE"/>
                  </a:solidFill>
                  <a:latin typeface="Arial" pitchFamily="34" charset="0"/>
                  <a:ea typeface="Arial" pitchFamily="34" charset="-122"/>
                  <a:cs typeface="Arial" pitchFamily="34" charset="-120"/>
                </a:rPr>
                <a:t>Trade-off: $$$</a:t>
              </a:r>
              <a:endParaRPr lang="en-US" sz="1080" dirty="0"/>
            </a:p>
          </p:txBody>
        </p:sp>
        <p:sp>
          <p:nvSpPr>
            <p:cNvPr id="13" name="reveal-1:10:text"/>
            <p:cNvSpPr/>
            <p:nvPr/>
          </p:nvSpPr>
          <p:spPr>
            <a:xfrm>
              <a:off x="1066800" y="5003959"/>
              <a:ext cx="2651760" cy="175260"/>
            </a:xfrm>
            <a:prstGeom prst="rect">
              <a:avLst/>
            </a:prstGeom>
            <a:noFill/>
            <a:ln/>
          </p:spPr>
          <p:txBody>
            <a:bodyPr wrap="none" lIns="0" tIns="0" rIns="0" bIns="0" rtlCol="0" anchor="ctr"/>
            <a:lstStyle/>
            <a:p>
              <a:pPr marL="0" indent="0" algn="ctr">
                <a:buNone/>
              </a:pPr>
              <a:r>
                <a:rPr lang="en-US" sz="1080" b="1" dirty="0">
                  <a:solidFill>
                    <a:srgbClr val="DEDEDE"/>
                  </a:solidFill>
                  <a:latin typeface="Arial" pitchFamily="34" charset="0"/>
                  <a:ea typeface="Arial" pitchFamily="34" charset="-122"/>
                  <a:cs typeface="Arial" pitchFamily="34" charset="-120"/>
                </a:rPr>
                <a:t>Slower responses</a:t>
              </a:r>
              <a:endParaRPr lang="en-US" sz="1080" dirty="0"/>
            </a:p>
          </p:txBody>
        </p:sp>
      </p:grpSp>
      <p:grpSp>
        <p:nvGrpSpPr>
          <p:cNvPr id="37" name="Reveal 2"/>
          <p:cNvGrpSpPr/>
          <p:nvPr/>
        </p:nvGrpSpPr>
        <p:grpSpPr>
          <a:xfrm>
            <a:off x="3992880" y="1949172"/>
            <a:ext cx="2834640" cy="3569137"/>
            <a:chOff x="3992880" y="1949172"/>
            <a:chExt cx="2834640" cy="3569137"/>
          </a:xfrm>
        </p:grpSpPr>
        <p:sp>
          <p:nvSpPr>
            <p:cNvPr id="14" name="reveal-2:11:shape"/>
            <p:cNvSpPr/>
            <p:nvPr/>
          </p:nvSpPr>
          <p:spPr>
            <a:xfrm>
              <a:off x="3992880" y="1949172"/>
              <a:ext cx="2834640" cy="3569137"/>
            </a:xfrm>
            <a:prstGeom prst="roundRect">
              <a:avLst>
                <a:gd name="adj" fmla="val 4839"/>
              </a:avLst>
            </a:prstGeom>
            <a:solidFill>
              <a:srgbClr val="292929"/>
            </a:solidFill>
            <a:ln w="7620">
              <a:solidFill>
                <a:srgbClr val="474747"/>
              </a:solidFill>
              <a:prstDash val="solid"/>
            </a:ln>
          </p:spPr>
          <p:txBody>
            <a:bodyPr/>
            <a:lstStyle/>
            <a:p>
              <a:endParaRPr lang="en-US"/>
            </a:p>
          </p:txBody>
        </p:sp>
        <p:sp>
          <p:nvSpPr>
            <p:cNvPr id="15" name="reveal-2:11:shape:border-0"/>
            <p:cNvSpPr/>
            <p:nvPr/>
          </p:nvSpPr>
          <p:spPr>
            <a:xfrm>
              <a:off x="4084320" y="1964412"/>
              <a:ext cx="2651760" cy="0"/>
            </a:xfrm>
            <a:prstGeom prst="line">
              <a:avLst/>
            </a:prstGeom>
            <a:noFill/>
            <a:ln w="30480">
              <a:solidFill>
                <a:srgbClr val="4DA6FF"/>
              </a:solidFill>
              <a:prstDash val="solid"/>
              <a:headEnd type="none"/>
              <a:tailEnd type="none"/>
            </a:ln>
          </p:spPr>
          <p:txBody>
            <a:bodyPr/>
            <a:lstStyle/>
            <a:p>
              <a:endParaRPr lang="en-US"/>
            </a:p>
          </p:txBody>
        </p:sp>
        <p:pic>
          <p:nvPicPr>
            <p:cNvPr id="16" name="reveal-2:12:svg:vector-4-12" descr="Model 2: a robot with a lightning bolt and speed lin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24400" y="2193012"/>
              <a:ext cx="1371600" cy="1249680"/>
            </a:xfrm>
            <a:prstGeom prst="rect">
              <a:avLst/>
            </a:prstGeom>
          </p:spPr>
        </p:pic>
        <p:sp>
          <p:nvSpPr>
            <p:cNvPr id="17" name="reveal-2:13:text"/>
            <p:cNvSpPr/>
            <p:nvPr/>
          </p:nvSpPr>
          <p:spPr>
            <a:xfrm>
              <a:off x="4084320" y="3549372"/>
              <a:ext cx="2651760" cy="228600"/>
            </a:xfrm>
            <a:prstGeom prst="rect">
              <a:avLst/>
            </a:prstGeom>
            <a:noFill/>
            <a:ln/>
          </p:spPr>
          <p:txBody>
            <a:bodyPr wrap="none" lIns="0" tIns="0" rIns="0" bIns="0" rtlCol="0" anchor="ctr"/>
            <a:lstStyle/>
            <a:p>
              <a:pPr marL="0" indent="0" algn="ctr">
                <a:buNone/>
              </a:pPr>
              <a:r>
                <a:rPr lang="en-US" sz="1440" b="1" dirty="0">
                  <a:solidFill>
                    <a:srgbClr val="4DA6FF"/>
                  </a:solidFill>
                  <a:latin typeface="Arial" pitchFamily="34" charset="0"/>
                  <a:ea typeface="Arial" pitchFamily="34" charset="-122"/>
                  <a:cs typeface="Arial" pitchFamily="34" charset="-120"/>
                </a:rPr>
                <a:t>Model 2</a:t>
              </a:r>
              <a:endParaRPr lang="en-US" sz="1440" dirty="0"/>
            </a:p>
          </p:txBody>
        </p:sp>
        <p:sp>
          <p:nvSpPr>
            <p:cNvPr id="18" name="reveal-2:14:text"/>
            <p:cNvSpPr/>
            <p:nvPr/>
          </p:nvSpPr>
          <p:spPr>
            <a:xfrm>
              <a:off x="4084320" y="3857149"/>
              <a:ext cx="2651760" cy="243840"/>
            </a:xfrm>
            <a:prstGeom prst="rect">
              <a:avLst/>
            </a:prstGeom>
            <a:noFill/>
            <a:ln/>
          </p:spPr>
          <p:txBody>
            <a:bodyPr wrap="none" lIns="0" tIns="0" rIns="0" bIns="0" rtlCol="0" anchor="ctr"/>
            <a:lstStyle/>
            <a:p>
              <a:pPr marL="0" indent="0" algn="ctr">
                <a:buNone/>
              </a:pPr>
              <a:r>
                <a:rPr lang="en-US" sz="1560" b="1" dirty="0">
                  <a:solidFill>
                    <a:srgbClr val="DEDEDE"/>
                  </a:solidFill>
                  <a:latin typeface="Arial" pitchFamily="34" charset="0"/>
                  <a:ea typeface="Arial" pitchFamily="34" charset="-122"/>
                  <a:cs typeface="Arial" pitchFamily="34" charset="-120"/>
                </a:rPr>
                <a:t>Fast and low cost</a:t>
              </a:r>
              <a:endParaRPr lang="en-US" sz="1560" dirty="0"/>
            </a:p>
          </p:txBody>
        </p:sp>
        <p:sp>
          <p:nvSpPr>
            <p:cNvPr id="19" name="reveal-2:15:text"/>
            <p:cNvSpPr/>
            <p:nvPr/>
          </p:nvSpPr>
          <p:spPr>
            <a:xfrm>
              <a:off x="4084320" y="4192429"/>
              <a:ext cx="2651760" cy="190500"/>
            </a:xfrm>
            <a:prstGeom prst="rect">
              <a:avLst/>
            </a:prstGeom>
            <a:noFill/>
            <a:ln/>
          </p:spPr>
          <p:txBody>
            <a:bodyPr wrap="none" lIns="0" tIns="0" rIns="0" bIns="0" rtlCol="0" anchor="ctr"/>
            <a:lstStyle/>
            <a:p>
              <a:pPr marL="0" indent="0" algn="ctr">
                <a:buNone/>
              </a:pPr>
              <a:r>
                <a:rPr lang="en-US" sz="1200" dirty="0">
                  <a:solidFill>
                    <a:srgbClr val="B0B0B0"/>
                  </a:solidFill>
                  <a:latin typeface="Arial" pitchFamily="34" charset="0"/>
                  <a:ea typeface="Arial" pitchFamily="34" charset="-122"/>
                  <a:cs typeface="Arial" pitchFamily="34" charset="-120"/>
                </a:rPr>
                <a:t>Responsive chat and</a:t>
              </a:r>
              <a:endParaRPr lang="en-US" sz="1200" dirty="0"/>
            </a:p>
          </p:txBody>
        </p:sp>
        <p:sp>
          <p:nvSpPr>
            <p:cNvPr id="20" name="reveal-2:16:text"/>
            <p:cNvSpPr/>
            <p:nvPr/>
          </p:nvSpPr>
          <p:spPr>
            <a:xfrm>
              <a:off x="4084320" y="4398169"/>
              <a:ext cx="2651760" cy="190500"/>
            </a:xfrm>
            <a:prstGeom prst="rect">
              <a:avLst/>
            </a:prstGeom>
            <a:noFill/>
            <a:ln/>
          </p:spPr>
          <p:txBody>
            <a:bodyPr wrap="none" lIns="0" tIns="0" rIns="0" bIns="0" rtlCol="0" anchor="ctr"/>
            <a:lstStyle/>
            <a:p>
              <a:pPr marL="0" indent="0" algn="ctr">
                <a:buNone/>
              </a:pPr>
              <a:r>
                <a:rPr lang="en-US" sz="1200" dirty="0">
                  <a:solidFill>
                    <a:srgbClr val="B0B0B0"/>
                  </a:solidFill>
                  <a:latin typeface="Arial" pitchFamily="34" charset="0"/>
                  <a:ea typeface="Arial" pitchFamily="34" charset="-122"/>
                  <a:cs typeface="Arial" pitchFamily="34" charset="-120"/>
                </a:rPr>
                <a:t>high-volume tasks</a:t>
              </a:r>
              <a:endParaRPr lang="en-US" sz="1200" dirty="0"/>
            </a:p>
          </p:txBody>
        </p:sp>
        <p:sp>
          <p:nvSpPr>
            <p:cNvPr id="21" name="reveal-2:17:shape"/>
            <p:cNvSpPr/>
            <p:nvPr/>
          </p:nvSpPr>
          <p:spPr>
            <a:xfrm>
              <a:off x="4213860" y="4748689"/>
              <a:ext cx="2392680" cy="548640"/>
            </a:xfrm>
            <a:prstGeom prst="roundRect">
              <a:avLst>
                <a:gd name="adj" fmla="val 13889"/>
              </a:avLst>
            </a:prstGeom>
            <a:solidFill>
              <a:srgbClr val="2E2E2E"/>
            </a:solidFill>
            <a:ln w="12700">
              <a:solidFill>
                <a:srgbClr val="333333">
                  <a:alpha val="0"/>
                </a:srgbClr>
              </a:solidFill>
              <a:prstDash val="solid"/>
            </a:ln>
          </p:spPr>
          <p:txBody>
            <a:bodyPr/>
            <a:lstStyle/>
            <a:p>
              <a:endParaRPr lang="en-US"/>
            </a:p>
          </p:txBody>
        </p:sp>
        <p:sp>
          <p:nvSpPr>
            <p:cNvPr id="22" name="reveal-2:18:text"/>
            <p:cNvSpPr/>
            <p:nvPr/>
          </p:nvSpPr>
          <p:spPr>
            <a:xfrm>
              <a:off x="4084320" y="4832509"/>
              <a:ext cx="2651760" cy="175260"/>
            </a:xfrm>
            <a:prstGeom prst="rect">
              <a:avLst/>
            </a:prstGeom>
            <a:noFill/>
            <a:ln/>
          </p:spPr>
          <p:txBody>
            <a:bodyPr wrap="none" lIns="0" tIns="0" rIns="0" bIns="0" rtlCol="0" anchor="ctr"/>
            <a:lstStyle/>
            <a:p>
              <a:pPr marL="0" indent="0" algn="ctr">
                <a:buNone/>
              </a:pPr>
              <a:r>
                <a:rPr lang="en-US" sz="1080" b="1" dirty="0">
                  <a:solidFill>
                    <a:srgbClr val="DEDEDE"/>
                  </a:solidFill>
                  <a:latin typeface="Arial" pitchFamily="34" charset="0"/>
                  <a:ea typeface="Arial" pitchFamily="34" charset="-122"/>
                  <a:cs typeface="Arial" pitchFamily="34" charset="-120"/>
                </a:rPr>
                <a:t>Trade-off: less capable</a:t>
              </a:r>
              <a:endParaRPr lang="en-US" sz="1080" dirty="0"/>
            </a:p>
          </p:txBody>
        </p:sp>
        <p:sp>
          <p:nvSpPr>
            <p:cNvPr id="23" name="reveal-2:19:text"/>
            <p:cNvSpPr/>
            <p:nvPr/>
          </p:nvSpPr>
          <p:spPr>
            <a:xfrm>
              <a:off x="4084320" y="5003959"/>
              <a:ext cx="2651760" cy="175260"/>
            </a:xfrm>
            <a:prstGeom prst="rect">
              <a:avLst/>
            </a:prstGeom>
            <a:noFill/>
            <a:ln/>
          </p:spPr>
          <p:txBody>
            <a:bodyPr wrap="none" lIns="0" tIns="0" rIns="0" bIns="0" rtlCol="0" anchor="ctr"/>
            <a:lstStyle/>
            <a:p>
              <a:pPr marL="0" indent="0" algn="ctr">
                <a:buNone/>
              </a:pPr>
              <a:r>
                <a:rPr lang="en-US" sz="1080" b="1" dirty="0">
                  <a:solidFill>
                    <a:srgbClr val="DEDEDE"/>
                  </a:solidFill>
                  <a:latin typeface="Arial" pitchFamily="34" charset="0"/>
                  <a:ea typeface="Arial" pitchFamily="34" charset="-122"/>
                  <a:cs typeface="Arial" pitchFamily="34" charset="-120"/>
                </a:rPr>
                <a:t>on complex tasks</a:t>
              </a:r>
              <a:endParaRPr lang="en-US" sz="1080" dirty="0"/>
            </a:p>
          </p:txBody>
        </p:sp>
      </p:grpSp>
      <p:grpSp>
        <p:nvGrpSpPr>
          <p:cNvPr id="38" name="Reveal 3"/>
          <p:cNvGrpSpPr/>
          <p:nvPr/>
        </p:nvGrpSpPr>
        <p:grpSpPr>
          <a:xfrm>
            <a:off x="7010400" y="1949172"/>
            <a:ext cx="2834640" cy="3569137"/>
            <a:chOff x="7010400" y="1949172"/>
            <a:chExt cx="2834640" cy="3569137"/>
          </a:xfrm>
        </p:grpSpPr>
        <p:sp>
          <p:nvSpPr>
            <p:cNvPr id="24" name="reveal-3:20:shape"/>
            <p:cNvSpPr/>
            <p:nvPr/>
          </p:nvSpPr>
          <p:spPr>
            <a:xfrm>
              <a:off x="7010400" y="1949172"/>
              <a:ext cx="2834640" cy="3569137"/>
            </a:xfrm>
            <a:prstGeom prst="roundRect">
              <a:avLst>
                <a:gd name="adj" fmla="val 4839"/>
              </a:avLst>
            </a:prstGeom>
            <a:solidFill>
              <a:srgbClr val="292929"/>
            </a:solidFill>
            <a:ln w="7620">
              <a:solidFill>
                <a:srgbClr val="474747"/>
              </a:solidFill>
              <a:prstDash val="solid"/>
            </a:ln>
          </p:spPr>
          <p:txBody>
            <a:bodyPr/>
            <a:lstStyle/>
            <a:p>
              <a:endParaRPr lang="en-US"/>
            </a:p>
          </p:txBody>
        </p:sp>
        <p:sp>
          <p:nvSpPr>
            <p:cNvPr id="25" name="reveal-3:20:shape:border-0"/>
            <p:cNvSpPr/>
            <p:nvPr/>
          </p:nvSpPr>
          <p:spPr>
            <a:xfrm>
              <a:off x="7101840" y="1964412"/>
              <a:ext cx="2651760" cy="0"/>
            </a:xfrm>
            <a:prstGeom prst="line">
              <a:avLst/>
            </a:prstGeom>
            <a:noFill/>
            <a:ln w="30480">
              <a:solidFill>
                <a:srgbClr val="4ADE80"/>
              </a:solidFill>
              <a:prstDash val="solid"/>
              <a:headEnd type="none"/>
              <a:tailEnd type="none"/>
            </a:ln>
          </p:spPr>
          <p:txBody>
            <a:bodyPr/>
            <a:lstStyle/>
            <a:p>
              <a:endParaRPr lang="en-US"/>
            </a:p>
          </p:txBody>
        </p:sp>
        <p:pic>
          <p:nvPicPr>
            <p:cNvPr id="26" name="reveal-3:21:svg:vector-4-21" descr="Model Router: a robot sending requests to small, medium and large model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41920" y="2193012"/>
              <a:ext cx="1371600" cy="1249680"/>
            </a:xfrm>
            <a:prstGeom prst="rect">
              <a:avLst/>
            </a:prstGeom>
          </p:spPr>
        </p:pic>
        <p:sp>
          <p:nvSpPr>
            <p:cNvPr id="27" name="reveal-3:22:text"/>
            <p:cNvSpPr/>
            <p:nvPr/>
          </p:nvSpPr>
          <p:spPr>
            <a:xfrm>
              <a:off x="7101840" y="3549372"/>
              <a:ext cx="2651760" cy="228600"/>
            </a:xfrm>
            <a:prstGeom prst="rect">
              <a:avLst/>
            </a:prstGeom>
            <a:noFill/>
            <a:ln/>
          </p:spPr>
          <p:txBody>
            <a:bodyPr wrap="none" lIns="0" tIns="0" rIns="0" bIns="0" rtlCol="0" anchor="ctr"/>
            <a:lstStyle/>
            <a:p>
              <a:pPr marL="0" indent="0" algn="ctr">
                <a:buNone/>
              </a:pPr>
              <a:r>
                <a:rPr lang="en-US" sz="1440" b="1" dirty="0">
                  <a:solidFill>
                    <a:srgbClr val="4ADE80"/>
                  </a:solidFill>
                  <a:latin typeface="Arial" pitchFamily="34" charset="0"/>
                  <a:ea typeface="Arial" pitchFamily="34" charset="-122"/>
                  <a:cs typeface="Arial" pitchFamily="34" charset="-120"/>
                </a:rPr>
                <a:t>Model Router</a:t>
              </a:r>
              <a:endParaRPr lang="en-US" sz="1440" dirty="0"/>
            </a:p>
          </p:txBody>
        </p:sp>
        <p:sp>
          <p:nvSpPr>
            <p:cNvPr id="28" name="reveal-3:23:text"/>
            <p:cNvSpPr/>
            <p:nvPr/>
          </p:nvSpPr>
          <p:spPr>
            <a:xfrm>
              <a:off x="7101840" y="3857149"/>
              <a:ext cx="2651760" cy="243840"/>
            </a:xfrm>
            <a:prstGeom prst="rect">
              <a:avLst/>
            </a:prstGeom>
            <a:noFill/>
            <a:ln/>
          </p:spPr>
          <p:txBody>
            <a:bodyPr wrap="none" lIns="0" tIns="0" rIns="0" bIns="0" rtlCol="0" anchor="ctr"/>
            <a:lstStyle/>
            <a:p>
              <a:pPr marL="0" indent="0" algn="ctr">
                <a:buNone/>
              </a:pPr>
              <a:r>
                <a:rPr lang="en-US" sz="1560" b="1" dirty="0">
                  <a:solidFill>
                    <a:srgbClr val="DEDEDE"/>
                  </a:solidFill>
                  <a:latin typeface="Arial" pitchFamily="34" charset="0"/>
                  <a:ea typeface="Arial" pitchFamily="34" charset="-122"/>
                  <a:cs typeface="Arial" pitchFamily="34" charset="-120"/>
                </a:rPr>
                <a:t>Decides per request</a:t>
              </a:r>
              <a:endParaRPr lang="en-US" sz="1560" dirty="0"/>
            </a:p>
          </p:txBody>
        </p:sp>
        <p:sp>
          <p:nvSpPr>
            <p:cNvPr id="29" name="reveal-3:24:text"/>
            <p:cNvSpPr/>
            <p:nvPr/>
          </p:nvSpPr>
          <p:spPr>
            <a:xfrm>
              <a:off x="7101840" y="4192429"/>
              <a:ext cx="2651760" cy="190500"/>
            </a:xfrm>
            <a:prstGeom prst="rect">
              <a:avLst/>
            </a:prstGeom>
            <a:noFill/>
            <a:ln/>
          </p:spPr>
          <p:txBody>
            <a:bodyPr wrap="none" lIns="0" tIns="0" rIns="0" bIns="0" rtlCol="0" anchor="ctr"/>
            <a:lstStyle/>
            <a:p>
              <a:pPr marL="0" indent="0" algn="ctr">
                <a:buNone/>
              </a:pPr>
              <a:r>
                <a:rPr lang="en-US" sz="1200" dirty="0">
                  <a:solidFill>
                    <a:srgbClr val="B0B0B0"/>
                  </a:solidFill>
                  <a:latin typeface="Arial" pitchFamily="34" charset="0"/>
                  <a:ea typeface="Arial" pitchFamily="34" charset="-122"/>
                  <a:cs typeface="Arial" pitchFamily="34" charset="-120"/>
                </a:rPr>
                <a:t>Easy questions: small model</a:t>
              </a:r>
              <a:endParaRPr lang="en-US" sz="1200" dirty="0"/>
            </a:p>
          </p:txBody>
        </p:sp>
        <p:sp>
          <p:nvSpPr>
            <p:cNvPr id="30" name="reveal-3:25:text"/>
            <p:cNvSpPr/>
            <p:nvPr/>
          </p:nvSpPr>
          <p:spPr>
            <a:xfrm>
              <a:off x="7101840" y="4398169"/>
              <a:ext cx="2651760" cy="190500"/>
            </a:xfrm>
            <a:prstGeom prst="rect">
              <a:avLst/>
            </a:prstGeom>
            <a:noFill/>
            <a:ln/>
          </p:spPr>
          <p:txBody>
            <a:bodyPr wrap="none" lIns="0" tIns="0" rIns="0" bIns="0" rtlCol="0" anchor="ctr"/>
            <a:lstStyle/>
            <a:p>
              <a:pPr marL="0" indent="0" algn="ctr">
                <a:buNone/>
              </a:pPr>
              <a:r>
                <a:rPr lang="en-US" sz="1200" dirty="0">
                  <a:solidFill>
                    <a:srgbClr val="B0B0B0"/>
                  </a:solidFill>
                  <a:latin typeface="Arial" pitchFamily="34" charset="0"/>
                  <a:ea typeface="Arial" pitchFamily="34" charset="-122"/>
                  <a:cs typeface="Arial" pitchFamily="34" charset="-120"/>
                </a:rPr>
                <a:t>Hard questions: strong model</a:t>
              </a:r>
              <a:endParaRPr lang="en-US" sz="1200" dirty="0"/>
            </a:p>
          </p:txBody>
        </p:sp>
        <p:sp>
          <p:nvSpPr>
            <p:cNvPr id="31" name="reveal-3:26:shape"/>
            <p:cNvSpPr/>
            <p:nvPr/>
          </p:nvSpPr>
          <p:spPr>
            <a:xfrm>
              <a:off x="7231380" y="4748689"/>
              <a:ext cx="2392680" cy="548640"/>
            </a:xfrm>
            <a:prstGeom prst="roundRect">
              <a:avLst>
                <a:gd name="adj" fmla="val 13889"/>
              </a:avLst>
            </a:prstGeom>
            <a:solidFill>
              <a:srgbClr val="2E2E2E"/>
            </a:solidFill>
            <a:ln w="12700">
              <a:solidFill>
                <a:srgbClr val="333333">
                  <a:alpha val="0"/>
                </a:srgbClr>
              </a:solidFill>
              <a:prstDash val="solid"/>
            </a:ln>
          </p:spPr>
          <p:txBody>
            <a:bodyPr/>
            <a:lstStyle/>
            <a:p>
              <a:endParaRPr lang="en-US"/>
            </a:p>
          </p:txBody>
        </p:sp>
        <p:sp>
          <p:nvSpPr>
            <p:cNvPr id="32" name="reveal-3:27:text"/>
            <p:cNvSpPr/>
            <p:nvPr/>
          </p:nvSpPr>
          <p:spPr>
            <a:xfrm>
              <a:off x="7101840" y="4832509"/>
              <a:ext cx="2651760" cy="175260"/>
            </a:xfrm>
            <a:prstGeom prst="rect">
              <a:avLst/>
            </a:prstGeom>
            <a:noFill/>
            <a:ln/>
          </p:spPr>
          <p:txBody>
            <a:bodyPr wrap="none" lIns="0" tIns="0" rIns="0" bIns="0" rtlCol="0" anchor="ctr"/>
            <a:lstStyle/>
            <a:p>
              <a:pPr marL="0" indent="0" algn="ctr">
                <a:buNone/>
              </a:pPr>
              <a:r>
                <a:rPr lang="en-US" sz="1080" b="1" dirty="0">
                  <a:solidFill>
                    <a:srgbClr val="DEDEDE"/>
                  </a:solidFill>
                  <a:latin typeface="Arial" pitchFamily="34" charset="0"/>
                  <a:ea typeface="Arial" pitchFamily="34" charset="-122"/>
                  <a:cs typeface="Arial" pitchFamily="34" charset="-120"/>
                </a:rPr>
                <a:t>Trade-off: less predictable</a:t>
              </a:r>
              <a:endParaRPr lang="en-US" sz="1080" dirty="0"/>
            </a:p>
          </p:txBody>
        </p:sp>
        <p:sp>
          <p:nvSpPr>
            <p:cNvPr id="33" name="reveal-3:28:text"/>
            <p:cNvSpPr/>
            <p:nvPr/>
          </p:nvSpPr>
          <p:spPr>
            <a:xfrm>
              <a:off x="7101840" y="5003959"/>
              <a:ext cx="2651760" cy="175260"/>
            </a:xfrm>
            <a:prstGeom prst="rect">
              <a:avLst/>
            </a:prstGeom>
            <a:noFill/>
            <a:ln/>
          </p:spPr>
          <p:txBody>
            <a:bodyPr wrap="none" lIns="0" tIns="0" rIns="0" bIns="0" rtlCol="0" anchor="ctr"/>
            <a:lstStyle/>
            <a:p>
              <a:pPr marL="0" indent="0" algn="ctr">
                <a:buNone/>
              </a:pPr>
              <a:r>
                <a:rPr lang="en-US" sz="1080" b="1" dirty="0">
                  <a:solidFill>
                    <a:srgbClr val="DEDEDE"/>
                  </a:solidFill>
                  <a:latin typeface="Arial" pitchFamily="34" charset="0"/>
                  <a:ea typeface="Arial" pitchFamily="34" charset="-122"/>
                  <a:cs typeface="Arial" pitchFamily="34" charset="-120"/>
                </a:rPr>
                <a:t>Test it like any model</a:t>
              </a:r>
              <a:endParaRPr lang="en-US" sz="1080" dirty="0"/>
            </a:p>
          </p:txBody>
        </p:sp>
      </p:grpSp>
      <p:sp>
        <p:nvSpPr>
          <p:cNvPr id="34" name="static:29: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35" name="static:30:text"/>
          <p:cNvSpPr/>
          <p:nvPr/>
        </p:nvSpPr>
        <p:spPr>
          <a:xfrm>
            <a:off x="10441900" y="6461760"/>
            <a:ext cx="12319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04</a:t>
            </a:r>
            <a:endParaRPr lang="en-US" sz="720" dirty="0"/>
          </a:p>
        </p:txBody>
      </p:sp>
      <p:sp>
        <p:nvSpPr>
          <p:cNvPr id="39" name="Reveal 4">
            <a:extLst>
              <a:ext uri="{FF2B5EF4-FFF2-40B4-BE49-F238E27FC236}">
                <a16:creationId xmlns:a16="http://schemas.microsoft.com/office/drawing/2014/main" id="{331D5248-8C74-A1DD-589D-B0FEC9852322}"/>
              </a:ext>
            </a:extLst>
          </p:cNvPr>
          <p:cNvSpPr/>
          <p:nvPr/>
        </p:nvSpPr>
        <p:spPr>
          <a:xfrm>
            <a:off x="975360" y="5686247"/>
            <a:ext cx="8869680" cy="311824"/>
          </a:xfrm>
          <a:prstGeom prst="rect">
            <a:avLst/>
          </a:prstGeom>
          <a:noFill/>
          <a:ln/>
        </p:spPr>
        <p:txBody>
          <a:bodyPr wrap="none" lIns="0" tIns="0" rIns="0" bIns="0" rtlCol="0" anchor="ctr"/>
          <a:lstStyle/>
          <a:p>
            <a:pPr marL="0" indent="0" algn="ctr">
              <a:buNone/>
            </a:pPr>
            <a:r>
              <a:rPr lang="en-US" sz="1560" b="1" dirty="0">
                <a:solidFill>
                  <a:srgbClr val="DEDEDE"/>
                </a:solidFill>
                <a:latin typeface="Arial" pitchFamily="34" charset="0"/>
                <a:ea typeface="Arial" pitchFamily="34" charset="-122"/>
                <a:cs typeface="Arial" pitchFamily="34" charset="-120"/>
              </a:rPr>
              <a:t>The first choice is a hypothesis. </a:t>
            </a:r>
            <a:r>
              <a:rPr lang="en-US" sz="1560" b="1" dirty="0">
                <a:solidFill>
                  <a:srgbClr val="FBBF24"/>
                </a:solidFill>
                <a:latin typeface="Arial" pitchFamily="34" charset="0"/>
                <a:ea typeface="Arial" pitchFamily="34" charset="-122"/>
                <a:cs typeface="Arial" pitchFamily="34" charset="-120"/>
              </a:rPr>
              <a:t>Evaluations are how you test it.</a:t>
            </a:r>
            <a:endParaRPr lang="en-US" sz="156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Demo 1 - Foundry Model Comparison">
    <p:spTree>
      <p:nvGrpSpPr>
        <p:cNvPr id="1" name=""/>
        <p:cNvGrpSpPr/>
        <p:nvPr/>
      </p:nvGrpSpPr>
      <p:grpSpPr>
        <a:xfrm>
          <a:off x="0" y="0"/>
          <a:ext cx="0" cy="0"/>
          <a:chOff x="0" y="0"/>
          <a:chExt cx="0" cy="0"/>
        </a:xfrm>
      </p:grpSpPr>
      <p:sp>
        <p:nvSpPr>
          <p:cNvPr id="2" name="static:0:text"/>
          <p:cNvSpPr/>
          <p:nvPr/>
        </p:nvSpPr>
        <p:spPr>
          <a:xfrm>
            <a:off x="975360" y="2343626"/>
            <a:ext cx="788432" cy="190500"/>
          </a:xfrm>
          <a:prstGeom prst="rect">
            <a:avLst/>
          </a:prstGeom>
          <a:noFill/>
          <a:ln/>
        </p:spPr>
        <p:txBody>
          <a:bodyPr wrap="none" lIns="0" tIns="0" rIns="0" bIns="0" rtlCol="0" anchor="ctr"/>
          <a:lstStyle/>
          <a:p>
            <a:pPr marL="0" indent="0" algn="l">
              <a:buNone/>
            </a:pPr>
            <a:r>
              <a:rPr lang="en-US" sz="1200" b="1" kern="0" spc="180" dirty="0">
                <a:solidFill>
                  <a:srgbClr val="FBBF24"/>
                </a:solidFill>
                <a:latin typeface="Arial" pitchFamily="34" charset="0"/>
                <a:ea typeface="Arial" pitchFamily="34" charset="-122"/>
                <a:cs typeface="Arial" pitchFamily="34" charset="-120"/>
              </a:rPr>
              <a:t>DEMO 1</a:t>
            </a:r>
            <a:endParaRPr lang="en-US" sz="1200" dirty="0"/>
          </a:p>
        </p:txBody>
      </p:sp>
      <p:sp>
        <p:nvSpPr>
          <p:cNvPr id="3" name="static:1:text"/>
          <p:cNvSpPr/>
          <p:nvPr/>
        </p:nvSpPr>
        <p:spPr>
          <a:xfrm>
            <a:off x="975360" y="2640806"/>
            <a:ext cx="6257163" cy="624840"/>
          </a:xfrm>
          <a:prstGeom prst="rect">
            <a:avLst/>
          </a:prstGeom>
          <a:noFill/>
          <a:ln/>
        </p:spPr>
        <p:txBody>
          <a:bodyPr wrap="none" lIns="0" tIns="0" rIns="0" bIns="0" rtlCol="0" anchor="ctr"/>
          <a:lstStyle/>
          <a:p>
            <a:pPr marL="0" indent="0" algn="l">
              <a:buNone/>
            </a:pPr>
            <a:r>
              <a:rPr lang="en-US" sz="4080" b="1" kern="0" spc="-143" dirty="0">
                <a:solidFill>
                  <a:srgbClr val="DEDEDE"/>
                </a:solidFill>
                <a:latin typeface="Arial" pitchFamily="34" charset="0"/>
                <a:ea typeface="Arial" pitchFamily="34" charset="-122"/>
                <a:cs typeface="Arial" pitchFamily="34" charset="-120"/>
              </a:rPr>
              <a:t>Foundry Model Comparison</a:t>
            </a:r>
            <a:endParaRPr lang="en-US" sz="4080" dirty="0"/>
          </a:p>
        </p:txBody>
      </p:sp>
      <p:sp>
        <p:nvSpPr>
          <p:cNvPr id="4" name="static:2:text"/>
          <p:cNvSpPr/>
          <p:nvPr/>
        </p:nvSpPr>
        <p:spPr>
          <a:xfrm>
            <a:off x="975360" y="3387566"/>
            <a:ext cx="5726549"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Compare fixed models and Model Router, then choose a starting</a:t>
            </a:r>
            <a:endParaRPr lang="en-US" sz="1620" dirty="0"/>
          </a:p>
        </p:txBody>
      </p:sp>
      <p:sp>
        <p:nvSpPr>
          <p:cNvPr id="5" name="static:3:text"/>
          <p:cNvSpPr/>
          <p:nvPr/>
        </p:nvSpPr>
        <p:spPr>
          <a:xfrm>
            <a:off x="975360" y="3665220"/>
            <a:ext cx="1308616"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configuration.</a:t>
            </a:r>
            <a:endParaRPr lang="en-US" sz="1620" dirty="0"/>
          </a:p>
        </p:txBody>
      </p:sp>
      <p:sp>
        <p:nvSpPr>
          <p:cNvPr id="6" name="static:4: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7" name="static:5:text"/>
          <p:cNvSpPr/>
          <p:nvPr/>
        </p:nvSpPr>
        <p:spPr>
          <a:xfrm>
            <a:off x="10444282" y="6461760"/>
            <a:ext cx="1229558"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05</a:t>
            </a:r>
            <a:endParaRPr lang="en-US" sz="7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Grounding">
    <p:spTree>
      <p:nvGrpSpPr>
        <p:cNvPr id="1" name=""/>
        <p:cNvGrpSpPr/>
        <p:nvPr/>
      </p:nvGrpSpPr>
      <p:grpSpPr>
        <a:xfrm>
          <a:off x="0" y="0"/>
          <a:ext cx="0" cy="0"/>
          <a:chOff x="0" y="0"/>
          <a:chExt cx="0" cy="0"/>
        </a:xfrm>
      </p:grpSpPr>
      <p:sp>
        <p:nvSpPr>
          <p:cNvPr id="2" name="static:0:text"/>
          <p:cNvSpPr/>
          <p:nvPr/>
        </p:nvSpPr>
        <p:spPr>
          <a:xfrm>
            <a:off x="2727960" y="870109"/>
            <a:ext cx="1215033" cy="152400"/>
          </a:xfrm>
          <a:prstGeom prst="rect">
            <a:avLst/>
          </a:prstGeom>
          <a:noFill/>
          <a:ln/>
        </p:spPr>
        <p:txBody>
          <a:bodyPr wrap="none" lIns="0" tIns="0" rIns="0" bIns="0" rtlCol="0" anchor="ctr"/>
          <a:lstStyle/>
          <a:p>
            <a:pPr marL="0" indent="0" algn="l">
              <a:buNone/>
            </a:pPr>
            <a:r>
              <a:rPr lang="en-US" sz="960" b="1" kern="0" spc="154" dirty="0">
                <a:solidFill>
                  <a:srgbClr val="FBBF24"/>
                </a:solidFill>
                <a:latin typeface="Arial" pitchFamily="34" charset="0"/>
                <a:ea typeface="Arial" pitchFamily="34" charset="-122"/>
                <a:cs typeface="Arial" pitchFamily="34" charset="-120"/>
              </a:rPr>
              <a:t>MICROSOFT IQ</a:t>
            </a:r>
            <a:endParaRPr lang="en-US" sz="960" dirty="0"/>
          </a:p>
        </p:txBody>
      </p:sp>
      <p:sp>
        <p:nvSpPr>
          <p:cNvPr id="3" name="static:1:text"/>
          <p:cNvSpPr/>
          <p:nvPr/>
        </p:nvSpPr>
        <p:spPr>
          <a:xfrm>
            <a:off x="975360" y="1068229"/>
            <a:ext cx="1631013" cy="411480"/>
          </a:xfrm>
          <a:prstGeom prst="rect">
            <a:avLst/>
          </a:prstGeom>
          <a:noFill/>
          <a:ln/>
        </p:spPr>
        <p:txBody>
          <a:bodyPr wrap="none" lIns="0" tIns="0" rIns="0" bIns="0" rtlCol="0" anchor="ctr"/>
          <a:lstStyle/>
          <a:p>
            <a:pPr marL="0" indent="0" algn="l">
              <a:buNone/>
            </a:pPr>
            <a:r>
              <a:rPr lang="en-US" sz="2640" b="1" kern="0" spc="-92" dirty="0">
                <a:solidFill>
                  <a:srgbClr val="DEDEDE"/>
                </a:solidFill>
                <a:latin typeface="Arial" pitchFamily="34" charset="0"/>
                <a:ea typeface="Arial" pitchFamily="34" charset="-122"/>
                <a:cs typeface="Arial" pitchFamily="34" charset="-120"/>
              </a:rPr>
              <a:t>Grounding</a:t>
            </a:r>
            <a:endParaRPr lang="en-US" sz="2640" dirty="0"/>
          </a:p>
        </p:txBody>
      </p:sp>
      <p:grpSp>
        <p:nvGrpSpPr>
          <p:cNvPr id="38" name="Reveal 1"/>
          <p:cNvGrpSpPr/>
          <p:nvPr/>
        </p:nvGrpSpPr>
        <p:grpSpPr>
          <a:xfrm>
            <a:off x="975360" y="1868329"/>
            <a:ext cx="3220641" cy="3791902"/>
            <a:chOff x="975360" y="1868329"/>
            <a:chExt cx="3220641" cy="3791902"/>
          </a:xfrm>
        </p:grpSpPr>
        <p:sp>
          <p:nvSpPr>
            <p:cNvPr id="4" name="reveal-1:2:shape"/>
            <p:cNvSpPr/>
            <p:nvPr/>
          </p:nvSpPr>
          <p:spPr>
            <a:xfrm>
              <a:off x="975360" y="1868329"/>
              <a:ext cx="3220641"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5" name="reveal-1:2:shape:border-0"/>
            <p:cNvSpPr/>
            <p:nvPr/>
          </p:nvSpPr>
          <p:spPr>
            <a:xfrm>
              <a:off x="1066800" y="1883569"/>
              <a:ext cx="3037761" cy="0"/>
            </a:xfrm>
            <a:prstGeom prst="line">
              <a:avLst/>
            </a:prstGeom>
            <a:noFill/>
            <a:ln w="30480">
              <a:solidFill>
                <a:srgbClr val="FBBF24"/>
              </a:solidFill>
              <a:prstDash val="solid"/>
              <a:headEnd type="none"/>
              <a:tailEnd type="none"/>
            </a:ln>
          </p:spPr>
          <p:txBody>
            <a:bodyPr/>
            <a:lstStyle/>
            <a:p>
              <a:endParaRPr lang="en-US"/>
            </a:p>
          </p:txBody>
        </p:sp>
        <p:sp>
          <p:nvSpPr>
            <p:cNvPr id="6" name="reveal-1:3:shape"/>
            <p:cNvSpPr/>
            <p:nvPr/>
          </p:nvSpPr>
          <p:spPr>
            <a:xfrm>
              <a:off x="1181100" y="2096929"/>
              <a:ext cx="411480" cy="411480"/>
            </a:xfrm>
            <a:prstGeom prst="roundRect">
              <a:avLst>
                <a:gd name="adj" fmla="val 25926"/>
              </a:avLst>
            </a:prstGeom>
            <a:solidFill>
              <a:srgbClr val="000000">
                <a:alpha val="0"/>
              </a:srgbClr>
            </a:solidFill>
            <a:ln w="15240">
              <a:solidFill>
                <a:srgbClr val="FBBF24"/>
              </a:solidFill>
              <a:prstDash val="solid"/>
            </a:ln>
          </p:spPr>
          <p:txBody>
            <a:bodyPr/>
            <a:lstStyle/>
            <a:p>
              <a:endParaRPr lang="en-US"/>
            </a:p>
          </p:txBody>
        </p:sp>
        <p:sp>
          <p:nvSpPr>
            <p:cNvPr id="7" name="reveal-1:4:text"/>
            <p:cNvSpPr/>
            <p:nvPr/>
          </p:nvSpPr>
          <p:spPr>
            <a:xfrm>
              <a:off x="1265873" y="2207419"/>
              <a:ext cx="333256" cy="190500"/>
            </a:xfrm>
            <a:prstGeom prst="rect">
              <a:avLst/>
            </a:prstGeom>
            <a:noFill/>
            <a:ln/>
          </p:spPr>
          <p:txBody>
            <a:bodyPr wrap="none" lIns="0" tIns="0" rIns="0" bIns="0" rtlCol="0" anchor="ctr"/>
            <a:lstStyle/>
            <a:p>
              <a:pPr marL="0" indent="0" algn="l">
                <a:buNone/>
              </a:pPr>
              <a:r>
                <a:rPr lang="en-US" sz="1200" b="1" kern="0" spc="-24" dirty="0">
                  <a:solidFill>
                    <a:srgbClr val="FBBF24"/>
                  </a:solidFill>
                  <a:latin typeface="Arial" pitchFamily="34" charset="0"/>
                  <a:ea typeface="Arial" pitchFamily="34" charset="-122"/>
                  <a:cs typeface="Arial" pitchFamily="34" charset="-120"/>
                </a:rPr>
                <a:t>FIQ</a:t>
              </a:r>
              <a:endParaRPr lang="en-US" sz="1200" dirty="0"/>
            </a:p>
          </p:txBody>
        </p:sp>
        <p:sp>
          <p:nvSpPr>
            <p:cNvPr id="8" name="reveal-1:5:text"/>
            <p:cNvSpPr/>
            <p:nvPr/>
          </p:nvSpPr>
          <p:spPr>
            <a:xfrm>
              <a:off x="1181100" y="2698909"/>
              <a:ext cx="1185148" cy="266700"/>
            </a:xfrm>
            <a:prstGeom prst="rect">
              <a:avLst/>
            </a:prstGeom>
            <a:noFill/>
            <a:ln/>
          </p:spPr>
          <p:txBody>
            <a:bodyPr wrap="none" lIns="0" tIns="0" rIns="0" bIns="0" rtlCol="0" anchor="ctr"/>
            <a:lstStyle/>
            <a:p>
              <a:pPr marL="0" indent="0" algn="l">
                <a:buNone/>
              </a:pPr>
              <a:r>
                <a:rPr lang="en-US" sz="1680" b="1" dirty="0">
                  <a:solidFill>
                    <a:srgbClr val="FBBF24"/>
                  </a:solidFill>
                  <a:latin typeface="Arial" pitchFamily="34" charset="0"/>
                  <a:ea typeface="Arial" pitchFamily="34" charset="-122"/>
                  <a:cs typeface="Arial" pitchFamily="34" charset="-120"/>
                </a:rPr>
                <a:t>Foundry IQ</a:t>
              </a:r>
              <a:endParaRPr lang="en-US" sz="1680" dirty="0"/>
            </a:p>
          </p:txBody>
        </p:sp>
        <p:sp>
          <p:nvSpPr>
            <p:cNvPr id="9" name="reveal-1:6:text"/>
            <p:cNvSpPr/>
            <p:nvPr/>
          </p:nvSpPr>
          <p:spPr>
            <a:xfrm>
              <a:off x="1181100" y="3047881"/>
              <a:ext cx="2690455"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Institutional knowledge and authoritative</a:t>
              </a:r>
              <a:endParaRPr lang="en-US" sz="1140" dirty="0"/>
            </a:p>
          </p:txBody>
        </p:sp>
        <p:sp>
          <p:nvSpPr>
            <p:cNvPr id="10" name="reveal-1:7:text"/>
            <p:cNvSpPr/>
            <p:nvPr/>
          </p:nvSpPr>
          <p:spPr>
            <a:xfrm>
              <a:off x="1181100" y="3243263"/>
              <a:ext cx="622935"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content.</a:t>
              </a:r>
              <a:endParaRPr lang="en-US" sz="1140" dirty="0"/>
            </a:p>
          </p:txBody>
        </p:sp>
        <p:sp>
          <p:nvSpPr>
            <p:cNvPr id="11" name="reveal-1:8:shape"/>
            <p:cNvSpPr/>
            <p:nvPr/>
          </p:nvSpPr>
          <p:spPr>
            <a:xfrm>
              <a:off x="1181100" y="3652004"/>
              <a:ext cx="2809161" cy="636984"/>
            </a:xfrm>
            <a:prstGeom prst="roundRect">
              <a:avLst>
                <a:gd name="adj" fmla="val 11963"/>
              </a:avLst>
            </a:prstGeom>
            <a:solidFill>
              <a:srgbClr val="FFFFFF">
                <a:alpha val="3000"/>
              </a:srgbClr>
            </a:solidFill>
            <a:ln w="12700">
              <a:solidFill>
                <a:srgbClr val="333333">
                  <a:alpha val="0"/>
                </a:srgbClr>
              </a:solidFill>
              <a:prstDash val="solid"/>
            </a:ln>
          </p:spPr>
          <p:txBody>
            <a:bodyPr/>
            <a:lstStyle/>
            <a:p>
              <a:endParaRPr lang="en-US"/>
            </a:p>
          </p:txBody>
        </p:sp>
        <p:sp>
          <p:nvSpPr>
            <p:cNvPr id="12" name="reveal-1:9:text"/>
            <p:cNvSpPr/>
            <p:nvPr/>
          </p:nvSpPr>
          <p:spPr>
            <a:xfrm>
              <a:off x="1287780" y="3735824"/>
              <a:ext cx="2030373"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Policies, procedures and reference</a:t>
              </a:r>
              <a:endParaRPr lang="en-US" sz="900" dirty="0"/>
            </a:p>
          </p:txBody>
        </p:sp>
        <p:sp>
          <p:nvSpPr>
            <p:cNvPr id="13" name="reveal-1:10:text"/>
            <p:cNvSpPr/>
            <p:nvPr/>
          </p:nvSpPr>
          <p:spPr>
            <a:xfrm>
              <a:off x="1287780" y="3884414"/>
              <a:ext cx="755809"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documents.</a:t>
              </a:r>
              <a:endParaRPr lang="en-US" sz="900" dirty="0"/>
            </a:p>
          </p:txBody>
        </p:sp>
        <p:sp>
          <p:nvSpPr>
            <p:cNvPr id="14" name="reveal-1:11:text"/>
            <p:cNvSpPr/>
            <p:nvPr/>
          </p:nvSpPr>
          <p:spPr>
            <a:xfrm>
              <a:off x="1287780" y="4071104"/>
              <a:ext cx="1481495" cy="129540"/>
            </a:xfrm>
            <a:prstGeom prst="rect">
              <a:avLst/>
            </a:prstGeom>
            <a:noFill/>
            <a:ln/>
          </p:spPr>
          <p:txBody>
            <a:bodyPr wrap="none" lIns="0" tIns="0" rIns="0" bIns="0" rtlCol="0" anchor="ctr"/>
            <a:lstStyle/>
            <a:p>
              <a:pPr marL="0" indent="0" algn="l">
                <a:buNone/>
              </a:pPr>
              <a:r>
                <a:rPr lang="en-US" sz="720" b="1" kern="0" spc="43" dirty="0">
                  <a:solidFill>
                    <a:srgbClr val="B0B0B0"/>
                  </a:solidFill>
                  <a:latin typeface="Arial" pitchFamily="34" charset="0"/>
                  <a:ea typeface="Arial" pitchFamily="34" charset="-122"/>
                  <a:cs typeface="Arial" pitchFamily="34" charset="-120"/>
                </a:rPr>
                <a:t>SIMULATED: KNOWLEDGE_BASE_RETRIEVE</a:t>
              </a:r>
              <a:endParaRPr lang="en-US" sz="720" dirty="0"/>
            </a:p>
          </p:txBody>
        </p:sp>
      </p:grpSp>
      <p:grpSp>
        <p:nvGrpSpPr>
          <p:cNvPr id="39" name="Reveal 2"/>
          <p:cNvGrpSpPr/>
          <p:nvPr/>
        </p:nvGrpSpPr>
        <p:grpSpPr>
          <a:xfrm>
            <a:off x="4348401" y="1868329"/>
            <a:ext cx="3220760" cy="3791902"/>
            <a:chOff x="4348401" y="1868329"/>
            <a:chExt cx="3220760" cy="3791902"/>
          </a:xfrm>
        </p:grpSpPr>
        <p:sp>
          <p:nvSpPr>
            <p:cNvPr id="15" name="reveal-2:12:shape"/>
            <p:cNvSpPr/>
            <p:nvPr/>
          </p:nvSpPr>
          <p:spPr>
            <a:xfrm>
              <a:off x="4348401" y="1868329"/>
              <a:ext cx="3220760" cy="3791902"/>
            </a:xfrm>
            <a:prstGeom prst="roundRect">
              <a:avLst>
                <a:gd name="adj" fmla="val 3785"/>
              </a:avLst>
            </a:prstGeom>
            <a:solidFill>
              <a:srgbClr val="292929"/>
            </a:solidFill>
            <a:ln w="7620">
              <a:solidFill>
                <a:srgbClr val="474747"/>
              </a:solidFill>
              <a:prstDash val="solid"/>
            </a:ln>
          </p:spPr>
          <p:txBody>
            <a:bodyPr/>
            <a:lstStyle/>
            <a:p>
              <a:endParaRPr lang="en-US"/>
            </a:p>
          </p:txBody>
        </p:sp>
        <p:sp>
          <p:nvSpPr>
            <p:cNvPr id="16" name="reveal-2:12:shape:border-0"/>
            <p:cNvSpPr/>
            <p:nvPr/>
          </p:nvSpPr>
          <p:spPr>
            <a:xfrm>
              <a:off x="4439841" y="1883569"/>
              <a:ext cx="3037880" cy="0"/>
            </a:xfrm>
            <a:prstGeom prst="line">
              <a:avLst/>
            </a:prstGeom>
            <a:noFill/>
            <a:ln w="30480">
              <a:solidFill>
                <a:srgbClr val="4DA6FF"/>
              </a:solidFill>
              <a:prstDash val="solid"/>
              <a:headEnd type="none"/>
              <a:tailEnd type="none"/>
            </a:ln>
          </p:spPr>
          <p:txBody>
            <a:bodyPr/>
            <a:lstStyle/>
            <a:p>
              <a:endParaRPr lang="en-US"/>
            </a:p>
          </p:txBody>
        </p:sp>
        <p:sp>
          <p:nvSpPr>
            <p:cNvPr id="17" name="reveal-2:13:shape"/>
            <p:cNvSpPr/>
            <p:nvPr/>
          </p:nvSpPr>
          <p:spPr>
            <a:xfrm>
              <a:off x="4554141" y="2096929"/>
              <a:ext cx="411480" cy="411480"/>
            </a:xfrm>
            <a:prstGeom prst="roundRect">
              <a:avLst>
                <a:gd name="adj" fmla="val 25926"/>
              </a:avLst>
            </a:prstGeom>
            <a:solidFill>
              <a:srgbClr val="000000">
                <a:alpha val="0"/>
              </a:srgbClr>
            </a:solidFill>
            <a:ln w="15240">
              <a:solidFill>
                <a:srgbClr val="4DA6FF"/>
              </a:solidFill>
              <a:prstDash val="solid"/>
            </a:ln>
          </p:spPr>
          <p:txBody>
            <a:bodyPr/>
            <a:lstStyle/>
            <a:p>
              <a:endParaRPr lang="en-US"/>
            </a:p>
          </p:txBody>
        </p:sp>
        <p:sp>
          <p:nvSpPr>
            <p:cNvPr id="18" name="reveal-2:14:text"/>
            <p:cNvSpPr/>
            <p:nvPr/>
          </p:nvSpPr>
          <p:spPr>
            <a:xfrm>
              <a:off x="4631174" y="2207419"/>
              <a:ext cx="348734" cy="190500"/>
            </a:xfrm>
            <a:prstGeom prst="rect">
              <a:avLst/>
            </a:prstGeom>
            <a:noFill/>
            <a:ln/>
          </p:spPr>
          <p:txBody>
            <a:bodyPr wrap="none" lIns="0" tIns="0" rIns="0" bIns="0" rtlCol="0" anchor="ctr"/>
            <a:lstStyle/>
            <a:p>
              <a:pPr marL="0" indent="0" algn="l">
                <a:buNone/>
              </a:pPr>
              <a:r>
                <a:rPr lang="en-US" sz="1200" b="1" kern="0" spc="-24" dirty="0">
                  <a:solidFill>
                    <a:srgbClr val="4DA6FF"/>
                  </a:solidFill>
                  <a:latin typeface="Arial" pitchFamily="34" charset="0"/>
                  <a:ea typeface="Arial" pitchFamily="34" charset="-122"/>
                  <a:cs typeface="Arial" pitchFamily="34" charset="-120"/>
                </a:rPr>
                <a:t>BIQ</a:t>
              </a:r>
              <a:endParaRPr lang="en-US" sz="1200" dirty="0"/>
            </a:p>
          </p:txBody>
        </p:sp>
        <p:sp>
          <p:nvSpPr>
            <p:cNvPr id="19" name="reveal-2:15:text"/>
            <p:cNvSpPr/>
            <p:nvPr/>
          </p:nvSpPr>
          <p:spPr>
            <a:xfrm>
              <a:off x="4554141" y="2698909"/>
              <a:ext cx="978575" cy="266700"/>
            </a:xfrm>
            <a:prstGeom prst="rect">
              <a:avLst/>
            </a:prstGeom>
            <a:noFill/>
            <a:ln/>
          </p:spPr>
          <p:txBody>
            <a:bodyPr wrap="none" lIns="0" tIns="0" rIns="0" bIns="0" rtlCol="0" anchor="ctr"/>
            <a:lstStyle/>
            <a:p>
              <a:pPr marL="0" indent="0" algn="l">
                <a:buNone/>
              </a:pPr>
              <a:r>
                <a:rPr lang="en-US" sz="1680" b="1" dirty="0">
                  <a:solidFill>
                    <a:srgbClr val="4DA6FF"/>
                  </a:solidFill>
                  <a:latin typeface="Arial" pitchFamily="34" charset="0"/>
                  <a:ea typeface="Arial" pitchFamily="34" charset="-122"/>
                  <a:cs typeface="Arial" pitchFamily="34" charset="-120"/>
                </a:rPr>
                <a:t>Fabric IQ</a:t>
              </a:r>
              <a:endParaRPr lang="en-US" sz="1680" dirty="0"/>
            </a:p>
          </p:txBody>
        </p:sp>
        <p:sp>
          <p:nvSpPr>
            <p:cNvPr id="20" name="reveal-2:16:text"/>
            <p:cNvSpPr/>
            <p:nvPr/>
          </p:nvSpPr>
          <p:spPr>
            <a:xfrm>
              <a:off x="4554141" y="3047881"/>
              <a:ext cx="2609731"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Governed business entities and current</a:t>
              </a:r>
              <a:endParaRPr lang="en-US" sz="1140" dirty="0"/>
            </a:p>
          </p:txBody>
        </p:sp>
        <p:sp>
          <p:nvSpPr>
            <p:cNvPr id="21" name="reveal-2:17:text"/>
            <p:cNvSpPr/>
            <p:nvPr/>
          </p:nvSpPr>
          <p:spPr>
            <a:xfrm>
              <a:off x="4554141" y="3243263"/>
              <a:ext cx="1056442"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business state.</a:t>
              </a:r>
              <a:endParaRPr lang="en-US" sz="1140" dirty="0"/>
            </a:p>
          </p:txBody>
        </p:sp>
        <p:sp>
          <p:nvSpPr>
            <p:cNvPr id="22" name="reveal-2:18:shape"/>
            <p:cNvSpPr/>
            <p:nvPr/>
          </p:nvSpPr>
          <p:spPr>
            <a:xfrm>
              <a:off x="4554141" y="3652004"/>
              <a:ext cx="2809280" cy="636984"/>
            </a:xfrm>
            <a:prstGeom prst="roundRect">
              <a:avLst>
                <a:gd name="adj" fmla="val 11963"/>
              </a:avLst>
            </a:prstGeom>
            <a:solidFill>
              <a:srgbClr val="FFFFFF">
                <a:alpha val="3000"/>
              </a:srgbClr>
            </a:solidFill>
            <a:ln w="12700">
              <a:solidFill>
                <a:srgbClr val="333333">
                  <a:alpha val="0"/>
                </a:srgbClr>
              </a:solidFill>
              <a:prstDash val="solid"/>
            </a:ln>
          </p:spPr>
          <p:txBody>
            <a:bodyPr/>
            <a:lstStyle/>
            <a:p>
              <a:endParaRPr lang="en-US"/>
            </a:p>
          </p:txBody>
        </p:sp>
        <p:sp>
          <p:nvSpPr>
            <p:cNvPr id="23" name="reveal-2:19:text"/>
            <p:cNvSpPr/>
            <p:nvPr/>
          </p:nvSpPr>
          <p:spPr>
            <a:xfrm>
              <a:off x="4660821" y="3735824"/>
              <a:ext cx="2595086"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Spend so far, remaining budget and business</a:t>
              </a:r>
              <a:endParaRPr lang="en-US" sz="900" dirty="0"/>
            </a:p>
          </p:txBody>
        </p:sp>
        <p:sp>
          <p:nvSpPr>
            <p:cNvPr id="24" name="reveal-2:20:text"/>
            <p:cNvSpPr/>
            <p:nvPr/>
          </p:nvSpPr>
          <p:spPr>
            <a:xfrm>
              <a:off x="4660821" y="3884414"/>
              <a:ext cx="559475"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records.</a:t>
              </a:r>
              <a:endParaRPr lang="en-US" sz="900" dirty="0"/>
            </a:p>
          </p:txBody>
        </p:sp>
        <p:sp>
          <p:nvSpPr>
            <p:cNvPr id="25" name="reveal-2:21:text"/>
            <p:cNvSpPr/>
            <p:nvPr/>
          </p:nvSpPr>
          <p:spPr>
            <a:xfrm>
              <a:off x="4660821" y="4071104"/>
              <a:ext cx="2165271" cy="129540"/>
            </a:xfrm>
            <a:prstGeom prst="rect">
              <a:avLst/>
            </a:prstGeom>
            <a:noFill/>
            <a:ln/>
          </p:spPr>
          <p:txBody>
            <a:bodyPr wrap="none" lIns="0" tIns="0" rIns="0" bIns="0" rtlCol="0" anchor="ctr"/>
            <a:lstStyle/>
            <a:p>
              <a:pPr marL="0" indent="0" algn="l">
                <a:buNone/>
              </a:pPr>
              <a:r>
                <a:rPr lang="en-US" sz="720" b="1" kern="0" spc="43" dirty="0">
                  <a:solidFill>
                    <a:srgbClr val="B0B0B0"/>
                  </a:solidFill>
                  <a:latin typeface="Arial" pitchFamily="34" charset="0"/>
                  <a:ea typeface="Arial" pitchFamily="34" charset="-122"/>
                  <a:cs typeface="Arial" pitchFamily="34" charset="-120"/>
                </a:rPr>
                <a:t>SIMULATED: SEARCH_ONTOLOGY</a:t>
              </a:r>
              <a:endParaRPr lang="en-US" sz="720" dirty="0"/>
            </a:p>
          </p:txBody>
        </p:sp>
      </p:grpSp>
      <p:grpSp>
        <p:nvGrpSpPr>
          <p:cNvPr id="41" name="Reveal 3">
            <a:extLst>
              <a:ext uri="{FF2B5EF4-FFF2-40B4-BE49-F238E27FC236}">
                <a16:creationId xmlns:a16="http://schemas.microsoft.com/office/drawing/2014/main" id="{AE4E581A-2C22-B249-A8A6-1CDB33248A80}"/>
              </a:ext>
            </a:extLst>
          </p:cNvPr>
          <p:cNvGrpSpPr/>
          <p:nvPr/>
        </p:nvGrpSpPr>
        <p:grpSpPr>
          <a:xfrm>
            <a:off x="7721560" y="1868329"/>
            <a:ext cx="3220641" cy="3791902"/>
            <a:chOff x="7721560" y="1868329"/>
            <a:chExt cx="3220641" cy="3791902"/>
          </a:xfrm>
        </p:grpSpPr>
        <p:sp>
          <p:nvSpPr>
            <p:cNvPr id="26" name="reveal-3:22:shape"/>
            <p:cNvSpPr/>
            <p:nvPr/>
          </p:nvSpPr>
          <p:spPr>
            <a:xfrm>
              <a:off x="7721560" y="1868329"/>
              <a:ext cx="3220641"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27" name="reveal-3:22:shape:border-0"/>
            <p:cNvSpPr/>
            <p:nvPr/>
          </p:nvSpPr>
          <p:spPr>
            <a:xfrm>
              <a:off x="7813000" y="1883569"/>
              <a:ext cx="3037761" cy="0"/>
            </a:xfrm>
            <a:prstGeom prst="line">
              <a:avLst/>
            </a:prstGeom>
            <a:noFill/>
            <a:ln w="30480">
              <a:solidFill>
                <a:srgbClr val="4ADE80"/>
              </a:solidFill>
              <a:prstDash val="solid"/>
              <a:headEnd type="none"/>
              <a:tailEnd type="none"/>
            </a:ln>
          </p:spPr>
          <p:txBody>
            <a:bodyPr/>
            <a:lstStyle/>
            <a:p>
              <a:endParaRPr lang="en-US"/>
            </a:p>
          </p:txBody>
        </p:sp>
        <p:sp>
          <p:nvSpPr>
            <p:cNvPr id="28" name="reveal-3:23:shape"/>
            <p:cNvSpPr/>
            <p:nvPr/>
          </p:nvSpPr>
          <p:spPr>
            <a:xfrm>
              <a:off x="7927300" y="2096929"/>
              <a:ext cx="411480" cy="411480"/>
            </a:xfrm>
            <a:prstGeom prst="roundRect">
              <a:avLst>
                <a:gd name="adj" fmla="val 25926"/>
              </a:avLst>
            </a:prstGeom>
            <a:solidFill>
              <a:srgbClr val="000000">
                <a:alpha val="0"/>
              </a:srgbClr>
            </a:solidFill>
            <a:ln w="15240">
              <a:solidFill>
                <a:srgbClr val="4ADE80"/>
              </a:solidFill>
              <a:prstDash val="solid"/>
            </a:ln>
          </p:spPr>
          <p:txBody>
            <a:bodyPr/>
            <a:lstStyle/>
            <a:p>
              <a:endParaRPr lang="en-US"/>
            </a:p>
          </p:txBody>
        </p:sp>
        <p:sp>
          <p:nvSpPr>
            <p:cNvPr id="29" name="reveal-3:24:text"/>
            <p:cNvSpPr/>
            <p:nvPr/>
          </p:nvSpPr>
          <p:spPr>
            <a:xfrm>
              <a:off x="7979926" y="2207419"/>
              <a:ext cx="397550" cy="190500"/>
            </a:xfrm>
            <a:prstGeom prst="rect">
              <a:avLst/>
            </a:prstGeom>
            <a:noFill/>
            <a:ln/>
          </p:spPr>
          <p:txBody>
            <a:bodyPr wrap="none" lIns="0" tIns="0" rIns="0" bIns="0" rtlCol="0" anchor="ctr"/>
            <a:lstStyle/>
            <a:p>
              <a:pPr marL="0" indent="0" algn="l">
                <a:buNone/>
              </a:pPr>
              <a:r>
                <a:rPr lang="en-US" sz="1200" b="1" kern="0" spc="-24" dirty="0">
                  <a:solidFill>
                    <a:srgbClr val="4ADE80"/>
                  </a:solidFill>
                  <a:latin typeface="Arial" pitchFamily="34" charset="0"/>
                  <a:ea typeface="Arial" pitchFamily="34" charset="-122"/>
                  <a:cs typeface="Arial" pitchFamily="34" charset="-120"/>
                </a:rPr>
                <a:t>WIQ</a:t>
              </a:r>
              <a:endParaRPr lang="en-US" sz="1200" dirty="0"/>
            </a:p>
          </p:txBody>
        </p:sp>
        <p:sp>
          <p:nvSpPr>
            <p:cNvPr id="30" name="reveal-3:25:text"/>
            <p:cNvSpPr/>
            <p:nvPr/>
          </p:nvSpPr>
          <p:spPr>
            <a:xfrm>
              <a:off x="7927300" y="2698909"/>
              <a:ext cx="879158" cy="266700"/>
            </a:xfrm>
            <a:prstGeom prst="rect">
              <a:avLst/>
            </a:prstGeom>
            <a:noFill/>
            <a:ln/>
          </p:spPr>
          <p:txBody>
            <a:bodyPr wrap="none" lIns="0" tIns="0" rIns="0" bIns="0" rtlCol="0" anchor="ctr"/>
            <a:lstStyle/>
            <a:p>
              <a:pPr marL="0" indent="0" algn="l">
                <a:buNone/>
              </a:pPr>
              <a:r>
                <a:rPr lang="en-US" sz="1680" b="1" dirty="0">
                  <a:solidFill>
                    <a:srgbClr val="4ADE80"/>
                  </a:solidFill>
                  <a:latin typeface="Arial" pitchFamily="34" charset="0"/>
                  <a:ea typeface="Arial" pitchFamily="34" charset="-122"/>
                  <a:cs typeface="Arial" pitchFamily="34" charset="-120"/>
                </a:rPr>
                <a:t>Work IQ</a:t>
              </a:r>
              <a:endParaRPr lang="en-US" sz="1680" dirty="0"/>
            </a:p>
          </p:txBody>
        </p:sp>
        <p:sp>
          <p:nvSpPr>
            <p:cNvPr id="31" name="reveal-3:26:text"/>
            <p:cNvSpPr/>
            <p:nvPr/>
          </p:nvSpPr>
          <p:spPr>
            <a:xfrm>
              <a:off x="7927300" y="3047881"/>
              <a:ext cx="2889885"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People, collaboration and workflow context.</a:t>
              </a:r>
              <a:endParaRPr lang="en-US" sz="1140" dirty="0"/>
            </a:p>
          </p:txBody>
        </p:sp>
        <p:sp>
          <p:nvSpPr>
            <p:cNvPr id="32" name="reveal-3:27:shape"/>
            <p:cNvSpPr/>
            <p:nvPr/>
          </p:nvSpPr>
          <p:spPr>
            <a:xfrm>
              <a:off x="7927300" y="3652004"/>
              <a:ext cx="2809161" cy="636984"/>
            </a:xfrm>
            <a:prstGeom prst="roundRect">
              <a:avLst>
                <a:gd name="adj" fmla="val 11963"/>
              </a:avLst>
            </a:prstGeom>
            <a:solidFill>
              <a:srgbClr val="FFFFFF">
                <a:alpha val="3000"/>
              </a:srgbClr>
            </a:solidFill>
            <a:ln w="12700">
              <a:solidFill>
                <a:srgbClr val="333333">
                  <a:alpha val="0"/>
                </a:srgbClr>
              </a:solidFill>
              <a:prstDash val="solid"/>
            </a:ln>
          </p:spPr>
          <p:txBody>
            <a:bodyPr/>
            <a:lstStyle/>
            <a:p>
              <a:endParaRPr lang="en-US"/>
            </a:p>
          </p:txBody>
        </p:sp>
        <p:sp>
          <p:nvSpPr>
            <p:cNvPr id="33" name="reveal-3:28:text"/>
            <p:cNvSpPr/>
            <p:nvPr/>
          </p:nvSpPr>
          <p:spPr>
            <a:xfrm>
              <a:off x="8033980" y="3735824"/>
              <a:ext cx="2128123"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Who holds a role today, who’s away and</a:t>
              </a:r>
              <a:endParaRPr lang="en-US" sz="900" dirty="0"/>
            </a:p>
          </p:txBody>
        </p:sp>
        <p:sp>
          <p:nvSpPr>
            <p:cNvPr id="34" name="reveal-3:29:text"/>
            <p:cNvSpPr/>
            <p:nvPr/>
          </p:nvSpPr>
          <p:spPr>
            <a:xfrm>
              <a:off x="8033980" y="3884414"/>
              <a:ext cx="675918"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who’s covering.</a:t>
              </a:r>
              <a:endParaRPr lang="en-US" sz="900" dirty="0"/>
            </a:p>
          </p:txBody>
        </p:sp>
        <p:sp>
          <p:nvSpPr>
            <p:cNvPr id="35" name="reveal-3:30:text"/>
            <p:cNvSpPr/>
            <p:nvPr/>
          </p:nvSpPr>
          <p:spPr>
            <a:xfrm>
              <a:off x="8033980" y="4071104"/>
              <a:ext cx="2207181" cy="129540"/>
            </a:xfrm>
            <a:prstGeom prst="rect">
              <a:avLst/>
            </a:prstGeom>
            <a:noFill/>
            <a:ln/>
          </p:spPr>
          <p:txBody>
            <a:bodyPr wrap="none" lIns="0" tIns="0" rIns="0" bIns="0" rtlCol="0" anchor="ctr"/>
            <a:lstStyle/>
            <a:p>
              <a:pPr marL="0" indent="0" algn="l">
                <a:buNone/>
              </a:pPr>
              <a:r>
                <a:rPr lang="en-US" sz="720" b="1" kern="0" spc="43" dirty="0">
                  <a:solidFill>
                    <a:srgbClr val="B0B0B0"/>
                  </a:solidFill>
                  <a:latin typeface="Arial" pitchFamily="34" charset="0"/>
                  <a:ea typeface="Arial" pitchFamily="34" charset="-122"/>
                  <a:cs typeface="Arial" pitchFamily="34" charset="-120"/>
                </a:rPr>
                <a:t>SIMULATED: ASK</a:t>
              </a:r>
              <a:endParaRPr lang="en-US" sz="720" dirty="0"/>
            </a:p>
          </p:txBody>
        </p:sp>
      </p:grpSp>
      <p:sp>
        <p:nvSpPr>
          <p:cNvPr id="36" name="static:31: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37" name="static:32:text"/>
          <p:cNvSpPr/>
          <p:nvPr/>
        </p:nvSpPr>
        <p:spPr>
          <a:xfrm>
            <a:off x="10442615" y="6461760"/>
            <a:ext cx="1231225"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06</a:t>
            </a:r>
            <a:endParaRPr lang="en-US" sz="720" dirty="0"/>
          </a:p>
        </p:txBody>
      </p:sp>
      <p:sp>
        <p:nvSpPr>
          <p:cNvPr id="42" name="takeaway"/>
          <p:cNvSpPr txBox="1"/>
          <p:nvPr/>
        </p:nvSpPr>
        <p:spPr>
          <a:xfrm>
            <a:off x="975360" y="5800000"/>
            <a:ext cx="8869680" cy="400000"/>
          </a:xfrm>
          <a:prstGeom prst="rect">
            <a:avLst/>
          </a:prstGeom>
          <a:noFill/>
        </p:spPr>
        <p:txBody>
          <a:bodyPr wrap="square" lIns="0" rIns="0" tIns="0" bIns="0">
            <a:spAutoFit/>
          </a:bodyPr>
          <a:lstStyle/>
          <a:p>
            <a:r>
              <a:rPr sz="1600" b="1">
                <a:solidFill>
                  <a:srgbClr val="DEDEDE"/>
                </a:solidFill>
                <a:latin typeface="Arial"/>
              </a:rPr>
              <a:t>Foundry IQ: </a:t>
            </a:r>
            <a:r>
              <a:rPr sz="1600" b="1">
                <a:solidFill>
                  <a:srgbClr val="FBBF24"/>
                </a:solidFill>
                <a:latin typeface="Arial"/>
              </a:rPr>
              <a:t>the rules</a:t>
            </a:r>
            <a:r>
              <a:rPr sz="1600" b="1">
                <a:solidFill>
                  <a:srgbClr val="DEDEDE"/>
                </a:solidFill>
                <a:latin typeface="Arial"/>
              </a:rPr>
              <a:t>. Fabric IQ: </a:t>
            </a:r>
            <a:r>
              <a:rPr sz="1600" b="1">
                <a:solidFill>
                  <a:srgbClr val="FBBF24"/>
                </a:solidFill>
                <a:latin typeface="Arial"/>
              </a:rPr>
              <a:t>the budget left</a:t>
            </a:r>
            <a:r>
              <a:rPr sz="1600" b="1">
                <a:solidFill>
                  <a:srgbClr val="DEDEDE"/>
                </a:solidFill>
                <a:latin typeface="Arial"/>
              </a:rPr>
              <a:t>. Work IQ: </a:t>
            </a:r>
            <a:r>
              <a:rPr sz="1600" b="1">
                <a:solidFill>
                  <a:srgbClr val="FBBF24"/>
                </a:solidFill>
                <a:latin typeface="Arial"/>
              </a:rPr>
              <a:t>who can approve today</a:t>
            </a:r>
            <a:r>
              <a:rPr sz="1600" b="1">
                <a:solidFill>
                  <a:srgbClr val="DEDEDE"/>
                </a:solidFill>
                <a:latin typeface="Aria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Demo 2 - Run the Starting Agent">
    <p:spTree>
      <p:nvGrpSpPr>
        <p:cNvPr id="1" name=""/>
        <p:cNvGrpSpPr/>
        <p:nvPr/>
      </p:nvGrpSpPr>
      <p:grpSpPr>
        <a:xfrm>
          <a:off x="0" y="0"/>
          <a:ext cx="0" cy="0"/>
          <a:chOff x="0" y="0"/>
          <a:chExt cx="0" cy="0"/>
        </a:xfrm>
      </p:grpSpPr>
      <p:sp>
        <p:nvSpPr>
          <p:cNvPr id="2" name="static:0:text"/>
          <p:cNvSpPr/>
          <p:nvPr/>
        </p:nvSpPr>
        <p:spPr>
          <a:xfrm>
            <a:off x="975360" y="2343626"/>
            <a:ext cx="807839" cy="190500"/>
          </a:xfrm>
          <a:prstGeom prst="rect">
            <a:avLst/>
          </a:prstGeom>
          <a:noFill/>
          <a:ln/>
        </p:spPr>
        <p:txBody>
          <a:bodyPr wrap="none" lIns="0" tIns="0" rIns="0" bIns="0" rtlCol="0" anchor="ctr"/>
          <a:lstStyle/>
          <a:p>
            <a:pPr marL="0" indent="0" algn="l">
              <a:buNone/>
            </a:pPr>
            <a:r>
              <a:rPr lang="en-US" sz="1200" b="1" kern="0" spc="180" dirty="0">
                <a:solidFill>
                  <a:srgbClr val="FBBF24"/>
                </a:solidFill>
                <a:latin typeface="Arial" pitchFamily="34" charset="0"/>
                <a:ea typeface="Arial" pitchFamily="34" charset="-122"/>
                <a:cs typeface="Arial" pitchFamily="34" charset="-120"/>
              </a:rPr>
              <a:t>DEMO 2</a:t>
            </a:r>
            <a:endParaRPr lang="en-US" sz="1200" dirty="0"/>
          </a:p>
        </p:txBody>
      </p:sp>
      <p:sp>
        <p:nvSpPr>
          <p:cNvPr id="3" name="static:1:text"/>
          <p:cNvSpPr/>
          <p:nvPr/>
        </p:nvSpPr>
        <p:spPr>
          <a:xfrm>
            <a:off x="975360" y="2640806"/>
            <a:ext cx="5129046" cy="624840"/>
          </a:xfrm>
          <a:prstGeom prst="rect">
            <a:avLst/>
          </a:prstGeom>
          <a:noFill/>
          <a:ln/>
        </p:spPr>
        <p:txBody>
          <a:bodyPr wrap="none" lIns="0" tIns="0" rIns="0" bIns="0" rtlCol="0" anchor="ctr"/>
          <a:lstStyle/>
          <a:p>
            <a:pPr marL="0" indent="0" algn="l">
              <a:buNone/>
            </a:pPr>
            <a:r>
              <a:rPr lang="en-US" sz="4080" b="1" kern="0" spc="-143" dirty="0">
                <a:solidFill>
                  <a:srgbClr val="DEDEDE"/>
                </a:solidFill>
                <a:latin typeface="Arial" pitchFamily="34" charset="0"/>
                <a:ea typeface="Arial" pitchFamily="34" charset="-122"/>
                <a:cs typeface="Arial" pitchFamily="34" charset="-120"/>
              </a:rPr>
              <a:t>Run the Starting Agent</a:t>
            </a:r>
            <a:endParaRPr lang="en-US" sz="4080" dirty="0"/>
          </a:p>
        </p:txBody>
      </p:sp>
      <p:sp>
        <p:nvSpPr>
          <p:cNvPr id="4" name="static:2:text"/>
          <p:cNvSpPr/>
          <p:nvPr/>
        </p:nvSpPr>
        <p:spPr>
          <a:xfrm>
            <a:off x="975360" y="3387566"/>
            <a:ext cx="6275070"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Ask two questions: one it gets right, and one that</a:t>
            </a:r>
            <a:endParaRPr lang="en-US" sz="1620" dirty="0"/>
          </a:p>
        </p:txBody>
      </p:sp>
      <p:sp>
        <p:nvSpPr>
          <p:cNvPr id="5" name="static:3:text"/>
          <p:cNvSpPr/>
          <p:nvPr/>
        </p:nvSpPr>
        <p:spPr>
          <a:xfrm>
            <a:off x="975360" y="3665220"/>
            <a:ext cx="427434"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looks right but isn’t.</a:t>
            </a:r>
            <a:endParaRPr lang="en-US" sz="1620" dirty="0"/>
          </a:p>
        </p:txBody>
      </p:sp>
      <p:sp>
        <p:nvSpPr>
          <p:cNvPr id="6" name="static:4: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7" name="static:5:text"/>
          <p:cNvSpPr/>
          <p:nvPr/>
        </p:nvSpPr>
        <p:spPr>
          <a:xfrm>
            <a:off x="10450473" y="6461760"/>
            <a:ext cx="1223367"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07</a:t>
            </a:r>
            <a:endParaRPr lang="en-US" sz="7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Observe">
    <p:spTree>
      <p:nvGrpSpPr>
        <p:cNvPr id="1" name=""/>
        <p:cNvGrpSpPr/>
        <p:nvPr/>
      </p:nvGrpSpPr>
      <p:grpSpPr>
        <a:xfrm>
          <a:off x="0" y="0"/>
          <a:ext cx="0" cy="0"/>
          <a:chOff x="0" y="0"/>
          <a:chExt cx="0" cy="0"/>
        </a:xfrm>
      </p:grpSpPr>
      <p:sp>
        <p:nvSpPr>
          <p:cNvPr id="2" name="static:0:text"/>
          <p:cNvSpPr/>
          <p:nvPr/>
        </p:nvSpPr>
        <p:spPr>
          <a:xfrm>
            <a:off x="2727960" y="870109"/>
            <a:ext cx="1305997" cy="152400"/>
          </a:xfrm>
          <a:prstGeom prst="rect">
            <a:avLst/>
          </a:prstGeom>
          <a:noFill/>
          <a:ln/>
        </p:spPr>
        <p:txBody>
          <a:bodyPr wrap="none" lIns="0" tIns="0" rIns="0" bIns="0" rtlCol="0" anchor="ctr"/>
          <a:lstStyle/>
          <a:p>
            <a:pPr marL="0" indent="0" algn="l">
              <a:buNone/>
            </a:pPr>
            <a:r>
              <a:rPr lang="en-US" sz="960" b="1" kern="0" spc="154" dirty="0">
                <a:solidFill>
                  <a:srgbClr val="4ADE80"/>
                </a:solidFill>
                <a:latin typeface="Arial" pitchFamily="34" charset="0"/>
                <a:ea typeface="Arial" pitchFamily="34" charset="-122"/>
                <a:cs typeface="Arial" pitchFamily="34" charset="-120"/>
              </a:rPr>
              <a:t>OBSERVABILITY</a:t>
            </a:r>
            <a:endParaRPr lang="en-US" sz="960" dirty="0"/>
          </a:p>
        </p:txBody>
      </p:sp>
      <p:sp>
        <p:nvSpPr>
          <p:cNvPr id="3" name="static:1:text"/>
          <p:cNvSpPr/>
          <p:nvPr/>
        </p:nvSpPr>
        <p:spPr>
          <a:xfrm>
            <a:off x="975360" y="1068229"/>
            <a:ext cx="1333833" cy="411480"/>
          </a:xfrm>
          <a:prstGeom prst="rect">
            <a:avLst/>
          </a:prstGeom>
          <a:noFill/>
          <a:ln/>
        </p:spPr>
        <p:txBody>
          <a:bodyPr wrap="none" lIns="0" tIns="0" rIns="0" bIns="0" rtlCol="0" anchor="ctr"/>
          <a:lstStyle/>
          <a:p>
            <a:pPr marL="0" indent="0" algn="l">
              <a:buNone/>
            </a:pPr>
            <a:r>
              <a:rPr lang="en-US" sz="2640" b="1" kern="0" spc="-92" dirty="0">
                <a:solidFill>
                  <a:srgbClr val="DEDEDE"/>
                </a:solidFill>
                <a:latin typeface="Arial" pitchFamily="34" charset="0"/>
                <a:ea typeface="Arial" pitchFamily="34" charset="-122"/>
                <a:cs typeface="Arial" pitchFamily="34" charset="-120"/>
              </a:rPr>
              <a:t>Observe</a:t>
            </a:r>
            <a:endParaRPr lang="en-US" sz="2640" dirty="0"/>
          </a:p>
        </p:txBody>
      </p:sp>
      <p:grpSp>
        <p:nvGrpSpPr>
          <p:cNvPr id="31" name="Reveal 1"/>
          <p:cNvGrpSpPr/>
          <p:nvPr/>
        </p:nvGrpSpPr>
        <p:grpSpPr>
          <a:xfrm>
            <a:off x="975360" y="1868329"/>
            <a:ext cx="3220641" cy="3791902"/>
            <a:chOff x="975360" y="1868329"/>
            <a:chExt cx="3220641" cy="3791902"/>
          </a:xfrm>
        </p:grpSpPr>
        <p:sp>
          <p:nvSpPr>
            <p:cNvPr id="4" name="reveal-1:2:shape"/>
            <p:cNvSpPr/>
            <p:nvPr/>
          </p:nvSpPr>
          <p:spPr>
            <a:xfrm>
              <a:off x="975360" y="1868329"/>
              <a:ext cx="3220641"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5" name="reveal-1:2:shape:border-0"/>
            <p:cNvSpPr/>
            <p:nvPr/>
          </p:nvSpPr>
          <p:spPr>
            <a:xfrm>
              <a:off x="1066800" y="1883569"/>
              <a:ext cx="3037761" cy="0"/>
            </a:xfrm>
            <a:prstGeom prst="line">
              <a:avLst/>
            </a:prstGeom>
            <a:noFill/>
            <a:ln w="30480">
              <a:solidFill>
                <a:srgbClr val="4DA6FF"/>
              </a:solidFill>
              <a:prstDash val="solid"/>
              <a:headEnd type="none"/>
              <a:tailEnd type="none"/>
            </a:ln>
          </p:spPr>
          <p:txBody>
            <a:bodyPr/>
            <a:lstStyle/>
            <a:p>
              <a:endParaRPr lang="en-US"/>
            </a:p>
          </p:txBody>
        </p:sp>
        <p:sp>
          <p:nvSpPr>
            <p:cNvPr id="6" name="reveal-1:3:shape"/>
            <p:cNvSpPr/>
            <p:nvPr/>
          </p:nvSpPr>
          <p:spPr>
            <a:xfrm>
              <a:off x="1181100" y="2096929"/>
              <a:ext cx="411480" cy="411480"/>
            </a:xfrm>
            <a:prstGeom prst="roundRect">
              <a:avLst>
                <a:gd name="adj" fmla="val 25926"/>
              </a:avLst>
            </a:prstGeom>
            <a:solidFill>
              <a:srgbClr val="000000">
                <a:alpha val="0"/>
              </a:srgbClr>
            </a:solidFill>
            <a:ln w="15240">
              <a:solidFill>
                <a:srgbClr val="4DA6FF"/>
              </a:solidFill>
              <a:prstDash val="solid"/>
            </a:ln>
          </p:spPr>
          <p:txBody>
            <a:bodyPr/>
            <a:lstStyle/>
            <a:p>
              <a:endParaRPr lang="en-US"/>
            </a:p>
          </p:txBody>
        </p:sp>
        <p:sp>
          <p:nvSpPr>
            <p:cNvPr id="7" name="reveal-1:4:text"/>
            <p:cNvSpPr/>
            <p:nvPr/>
          </p:nvSpPr>
          <p:spPr>
            <a:xfrm>
              <a:off x="1349812" y="2207419"/>
              <a:ext cx="165378" cy="190500"/>
            </a:xfrm>
            <a:prstGeom prst="rect">
              <a:avLst/>
            </a:prstGeom>
            <a:noFill/>
            <a:ln/>
          </p:spPr>
          <p:txBody>
            <a:bodyPr wrap="none" lIns="0" tIns="0" rIns="0" bIns="0" rtlCol="0" anchor="ctr"/>
            <a:lstStyle/>
            <a:p>
              <a:pPr marL="0" indent="0" algn="l">
                <a:buNone/>
              </a:pPr>
              <a:r>
                <a:rPr lang="en-US" sz="1200" b="1" kern="0" spc="-24" dirty="0">
                  <a:solidFill>
                    <a:srgbClr val="4DA6FF"/>
                  </a:solidFill>
                  <a:latin typeface="Arial" pitchFamily="34" charset="0"/>
                  <a:ea typeface="Arial" pitchFamily="34" charset="-122"/>
                  <a:cs typeface="Arial" pitchFamily="34" charset="-120"/>
                </a:rPr>
                <a:t>1</a:t>
              </a:r>
              <a:endParaRPr lang="en-US" sz="1200" dirty="0"/>
            </a:p>
          </p:txBody>
        </p:sp>
        <p:sp>
          <p:nvSpPr>
            <p:cNvPr id="8" name="reveal-1:5:text"/>
            <p:cNvSpPr/>
            <p:nvPr/>
          </p:nvSpPr>
          <p:spPr>
            <a:xfrm>
              <a:off x="1181100" y="2698909"/>
              <a:ext cx="587454" cy="266700"/>
            </a:xfrm>
            <a:prstGeom prst="rect">
              <a:avLst/>
            </a:prstGeom>
            <a:noFill/>
            <a:ln/>
          </p:spPr>
          <p:txBody>
            <a:bodyPr wrap="none" lIns="0" tIns="0" rIns="0" bIns="0" rtlCol="0" anchor="ctr"/>
            <a:lstStyle/>
            <a:p>
              <a:pPr marL="0" indent="0" algn="l">
                <a:buNone/>
              </a:pPr>
              <a:r>
                <a:rPr lang="en-US" sz="1680" b="1" dirty="0">
                  <a:solidFill>
                    <a:srgbClr val="4DA6FF"/>
                  </a:solidFill>
                  <a:latin typeface="Arial" pitchFamily="34" charset="0"/>
                  <a:ea typeface="Arial" pitchFamily="34" charset="-122"/>
                  <a:cs typeface="Arial" pitchFamily="34" charset="-120"/>
                </a:rPr>
                <a:t>Calls</a:t>
              </a:r>
              <a:endParaRPr lang="en-US" sz="1680" dirty="0"/>
            </a:p>
          </p:txBody>
        </p:sp>
        <p:sp>
          <p:nvSpPr>
            <p:cNvPr id="9" name="reveal-1:6:text"/>
            <p:cNvSpPr/>
            <p:nvPr/>
          </p:nvSpPr>
          <p:spPr>
            <a:xfrm>
              <a:off x="1181100" y="3047881"/>
              <a:ext cx="2065139"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Follow LLM calls and tool calls.</a:t>
              </a:r>
              <a:endParaRPr lang="en-US" sz="1140" dirty="0"/>
            </a:p>
          </p:txBody>
        </p:sp>
        <p:sp>
          <p:nvSpPr>
            <p:cNvPr id="10" name="reveal-1:7:shape"/>
            <p:cNvSpPr/>
            <p:nvPr/>
          </p:nvSpPr>
          <p:spPr>
            <a:xfrm>
              <a:off x="1181100" y="3456623"/>
              <a:ext cx="2809161" cy="54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11" name="reveal-1:8:text"/>
            <p:cNvSpPr/>
            <p:nvPr/>
          </p:nvSpPr>
          <p:spPr>
            <a:xfrm>
              <a:off x="1287780" y="3540443"/>
              <a:ext cx="2099667"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What was called, and in what order?</a:t>
              </a:r>
              <a:endParaRPr lang="en-US" sz="900" dirty="0"/>
            </a:p>
          </p:txBody>
        </p:sp>
      </p:grpSp>
      <p:grpSp>
        <p:nvGrpSpPr>
          <p:cNvPr id="32" name="Reveal 2"/>
          <p:cNvGrpSpPr/>
          <p:nvPr/>
        </p:nvGrpSpPr>
        <p:grpSpPr>
          <a:xfrm>
            <a:off x="4348401" y="1868329"/>
            <a:ext cx="3220760" cy="3791902"/>
            <a:chOff x="4348401" y="1868329"/>
            <a:chExt cx="3220760" cy="3791902"/>
          </a:xfrm>
        </p:grpSpPr>
        <p:sp>
          <p:nvSpPr>
            <p:cNvPr id="12" name="reveal-2:9:shape"/>
            <p:cNvSpPr/>
            <p:nvPr/>
          </p:nvSpPr>
          <p:spPr>
            <a:xfrm>
              <a:off x="4348401" y="1868329"/>
              <a:ext cx="3220760" cy="3791902"/>
            </a:xfrm>
            <a:prstGeom prst="roundRect">
              <a:avLst>
                <a:gd name="adj" fmla="val 3785"/>
              </a:avLst>
            </a:prstGeom>
            <a:solidFill>
              <a:srgbClr val="292929"/>
            </a:solidFill>
            <a:ln w="7620">
              <a:solidFill>
                <a:srgbClr val="474747"/>
              </a:solidFill>
              <a:prstDash val="solid"/>
            </a:ln>
          </p:spPr>
          <p:txBody>
            <a:bodyPr/>
            <a:lstStyle/>
            <a:p>
              <a:endParaRPr lang="en-US"/>
            </a:p>
          </p:txBody>
        </p:sp>
        <p:sp>
          <p:nvSpPr>
            <p:cNvPr id="13" name="reveal-2:9:shape:border-0"/>
            <p:cNvSpPr/>
            <p:nvPr/>
          </p:nvSpPr>
          <p:spPr>
            <a:xfrm>
              <a:off x="4439841" y="1883569"/>
              <a:ext cx="3037880" cy="0"/>
            </a:xfrm>
            <a:prstGeom prst="line">
              <a:avLst/>
            </a:prstGeom>
            <a:noFill/>
            <a:ln w="30480">
              <a:solidFill>
                <a:srgbClr val="4ADE80"/>
              </a:solidFill>
              <a:prstDash val="solid"/>
              <a:headEnd type="none"/>
              <a:tailEnd type="none"/>
            </a:ln>
          </p:spPr>
          <p:txBody>
            <a:bodyPr/>
            <a:lstStyle/>
            <a:p>
              <a:endParaRPr lang="en-US"/>
            </a:p>
          </p:txBody>
        </p:sp>
        <p:sp>
          <p:nvSpPr>
            <p:cNvPr id="14" name="reveal-2:10:shape"/>
            <p:cNvSpPr/>
            <p:nvPr/>
          </p:nvSpPr>
          <p:spPr>
            <a:xfrm>
              <a:off x="4554141" y="2096929"/>
              <a:ext cx="411480" cy="411480"/>
            </a:xfrm>
            <a:prstGeom prst="roundRect">
              <a:avLst>
                <a:gd name="adj" fmla="val 25926"/>
              </a:avLst>
            </a:prstGeom>
            <a:solidFill>
              <a:srgbClr val="000000">
                <a:alpha val="0"/>
              </a:srgbClr>
            </a:solidFill>
            <a:ln w="15240">
              <a:solidFill>
                <a:srgbClr val="4ADE80"/>
              </a:solidFill>
              <a:prstDash val="solid"/>
            </a:ln>
          </p:spPr>
          <p:txBody>
            <a:bodyPr/>
            <a:lstStyle/>
            <a:p>
              <a:endParaRPr lang="en-US"/>
            </a:p>
          </p:txBody>
        </p:sp>
        <p:sp>
          <p:nvSpPr>
            <p:cNvPr id="15" name="reveal-2:11:text"/>
            <p:cNvSpPr/>
            <p:nvPr/>
          </p:nvSpPr>
          <p:spPr>
            <a:xfrm>
              <a:off x="4713327" y="2207419"/>
              <a:ext cx="184547" cy="190500"/>
            </a:xfrm>
            <a:prstGeom prst="rect">
              <a:avLst/>
            </a:prstGeom>
            <a:noFill/>
            <a:ln/>
          </p:spPr>
          <p:txBody>
            <a:bodyPr wrap="none" lIns="0" tIns="0" rIns="0" bIns="0" rtlCol="0" anchor="ctr"/>
            <a:lstStyle/>
            <a:p>
              <a:pPr marL="0" indent="0" algn="l">
                <a:buNone/>
              </a:pPr>
              <a:r>
                <a:rPr lang="en-US" sz="1200" b="1" kern="0" spc="-24" dirty="0">
                  <a:solidFill>
                    <a:srgbClr val="4ADE80"/>
                  </a:solidFill>
                  <a:latin typeface="Arial" pitchFamily="34" charset="0"/>
                  <a:ea typeface="Arial" pitchFamily="34" charset="-122"/>
                  <a:cs typeface="Arial" pitchFamily="34" charset="-120"/>
                </a:rPr>
                <a:t>2</a:t>
              </a:r>
              <a:endParaRPr lang="en-US" sz="1200" dirty="0"/>
            </a:p>
          </p:txBody>
        </p:sp>
        <p:sp>
          <p:nvSpPr>
            <p:cNvPr id="16" name="reveal-2:12:text"/>
            <p:cNvSpPr/>
            <p:nvPr/>
          </p:nvSpPr>
          <p:spPr>
            <a:xfrm>
              <a:off x="4554141" y="2698909"/>
              <a:ext cx="1742956" cy="266700"/>
            </a:xfrm>
            <a:prstGeom prst="rect">
              <a:avLst/>
            </a:prstGeom>
            <a:noFill/>
            <a:ln/>
          </p:spPr>
          <p:txBody>
            <a:bodyPr wrap="none" lIns="0" tIns="0" rIns="0" bIns="0" rtlCol="0" anchor="ctr"/>
            <a:lstStyle/>
            <a:p>
              <a:pPr marL="0" indent="0" algn="l">
                <a:buNone/>
              </a:pPr>
              <a:r>
                <a:rPr lang="en-US" sz="1680" b="1" dirty="0">
                  <a:solidFill>
                    <a:srgbClr val="4ADE80"/>
                  </a:solidFill>
                  <a:latin typeface="Arial" pitchFamily="34" charset="0"/>
                  <a:ea typeface="Arial" pitchFamily="34" charset="-122"/>
                  <a:cs typeface="Arial" pitchFamily="34" charset="-120"/>
                </a:rPr>
                <a:t>Inputs &amp; outputs</a:t>
              </a:r>
              <a:endParaRPr lang="en-US" sz="1680" dirty="0"/>
            </a:p>
          </p:txBody>
        </p:sp>
        <p:sp>
          <p:nvSpPr>
            <p:cNvPr id="17" name="reveal-2:13:text"/>
            <p:cNvSpPr/>
            <p:nvPr/>
          </p:nvSpPr>
          <p:spPr>
            <a:xfrm>
              <a:off x="4554141" y="3047881"/>
              <a:ext cx="2773918"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Inspect captured prompts, responses and</a:t>
              </a:r>
              <a:endParaRPr lang="en-US" sz="1140" dirty="0"/>
            </a:p>
          </p:txBody>
        </p:sp>
        <p:sp>
          <p:nvSpPr>
            <p:cNvPr id="18" name="reveal-2:14:text"/>
            <p:cNvSpPr/>
            <p:nvPr/>
          </p:nvSpPr>
          <p:spPr>
            <a:xfrm>
              <a:off x="4554141" y="3243263"/>
              <a:ext cx="712113"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evidence.</a:t>
              </a:r>
              <a:endParaRPr lang="en-US" sz="1140" dirty="0"/>
            </a:p>
          </p:txBody>
        </p:sp>
        <p:sp>
          <p:nvSpPr>
            <p:cNvPr id="19" name="reveal-2:15:shape"/>
            <p:cNvSpPr/>
            <p:nvPr/>
          </p:nvSpPr>
          <p:spPr>
            <a:xfrm>
              <a:off x="4554141" y="3652004"/>
              <a:ext cx="2809280" cy="54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20" name="reveal-2:16:text"/>
            <p:cNvSpPr/>
            <p:nvPr/>
          </p:nvSpPr>
          <p:spPr>
            <a:xfrm>
              <a:off x="4660821" y="3735824"/>
              <a:ext cx="2632472"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What information passed between each step?</a:t>
              </a:r>
              <a:endParaRPr lang="en-US" sz="900" dirty="0"/>
            </a:p>
          </p:txBody>
        </p:sp>
      </p:grpSp>
      <p:grpSp>
        <p:nvGrpSpPr>
          <p:cNvPr id="33" name="Reveal 3"/>
          <p:cNvGrpSpPr/>
          <p:nvPr/>
        </p:nvGrpSpPr>
        <p:grpSpPr>
          <a:xfrm>
            <a:off x="7721560" y="1868329"/>
            <a:ext cx="3220641" cy="3791902"/>
            <a:chOff x="7721560" y="1868329"/>
            <a:chExt cx="3220641" cy="3791902"/>
          </a:xfrm>
        </p:grpSpPr>
        <p:sp>
          <p:nvSpPr>
            <p:cNvPr id="21" name="reveal-3:17:shape"/>
            <p:cNvSpPr/>
            <p:nvPr/>
          </p:nvSpPr>
          <p:spPr>
            <a:xfrm>
              <a:off x="7721560" y="1868329"/>
              <a:ext cx="3220641"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22" name="reveal-3:17:shape:border-0"/>
            <p:cNvSpPr/>
            <p:nvPr/>
          </p:nvSpPr>
          <p:spPr>
            <a:xfrm>
              <a:off x="7813000" y="1883569"/>
              <a:ext cx="3037761" cy="0"/>
            </a:xfrm>
            <a:prstGeom prst="line">
              <a:avLst/>
            </a:prstGeom>
            <a:noFill/>
            <a:ln w="30480">
              <a:solidFill>
                <a:srgbClr val="FBBF24"/>
              </a:solidFill>
              <a:prstDash val="solid"/>
              <a:headEnd type="none"/>
              <a:tailEnd type="none"/>
            </a:ln>
          </p:spPr>
          <p:txBody>
            <a:bodyPr/>
            <a:lstStyle/>
            <a:p>
              <a:endParaRPr lang="en-US"/>
            </a:p>
          </p:txBody>
        </p:sp>
        <p:sp>
          <p:nvSpPr>
            <p:cNvPr id="23" name="reveal-3:18:shape"/>
            <p:cNvSpPr/>
            <p:nvPr/>
          </p:nvSpPr>
          <p:spPr>
            <a:xfrm>
              <a:off x="7927300" y="2096929"/>
              <a:ext cx="411480" cy="411480"/>
            </a:xfrm>
            <a:prstGeom prst="roundRect">
              <a:avLst>
                <a:gd name="adj" fmla="val 25926"/>
              </a:avLst>
            </a:prstGeom>
            <a:solidFill>
              <a:srgbClr val="000000">
                <a:alpha val="0"/>
              </a:srgbClr>
            </a:solidFill>
            <a:ln w="15240">
              <a:solidFill>
                <a:srgbClr val="FBBF24"/>
              </a:solidFill>
              <a:prstDash val="solid"/>
            </a:ln>
          </p:spPr>
          <p:txBody>
            <a:bodyPr/>
            <a:lstStyle/>
            <a:p>
              <a:endParaRPr lang="en-US"/>
            </a:p>
          </p:txBody>
        </p:sp>
        <p:sp>
          <p:nvSpPr>
            <p:cNvPr id="24" name="reveal-3:19:text"/>
            <p:cNvSpPr/>
            <p:nvPr/>
          </p:nvSpPr>
          <p:spPr>
            <a:xfrm>
              <a:off x="8084344" y="2207419"/>
              <a:ext cx="188714" cy="190500"/>
            </a:xfrm>
            <a:prstGeom prst="rect">
              <a:avLst/>
            </a:prstGeom>
            <a:noFill/>
            <a:ln/>
          </p:spPr>
          <p:txBody>
            <a:bodyPr wrap="none" lIns="0" tIns="0" rIns="0" bIns="0" rtlCol="0" anchor="ctr"/>
            <a:lstStyle/>
            <a:p>
              <a:pPr marL="0" indent="0" algn="l">
                <a:buNone/>
              </a:pPr>
              <a:r>
                <a:rPr lang="en-US" sz="1200" b="1" kern="0" spc="-24" dirty="0">
                  <a:solidFill>
                    <a:srgbClr val="FBBF24"/>
                  </a:solidFill>
                  <a:latin typeface="Arial" pitchFamily="34" charset="0"/>
                  <a:ea typeface="Arial" pitchFamily="34" charset="-122"/>
                  <a:cs typeface="Arial" pitchFamily="34" charset="-120"/>
                </a:rPr>
                <a:t>3</a:t>
              </a:r>
              <a:endParaRPr lang="en-US" sz="1200" dirty="0"/>
            </a:p>
          </p:txBody>
        </p:sp>
        <p:sp>
          <p:nvSpPr>
            <p:cNvPr id="25" name="reveal-3:20:text"/>
            <p:cNvSpPr/>
            <p:nvPr/>
          </p:nvSpPr>
          <p:spPr>
            <a:xfrm>
              <a:off x="7927300" y="2698909"/>
              <a:ext cx="769025" cy="266700"/>
            </a:xfrm>
            <a:prstGeom prst="rect">
              <a:avLst/>
            </a:prstGeom>
            <a:noFill/>
            <a:ln/>
          </p:spPr>
          <p:txBody>
            <a:bodyPr wrap="none" lIns="0" tIns="0" rIns="0" bIns="0" rtlCol="0" anchor="ctr"/>
            <a:lstStyle/>
            <a:p>
              <a:pPr marL="0" indent="0" algn="l">
                <a:buNone/>
              </a:pPr>
              <a:r>
                <a:rPr lang="en-US" sz="1680" b="1" dirty="0">
                  <a:solidFill>
                    <a:srgbClr val="FBBF24"/>
                  </a:solidFill>
                  <a:latin typeface="Arial" pitchFamily="34" charset="0"/>
                  <a:ea typeface="Arial" pitchFamily="34" charset="-122"/>
                  <a:cs typeface="Arial" pitchFamily="34" charset="-120"/>
                </a:rPr>
                <a:t>Timing</a:t>
              </a:r>
              <a:endParaRPr lang="en-US" sz="1680" dirty="0"/>
            </a:p>
          </p:txBody>
        </p:sp>
        <p:sp>
          <p:nvSpPr>
            <p:cNvPr id="26" name="reveal-3:21:text"/>
            <p:cNvSpPr/>
            <p:nvPr/>
          </p:nvSpPr>
          <p:spPr>
            <a:xfrm>
              <a:off x="7927300" y="3047881"/>
              <a:ext cx="1958340"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See the duration of each call.</a:t>
              </a:r>
              <a:endParaRPr lang="en-US" sz="1140" dirty="0"/>
            </a:p>
          </p:txBody>
        </p:sp>
        <p:sp>
          <p:nvSpPr>
            <p:cNvPr id="27" name="reveal-3:22:shape"/>
            <p:cNvSpPr/>
            <p:nvPr/>
          </p:nvSpPr>
          <p:spPr>
            <a:xfrm>
              <a:off x="7927300" y="3456623"/>
              <a:ext cx="2809161" cy="54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28" name="reveal-3:23:text"/>
            <p:cNvSpPr/>
            <p:nvPr/>
          </p:nvSpPr>
          <p:spPr>
            <a:xfrm>
              <a:off x="8033980" y="3540443"/>
              <a:ext cx="2094428"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Where did the agent spend its time?</a:t>
              </a:r>
              <a:endParaRPr lang="en-US" sz="900" dirty="0"/>
            </a:p>
          </p:txBody>
        </p:sp>
      </p:grpSp>
      <p:sp>
        <p:nvSpPr>
          <p:cNvPr id="29" name="static:24: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30" name="static:25:text"/>
          <p:cNvSpPr/>
          <p:nvPr/>
        </p:nvSpPr>
        <p:spPr>
          <a:xfrm>
            <a:off x="7394377" y="6461760"/>
            <a:ext cx="1231463"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08</a:t>
            </a:r>
            <a:endParaRPr lang="en-US" sz="72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Demo 3 - Inspect the Trace">
    <p:spTree>
      <p:nvGrpSpPr>
        <p:cNvPr id="1" name=""/>
        <p:cNvGrpSpPr/>
        <p:nvPr/>
      </p:nvGrpSpPr>
      <p:grpSpPr>
        <a:xfrm>
          <a:off x="0" y="0"/>
          <a:ext cx="0" cy="0"/>
          <a:chOff x="0" y="0"/>
          <a:chExt cx="0" cy="0"/>
        </a:xfrm>
      </p:grpSpPr>
      <p:sp>
        <p:nvSpPr>
          <p:cNvPr id="2" name="static:0:text"/>
          <p:cNvSpPr/>
          <p:nvPr/>
        </p:nvSpPr>
        <p:spPr>
          <a:xfrm>
            <a:off x="975360" y="2482453"/>
            <a:ext cx="812006" cy="190500"/>
          </a:xfrm>
          <a:prstGeom prst="rect">
            <a:avLst/>
          </a:prstGeom>
          <a:noFill/>
          <a:ln/>
        </p:spPr>
        <p:txBody>
          <a:bodyPr wrap="none" lIns="0" tIns="0" rIns="0" bIns="0" rtlCol="0" anchor="ctr"/>
          <a:lstStyle/>
          <a:p>
            <a:pPr marL="0" indent="0" algn="l">
              <a:buNone/>
            </a:pPr>
            <a:r>
              <a:rPr lang="en-US" sz="1200" b="1" kern="0" spc="180" dirty="0">
                <a:solidFill>
                  <a:srgbClr val="4ADE80"/>
                </a:solidFill>
                <a:latin typeface="Arial" pitchFamily="34" charset="0"/>
                <a:ea typeface="Arial" pitchFamily="34" charset="-122"/>
                <a:cs typeface="Arial" pitchFamily="34" charset="-120"/>
              </a:rPr>
              <a:t>DEMO 3</a:t>
            </a:r>
            <a:endParaRPr lang="en-US" sz="1200" dirty="0"/>
          </a:p>
        </p:txBody>
      </p:sp>
      <p:sp>
        <p:nvSpPr>
          <p:cNvPr id="3" name="static:1:text"/>
          <p:cNvSpPr/>
          <p:nvPr/>
        </p:nvSpPr>
        <p:spPr>
          <a:xfrm>
            <a:off x="975360" y="2779633"/>
            <a:ext cx="3926753" cy="624840"/>
          </a:xfrm>
          <a:prstGeom prst="rect">
            <a:avLst/>
          </a:prstGeom>
          <a:noFill/>
          <a:ln/>
        </p:spPr>
        <p:txBody>
          <a:bodyPr wrap="none" lIns="0" tIns="0" rIns="0" bIns="0" rtlCol="0" anchor="ctr"/>
          <a:lstStyle/>
          <a:p>
            <a:pPr marL="0" indent="0" algn="l">
              <a:buNone/>
            </a:pPr>
            <a:r>
              <a:rPr lang="en-US" sz="4080" b="1" kern="0" spc="-143" dirty="0">
                <a:solidFill>
                  <a:srgbClr val="DEDEDE"/>
                </a:solidFill>
                <a:latin typeface="Arial" pitchFamily="34" charset="0"/>
                <a:ea typeface="Arial" pitchFamily="34" charset="-122"/>
                <a:cs typeface="Arial" pitchFamily="34" charset="-120"/>
              </a:rPr>
              <a:t>Inspect the Trace</a:t>
            </a:r>
            <a:endParaRPr lang="en-US" sz="4080" dirty="0"/>
          </a:p>
        </p:txBody>
      </p:sp>
      <p:sp>
        <p:nvSpPr>
          <p:cNvPr id="4" name="static:2:text"/>
          <p:cNvSpPr/>
          <p:nvPr/>
        </p:nvSpPr>
        <p:spPr>
          <a:xfrm>
            <a:off x="975360" y="3526393"/>
            <a:ext cx="5107900"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Follow the calls, evidence and timings behind the answer.</a:t>
            </a:r>
            <a:endParaRPr lang="en-US" sz="1620" dirty="0"/>
          </a:p>
        </p:txBody>
      </p:sp>
      <p:sp>
        <p:nvSpPr>
          <p:cNvPr id="5" name="static:3: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6" name="static:4:text"/>
          <p:cNvSpPr/>
          <p:nvPr/>
        </p:nvSpPr>
        <p:spPr>
          <a:xfrm>
            <a:off x="10442615" y="6461760"/>
            <a:ext cx="1231225"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09</a:t>
            </a:r>
            <a:endParaRPr lang="en-US" sz="7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Evaluate">
    <p:spTree>
      <p:nvGrpSpPr>
        <p:cNvPr id="1" name=""/>
        <p:cNvGrpSpPr/>
        <p:nvPr/>
      </p:nvGrpSpPr>
      <p:grpSpPr>
        <a:xfrm>
          <a:off x="0" y="0"/>
          <a:ext cx="0" cy="0"/>
          <a:chOff x="0" y="0"/>
          <a:chExt cx="0" cy="0"/>
        </a:xfrm>
      </p:grpSpPr>
      <p:sp>
        <p:nvSpPr>
          <p:cNvPr id="2" name="static:0:text"/>
          <p:cNvSpPr/>
          <p:nvPr/>
        </p:nvSpPr>
        <p:spPr>
          <a:xfrm>
            <a:off x="2727960" y="870109"/>
            <a:ext cx="3464719" cy="152400"/>
          </a:xfrm>
          <a:prstGeom prst="rect">
            <a:avLst/>
          </a:prstGeom>
          <a:noFill/>
          <a:ln/>
        </p:spPr>
        <p:txBody>
          <a:bodyPr wrap="none" lIns="0" tIns="0" rIns="0" bIns="0" rtlCol="0" anchor="ctr"/>
          <a:lstStyle/>
          <a:p>
            <a:pPr marL="0" indent="0" algn="l">
              <a:buNone/>
            </a:pPr>
            <a:r>
              <a:rPr lang="en-US" sz="960" b="1" kern="0" spc="154" dirty="0">
                <a:solidFill>
                  <a:srgbClr val="4ADE80"/>
                </a:solidFill>
                <a:latin typeface="Arial" pitchFamily="34" charset="0"/>
                <a:ea typeface="Arial" pitchFamily="34" charset="-122"/>
                <a:cs typeface="Arial" pitchFamily="34" charset="-120"/>
              </a:rPr>
              <a:t>CONSISTENCY ACROSS PURCHASING TASKS</a:t>
            </a:r>
            <a:endParaRPr lang="en-US" sz="960" dirty="0"/>
          </a:p>
        </p:txBody>
      </p:sp>
      <p:sp>
        <p:nvSpPr>
          <p:cNvPr id="3" name="static:1:text"/>
          <p:cNvSpPr/>
          <p:nvPr/>
        </p:nvSpPr>
        <p:spPr>
          <a:xfrm>
            <a:off x="975360" y="1068229"/>
            <a:ext cx="1338596" cy="411480"/>
          </a:xfrm>
          <a:prstGeom prst="rect">
            <a:avLst/>
          </a:prstGeom>
          <a:noFill/>
          <a:ln/>
        </p:spPr>
        <p:txBody>
          <a:bodyPr wrap="none" lIns="0" tIns="0" rIns="0" bIns="0" rtlCol="0" anchor="ctr"/>
          <a:lstStyle/>
          <a:p>
            <a:pPr marL="0" indent="0" algn="l">
              <a:buNone/>
            </a:pPr>
            <a:r>
              <a:rPr lang="en-US" sz="2640" b="1" kern="0" spc="-92" dirty="0">
                <a:solidFill>
                  <a:srgbClr val="DEDEDE"/>
                </a:solidFill>
                <a:latin typeface="Arial" pitchFamily="34" charset="0"/>
                <a:ea typeface="Arial" pitchFamily="34" charset="-122"/>
                <a:cs typeface="Arial" pitchFamily="34" charset="-120"/>
              </a:rPr>
              <a:t>Evaluate</a:t>
            </a:r>
            <a:endParaRPr lang="en-US" sz="2640" dirty="0"/>
          </a:p>
        </p:txBody>
      </p:sp>
      <p:grpSp>
        <p:nvGrpSpPr>
          <p:cNvPr id="37" name="Reveal 1"/>
          <p:cNvGrpSpPr/>
          <p:nvPr/>
        </p:nvGrpSpPr>
        <p:grpSpPr>
          <a:xfrm>
            <a:off x="975360" y="1868329"/>
            <a:ext cx="3220641" cy="3791902"/>
            <a:chOff x="975360" y="1868329"/>
            <a:chExt cx="3220641" cy="3791902"/>
          </a:xfrm>
        </p:grpSpPr>
        <p:sp>
          <p:nvSpPr>
            <p:cNvPr id="4" name="reveal-1:2:shape"/>
            <p:cNvSpPr/>
            <p:nvPr/>
          </p:nvSpPr>
          <p:spPr>
            <a:xfrm>
              <a:off x="975360" y="1868329"/>
              <a:ext cx="3220641"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5" name="reveal-1:2:shape:border-0"/>
            <p:cNvSpPr/>
            <p:nvPr/>
          </p:nvSpPr>
          <p:spPr>
            <a:xfrm>
              <a:off x="1066800" y="1883569"/>
              <a:ext cx="3037761" cy="0"/>
            </a:xfrm>
            <a:prstGeom prst="line">
              <a:avLst/>
            </a:prstGeom>
            <a:noFill/>
            <a:ln w="30480">
              <a:solidFill>
                <a:srgbClr val="4ADE80"/>
              </a:solidFill>
              <a:prstDash val="solid"/>
              <a:headEnd type="none"/>
              <a:tailEnd type="none"/>
            </a:ln>
          </p:spPr>
          <p:txBody>
            <a:bodyPr/>
            <a:lstStyle/>
            <a:p>
              <a:endParaRPr lang="en-US"/>
            </a:p>
          </p:txBody>
        </p:sp>
        <p:sp>
          <p:nvSpPr>
            <p:cNvPr id="6" name="reveal-1:3:shape"/>
            <p:cNvSpPr/>
            <p:nvPr/>
          </p:nvSpPr>
          <p:spPr>
            <a:xfrm>
              <a:off x="1181100" y="2096929"/>
              <a:ext cx="411480" cy="411480"/>
            </a:xfrm>
            <a:prstGeom prst="roundRect">
              <a:avLst>
                <a:gd name="adj" fmla="val 25926"/>
              </a:avLst>
            </a:prstGeom>
            <a:solidFill>
              <a:srgbClr val="000000">
                <a:alpha val="0"/>
              </a:srgbClr>
            </a:solidFill>
            <a:ln w="15240">
              <a:solidFill>
                <a:srgbClr val="4ADE80"/>
              </a:solidFill>
              <a:prstDash val="solid"/>
            </a:ln>
          </p:spPr>
          <p:txBody>
            <a:bodyPr/>
            <a:lstStyle/>
            <a:p>
              <a:endParaRPr lang="en-US"/>
            </a:p>
          </p:txBody>
        </p:sp>
        <p:sp>
          <p:nvSpPr>
            <p:cNvPr id="7" name="reveal-1:4:text"/>
            <p:cNvSpPr/>
            <p:nvPr/>
          </p:nvSpPr>
          <p:spPr>
            <a:xfrm>
              <a:off x="1332071" y="2207419"/>
              <a:ext cx="200858" cy="190500"/>
            </a:xfrm>
            <a:prstGeom prst="rect">
              <a:avLst/>
            </a:prstGeom>
            <a:noFill/>
            <a:ln/>
          </p:spPr>
          <p:txBody>
            <a:bodyPr wrap="none" lIns="0" tIns="0" rIns="0" bIns="0" rtlCol="0" anchor="ctr"/>
            <a:lstStyle/>
            <a:p>
              <a:pPr marL="0" indent="0" algn="l">
                <a:buNone/>
              </a:pPr>
              <a:r>
                <a:rPr lang="en-US" sz="1200" b="1" kern="0" spc="-24" dirty="0">
                  <a:solidFill>
                    <a:srgbClr val="4ADE80"/>
                  </a:solidFill>
                  <a:latin typeface="Arial" pitchFamily="34" charset="0"/>
                  <a:ea typeface="Arial" pitchFamily="34" charset="-122"/>
                  <a:cs typeface="Arial" pitchFamily="34" charset="-120"/>
                </a:rPr>
                <a:t>J</a:t>
              </a:r>
              <a:endParaRPr lang="en-US" sz="1200" dirty="0"/>
            </a:p>
          </p:txBody>
        </p:sp>
        <p:sp>
          <p:nvSpPr>
            <p:cNvPr id="8" name="reveal-1:5:text"/>
            <p:cNvSpPr/>
            <p:nvPr/>
          </p:nvSpPr>
          <p:spPr>
            <a:xfrm>
              <a:off x="1181100" y="2698909"/>
              <a:ext cx="1557338" cy="266700"/>
            </a:xfrm>
            <a:prstGeom prst="rect">
              <a:avLst/>
            </a:prstGeom>
            <a:noFill/>
            <a:ln/>
          </p:spPr>
          <p:txBody>
            <a:bodyPr wrap="none" lIns="0" tIns="0" rIns="0" bIns="0" rtlCol="0" anchor="ctr"/>
            <a:lstStyle/>
            <a:p>
              <a:pPr marL="0" indent="0" algn="l">
                <a:buNone/>
              </a:pPr>
              <a:r>
                <a:rPr lang="en-US" sz="1680" b="1" dirty="0">
                  <a:solidFill>
                    <a:srgbClr val="4ADE80"/>
                  </a:solidFill>
                  <a:latin typeface="Arial" pitchFamily="34" charset="0"/>
                  <a:ea typeface="Arial" pitchFamily="34" charset="-122"/>
                  <a:cs typeface="Arial" pitchFamily="34" charset="-120"/>
                </a:rPr>
                <a:t>Next-action judge</a:t>
              </a:r>
              <a:endParaRPr lang="en-US" sz="1680" dirty="0"/>
            </a:p>
          </p:txBody>
        </p:sp>
        <p:sp>
          <p:nvSpPr>
            <p:cNvPr id="9" name="reveal-1:6:text"/>
            <p:cNvSpPr/>
            <p:nvPr/>
          </p:nvSpPr>
          <p:spPr>
            <a:xfrm>
              <a:off x="1181100" y="3285649"/>
              <a:ext cx="2661523"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Right next step?</a:t>
              </a:r>
              <a:endParaRPr lang="en-US" sz="1140" dirty="0"/>
            </a:p>
          </p:txBody>
        </p:sp>
        <p:sp>
          <p:nvSpPr>
            <p:cNvPr id="10" name="reveal-1:7:text"/>
            <p:cNvSpPr/>
            <p:nvPr/>
          </p:nvSpPr>
          <p:spPr>
            <a:xfrm>
              <a:off x="1181100" y="3481030"/>
              <a:ext cx="643771"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Right approver?</a:t>
              </a:r>
              <a:endParaRPr lang="en-US" sz="1140" dirty="0"/>
            </a:p>
          </p:txBody>
        </p:sp>
        <p:sp>
          <p:nvSpPr>
            <p:cNvPr id="11" name="reveal-1:8:shape"/>
            <p:cNvSpPr/>
            <p:nvPr/>
          </p:nvSpPr>
          <p:spPr>
            <a:xfrm>
              <a:off x="1181100" y="3889772"/>
              <a:ext cx="2809161" cy="54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12" name="reveal-1:9:text"/>
            <p:cNvSpPr/>
            <p:nvPr/>
          </p:nvSpPr>
          <p:spPr>
            <a:xfrm>
              <a:off x="1287780" y="3973592"/>
              <a:ext cx="2112883"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Pass/fail, with a reason about the tool calls.</a:t>
              </a:r>
              <a:endParaRPr lang="en-US" sz="900" dirty="0"/>
            </a:p>
          </p:txBody>
        </p:sp>
        <p:sp>
          <p:nvSpPr>
            <p:cNvPr id="13" name="reveal-1:10:text"/>
            <p:cNvSpPr/>
            <p:nvPr/>
          </p:nvSpPr>
          <p:spPr>
            <a:xfrm>
              <a:off x="1287780" y="4160282"/>
              <a:ext cx="1188601" cy="129540"/>
            </a:xfrm>
            <a:prstGeom prst="rect">
              <a:avLst/>
            </a:prstGeom>
            <a:noFill/>
            <a:ln/>
          </p:spPr>
          <p:txBody>
            <a:bodyPr wrap="none" lIns="0" tIns="0" rIns="0" bIns="0" rtlCol="0" anchor="ctr"/>
            <a:lstStyle/>
            <a:p>
              <a:pPr marL="0" indent="0" algn="l">
                <a:buNone/>
              </a:pPr>
              <a:r>
                <a:rPr lang="en-US" sz="720" b="1" kern="0" spc="43" dirty="0">
                  <a:solidFill>
                    <a:srgbClr val="B0B0B0"/>
                  </a:solidFill>
                  <a:latin typeface="Arial" pitchFamily="34" charset="0"/>
                  <a:ea typeface="Arial" pitchFamily="34" charset="-122"/>
                  <a:cs typeface="Arial" pitchFamily="34" charset="-120"/>
                </a:rPr>
                <a:t>CUSTOM PROMPT EVALUATOR</a:t>
              </a:r>
              <a:endParaRPr lang="en-US" sz="720" dirty="0"/>
            </a:p>
          </p:txBody>
        </p:sp>
      </p:grpSp>
      <p:grpSp>
        <p:nvGrpSpPr>
          <p:cNvPr id="38" name="Reveal 2"/>
          <p:cNvGrpSpPr/>
          <p:nvPr/>
        </p:nvGrpSpPr>
        <p:grpSpPr>
          <a:xfrm>
            <a:off x="4348401" y="1868329"/>
            <a:ext cx="3220760" cy="3791902"/>
            <a:chOff x="4348401" y="1868329"/>
            <a:chExt cx="3220760" cy="3791902"/>
          </a:xfrm>
        </p:grpSpPr>
        <p:sp>
          <p:nvSpPr>
            <p:cNvPr id="14" name="reveal-2:11:shape"/>
            <p:cNvSpPr/>
            <p:nvPr/>
          </p:nvSpPr>
          <p:spPr>
            <a:xfrm>
              <a:off x="4348401" y="1868329"/>
              <a:ext cx="3220760" cy="3791902"/>
            </a:xfrm>
            <a:prstGeom prst="roundRect">
              <a:avLst>
                <a:gd name="adj" fmla="val 3785"/>
              </a:avLst>
            </a:prstGeom>
            <a:solidFill>
              <a:srgbClr val="292929"/>
            </a:solidFill>
            <a:ln w="7620">
              <a:solidFill>
                <a:srgbClr val="474747"/>
              </a:solidFill>
              <a:prstDash val="solid"/>
            </a:ln>
          </p:spPr>
          <p:txBody>
            <a:bodyPr/>
            <a:lstStyle/>
            <a:p>
              <a:endParaRPr lang="en-US"/>
            </a:p>
          </p:txBody>
        </p:sp>
        <p:sp>
          <p:nvSpPr>
            <p:cNvPr id="15" name="reveal-2:11:shape:border-0"/>
            <p:cNvSpPr/>
            <p:nvPr/>
          </p:nvSpPr>
          <p:spPr>
            <a:xfrm>
              <a:off x="4439841" y="1883569"/>
              <a:ext cx="3037880" cy="0"/>
            </a:xfrm>
            <a:prstGeom prst="line">
              <a:avLst/>
            </a:prstGeom>
            <a:noFill/>
            <a:ln w="30480">
              <a:solidFill>
                <a:srgbClr val="4DA6FF"/>
              </a:solidFill>
              <a:prstDash val="solid"/>
              <a:headEnd type="none"/>
              <a:tailEnd type="none"/>
            </a:ln>
          </p:spPr>
          <p:txBody>
            <a:bodyPr/>
            <a:lstStyle/>
            <a:p>
              <a:endParaRPr lang="en-US"/>
            </a:p>
          </p:txBody>
        </p:sp>
        <p:sp>
          <p:nvSpPr>
            <p:cNvPr id="16" name="reveal-2:12:shape"/>
            <p:cNvSpPr/>
            <p:nvPr/>
          </p:nvSpPr>
          <p:spPr>
            <a:xfrm>
              <a:off x="4554141" y="2096929"/>
              <a:ext cx="411480" cy="411480"/>
            </a:xfrm>
            <a:prstGeom prst="roundRect">
              <a:avLst>
                <a:gd name="adj" fmla="val 25926"/>
              </a:avLst>
            </a:prstGeom>
            <a:solidFill>
              <a:srgbClr val="000000">
                <a:alpha val="0"/>
              </a:srgbClr>
            </a:solidFill>
            <a:ln w="15240">
              <a:solidFill>
                <a:srgbClr val="4DA6FF"/>
              </a:solidFill>
              <a:prstDash val="solid"/>
            </a:ln>
          </p:spPr>
          <p:txBody>
            <a:bodyPr/>
            <a:lstStyle/>
            <a:p>
              <a:endParaRPr lang="en-US"/>
            </a:p>
          </p:txBody>
        </p:sp>
        <p:sp>
          <p:nvSpPr>
            <p:cNvPr id="17" name="reveal-2:13:text"/>
            <p:cNvSpPr/>
            <p:nvPr/>
          </p:nvSpPr>
          <p:spPr>
            <a:xfrm>
              <a:off x="4651772" y="2207419"/>
              <a:ext cx="307538" cy="190500"/>
            </a:xfrm>
            <a:prstGeom prst="rect">
              <a:avLst/>
            </a:prstGeom>
            <a:noFill/>
            <a:ln/>
          </p:spPr>
          <p:txBody>
            <a:bodyPr wrap="none" lIns="0" tIns="0" rIns="0" bIns="0" rtlCol="0" anchor="ctr"/>
            <a:lstStyle/>
            <a:p>
              <a:pPr marL="0" indent="0" algn="l">
                <a:buNone/>
              </a:pPr>
              <a:r>
                <a:rPr lang="en-US" sz="1200" b="1" kern="0" spc="-24" dirty="0">
                  <a:solidFill>
                    <a:srgbClr val="4DA6FF"/>
                  </a:solidFill>
                  <a:latin typeface="Arial" pitchFamily="34" charset="0"/>
                  <a:ea typeface="Arial" pitchFamily="34" charset="-122"/>
                  <a:cs typeface="Arial" pitchFamily="34" charset="-120"/>
                </a:rPr>
                <a:t>R</a:t>
              </a:r>
              <a:endParaRPr lang="en-US" sz="1200" dirty="0"/>
            </a:p>
          </p:txBody>
        </p:sp>
        <p:sp>
          <p:nvSpPr>
            <p:cNvPr id="18" name="reveal-2:14:text"/>
            <p:cNvSpPr/>
            <p:nvPr/>
          </p:nvSpPr>
          <p:spPr>
            <a:xfrm>
              <a:off x="4554141" y="2698909"/>
              <a:ext cx="2320528" cy="266700"/>
            </a:xfrm>
            <a:prstGeom prst="rect">
              <a:avLst/>
            </a:prstGeom>
            <a:noFill/>
            <a:ln/>
          </p:spPr>
          <p:txBody>
            <a:bodyPr wrap="none" lIns="0" tIns="0" rIns="0" bIns="0" rtlCol="0" anchor="ctr"/>
            <a:lstStyle/>
            <a:p>
              <a:pPr marL="0" indent="0" algn="l">
                <a:buNone/>
              </a:pPr>
              <a:r>
                <a:rPr lang="en-US" sz="1680" b="1" dirty="0">
                  <a:solidFill>
                    <a:srgbClr val="4DA6FF"/>
                  </a:solidFill>
                  <a:latin typeface="Arial" pitchFamily="34" charset="0"/>
                  <a:ea typeface="Arial" pitchFamily="34" charset="-122"/>
                  <a:cs typeface="Arial" pitchFamily="34" charset="-120"/>
                </a:rPr>
                <a:t>Rubric</a:t>
              </a:r>
              <a:endParaRPr lang="en-US" sz="1680" dirty="0"/>
            </a:p>
          </p:txBody>
        </p:sp>
        <p:sp>
          <p:nvSpPr>
            <p:cNvPr id="19" name="reveal-2:15:text"/>
            <p:cNvSpPr/>
            <p:nvPr/>
          </p:nvSpPr>
          <p:spPr>
            <a:xfrm>
              <a:off x="4554141" y="3285649"/>
              <a:ext cx="2692956"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How well does the answer meet each</a:t>
              </a:r>
              <a:endParaRPr lang="en-US" sz="1140" dirty="0"/>
            </a:p>
          </p:txBody>
        </p:sp>
        <p:sp>
          <p:nvSpPr>
            <p:cNvPr id="20" name="reveal-2:16:text"/>
            <p:cNvSpPr/>
            <p:nvPr/>
          </p:nvSpPr>
          <p:spPr>
            <a:xfrm>
              <a:off x="4554141" y="3481030"/>
              <a:ext cx="986790"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requirement?</a:t>
              </a:r>
              <a:endParaRPr lang="en-US" sz="1140" dirty="0"/>
            </a:p>
          </p:txBody>
        </p:sp>
        <p:sp>
          <p:nvSpPr>
            <p:cNvPr id="21" name="reveal-2:17:shape"/>
            <p:cNvSpPr/>
            <p:nvPr/>
          </p:nvSpPr>
          <p:spPr>
            <a:xfrm>
              <a:off x="4554141" y="3889772"/>
              <a:ext cx="2809280" cy="54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22" name="reveal-2:18:text"/>
            <p:cNvSpPr/>
            <p:nvPr/>
          </p:nvSpPr>
          <p:spPr>
            <a:xfrm>
              <a:off x="4660821" y="3973592"/>
              <a:ext cx="2579251"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Weighted: route, approver, citations, clarity.</a:t>
              </a:r>
              <a:endParaRPr lang="en-US" sz="900" dirty="0"/>
            </a:p>
          </p:txBody>
        </p:sp>
        <p:sp>
          <p:nvSpPr>
            <p:cNvPr id="23" name="reveal-2:19:text"/>
            <p:cNvSpPr/>
            <p:nvPr/>
          </p:nvSpPr>
          <p:spPr>
            <a:xfrm>
              <a:off x="4660821" y="4160282"/>
              <a:ext cx="1751171" cy="129540"/>
            </a:xfrm>
            <a:prstGeom prst="rect">
              <a:avLst/>
            </a:prstGeom>
            <a:noFill/>
            <a:ln/>
          </p:spPr>
          <p:txBody>
            <a:bodyPr wrap="none" lIns="0" tIns="0" rIns="0" bIns="0" rtlCol="0" anchor="ctr"/>
            <a:lstStyle/>
            <a:p>
              <a:pPr marL="0" indent="0" algn="l">
                <a:buNone/>
              </a:pPr>
              <a:r>
                <a:rPr lang="en-US" sz="720" b="1" kern="0" spc="43" dirty="0">
                  <a:solidFill>
                    <a:srgbClr val="B0B0B0"/>
                  </a:solidFill>
                  <a:latin typeface="Arial" pitchFamily="34" charset="0"/>
                  <a:ea typeface="Arial" pitchFamily="34" charset="-122"/>
                  <a:cs typeface="Arial" pitchFamily="34" charset="-120"/>
                </a:rPr>
                <a:t>RUBRIC EVALUATOR / PREVIEW</a:t>
              </a:r>
              <a:endParaRPr lang="en-US" sz="720" dirty="0"/>
            </a:p>
          </p:txBody>
        </p:sp>
      </p:grpSp>
      <p:sp>
        <p:nvSpPr>
          <p:cNvPr id="35" name="static:30: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36" name="static:31:text"/>
          <p:cNvSpPr/>
          <p:nvPr/>
        </p:nvSpPr>
        <p:spPr>
          <a:xfrm>
            <a:off x="7410331" y="6461760"/>
            <a:ext cx="1215509"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10</a:t>
            </a:r>
            <a:endParaRPr lang="en-US" sz="72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Demo 4 - Evaluate Across Cases">
    <p:spTree>
      <p:nvGrpSpPr>
        <p:cNvPr id="1" name=""/>
        <p:cNvGrpSpPr/>
        <p:nvPr/>
      </p:nvGrpSpPr>
      <p:grpSpPr>
        <a:xfrm>
          <a:off x="0" y="0"/>
          <a:ext cx="0" cy="0"/>
          <a:chOff x="0" y="0"/>
          <a:chExt cx="0" cy="0"/>
        </a:xfrm>
      </p:grpSpPr>
      <p:sp>
        <p:nvSpPr>
          <p:cNvPr id="2" name="static:0:text"/>
          <p:cNvSpPr/>
          <p:nvPr/>
        </p:nvSpPr>
        <p:spPr>
          <a:xfrm>
            <a:off x="975360" y="2343626"/>
            <a:ext cx="814864" cy="190500"/>
          </a:xfrm>
          <a:prstGeom prst="rect">
            <a:avLst/>
          </a:prstGeom>
          <a:noFill/>
          <a:ln/>
        </p:spPr>
        <p:txBody>
          <a:bodyPr wrap="none" lIns="0" tIns="0" rIns="0" bIns="0" rtlCol="0" anchor="ctr"/>
          <a:lstStyle/>
          <a:p>
            <a:pPr marL="0" indent="0" algn="l">
              <a:buNone/>
            </a:pPr>
            <a:r>
              <a:rPr lang="en-US" sz="1200" b="1" kern="0" spc="180" dirty="0">
                <a:solidFill>
                  <a:srgbClr val="4ADE80"/>
                </a:solidFill>
                <a:latin typeface="Arial" pitchFamily="34" charset="0"/>
                <a:ea typeface="Arial" pitchFamily="34" charset="-122"/>
                <a:cs typeface="Arial" pitchFamily="34" charset="-120"/>
              </a:rPr>
              <a:t>DEMO 4</a:t>
            </a:r>
            <a:endParaRPr lang="en-US" sz="1200" dirty="0"/>
          </a:p>
        </p:txBody>
      </p:sp>
      <p:sp>
        <p:nvSpPr>
          <p:cNvPr id="3" name="static:1:text"/>
          <p:cNvSpPr/>
          <p:nvPr/>
        </p:nvSpPr>
        <p:spPr>
          <a:xfrm>
            <a:off x="975360" y="2640806"/>
            <a:ext cx="5144524" cy="624840"/>
          </a:xfrm>
          <a:prstGeom prst="rect">
            <a:avLst/>
          </a:prstGeom>
          <a:noFill/>
          <a:ln/>
        </p:spPr>
        <p:txBody>
          <a:bodyPr wrap="none" lIns="0" tIns="0" rIns="0" bIns="0" rtlCol="0" anchor="ctr"/>
          <a:lstStyle/>
          <a:p>
            <a:pPr marL="0" indent="0" algn="l">
              <a:buNone/>
            </a:pPr>
            <a:r>
              <a:rPr lang="en-US" sz="4080" b="1" kern="0" spc="-143" dirty="0">
                <a:solidFill>
                  <a:srgbClr val="DEDEDE"/>
                </a:solidFill>
                <a:latin typeface="Arial" pitchFamily="34" charset="0"/>
                <a:ea typeface="Arial" pitchFamily="34" charset="-122"/>
                <a:cs typeface="Arial" pitchFamily="34" charset="-120"/>
              </a:rPr>
              <a:t>Evaluate Across Cases</a:t>
            </a:r>
            <a:endParaRPr lang="en-US" sz="4080" dirty="0"/>
          </a:p>
        </p:txBody>
      </p:sp>
      <p:sp>
        <p:nvSpPr>
          <p:cNvPr id="4" name="static:2:text"/>
          <p:cNvSpPr/>
          <p:nvPr/>
        </p:nvSpPr>
        <p:spPr>
          <a:xfrm>
            <a:off x="975360" y="3387566"/>
            <a:ext cx="6319004"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How consistently does the agent handle different purchases, dates and</a:t>
            </a:r>
            <a:endParaRPr lang="en-US" sz="1620" dirty="0"/>
          </a:p>
        </p:txBody>
      </p:sp>
      <p:sp>
        <p:nvSpPr>
          <p:cNvPr id="5" name="static:3:text"/>
          <p:cNvSpPr/>
          <p:nvPr/>
        </p:nvSpPr>
        <p:spPr>
          <a:xfrm>
            <a:off x="975360" y="3665220"/>
            <a:ext cx="1919288"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missing information?</a:t>
            </a:r>
            <a:endParaRPr lang="en-US" sz="1620" dirty="0"/>
          </a:p>
        </p:txBody>
      </p:sp>
      <p:sp>
        <p:nvSpPr>
          <p:cNvPr id="6" name="static:4: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7" name="static:5:text"/>
          <p:cNvSpPr/>
          <p:nvPr/>
        </p:nvSpPr>
        <p:spPr>
          <a:xfrm>
            <a:off x="10473571" y="6461760"/>
            <a:ext cx="1200269"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11</a:t>
            </a:r>
            <a:endParaRPr lang="en-US" sz="7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Optimise">
    <p:spTree>
      <p:nvGrpSpPr>
        <p:cNvPr id="1" name=""/>
        <p:cNvGrpSpPr/>
        <p:nvPr/>
      </p:nvGrpSpPr>
      <p:grpSpPr>
        <a:xfrm>
          <a:off x="0" y="0"/>
          <a:ext cx="0" cy="0"/>
          <a:chOff x="0" y="0"/>
          <a:chExt cx="0" cy="0"/>
        </a:xfrm>
      </p:grpSpPr>
      <p:sp>
        <p:nvSpPr>
          <p:cNvPr id="2" name="static:0:text"/>
          <p:cNvSpPr/>
          <p:nvPr/>
        </p:nvSpPr>
        <p:spPr>
          <a:xfrm>
            <a:off x="2727960" y="870109"/>
            <a:ext cx="1497568" cy="152400"/>
          </a:xfrm>
          <a:prstGeom prst="rect">
            <a:avLst/>
          </a:prstGeom>
          <a:noFill/>
          <a:ln/>
        </p:spPr>
        <p:txBody>
          <a:bodyPr wrap="none" lIns="0" tIns="0" rIns="0" bIns="0" rtlCol="0" anchor="ctr"/>
          <a:lstStyle/>
          <a:p>
            <a:pPr marL="0" indent="0" algn="l">
              <a:buNone/>
            </a:pPr>
            <a:r>
              <a:rPr lang="en-US" sz="960" b="1" kern="0" spc="154" dirty="0">
                <a:solidFill>
                  <a:srgbClr val="F87171"/>
                </a:solidFill>
                <a:latin typeface="Arial" pitchFamily="34" charset="0"/>
                <a:ea typeface="Arial" pitchFamily="34" charset="-122"/>
                <a:cs typeface="Arial" pitchFamily="34" charset="-120"/>
              </a:rPr>
              <a:t>AGENT OPTIMIZER</a:t>
            </a:r>
            <a:endParaRPr lang="en-US" sz="960" dirty="0"/>
          </a:p>
        </p:txBody>
      </p:sp>
      <p:sp>
        <p:nvSpPr>
          <p:cNvPr id="3" name="static:1:text"/>
          <p:cNvSpPr/>
          <p:nvPr/>
        </p:nvSpPr>
        <p:spPr>
          <a:xfrm>
            <a:off x="975360" y="1068229"/>
            <a:ext cx="1408962" cy="411480"/>
          </a:xfrm>
          <a:prstGeom prst="rect">
            <a:avLst/>
          </a:prstGeom>
          <a:noFill/>
          <a:ln/>
        </p:spPr>
        <p:txBody>
          <a:bodyPr wrap="none" lIns="0" tIns="0" rIns="0" bIns="0" rtlCol="0" anchor="ctr"/>
          <a:lstStyle/>
          <a:p>
            <a:pPr marL="0" indent="0" algn="l">
              <a:buNone/>
            </a:pPr>
            <a:r>
              <a:rPr lang="en-US" sz="2640" b="1" kern="0" spc="-92" dirty="0">
                <a:solidFill>
                  <a:srgbClr val="DEDEDE"/>
                </a:solidFill>
                <a:latin typeface="Arial" pitchFamily="34" charset="0"/>
                <a:ea typeface="Arial" pitchFamily="34" charset="-122"/>
                <a:cs typeface="Arial" pitchFamily="34" charset="-120"/>
              </a:rPr>
              <a:t>Optimise</a:t>
            </a:r>
            <a:endParaRPr lang="en-US" sz="2640" dirty="0"/>
          </a:p>
        </p:txBody>
      </p:sp>
      <p:grpSp>
        <p:nvGrpSpPr>
          <p:cNvPr id="35" name="Reveal 1"/>
          <p:cNvGrpSpPr/>
          <p:nvPr/>
        </p:nvGrpSpPr>
        <p:grpSpPr>
          <a:xfrm>
            <a:off x="975360" y="1868329"/>
            <a:ext cx="3220641" cy="3791902"/>
            <a:chOff x="975360" y="1868329"/>
            <a:chExt cx="3220641" cy="3791902"/>
          </a:xfrm>
        </p:grpSpPr>
        <p:sp>
          <p:nvSpPr>
            <p:cNvPr id="4" name="reveal-1:2:shape"/>
            <p:cNvSpPr/>
            <p:nvPr/>
          </p:nvSpPr>
          <p:spPr>
            <a:xfrm>
              <a:off x="975360" y="1868329"/>
              <a:ext cx="3220641"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5" name="reveal-1:2:shape:border-0"/>
            <p:cNvSpPr/>
            <p:nvPr/>
          </p:nvSpPr>
          <p:spPr>
            <a:xfrm>
              <a:off x="1066800" y="1883569"/>
              <a:ext cx="3037761" cy="0"/>
            </a:xfrm>
            <a:prstGeom prst="line">
              <a:avLst/>
            </a:prstGeom>
            <a:noFill/>
            <a:ln w="30480">
              <a:solidFill>
                <a:srgbClr val="F87171"/>
              </a:solidFill>
              <a:prstDash val="solid"/>
              <a:headEnd type="none"/>
              <a:tailEnd type="none"/>
            </a:ln>
          </p:spPr>
          <p:txBody>
            <a:bodyPr/>
            <a:lstStyle/>
            <a:p>
              <a:endParaRPr lang="en-US"/>
            </a:p>
          </p:txBody>
        </p:sp>
        <p:sp>
          <p:nvSpPr>
            <p:cNvPr id="6" name="reveal-1:3:shape"/>
            <p:cNvSpPr/>
            <p:nvPr/>
          </p:nvSpPr>
          <p:spPr>
            <a:xfrm>
              <a:off x="1181100" y="2096929"/>
              <a:ext cx="411480" cy="411480"/>
            </a:xfrm>
            <a:prstGeom prst="roundRect">
              <a:avLst>
                <a:gd name="adj" fmla="val 25926"/>
              </a:avLst>
            </a:prstGeom>
            <a:solidFill>
              <a:srgbClr val="000000">
                <a:alpha val="0"/>
              </a:srgbClr>
            </a:solidFill>
            <a:ln w="15240">
              <a:solidFill>
                <a:srgbClr val="F87171"/>
              </a:solidFill>
              <a:prstDash val="solid"/>
            </a:ln>
          </p:spPr>
          <p:txBody>
            <a:bodyPr/>
            <a:lstStyle/>
            <a:p>
              <a:endParaRPr lang="en-US"/>
            </a:p>
          </p:txBody>
        </p:sp>
        <p:sp>
          <p:nvSpPr>
            <p:cNvPr id="7" name="reveal-1:4:text"/>
            <p:cNvSpPr/>
            <p:nvPr/>
          </p:nvSpPr>
          <p:spPr>
            <a:xfrm>
              <a:off x="1336715" y="2207419"/>
              <a:ext cx="191572" cy="190500"/>
            </a:xfrm>
            <a:prstGeom prst="rect">
              <a:avLst/>
            </a:prstGeom>
            <a:noFill/>
            <a:ln/>
          </p:spPr>
          <p:txBody>
            <a:bodyPr wrap="none" lIns="0" tIns="0" rIns="0" bIns="0" rtlCol="0" anchor="ctr"/>
            <a:lstStyle/>
            <a:p>
              <a:pPr marL="0" indent="0" algn="l">
                <a:buNone/>
              </a:pPr>
              <a:r>
                <a:rPr lang="en-US" sz="1200" b="1" kern="0" spc="-24" dirty="0">
                  <a:solidFill>
                    <a:srgbClr val="F87171"/>
                  </a:solidFill>
                  <a:latin typeface="Arial" pitchFamily="34" charset="0"/>
                  <a:ea typeface="Arial" pitchFamily="34" charset="-122"/>
                  <a:cs typeface="Arial" pitchFamily="34" charset="-120"/>
                </a:rPr>
                <a:t>B</a:t>
              </a:r>
              <a:endParaRPr lang="en-US" sz="1200" dirty="0"/>
            </a:p>
          </p:txBody>
        </p:sp>
        <p:sp>
          <p:nvSpPr>
            <p:cNvPr id="8" name="reveal-1:5:text"/>
            <p:cNvSpPr/>
            <p:nvPr/>
          </p:nvSpPr>
          <p:spPr>
            <a:xfrm>
              <a:off x="1181100" y="2698909"/>
              <a:ext cx="940713" cy="266700"/>
            </a:xfrm>
            <a:prstGeom prst="rect">
              <a:avLst/>
            </a:prstGeom>
            <a:noFill/>
            <a:ln/>
          </p:spPr>
          <p:txBody>
            <a:bodyPr wrap="none" lIns="0" tIns="0" rIns="0" bIns="0" rtlCol="0" anchor="ctr"/>
            <a:lstStyle/>
            <a:p>
              <a:pPr marL="0" indent="0" algn="l">
                <a:buNone/>
              </a:pPr>
              <a:r>
                <a:rPr lang="en-US" sz="1680" b="1" dirty="0">
                  <a:solidFill>
                    <a:srgbClr val="F87171"/>
                  </a:solidFill>
                  <a:latin typeface="Arial" pitchFamily="34" charset="0"/>
                  <a:ea typeface="Arial" pitchFamily="34" charset="-122"/>
                  <a:cs typeface="Arial" pitchFamily="34" charset="-120"/>
                </a:rPr>
                <a:t>Baseline</a:t>
              </a:r>
              <a:endParaRPr lang="en-US" sz="1680" dirty="0"/>
            </a:p>
          </p:txBody>
        </p:sp>
        <p:sp>
          <p:nvSpPr>
            <p:cNvPr id="9" name="reveal-1:6:text"/>
            <p:cNvSpPr/>
            <p:nvPr/>
          </p:nvSpPr>
          <p:spPr>
            <a:xfrm>
              <a:off x="1181100" y="3047881"/>
              <a:ext cx="2487573"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Record the starting configuration and</a:t>
              </a:r>
              <a:endParaRPr lang="en-US" sz="1140" dirty="0"/>
            </a:p>
          </p:txBody>
        </p:sp>
        <p:sp>
          <p:nvSpPr>
            <p:cNvPr id="10" name="reveal-1:7:text"/>
            <p:cNvSpPr/>
            <p:nvPr/>
          </p:nvSpPr>
          <p:spPr>
            <a:xfrm>
              <a:off x="1181100" y="3243263"/>
              <a:ext cx="1251704"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evaluation results.</a:t>
              </a:r>
              <a:endParaRPr lang="en-US" sz="1140" dirty="0"/>
            </a:p>
          </p:txBody>
        </p:sp>
        <p:sp>
          <p:nvSpPr>
            <p:cNvPr id="11" name="reveal-1:8:shape"/>
            <p:cNvSpPr/>
            <p:nvPr/>
          </p:nvSpPr>
          <p:spPr>
            <a:xfrm>
              <a:off x="1181100" y="3652004"/>
              <a:ext cx="2809161" cy="54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12" name="reveal-1:9:text"/>
            <p:cNvSpPr/>
            <p:nvPr/>
          </p:nvSpPr>
          <p:spPr>
            <a:xfrm>
              <a:off x="1287780" y="3735824"/>
              <a:ext cx="2381369"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How consistently does the starting agent</a:t>
              </a:r>
              <a:endParaRPr lang="en-US" sz="900" dirty="0"/>
            </a:p>
          </p:txBody>
        </p:sp>
        <p:sp>
          <p:nvSpPr>
            <p:cNvPr id="13" name="reveal-1:10:text"/>
            <p:cNvSpPr/>
            <p:nvPr/>
          </p:nvSpPr>
          <p:spPr>
            <a:xfrm>
              <a:off x="1287780" y="3884414"/>
              <a:ext cx="1010364"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meet the rubric?</a:t>
              </a:r>
              <a:endParaRPr lang="en-US" sz="900" dirty="0"/>
            </a:p>
          </p:txBody>
        </p:sp>
      </p:grpSp>
      <p:grpSp>
        <p:nvGrpSpPr>
          <p:cNvPr id="36" name="Reveal 2"/>
          <p:cNvGrpSpPr/>
          <p:nvPr/>
        </p:nvGrpSpPr>
        <p:grpSpPr>
          <a:xfrm>
            <a:off x="4348401" y="1868329"/>
            <a:ext cx="3220760" cy="3791902"/>
            <a:chOff x="4348401" y="1868329"/>
            <a:chExt cx="3220760" cy="3791902"/>
          </a:xfrm>
        </p:grpSpPr>
        <p:sp>
          <p:nvSpPr>
            <p:cNvPr id="14" name="reveal-2:11:shape"/>
            <p:cNvSpPr/>
            <p:nvPr/>
          </p:nvSpPr>
          <p:spPr>
            <a:xfrm>
              <a:off x="4348401" y="1868329"/>
              <a:ext cx="3220760" cy="3791902"/>
            </a:xfrm>
            <a:prstGeom prst="roundRect">
              <a:avLst>
                <a:gd name="adj" fmla="val 3785"/>
              </a:avLst>
            </a:prstGeom>
            <a:solidFill>
              <a:srgbClr val="292929"/>
            </a:solidFill>
            <a:ln w="7620">
              <a:solidFill>
                <a:srgbClr val="474747"/>
              </a:solidFill>
              <a:prstDash val="solid"/>
            </a:ln>
          </p:spPr>
          <p:txBody>
            <a:bodyPr/>
            <a:lstStyle/>
            <a:p>
              <a:endParaRPr lang="en-US"/>
            </a:p>
          </p:txBody>
        </p:sp>
        <p:sp>
          <p:nvSpPr>
            <p:cNvPr id="15" name="reveal-2:11:shape:border-0"/>
            <p:cNvSpPr/>
            <p:nvPr/>
          </p:nvSpPr>
          <p:spPr>
            <a:xfrm>
              <a:off x="4439841" y="1883569"/>
              <a:ext cx="3037880" cy="0"/>
            </a:xfrm>
            <a:prstGeom prst="line">
              <a:avLst/>
            </a:prstGeom>
            <a:noFill/>
            <a:ln w="30480">
              <a:solidFill>
                <a:srgbClr val="FBBF24"/>
              </a:solidFill>
              <a:prstDash val="solid"/>
              <a:headEnd type="none"/>
              <a:tailEnd type="none"/>
            </a:ln>
          </p:spPr>
          <p:txBody>
            <a:bodyPr/>
            <a:lstStyle/>
            <a:p>
              <a:endParaRPr lang="en-US"/>
            </a:p>
          </p:txBody>
        </p:sp>
        <p:sp>
          <p:nvSpPr>
            <p:cNvPr id="16" name="reveal-2:12:shape"/>
            <p:cNvSpPr/>
            <p:nvPr/>
          </p:nvSpPr>
          <p:spPr>
            <a:xfrm>
              <a:off x="4554141" y="2096929"/>
              <a:ext cx="411480" cy="411480"/>
            </a:xfrm>
            <a:prstGeom prst="roundRect">
              <a:avLst>
                <a:gd name="adj" fmla="val 25926"/>
              </a:avLst>
            </a:prstGeom>
            <a:solidFill>
              <a:srgbClr val="000000">
                <a:alpha val="0"/>
              </a:srgbClr>
            </a:solidFill>
            <a:ln w="15240">
              <a:solidFill>
                <a:srgbClr val="FBBF24"/>
              </a:solidFill>
              <a:prstDash val="solid"/>
            </a:ln>
          </p:spPr>
          <p:txBody>
            <a:bodyPr/>
            <a:lstStyle/>
            <a:p>
              <a:endParaRPr lang="en-US"/>
            </a:p>
          </p:txBody>
        </p:sp>
        <p:sp>
          <p:nvSpPr>
            <p:cNvPr id="17" name="reveal-2:13:text"/>
            <p:cNvSpPr/>
            <p:nvPr/>
          </p:nvSpPr>
          <p:spPr>
            <a:xfrm>
              <a:off x="4706183" y="2207419"/>
              <a:ext cx="198834" cy="190500"/>
            </a:xfrm>
            <a:prstGeom prst="rect">
              <a:avLst/>
            </a:prstGeom>
            <a:noFill/>
            <a:ln/>
          </p:spPr>
          <p:txBody>
            <a:bodyPr wrap="none" lIns="0" tIns="0" rIns="0" bIns="0" rtlCol="0" anchor="ctr"/>
            <a:lstStyle/>
            <a:p>
              <a:pPr marL="0" indent="0" algn="l">
                <a:buNone/>
              </a:pPr>
              <a:r>
                <a:rPr lang="en-US" sz="1200" b="1" kern="0" spc="-24" dirty="0">
                  <a:solidFill>
                    <a:srgbClr val="FBBF24"/>
                  </a:solidFill>
                  <a:latin typeface="Arial" pitchFamily="34" charset="0"/>
                  <a:ea typeface="Arial" pitchFamily="34" charset="-122"/>
                  <a:cs typeface="Arial" pitchFamily="34" charset="-120"/>
                </a:rPr>
                <a:t>C</a:t>
              </a:r>
              <a:endParaRPr lang="en-US" sz="1200" dirty="0"/>
            </a:p>
          </p:txBody>
        </p:sp>
        <p:sp>
          <p:nvSpPr>
            <p:cNvPr id="18" name="reveal-2:14:text"/>
            <p:cNvSpPr/>
            <p:nvPr/>
          </p:nvSpPr>
          <p:spPr>
            <a:xfrm>
              <a:off x="4554141" y="2698909"/>
              <a:ext cx="1236702" cy="266700"/>
            </a:xfrm>
            <a:prstGeom prst="rect">
              <a:avLst/>
            </a:prstGeom>
            <a:noFill/>
            <a:ln/>
          </p:spPr>
          <p:txBody>
            <a:bodyPr wrap="none" lIns="0" tIns="0" rIns="0" bIns="0" rtlCol="0" anchor="ctr"/>
            <a:lstStyle/>
            <a:p>
              <a:pPr marL="0" indent="0" algn="l">
                <a:buNone/>
              </a:pPr>
              <a:r>
                <a:rPr lang="en-US" sz="1680" b="1" dirty="0">
                  <a:solidFill>
                    <a:srgbClr val="FBBF24"/>
                  </a:solidFill>
                  <a:latin typeface="Arial" pitchFamily="34" charset="0"/>
                  <a:ea typeface="Arial" pitchFamily="34" charset="-122"/>
                  <a:cs typeface="Arial" pitchFamily="34" charset="-120"/>
                </a:rPr>
                <a:t>Candidates</a:t>
              </a:r>
              <a:endParaRPr lang="en-US" sz="1680" dirty="0"/>
            </a:p>
          </p:txBody>
        </p:sp>
        <p:sp>
          <p:nvSpPr>
            <p:cNvPr id="19" name="reveal-2:15:text"/>
            <p:cNvSpPr/>
            <p:nvPr/>
          </p:nvSpPr>
          <p:spPr>
            <a:xfrm>
              <a:off x="4554141" y="3047881"/>
              <a:ext cx="2219206"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Test changes to instructions, tool</a:t>
              </a:r>
              <a:endParaRPr lang="en-US" sz="1140" dirty="0"/>
            </a:p>
          </p:txBody>
        </p:sp>
        <p:sp>
          <p:nvSpPr>
            <p:cNvPr id="20" name="reveal-2:16:text"/>
            <p:cNvSpPr/>
            <p:nvPr/>
          </p:nvSpPr>
          <p:spPr>
            <a:xfrm>
              <a:off x="4554141" y="3243263"/>
              <a:ext cx="2097524"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descriptions and model choice.</a:t>
              </a:r>
              <a:endParaRPr lang="en-US" sz="1140" dirty="0"/>
            </a:p>
          </p:txBody>
        </p:sp>
        <p:sp>
          <p:nvSpPr>
            <p:cNvPr id="21" name="reveal-2:17:shape"/>
            <p:cNvSpPr/>
            <p:nvPr/>
          </p:nvSpPr>
          <p:spPr>
            <a:xfrm>
              <a:off x="4554141" y="3652004"/>
              <a:ext cx="2809280" cy="54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22" name="reveal-2:18:text"/>
            <p:cNvSpPr/>
            <p:nvPr/>
          </p:nvSpPr>
          <p:spPr>
            <a:xfrm>
              <a:off x="4660821" y="3735824"/>
              <a:ext cx="2422684"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Which changes improve the results on the</a:t>
              </a:r>
              <a:endParaRPr lang="en-US" sz="900" dirty="0"/>
            </a:p>
          </p:txBody>
        </p:sp>
        <p:sp>
          <p:nvSpPr>
            <p:cNvPr id="23" name="reveal-2:19:text"/>
            <p:cNvSpPr/>
            <p:nvPr/>
          </p:nvSpPr>
          <p:spPr>
            <a:xfrm>
              <a:off x="4660821" y="3884414"/>
              <a:ext cx="763667"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same tests?</a:t>
              </a:r>
              <a:endParaRPr lang="en-US" sz="900" dirty="0"/>
            </a:p>
          </p:txBody>
        </p:sp>
      </p:grpSp>
      <p:grpSp>
        <p:nvGrpSpPr>
          <p:cNvPr id="37" name="Reveal 3"/>
          <p:cNvGrpSpPr/>
          <p:nvPr/>
        </p:nvGrpSpPr>
        <p:grpSpPr>
          <a:xfrm>
            <a:off x="7721560" y="1868329"/>
            <a:ext cx="3220641" cy="3791902"/>
            <a:chOff x="7721560" y="1868329"/>
            <a:chExt cx="3220641" cy="3791902"/>
          </a:xfrm>
        </p:grpSpPr>
        <p:sp>
          <p:nvSpPr>
            <p:cNvPr id="24" name="reveal-3:20:shape"/>
            <p:cNvSpPr/>
            <p:nvPr/>
          </p:nvSpPr>
          <p:spPr>
            <a:xfrm>
              <a:off x="7721560" y="1868329"/>
              <a:ext cx="3220641"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25" name="reveal-3:20:shape:border-0"/>
            <p:cNvSpPr/>
            <p:nvPr/>
          </p:nvSpPr>
          <p:spPr>
            <a:xfrm>
              <a:off x="7813000" y="1883569"/>
              <a:ext cx="3037761" cy="0"/>
            </a:xfrm>
            <a:prstGeom prst="line">
              <a:avLst/>
            </a:prstGeom>
            <a:noFill/>
            <a:ln w="30480">
              <a:solidFill>
                <a:srgbClr val="4ADE80"/>
              </a:solidFill>
              <a:prstDash val="solid"/>
              <a:headEnd type="none"/>
              <a:tailEnd type="none"/>
            </a:ln>
          </p:spPr>
          <p:txBody>
            <a:bodyPr/>
            <a:lstStyle/>
            <a:p>
              <a:endParaRPr lang="en-US"/>
            </a:p>
          </p:txBody>
        </p:sp>
        <p:sp>
          <p:nvSpPr>
            <p:cNvPr id="26" name="reveal-3:21:shape"/>
            <p:cNvSpPr/>
            <p:nvPr/>
          </p:nvSpPr>
          <p:spPr>
            <a:xfrm>
              <a:off x="7927300" y="2096929"/>
              <a:ext cx="411480" cy="411480"/>
            </a:xfrm>
            <a:prstGeom prst="roundRect">
              <a:avLst>
                <a:gd name="adj" fmla="val 25926"/>
              </a:avLst>
            </a:prstGeom>
            <a:solidFill>
              <a:srgbClr val="000000">
                <a:alpha val="0"/>
              </a:srgbClr>
            </a:solidFill>
            <a:ln w="15240">
              <a:solidFill>
                <a:srgbClr val="4ADE80"/>
              </a:solidFill>
              <a:prstDash val="solid"/>
            </a:ln>
          </p:spPr>
          <p:txBody>
            <a:bodyPr/>
            <a:lstStyle/>
            <a:p>
              <a:endParaRPr lang="en-US"/>
            </a:p>
          </p:txBody>
        </p:sp>
        <p:sp>
          <p:nvSpPr>
            <p:cNvPr id="27" name="reveal-3:22:text"/>
            <p:cNvSpPr/>
            <p:nvPr/>
          </p:nvSpPr>
          <p:spPr>
            <a:xfrm>
              <a:off x="8084344" y="2207419"/>
              <a:ext cx="188714" cy="190500"/>
            </a:xfrm>
            <a:prstGeom prst="rect">
              <a:avLst/>
            </a:prstGeom>
            <a:noFill/>
            <a:ln/>
          </p:spPr>
          <p:txBody>
            <a:bodyPr wrap="none" lIns="0" tIns="0" rIns="0" bIns="0" rtlCol="0" anchor="ctr"/>
            <a:lstStyle/>
            <a:p>
              <a:pPr marL="0" indent="0" algn="l">
                <a:buNone/>
              </a:pPr>
              <a:r>
                <a:rPr lang="en-US" sz="1200" b="1" kern="0" spc="-24" dirty="0">
                  <a:solidFill>
                    <a:srgbClr val="4ADE80"/>
                  </a:solidFill>
                  <a:latin typeface="Arial" pitchFamily="34" charset="0"/>
                  <a:ea typeface="Arial" pitchFamily="34" charset="-122"/>
                  <a:cs typeface="Arial" pitchFamily="34" charset="-120"/>
                </a:rPr>
                <a:t>3</a:t>
              </a:r>
              <a:endParaRPr lang="en-US" sz="1200" dirty="0"/>
            </a:p>
          </p:txBody>
        </p:sp>
        <p:sp>
          <p:nvSpPr>
            <p:cNvPr id="28" name="reveal-3:23:text"/>
            <p:cNvSpPr/>
            <p:nvPr/>
          </p:nvSpPr>
          <p:spPr>
            <a:xfrm>
              <a:off x="7927300" y="2698909"/>
              <a:ext cx="1006078" cy="266700"/>
            </a:xfrm>
            <a:prstGeom prst="rect">
              <a:avLst/>
            </a:prstGeom>
            <a:noFill/>
            <a:ln/>
          </p:spPr>
          <p:txBody>
            <a:bodyPr wrap="none" lIns="0" tIns="0" rIns="0" bIns="0" rtlCol="0" anchor="ctr"/>
            <a:lstStyle/>
            <a:p>
              <a:pPr marL="0" indent="0" algn="l">
                <a:buNone/>
              </a:pPr>
              <a:r>
                <a:rPr lang="en-US" sz="1680" b="1" dirty="0">
                  <a:solidFill>
                    <a:srgbClr val="4ADE80"/>
                  </a:solidFill>
                  <a:latin typeface="Arial" pitchFamily="34" charset="0"/>
                  <a:ea typeface="Arial" pitchFamily="34" charset="-122"/>
                  <a:cs typeface="Arial" pitchFamily="34" charset="-120"/>
                </a:rPr>
                <a:t>Compare</a:t>
              </a:r>
              <a:endParaRPr lang="en-US" sz="1680" dirty="0"/>
            </a:p>
          </p:txBody>
        </p:sp>
        <p:sp>
          <p:nvSpPr>
            <p:cNvPr id="29" name="reveal-3:24:text"/>
            <p:cNvSpPr/>
            <p:nvPr/>
          </p:nvSpPr>
          <p:spPr>
            <a:xfrm>
              <a:off x="7927300" y="3047881"/>
              <a:ext cx="2311122"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Compare scores and configuration</a:t>
              </a:r>
              <a:endParaRPr lang="en-US" sz="1140" dirty="0"/>
            </a:p>
          </p:txBody>
        </p:sp>
        <p:sp>
          <p:nvSpPr>
            <p:cNvPr id="30" name="reveal-3:25:text"/>
            <p:cNvSpPr/>
            <p:nvPr/>
          </p:nvSpPr>
          <p:spPr>
            <a:xfrm>
              <a:off x="7927300" y="3243263"/>
              <a:ext cx="678418" cy="182880"/>
            </a:xfrm>
            <a:prstGeom prst="rect">
              <a:avLst/>
            </a:prstGeom>
            <a:noFill/>
            <a:ln/>
          </p:spPr>
          <p:txBody>
            <a:bodyPr wrap="none" lIns="0" tIns="0" rIns="0" bIns="0" rtlCol="0" anchor="ctr"/>
            <a:lstStyle/>
            <a:p>
              <a:pPr marL="0" indent="0" algn="l">
                <a:buNone/>
              </a:pPr>
              <a:r>
                <a:rPr lang="en-US" sz="1140" dirty="0">
                  <a:solidFill>
                    <a:srgbClr val="B0B0B0"/>
                  </a:solidFill>
                  <a:latin typeface="Arial" pitchFamily="34" charset="0"/>
                  <a:ea typeface="Arial" pitchFamily="34" charset="-122"/>
                  <a:cs typeface="Arial" pitchFamily="34" charset="-120"/>
                </a:rPr>
                <a:t>changes.</a:t>
              </a:r>
              <a:endParaRPr lang="en-US" sz="1140" dirty="0"/>
            </a:p>
          </p:txBody>
        </p:sp>
        <p:sp>
          <p:nvSpPr>
            <p:cNvPr id="31" name="reveal-3:26:shape"/>
            <p:cNvSpPr/>
            <p:nvPr/>
          </p:nvSpPr>
          <p:spPr>
            <a:xfrm>
              <a:off x="7927300" y="3652004"/>
              <a:ext cx="2809161" cy="54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32" name="reveal-3:27:text"/>
            <p:cNvSpPr/>
            <p:nvPr/>
          </p:nvSpPr>
          <p:spPr>
            <a:xfrm>
              <a:off x="8033980" y="3735824"/>
              <a:ext cx="2520910" cy="152400"/>
            </a:xfrm>
            <a:prstGeom prst="rect">
              <a:avLst/>
            </a:prstGeom>
            <a:noFill/>
            <a:ln/>
          </p:spPr>
          <p:txBody>
            <a:bodyPr wrap="none" lIns="0" tIns="0" rIns="0" bIns="0" rtlCol="0" anchor="ctr"/>
            <a:lstStyle/>
            <a:p>
              <a:pPr marL="0" indent="0" algn="l">
                <a:buNone/>
              </a:pPr>
              <a:r>
                <a:rPr lang="en-US" sz="900" b="1" dirty="0">
                  <a:solidFill>
                    <a:srgbClr val="DEDEDE"/>
                  </a:solidFill>
                  <a:latin typeface="Arial" pitchFamily="34" charset="0"/>
                  <a:ea typeface="Arial" pitchFamily="34" charset="-122"/>
                  <a:cs typeface="Arial" pitchFamily="34" charset="-120"/>
                </a:rPr>
                <a:t>Does quality improve, or hold at lower cost?</a:t>
              </a:r>
              <a:endParaRPr lang="en-US" sz="900" dirty="0"/>
            </a:p>
          </p:txBody>
        </p:sp>
      </p:grpSp>
      <p:sp>
        <p:nvSpPr>
          <p:cNvPr id="33" name="static:28: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34" name="static:29:text"/>
          <p:cNvSpPr/>
          <p:nvPr/>
        </p:nvSpPr>
        <p:spPr>
          <a:xfrm>
            <a:off x="7412831" y="6461760"/>
            <a:ext cx="1213009"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12</a:t>
            </a:r>
            <a:endParaRPr lang="en-US" sz="720" dirty="0"/>
          </a:p>
        </p:txBody>
      </p:sp>
      <p:sp>
        <p:nvSpPr>
          <p:cNvPr id="38" name="takeaway"/>
          <p:cNvSpPr txBox="1"/>
          <p:nvPr/>
        </p:nvSpPr>
        <p:spPr>
          <a:xfrm>
            <a:off x="975360" y="5650000"/>
            <a:ext cx="7400000" cy="600000"/>
          </a:xfrm>
          <a:prstGeom prst="rect">
            <a:avLst/>
          </a:prstGeom>
          <a:noFill/>
        </p:spPr>
        <p:txBody>
          <a:bodyPr wrap="square" lIns="0" rIns="0" tIns="0" bIns="0">
            <a:spAutoFit/>
          </a:bodyPr>
          <a:lstStyle/>
          <a:p>
            <a:r>
              <a:rPr sz="1800" b="1">
                <a:solidFill>
                  <a:srgbClr val="DEDEDE"/>
                </a:solidFill>
                <a:latin typeface="Arial"/>
              </a:rPr>
              <a:t>Grounding first. </a:t>
            </a:r>
            <a:r>
              <a:rPr sz="1800" b="1">
                <a:solidFill>
                  <a:srgbClr val="F87171"/>
                </a:solidFill>
                <a:latin typeface="Arial"/>
              </a:rPr>
              <a:t>Optimise how the agent uses tools and evidence.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Demo 5 - Agent Optimizer">
    <p:spTree>
      <p:nvGrpSpPr>
        <p:cNvPr id="1" name=""/>
        <p:cNvGrpSpPr/>
        <p:nvPr/>
      </p:nvGrpSpPr>
      <p:grpSpPr>
        <a:xfrm>
          <a:off x="0" y="0"/>
          <a:ext cx="0" cy="0"/>
          <a:chOff x="0" y="0"/>
          <a:chExt cx="0" cy="0"/>
        </a:xfrm>
      </p:grpSpPr>
      <p:sp>
        <p:nvSpPr>
          <p:cNvPr id="2" name="static:0:text"/>
          <p:cNvSpPr/>
          <p:nvPr/>
        </p:nvSpPr>
        <p:spPr>
          <a:xfrm>
            <a:off x="975360" y="2343626"/>
            <a:ext cx="811292" cy="190500"/>
          </a:xfrm>
          <a:prstGeom prst="rect">
            <a:avLst/>
          </a:prstGeom>
          <a:noFill/>
          <a:ln/>
        </p:spPr>
        <p:txBody>
          <a:bodyPr wrap="none" lIns="0" tIns="0" rIns="0" bIns="0" rtlCol="0" anchor="ctr"/>
          <a:lstStyle/>
          <a:p>
            <a:pPr marL="0" indent="0" algn="l">
              <a:buNone/>
            </a:pPr>
            <a:r>
              <a:rPr lang="en-US" sz="1200" b="1" kern="0" spc="180" dirty="0">
                <a:solidFill>
                  <a:srgbClr val="F87171"/>
                </a:solidFill>
                <a:latin typeface="Arial" pitchFamily="34" charset="0"/>
                <a:ea typeface="Arial" pitchFamily="34" charset="-122"/>
                <a:cs typeface="Arial" pitchFamily="34" charset="-120"/>
              </a:rPr>
              <a:t>DEMO 5</a:t>
            </a:r>
            <a:endParaRPr lang="en-US" sz="1200" dirty="0"/>
          </a:p>
        </p:txBody>
      </p:sp>
      <p:sp>
        <p:nvSpPr>
          <p:cNvPr id="3" name="static:1:text"/>
          <p:cNvSpPr/>
          <p:nvPr/>
        </p:nvSpPr>
        <p:spPr>
          <a:xfrm>
            <a:off x="975360" y="2640806"/>
            <a:ext cx="3743516" cy="624840"/>
          </a:xfrm>
          <a:prstGeom prst="rect">
            <a:avLst/>
          </a:prstGeom>
          <a:noFill/>
          <a:ln/>
        </p:spPr>
        <p:txBody>
          <a:bodyPr wrap="none" lIns="0" tIns="0" rIns="0" bIns="0" rtlCol="0" anchor="ctr"/>
          <a:lstStyle/>
          <a:p>
            <a:pPr marL="0" indent="0" algn="l">
              <a:buNone/>
            </a:pPr>
            <a:r>
              <a:rPr lang="en-US" sz="4080" b="1" kern="0" spc="-143" dirty="0">
                <a:solidFill>
                  <a:srgbClr val="DEDEDE"/>
                </a:solidFill>
                <a:latin typeface="Arial" pitchFamily="34" charset="0"/>
                <a:ea typeface="Arial" pitchFamily="34" charset="-122"/>
                <a:cs typeface="Arial" pitchFamily="34" charset="-120"/>
              </a:rPr>
              <a:t>Agent Optimizer</a:t>
            </a:r>
            <a:endParaRPr lang="en-US" sz="4080" dirty="0"/>
          </a:p>
        </p:txBody>
      </p:sp>
      <p:sp>
        <p:nvSpPr>
          <p:cNvPr id="4" name="static:2:text"/>
          <p:cNvSpPr/>
          <p:nvPr/>
        </p:nvSpPr>
        <p:spPr>
          <a:xfrm>
            <a:off x="975360" y="3387566"/>
            <a:ext cx="5626656"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The score went up. Now read the change: which parts</a:t>
            </a:r>
            <a:endParaRPr lang="en-US" sz="1620" dirty="0"/>
          </a:p>
        </p:txBody>
      </p:sp>
      <p:sp>
        <p:nvSpPr>
          <p:cNvPr id="5" name="static:3:text"/>
          <p:cNvSpPr/>
          <p:nvPr/>
        </p:nvSpPr>
        <p:spPr>
          <a:xfrm>
            <a:off x="975360" y="3665220"/>
            <a:ext cx="2113002"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are rules, and which are copied facts?</a:t>
            </a:r>
            <a:endParaRPr lang="en-US" sz="1620" dirty="0"/>
          </a:p>
        </p:txBody>
      </p:sp>
      <p:sp>
        <p:nvSpPr>
          <p:cNvPr id="6" name="static:4: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7" name="static:5:text"/>
          <p:cNvSpPr/>
          <p:nvPr/>
        </p:nvSpPr>
        <p:spPr>
          <a:xfrm>
            <a:off x="10458688" y="6461760"/>
            <a:ext cx="1215152"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13</a:t>
            </a:r>
            <a:endParaRPr lang="en-US" sz="7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Automate">
    <p:spTree>
      <p:nvGrpSpPr>
        <p:cNvPr id="1" name=""/>
        <p:cNvGrpSpPr/>
        <p:nvPr/>
      </p:nvGrpSpPr>
      <p:grpSpPr>
        <a:xfrm>
          <a:off x="0" y="0"/>
          <a:ext cx="0" cy="0"/>
          <a:chOff x="0" y="0"/>
          <a:chExt cx="0" cy="0"/>
        </a:xfrm>
      </p:grpSpPr>
      <p:sp>
        <p:nvSpPr>
          <p:cNvPr id="2" name="static:0:text"/>
          <p:cNvSpPr/>
          <p:nvPr/>
        </p:nvSpPr>
        <p:spPr>
          <a:xfrm>
            <a:off x="2727960" y="870109"/>
            <a:ext cx="2995255" cy="152400"/>
          </a:xfrm>
          <a:prstGeom prst="rect">
            <a:avLst/>
          </a:prstGeom>
          <a:noFill/>
          <a:ln/>
        </p:spPr>
        <p:txBody>
          <a:bodyPr wrap="none" lIns="0" tIns="0" rIns="0" bIns="0" rtlCol="0" anchor="ctr"/>
          <a:lstStyle/>
          <a:p>
            <a:pPr marL="0" indent="0" algn="l">
              <a:buNone/>
            </a:pPr>
            <a:r>
              <a:rPr lang="en-US" sz="960" b="1" kern="0" spc="154" dirty="0">
                <a:solidFill>
                  <a:srgbClr val="4DA6FF"/>
                </a:solidFill>
                <a:latin typeface="Arial" pitchFamily="34" charset="0"/>
                <a:ea typeface="Arial" pitchFamily="34" charset="-122"/>
                <a:cs typeface="Arial" pitchFamily="34" charset="-120"/>
              </a:rPr>
              <a:t>CONTINUOUS EVALUATION AND CI/CD</a:t>
            </a:r>
            <a:endParaRPr lang="en-US" sz="960" dirty="0"/>
          </a:p>
        </p:txBody>
      </p:sp>
      <p:sp>
        <p:nvSpPr>
          <p:cNvPr id="3" name="static:1:text"/>
          <p:cNvSpPr/>
          <p:nvPr/>
        </p:nvSpPr>
        <p:spPr>
          <a:xfrm>
            <a:off x="975360" y="1068229"/>
            <a:ext cx="6000000" cy="411480"/>
          </a:xfrm>
          <a:prstGeom prst="rect">
            <a:avLst/>
          </a:prstGeom>
          <a:noFill/>
          <a:ln/>
        </p:spPr>
        <p:txBody>
          <a:bodyPr wrap="none" lIns="0" tIns="0" rIns="0" bIns="0" rtlCol="0" anchor="ctr"/>
          <a:lstStyle/>
          <a:p>
            <a:pPr marL="0" indent="0" algn="l">
              <a:buNone/>
            </a:pPr>
            <a:r>
              <a:rPr lang="en-US" sz="2640" b="1" kern="0" spc="-92" dirty="0">
                <a:solidFill>
                  <a:srgbClr val="DEDEDE"/>
                </a:solidFill>
                <a:latin typeface="Arial" pitchFamily="34" charset="0"/>
                <a:ea typeface="Arial" pitchFamily="34" charset="-122"/>
                <a:cs typeface="Arial" pitchFamily="34" charset="-120"/>
              </a:rPr>
              <a:t>Three test sets, three jobs</a:t>
            </a:r>
            <a:endParaRPr lang="en-US" sz="2640" dirty="0"/>
          </a:p>
        </p:txBody>
      </p:sp>
      <p:grpSp>
        <p:nvGrpSpPr>
          <p:cNvPr id="35" name="Reveal 1"/>
          <p:cNvGrpSpPr/>
          <p:nvPr/>
        </p:nvGrpSpPr>
        <p:grpSpPr>
          <a:xfrm>
            <a:off x="975360" y="1868329"/>
            <a:ext cx="3220641" cy="3791902"/>
            <a:chOff x="975360" y="1868329"/>
            <a:chExt cx="3220641" cy="3791902"/>
          </a:xfrm>
        </p:grpSpPr>
        <p:sp>
          <p:nvSpPr>
            <p:cNvPr id="4" name="reveal-1:2:shape"/>
            <p:cNvSpPr/>
            <p:nvPr/>
          </p:nvSpPr>
          <p:spPr>
            <a:xfrm>
              <a:off x="975360" y="1868329"/>
              <a:ext cx="3220641"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5" name="reveal-1:2:shape:border-0"/>
            <p:cNvSpPr/>
            <p:nvPr/>
          </p:nvSpPr>
          <p:spPr>
            <a:xfrm>
              <a:off x="1066800" y="1883569"/>
              <a:ext cx="3037761" cy="0"/>
            </a:xfrm>
            <a:prstGeom prst="line">
              <a:avLst/>
            </a:prstGeom>
            <a:noFill/>
            <a:ln w="30480">
              <a:solidFill>
                <a:srgbClr val="4DA6FF"/>
              </a:solidFill>
              <a:prstDash val="solid"/>
              <a:headEnd type="none"/>
              <a:tailEnd type="none"/>
            </a:ln>
          </p:spPr>
          <p:txBody>
            <a:bodyPr/>
            <a:lstStyle/>
            <a:p>
              <a:endParaRPr lang="en-US"/>
            </a:p>
          </p:txBody>
        </p:sp>
        <p:sp>
          <p:nvSpPr>
            <p:cNvPr id="6" name="reveal-1:3:shape"/>
            <p:cNvSpPr/>
            <p:nvPr/>
          </p:nvSpPr>
          <p:spPr>
            <a:xfrm>
              <a:off x="1181100" y="2096929"/>
              <a:ext cx="411480" cy="411480"/>
            </a:xfrm>
            <a:prstGeom prst="roundRect">
              <a:avLst>
                <a:gd name="adj" fmla="val 25926"/>
              </a:avLst>
            </a:prstGeom>
            <a:solidFill>
              <a:srgbClr val="000000">
                <a:alpha val="0"/>
              </a:srgbClr>
            </a:solidFill>
            <a:ln w="15240">
              <a:solidFill>
                <a:srgbClr val="4DA6FF"/>
              </a:solidFill>
              <a:prstDash val="solid"/>
            </a:ln>
          </p:spPr>
          <p:txBody>
            <a:bodyPr/>
            <a:lstStyle/>
            <a:p>
              <a:endParaRPr lang="en-US"/>
            </a:p>
          </p:txBody>
        </p:sp>
        <p:sp>
          <p:nvSpPr>
            <p:cNvPr id="7" name="reveal-1:4:text"/>
            <p:cNvSpPr/>
            <p:nvPr/>
          </p:nvSpPr>
          <p:spPr>
            <a:xfrm>
              <a:off x="1181100" y="2207419"/>
              <a:ext cx="411480" cy="190500"/>
            </a:xfrm>
            <a:prstGeom prst="rect">
              <a:avLst/>
            </a:prstGeom>
            <a:noFill/>
            <a:ln/>
          </p:spPr>
          <p:txBody>
            <a:bodyPr wrap="square" lIns="0" tIns="0" rIns="0" bIns="0" rtlCol="0" anchor="ctr"/>
            <a:lstStyle/>
            <a:p>
              <a:pPr marL="0" indent="0" algn="ctr">
                <a:buNone/>
              </a:pPr>
              <a:r>
                <a:rPr lang="en-US" sz="1200" b="1" kern="0" spc="-24" dirty="0">
                  <a:solidFill>
                    <a:srgbClr val="4DA6FF"/>
                  </a:solidFill>
                  <a:latin typeface="Arial" pitchFamily="34" charset="0"/>
                  <a:ea typeface="Arial" pitchFamily="34" charset="-122"/>
                  <a:cs typeface="Arial" pitchFamily="34" charset="-120"/>
                </a:rPr>
                <a:t>D</a:t>
              </a:r>
              <a:endParaRPr lang="en-US" sz="1200" dirty="0"/>
            </a:p>
          </p:txBody>
        </p:sp>
        <p:sp>
          <p:nvSpPr>
            <p:cNvPr id="8" name="reveal-1:5:text"/>
            <p:cNvSpPr/>
            <p:nvPr/>
          </p:nvSpPr>
          <p:spPr>
            <a:xfrm>
              <a:off x="1181100" y="2698909"/>
              <a:ext cx="2809161" cy="266700"/>
            </a:xfrm>
            <a:prstGeom prst="rect">
              <a:avLst/>
            </a:prstGeom>
            <a:noFill/>
            <a:ln/>
          </p:spPr>
          <p:txBody>
            <a:bodyPr wrap="square" lIns="0" tIns="0" rIns="0" bIns="0" rtlCol="0" anchor="ctr"/>
            <a:lstStyle/>
            <a:p>
              <a:pPr marL="0" indent="0" algn="l">
                <a:buNone/>
              </a:pPr>
              <a:r>
                <a:rPr lang="en-US" sz="1680" b="1" dirty="0">
                  <a:solidFill>
                    <a:srgbClr val="4DA6FF"/>
                  </a:solidFill>
                  <a:latin typeface="Arial" pitchFamily="34" charset="0"/>
                  <a:ea typeface="Arial" pitchFamily="34" charset="-122"/>
                  <a:cs typeface="Arial" pitchFamily="34" charset="-120"/>
                </a:rPr>
                <a:t>Development</a:t>
              </a:r>
              <a:endParaRPr lang="en-US" sz="1680" dirty="0"/>
            </a:p>
          </p:txBody>
        </p:sp>
        <p:sp>
          <p:nvSpPr>
            <p:cNvPr id="9" name="reveal-1:6:text"/>
            <p:cNvSpPr/>
            <p:nvPr/>
          </p:nvSpPr>
          <p:spPr>
            <a:xfrm>
              <a:off x="1181100" y="3047881"/>
              <a:ext cx="2809161" cy="564123"/>
            </a:xfrm>
            <a:prstGeom prst="rect">
              <a:avLst/>
            </a:prstGeom>
            <a:noFill/>
            <a:ln/>
          </p:spPr>
          <p:txBody>
            <a:bodyPr wrap="square" lIns="0" tIns="0" rIns="0" bIns="0" rtlCol="0" anchor="t"/>
            <a:lstStyle/>
            <a:p>
              <a:pPr marL="0" indent="0" algn="l">
                <a:buNone/>
              </a:pPr>
              <a:r>
                <a:rPr lang="en-US" sz="1140" dirty="0">
                  <a:solidFill>
                    <a:srgbClr val="B0B0B0"/>
                  </a:solidFill>
                  <a:latin typeface="Arial" pitchFamily="34" charset="0"/>
                  <a:ea typeface="Arial" pitchFamily="34" charset="-122"/>
                  <a:cs typeface="Arial" pitchFamily="34" charset="-120"/>
                </a:rPr>
                <a:t>The optimizer trains on it.</a:t>
              </a:r>
              <a:endParaRPr lang="en-US" sz="1140" dirty="0"/>
            </a:p>
          </p:txBody>
        </p:sp>
        <p:sp>
          <p:nvSpPr>
            <p:cNvPr id="11" name="reveal-1:8:shape"/>
            <p:cNvSpPr/>
            <p:nvPr/>
          </p:nvSpPr>
          <p:spPr>
            <a:xfrm>
              <a:off x="1181100" y="3652004"/>
              <a:ext cx="2809161" cy="66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12" name="reveal-1:9:text"/>
            <p:cNvSpPr/>
            <p:nvPr/>
          </p:nvSpPr>
          <p:spPr>
            <a:xfrm>
              <a:off x="1287780" y="3732004"/>
              <a:ext cx="2595801" cy="508640"/>
            </a:xfrm>
            <a:prstGeom prst="rect">
              <a:avLst/>
            </a:prstGeom>
            <a:noFill/>
            <a:ln/>
          </p:spPr>
          <p:txBody>
            <a:bodyPr wrap="square" lIns="0" tIns="0" rIns="0" bIns="0" rtlCol="0" anchor="t"/>
            <a:lstStyle/>
            <a:p>
              <a:pPr marL="0" indent="0" algn="l">
                <a:buNone/>
              </a:pPr>
              <a:r>
                <a:rPr lang="en-US" sz="900" b="1" dirty="0">
                  <a:solidFill>
                    <a:srgbClr val="DEDEDE"/>
                  </a:solidFill>
                  <a:latin typeface="Arial" pitchFamily="34" charset="0"/>
                  <a:ea typeface="Arial" pitchFamily="34" charset="-122"/>
                  <a:cs typeface="Arial" pitchFamily="34" charset="-120"/>
                </a:rPr>
                <a:t>Runs on every pull request, as a small, quick subset.</a:t>
              </a:r>
              <a:endParaRPr lang="en-US" sz="900" dirty="0"/>
            </a:p>
          </p:txBody>
        </p:sp>
      </p:grpSp>
      <p:grpSp>
        <p:nvGrpSpPr>
          <p:cNvPr id="36" name="Reveal 2"/>
          <p:cNvGrpSpPr/>
          <p:nvPr/>
        </p:nvGrpSpPr>
        <p:grpSpPr>
          <a:xfrm>
            <a:off x="4348401" y="1868329"/>
            <a:ext cx="3220641" cy="3791902"/>
            <a:chOff x="4348401" y="1868329"/>
            <a:chExt cx="3220641" cy="3791902"/>
          </a:xfrm>
        </p:grpSpPr>
        <p:sp>
          <p:nvSpPr>
            <p:cNvPr id="13" name="reveal-2:10:shape"/>
            <p:cNvSpPr/>
            <p:nvPr/>
          </p:nvSpPr>
          <p:spPr>
            <a:xfrm>
              <a:off x="4348401" y="1868329"/>
              <a:ext cx="3220641" cy="3791902"/>
            </a:xfrm>
            <a:prstGeom prst="roundRect">
              <a:avLst>
                <a:gd name="adj" fmla="val 3785"/>
              </a:avLst>
            </a:prstGeom>
            <a:solidFill>
              <a:srgbClr val="292929"/>
            </a:solidFill>
            <a:ln w="7620">
              <a:solidFill>
                <a:srgbClr val="474747"/>
              </a:solidFill>
              <a:prstDash val="solid"/>
            </a:ln>
          </p:spPr>
          <p:txBody>
            <a:bodyPr/>
            <a:lstStyle/>
            <a:p>
              <a:endParaRPr lang="en-US"/>
            </a:p>
          </p:txBody>
        </p:sp>
        <p:sp>
          <p:nvSpPr>
            <p:cNvPr id="14" name="reveal-2:10:shape:border-0"/>
            <p:cNvSpPr/>
            <p:nvPr/>
          </p:nvSpPr>
          <p:spPr>
            <a:xfrm>
              <a:off x="4439841" y="1883569"/>
              <a:ext cx="3037761" cy="0"/>
            </a:xfrm>
            <a:prstGeom prst="line">
              <a:avLst/>
            </a:prstGeom>
            <a:noFill/>
            <a:ln w="30480">
              <a:solidFill>
                <a:srgbClr val="4ADE80"/>
              </a:solidFill>
              <a:prstDash val="solid"/>
              <a:headEnd type="none"/>
              <a:tailEnd type="none"/>
            </a:ln>
          </p:spPr>
          <p:txBody>
            <a:bodyPr/>
            <a:lstStyle/>
            <a:p>
              <a:endParaRPr lang="en-US"/>
            </a:p>
          </p:txBody>
        </p:sp>
        <p:sp>
          <p:nvSpPr>
            <p:cNvPr id="15" name="reveal-2:11:shape"/>
            <p:cNvSpPr/>
            <p:nvPr/>
          </p:nvSpPr>
          <p:spPr>
            <a:xfrm>
              <a:off x="4554141" y="2096929"/>
              <a:ext cx="411480" cy="411480"/>
            </a:xfrm>
            <a:prstGeom prst="roundRect">
              <a:avLst>
                <a:gd name="adj" fmla="val 25926"/>
              </a:avLst>
            </a:prstGeom>
            <a:solidFill>
              <a:srgbClr val="000000">
                <a:alpha val="0"/>
              </a:srgbClr>
            </a:solidFill>
            <a:ln w="15240">
              <a:solidFill>
                <a:srgbClr val="4ADE80"/>
              </a:solidFill>
              <a:prstDash val="solid"/>
            </a:ln>
          </p:spPr>
          <p:txBody>
            <a:bodyPr/>
            <a:lstStyle/>
            <a:p>
              <a:endParaRPr lang="en-US"/>
            </a:p>
          </p:txBody>
        </p:sp>
        <p:sp>
          <p:nvSpPr>
            <p:cNvPr id="16" name="reveal-2:12:text"/>
            <p:cNvSpPr/>
            <p:nvPr/>
          </p:nvSpPr>
          <p:spPr>
            <a:xfrm>
              <a:off x="4554141" y="2207419"/>
              <a:ext cx="411480" cy="190500"/>
            </a:xfrm>
            <a:prstGeom prst="rect">
              <a:avLst/>
            </a:prstGeom>
            <a:noFill/>
            <a:ln/>
          </p:spPr>
          <p:txBody>
            <a:bodyPr wrap="square" lIns="0" tIns="0" rIns="0" bIns="0" rtlCol="0" anchor="ctr"/>
            <a:lstStyle/>
            <a:p>
              <a:pPr marL="0" indent="0" algn="ctr">
                <a:buNone/>
              </a:pPr>
              <a:r>
                <a:rPr lang="en-US" sz="1200" b="1" kern="0" spc="-24" dirty="0">
                  <a:solidFill>
                    <a:srgbClr val="4ADE80"/>
                  </a:solidFill>
                  <a:latin typeface="Arial" pitchFamily="34" charset="0"/>
                  <a:ea typeface="Arial" pitchFamily="34" charset="-122"/>
                  <a:cs typeface="Arial" pitchFamily="34" charset="-120"/>
                </a:rPr>
                <a:t>H</a:t>
              </a:r>
              <a:endParaRPr lang="en-US" sz="1200" dirty="0"/>
            </a:p>
          </p:txBody>
        </p:sp>
        <p:sp>
          <p:nvSpPr>
            <p:cNvPr id="17" name="reveal-2:13:text"/>
            <p:cNvSpPr/>
            <p:nvPr/>
          </p:nvSpPr>
          <p:spPr>
            <a:xfrm>
              <a:off x="4554141" y="2698909"/>
              <a:ext cx="2809161" cy="266700"/>
            </a:xfrm>
            <a:prstGeom prst="rect">
              <a:avLst/>
            </a:prstGeom>
            <a:noFill/>
            <a:ln/>
          </p:spPr>
          <p:txBody>
            <a:bodyPr wrap="square" lIns="0" tIns="0" rIns="0" bIns="0" rtlCol="0" anchor="ctr"/>
            <a:lstStyle/>
            <a:p>
              <a:pPr marL="0" indent="0" algn="l">
                <a:buNone/>
              </a:pPr>
              <a:r>
                <a:rPr lang="en-US" sz="1680" b="1" dirty="0">
                  <a:solidFill>
                    <a:srgbClr val="4ADE80"/>
                  </a:solidFill>
                  <a:latin typeface="Arial" pitchFamily="34" charset="0"/>
                  <a:ea typeface="Arial" pitchFamily="34" charset="-122"/>
                  <a:cs typeface="Arial" pitchFamily="34" charset="-120"/>
                </a:rPr>
                <a:t>Holdout</a:t>
              </a:r>
              <a:endParaRPr lang="en-US" sz="1680" dirty="0"/>
            </a:p>
          </p:txBody>
        </p:sp>
        <p:sp>
          <p:nvSpPr>
            <p:cNvPr id="18" name="reveal-2:14:text"/>
            <p:cNvSpPr/>
            <p:nvPr/>
          </p:nvSpPr>
          <p:spPr>
            <a:xfrm>
              <a:off x="4554141" y="3047881"/>
              <a:ext cx="2809161" cy="564123"/>
            </a:xfrm>
            <a:prstGeom prst="rect">
              <a:avLst/>
            </a:prstGeom>
            <a:noFill/>
            <a:ln/>
          </p:spPr>
          <p:txBody>
            <a:bodyPr wrap="square" lIns="0" tIns="0" rIns="0" bIns="0" rtlCol="0" anchor="t"/>
            <a:lstStyle/>
            <a:p>
              <a:pPr marL="0" indent="0" algn="l">
                <a:buNone/>
              </a:pPr>
              <a:r>
                <a:rPr lang="en-US" sz="1140" dirty="0">
                  <a:solidFill>
                    <a:srgbClr val="B0B0B0"/>
                  </a:solidFill>
                  <a:latin typeface="Arial" pitchFamily="34" charset="0"/>
                  <a:ea typeface="Arial" pitchFamily="34" charset="-122"/>
                  <a:cs typeface="Arial" pitchFamily="34" charset="-120"/>
                </a:rPr>
                <a:t>The optimizer validates against it.</a:t>
              </a:r>
              <a:endParaRPr lang="en-US" sz="1140" dirty="0"/>
            </a:p>
          </p:txBody>
        </p:sp>
        <p:sp>
          <p:nvSpPr>
            <p:cNvPr id="20" name="reveal-2:16:shape"/>
            <p:cNvSpPr/>
            <p:nvPr/>
          </p:nvSpPr>
          <p:spPr>
            <a:xfrm>
              <a:off x="4554141" y="3652004"/>
              <a:ext cx="2809161" cy="66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21" name="reveal-2:17:text"/>
            <p:cNvSpPr/>
            <p:nvPr/>
          </p:nvSpPr>
          <p:spPr>
            <a:xfrm>
              <a:off x="4660821" y="3732004"/>
              <a:ext cx="2595801" cy="508640"/>
            </a:xfrm>
            <a:prstGeom prst="rect">
              <a:avLst/>
            </a:prstGeom>
            <a:noFill/>
            <a:ln/>
          </p:spPr>
          <p:txBody>
            <a:bodyPr wrap="square" lIns="0" tIns="0" rIns="0" bIns="0" rtlCol="0" anchor="t"/>
            <a:lstStyle/>
            <a:p>
              <a:pPr marL="0" indent="0" algn="l">
                <a:buNone/>
              </a:pPr>
              <a:r>
                <a:rPr lang="en-US" sz="900" b="1" dirty="0">
                  <a:solidFill>
                    <a:srgbClr val="DEDEDE"/>
                  </a:solidFill>
                  <a:latin typeface="Arial" pitchFamily="34" charset="0"/>
                  <a:ea typeface="Arial" pitchFamily="34" charset="-122"/>
                  <a:cs typeface="Arial" pitchFamily="34" charset="-120"/>
                </a:rPr>
                <a:t>Runs on merge to main.</a:t>
              </a:r>
              <a:endParaRPr lang="en-US" sz="900" dirty="0"/>
            </a:p>
          </p:txBody>
        </p:sp>
      </p:grpSp>
      <p:grpSp>
        <p:nvGrpSpPr>
          <p:cNvPr id="37" name="Reveal 3"/>
          <p:cNvGrpSpPr/>
          <p:nvPr/>
        </p:nvGrpSpPr>
        <p:grpSpPr>
          <a:xfrm>
            <a:off x="7721442" y="1868329"/>
            <a:ext cx="3220641" cy="3791902"/>
            <a:chOff x="7721442" y="1868329"/>
            <a:chExt cx="3220641" cy="3791902"/>
          </a:xfrm>
        </p:grpSpPr>
        <p:sp>
          <p:nvSpPr>
            <p:cNvPr id="23" name="reveal-3:19:shape"/>
            <p:cNvSpPr/>
            <p:nvPr/>
          </p:nvSpPr>
          <p:spPr>
            <a:xfrm>
              <a:off x="7721442" y="1868329"/>
              <a:ext cx="3220641"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24" name="reveal-3:19:shape:border-0"/>
            <p:cNvSpPr/>
            <p:nvPr/>
          </p:nvSpPr>
          <p:spPr>
            <a:xfrm>
              <a:off x="7812882" y="1883569"/>
              <a:ext cx="3037761" cy="0"/>
            </a:xfrm>
            <a:prstGeom prst="line">
              <a:avLst/>
            </a:prstGeom>
            <a:noFill/>
            <a:ln w="30480">
              <a:solidFill>
                <a:srgbClr val="FBBF24"/>
              </a:solidFill>
              <a:prstDash val="solid"/>
              <a:headEnd type="none"/>
              <a:tailEnd type="none"/>
            </a:ln>
          </p:spPr>
          <p:txBody>
            <a:bodyPr/>
            <a:lstStyle/>
            <a:p>
              <a:endParaRPr lang="en-US"/>
            </a:p>
          </p:txBody>
        </p:sp>
        <p:sp>
          <p:nvSpPr>
            <p:cNvPr id="25" name="reveal-3:20:shape"/>
            <p:cNvSpPr/>
            <p:nvPr/>
          </p:nvSpPr>
          <p:spPr>
            <a:xfrm>
              <a:off x="7927182" y="2096929"/>
              <a:ext cx="411480" cy="411480"/>
            </a:xfrm>
            <a:prstGeom prst="roundRect">
              <a:avLst>
                <a:gd name="adj" fmla="val 25926"/>
              </a:avLst>
            </a:prstGeom>
            <a:solidFill>
              <a:srgbClr val="000000">
                <a:alpha val="0"/>
              </a:srgbClr>
            </a:solidFill>
            <a:ln w="15240">
              <a:solidFill>
                <a:srgbClr val="FBBF24"/>
              </a:solidFill>
              <a:prstDash val="solid"/>
            </a:ln>
          </p:spPr>
          <p:txBody>
            <a:bodyPr/>
            <a:lstStyle/>
            <a:p>
              <a:endParaRPr lang="en-US"/>
            </a:p>
          </p:txBody>
        </p:sp>
        <p:sp>
          <p:nvSpPr>
            <p:cNvPr id="26" name="reveal-3:21:text"/>
            <p:cNvSpPr/>
            <p:nvPr/>
          </p:nvSpPr>
          <p:spPr>
            <a:xfrm>
              <a:off x="7927182" y="2207419"/>
              <a:ext cx="411480" cy="190500"/>
            </a:xfrm>
            <a:prstGeom prst="rect">
              <a:avLst/>
            </a:prstGeom>
            <a:noFill/>
            <a:ln/>
          </p:spPr>
          <p:txBody>
            <a:bodyPr wrap="square" lIns="0" tIns="0" rIns="0" bIns="0" rtlCol="0" anchor="ctr"/>
            <a:lstStyle/>
            <a:p>
              <a:pPr marL="0" indent="0" algn="ctr">
                <a:buNone/>
              </a:pPr>
              <a:r>
                <a:rPr lang="en-US" sz="1200" b="1" kern="0" spc="-24" dirty="0">
                  <a:solidFill>
                    <a:srgbClr val="FBBF24"/>
                  </a:solidFill>
                  <a:latin typeface="Arial" pitchFamily="34" charset="0"/>
                  <a:ea typeface="Arial" pitchFamily="34" charset="-122"/>
                  <a:cs typeface="Arial" pitchFamily="34" charset="-120"/>
                </a:rPr>
                <a:t>Δ</a:t>
              </a:r>
              <a:endParaRPr lang="en-US" sz="1200" dirty="0"/>
            </a:p>
          </p:txBody>
        </p:sp>
        <p:sp>
          <p:nvSpPr>
            <p:cNvPr id="27" name="reveal-3:22:text"/>
            <p:cNvSpPr/>
            <p:nvPr/>
          </p:nvSpPr>
          <p:spPr>
            <a:xfrm>
              <a:off x="7927182" y="2698909"/>
              <a:ext cx="2809161" cy="266700"/>
            </a:xfrm>
            <a:prstGeom prst="rect">
              <a:avLst/>
            </a:prstGeom>
            <a:noFill/>
            <a:ln/>
          </p:spPr>
          <p:txBody>
            <a:bodyPr wrap="square" lIns="0" tIns="0" rIns="0" bIns="0" rtlCol="0" anchor="ctr"/>
            <a:lstStyle/>
            <a:p>
              <a:pPr marL="0" indent="0" algn="l">
                <a:buNone/>
              </a:pPr>
              <a:r>
                <a:rPr lang="en-US" sz="1680" b="1" dirty="0">
                  <a:solidFill>
                    <a:srgbClr val="FBBF24"/>
                  </a:solidFill>
                  <a:latin typeface="Arial" pitchFamily="34" charset="0"/>
                  <a:ea typeface="Arial" pitchFamily="34" charset="-122"/>
                  <a:cs typeface="Arial" pitchFamily="34" charset="-120"/>
                </a:rPr>
                <a:t>Drift</a:t>
              </a:r>
              <a:endParaRPr lang="en-US" sz="1680" dirty="0"/>
            </a:p>
          </p:txBody>
        </p:sp>
        <p:sp>
          <p:nvSpPr>
            <p:cNvPr id="28" name="reveal-3:23:text"/>
            <p:cNvSpPr/>
            <p:nvPr/>
          </p:nvSpPr>
          <p:spPr>
            <a:xfrm>
              <a:off x="7927182" y="3047881"/>
              <a:ext cx="2809161" cy="564123"/>
            </a:xfrm>
            <a:prstGeom prst="rect">
              <a:avLst/>
            </a:prstGeom>
            <a:noFill/>
            <a:ln/>
          </p:spPr>
          <p:txBody>
            <a:bodyPr wrap="square" lIns="0" tIns="0" rIns="0" bIns="0" rtlCol="0" anchor="t"/>
            <a:lstStyle/>
            <a:p>
              <a:pPr marL="0" indent="0" algn="l">
                <a:buNone/>
              </a:pPr>
              <a:r>
                <a:rPr lang="en-US" sz="1140" dirty="0">
                  <a:solidFill>
                    <a:srgbClr val="B0B0B0"/>
                  </a:solidFill>
                  <a:latin typeface="Arial" pitchFamily="34" charset="0"/>
                  <a:ea typeface="Arial" pitchFamily="34" charset="-122"/>
                  <a:cs typeface="Arial" pitchFamily="34" charset="-120"/>
                </a:rPr>
                <a:t>Never shown to the optimizer. The right answers change with the date.</a:t>
              </a:r>
              <a:endParaRPr lang="en-US" sz="1140" dirty="0"/>
            </a:p>
          </p:txBody>
        </p:sp>
        <p:sp>
          <p:nvSpPr>
            <p:cNvPr id="30" name="reveal-3:25:shape"/>
            <p:cNvSpPr/>
            <p:nvPr/>
          </p:nvSpPr>
          <p:spPr>
            <a:xfrm>
              <a:off x="7927182" y="3652004"/>
              <a:ext cx="2809161" cy="66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31" name="reveal-3:26:text"/>
            <p:cNvSpPr/>
            <p:nvPr/>
          </p:nvSpPr>
          <p:spPr>
            <a:xfrm>
              <a:off x="8033862" y="3732004"/>
              <a:ext cx="2595801" cy="508640"/>
            </a:xfrm>
            <a:prstGeom prst="rect">
              <a:avLst/>
            </a:prstGeom>
            <a:noFill/>
            <a:ln/>
          </p:spPr>
          <p:txBody>
            <a:bodyPr wrap="square" lIns="0" tIns="0" rIns="0" bIns="0" rtlCol="0" anchor="t"/>
            <a:lstStyle/>
            <a:p>
              <a:pPr marL="0" indent="0" algn="l">
                <a:buNone/>
              </a:pPr>
              <a:r>
                <a:rPr lang="en-US" sz="900" b="1" dirty="0">
                  <a:solidFill>
                    <a:srgbClr val="DEDEDE"/>
                  </a:solidFill>
                  <a:latin typeface="Arial" pitchFamily="34" charset="0"/>
                  <a:ea typeface="Arial" pitchFamily="34" charset="-122"/>
                  <a:cs typeface="Arial" pitchFamily="34" charset="-120"/>
                </a:rPr>
                <a:t>Runs before a candidate is promoted.</a:t>
              </a:r>
              <a:endParaRPr lang="en-US" sz="900" dirty="0"/>
            </a:p>
          </p:txBody>
        </p:sp>
      </p:grpSp>
      <p:sp>
        <p:nvSpPr>
          <p:cNvPr id="33" name="static:28: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34" name="static:29:text"/>
          <p:cNvSpPr/>
          <p:nvPr/>
        </p:nvSpPr>
        <p:spPr>
          <a:xfrm>
            <a:off x="10457140" y="6461760"/>
            <a:ext cx="121670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14</a:t>
            </a:r>
            <a:endParaRPr lang="en-US" sz="720" dirty="0"/>
          </a:p>
        </p:txBody>
      </p:sp>
      <p:sp>
        <p:nvSpPr>
          <p:cNvPr id="38" name="takeaway"/>
          <p:cNvSpPr txBox="1"/>
          <p:nvPr/>
        </p:nvSpPr>
        <p:spPr>
          <a:xfrm>
            <a:off x="975360" y="5800000"/>
            <a:ext cx="9965841" cy="400000"/>
          </a:xfrm>
          <a:prstGeom prst="rect">
            <a:avLst/>
          </a:prstGeom>
          <a:noFill/>
        </p:spPr>
        <p:txBody>
          <a:bodyPr wrap="square" lIns="0" rIns="0" tIns="0" bIns="0">
            <a:spAutoFit/>
          </a:bodyPr>
          <a:lstStyle/>
          <a:p>
            <a:r>
              <a:rPr sz="1800" b="1">
                <a:solidFill>
                  <a:srgbClr val="DEDEDE"/>
                </a:solidFill>
                <a:latin typeface="Arial"/>
              </a:rPr>
              <a:t>Homework, practice exam, </a:t>
            </a:r>
            <a:r>
              <a:rPr sz="1800" b="1">
                <a:solidFill>
                  <a:srgbClr val="4DA6FF"/>
                </a:solidFill>
                <a:latin typeface="Arial"/>
              </a:rPr>
              <a:t>surprise exam</a:t>
            </a:r>
            <a:r>
              <a:rPr sz="1800" b="1">
                <a:solidFill>
                  <a:srgbClr val="DEDEDE"/>
                </a:solidFill>
                <a:latin typeface="Aria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0:text"/>
          <p:cNvSpPr/>
          <p:nvPr/>
        </p:nvSpPr>
        <p:spPr>
          <a:xfrm>
            <a:off x="2727960" y="870109"/>
            <a:ext cx="2995255" cy="152400"/>
          </a:xfrm>
          <a:prstGeom prst="rect">
            <a:avLst/>
          </a:prstGeom>
          <a:noFill/>
          <a:ln/>
        </p:spPr>
        <p:txBody>
          <a:bodyPr wrap="none" lIns="0" tIns="0" rIns="0" bIns="0" rtlCol="0" anchor="ctr"/>
          <a:lstStyle/>
          <a:p>
            <a:pPr marL="0" indent="0" algn="l">
              <a:buNone/>
            </a:pPr>
            <a:r>
              <a:rPr lang="en-US" sz="960" b="1" kern="0" spc="154" dirty="0">
                <a:solidFill>
                  <a:srgbClr val="4DA6FF"/>
                </a:solidFill>
                <a:latin typeface="Arial" pitchFamily="34" charset="0"/>
                <a:ea typeface="Arial" pitchFamily="34" charset="-122"/>
                <a:cs typeface="Arial" pitchFamily="34" charset="-120"/>
              </a:rPr>
              <a:t>RELEASE GATES FOR AGENTS</a:t>
            </a:r>
            <a:endParaRPr lang="en-US" sz="960" dirty="0"/>
          </a:p>
        </p:txBody>
      </p:sp>
      <p:sp>
        <p:nvSpPr>
          <p:cNvPr id="3" name="static:1:text"/>
          <p:cNvSpPr/>
          <p:nvPr/>
        </p:nvSpPr>
        <p:spPr>
          <a:xfrm>
            <a:off x="975360" y="1068229"/>
            <a:ext cx="6000000" cy="411480"/>
          </a:xfrm>
          <a:prstGeom prst="rect">
            <a:avLst/>
          </a:prstGeom>
          <a:noFill/>
          <a:ln/>
        </p:spPr>
        <p:txBody>
          <a:bodyPr wrap="none" lIns="0" tIns="0" rIns="0" bIns="0" rtlCol="0" anchor="ctr"/>
          <a:lstStyle/>
          <a:p>
            <a:pPr marL="0" indent="0" algn="l">
              <a:buNone/>
            </a:pPr>
            <a:r>
              <a:rPr lang="en-US" sz="2640" b="1" kern="0" spc="-92" dirty="0">
                <a:solidFill>
                  <a:srgbClr val="DEDEDE"/>
                </a:solidFill>
                <a:latin typeface="Arial" pitchFamily="34" charset="0"/>
                <a:ea typeface="Arial" pitchFamily="34" charset="-122"/>
                <a:cs typeface="Arial" pitchFamily="34" charset="-120"/>
              </a:rPr>
              <a:t>What the gate checks</a:t>
            </a:r>
            <a:endParaRPr lang="en-US" sz="2640" dirty="0"/>
          </a:p>
        </p:txBody>
      </p:sp>
      <p:grpSp>
        <p:nvGrpSpPr>
          <p:cNvPr id="35" name="Reveal 1"/>
          <p:cNvGrpSpPr/>
          <p:nvPr/>
        </p:nvGrpSpPr>
        <p:grpSpPr>
          <a:xfrm>
            <a:off x="975360" y="1868329"/>
            <a:ext cx="2377160" cy="3791902"/>
            <a:chOff x="975360" y="1868329"/>
            <a:chExt cx="2377160" cy="3791902"/>
          </a:xfrm>
        </p:grpSpPr>
        <p:sp>
          <p:nvSpPr>
            <p:cNvPr id="4" name="reveal-1:2:shape"/>
            <p:cNvSpPr/>
            <p:nvPr/>
          </p:nvSpPr>
          <p:spPr>
            <a:xfrm>
              <a:off x="975360" y="1868329"/>
              <a:ext cx="2377160"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5" name="reveal-1:2:shape:border-0"/>
            <p:cNvSpPr/>
            <p:nvPr/>
          </p:nvSpPr>
          <p:spPr>
            <a:xfrm>
              <a:off x="1066800" y="1883569"/>
              <a:ext cx="2194280" cy="0"/>
            </a:xfrm>
            <a:prstGeom prst="line">
              <a:avLst/>
            </a:prstGeom>
            <a:noFill/>
            <a:ln w="30480">
              <a:solidFill>
                <a:srgbClr val="4DA6FF"/>
              </a:solidFill>
              <a:prstDash val="solid"/>
              <a:headEnd type="none"/>
              <a:tailEnd type="none"/>
            </a:ln>
          </p:spPr>
          <p:txBody>
            <a:bodyPr/>
            <a:lstStyle/>
            <a:p>
              <a:endParaRPr lang="en-US"/>
            </a:p>
          </p:txBody>
        </p:sp>
        <p:sp>
          <p:nvSpPr>
            <p:cNvPr id="6" name="reveal-1:3:shape"/>
            <p:cNvSpPr/>
            <p:nvPr/>
          </p:nvSpPr>
          <p:spPr>
            <a:xfrm>
              <a:off x="1181100" y="2096929"/>
              <a:ext cx="411480" cy="411480"/>
            </a:xfrm>
            <a:prstGeom prst="roundRect">
              <a:avLst>
                <a:gd name="adj" fmla="val 25926"/>
              </a:avLst>
            </a:prstGeom>
            <a:solidFill>
              <a:srgbClr val="000000">
                <a:alpha val="0"/>
              </a:srgbClr>
            </a:solidFill>
            <a:ln w="15240">
              <a:solidFill>
                <a:srgbClr val="4DA6FF"/>
              </a:solidFill>
              <a:prstDash val="solid"/>
            </a:ln>
          </p:spPr>
          <p:txBody>
            <a:bodyPr/>
            <a:lstStyle/>
            <a:p>
              <a:endParaRPr lang="en-US"/>
            </a:p>
          </p:txBody>
        </p:sp>
        <p:sp>
          <p:nvSpPr>
            <p:cNvPr id="7" name="reveal-1:4:text"/>
            <p:cNvSpPr/>
            <p:nvPr/>
          </p:nvSpPr>
          <p:spPr>
            <a:xfrm>
              <a:off x="1181100" y="2207419"/>
              <a:ext cx="411480" cy="190500"/>
            </a:xfrm>
            <a:prstGeom prst="rect">
              <a:avLst/>
            </a:prstGeom>
            <a:noFill/>
            <a:ln/>
          </p:spPr>
          <p:txBody>
            <a:bodyPr wrap="square" lIns="0" tIns="0" rIns="0" bIns="0" rtlCol="0" anchor="ctr"/>
            <a:lstStyle/>
            <a:p>
              <a:pPr marL="0" indent="0" algn="ctr">
                <a:buNone/>
              </a:pPr>
              <a:r>
                <a:rPr lang="en-US" sz="1200" b="1" kern="0" spc="-24" dirty="0">
                  <a:solidFill>
                    <a:srgbClr val="4DA6FF"/>
                  </a:solidFill>
                  <a:latin typeface="Arial" pitchFamily="34" charset="0"/>
                  <a:ea typeface="Arial" pitchFamily="34" charset="-122"/>
                  <a:cs typeface="Arial" pitchFamily="34" charset="-120"/>
                </a:rPr>
                <a:t>1</a:t>
              </a:r>
              <a:endParaRPr lang="en-US" sz="1200" dirty="0"/>
            </a:p>
          </p:txBody>
        </p:sp>
        <p:sp>
          <p:nvSpPr>
            <p:cNvPr id="8" name="reveal-1:5:text"/>
            <p:cNvSpPr/>
            <p:nvPr/>
          </p:nvSpPr>
          <p:spPr>
            <a:xfrm>
              <a:off x="1181100" y="2698909"/>
              <a:ext cx="1965680" cy="266700"/>
            </a:xfrm>
            <a:prstGeom prst="rect">
              <a:avLst/>
            </a:prstGeom>
            <a:noFill/>
            <a:ln/>
          </p:spPr>
          <p:txBody>
            <a:bodyPr wrap="square" lIns="0" tIns="0" rIns="0" bIns="0" rtlCol="0" anchor="ctr"/>
            <a:lstStyle/>
            <a:p>
              <a:pPr marL="0" indent="0" algn="l">
                <a:buNone/>
              </a:pPr>
              <a:r>
                <a:rPr lang="en-US" sz="1440" b="1" dirty="0">
                  <a:solidFill>
                    <a:srgbClr val="4DA6FF"/>
                  </a:solidFill>
                  <a:latin typeface="Arial" pitchFamily="34" charset="0"/>
                  <a:ea typeface="Arial" pitchFamily="34" charset="-122"/>
                  <a:cs typeface="Arial" pitchFamily="34" charset="-120"/>
                </a:rPr>
                <a:t>Facts in the prompt</a:t>
              </a:r>
              <a:endParaRPr lang="en-US" sz="1440" dirty="0"/>
            </a:p>
          </p:txBody>
        </p:sp>
        <p:sp>
          <p:nvSpPr>
            <p:cNvPr id="9" name="reveal-1:6:text"/>
            <p:cNvSpPr/>
            <p:nvPr/>
          </p:nvSpPr>
          <p:spPr>
            <a:xfrm>
              <a:off x="1181100" y="3047881"/>
              <a:ext cx="1965680" cy="764123"/>
            </a:xfrm>
            <a:prstGeom prst="rect">
              <a:avLst/>
            </a:prstGeom>
            <a:noFill/>
            <a:ln/>
          </p:spPr>
          <p:txBody>
            <a:bodyPr wrap="square" lIns="0" tIns="0" rIns="0" bIns="0" rtlCol="0" anchor="t"/>
            <a:lstStyle/>
            <a:p>
              <a:pPr marL="0" indent="0" algn="l">
                <a:buNone/>
              </a:pPr>
              <a:r>
                <a:rPr lang="en-US" sz="1140" dirty="0">
                  <a:solidFill>
                    <a:srgbClr val="B0B0B0"/>
                  </a:solidFill>
                  <a:latin typeface="Arial" pitchFamily="34" charset="0"/>
                  <a:ea typeface="Arial" pitchFamily="34" charset="-122"/>
                  <a:cs typeface="Arial" pitchFamily="34" charset="-120"/>
                </a:rPr>
                <a:t>Did the candidate copy amounts, dates or names into its instructions?</a:t>
              </a:r>
              <a:endParaRPr lang="en-US" sz="1140" dirty="0"/>
            </a:p>
          </p:txBody>
        </p:sp>
        <p:sp>
          <p:nvSpPr>
            <p:cNvPr id="11" name="reveal-1:8:shape"/>
            <p:cNvSpPr/>
            <p:nvPr/>
          </p:nvSpPr>
          <p:spPr>
            <a:xfrm>
              <a:off x="1181100" y="3852004"/>
              <a:ext cx="1965680" cy="78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12" name="reveal-1:9:text"/>
            <p:cNvSpPr/>
            <p:nvPr/>
          </p:nvSpPr>
          <p:spPr>
            <a:xfrm>
              <a:off x="1287780" y="3932004"/>
              <a:ext cx="1752320" cy="628640"/>
            </a:xfrm>
            <a:prstGeom prst="rect">
              <a:avLst/>
            </a:prstGeom>
            <a:noFill/>
            <a:ln/>
          </p:spPr>
          <p:txBody>
            <a:bodyPr wrap="square" lIns="0" tIns="0" rIns="0" bIns="0" rtlCol="0" anchor="t"/>
            <a:lstStyle/>
            <a:p>
              <a:pPr marL="0" indent="0" algn="l">
                <a:buNone/>
              </a:pPr>
              <a:r>
                <a:rPr lang="en-US" sz="900" b="1" dirty="0">
                  <a:solidFill>
                    <a:srgbClr val="DEDEDE"/>
                  </a:solidFill>
                  <a:latin typeface="Arial" pitchFamily="34" charset="0"/>
                  <a:ea typeface="Arial" pitchFamily="34" charset="-122"/>
                  <a:cs typeface="Arial" pitchFamily="34" charset="-120"/>
                </a:rPr>
                <a:t>Seconds. No LLM needed.</a:t>
              </a:r>
              <a:endParaRPr lang="en-US" sz="900" dirty="0"/>
            </a:p>
          </p:txBody>
        </p:sp>
      </p:grpSp>
      <p:grpSp>
        <p:nvGrpSpPr>
          <p:cNvPr id="36" name="Reveal 2"/>
          <p:cNvGrpSpPr/>
          <p:nvPr/>
        </p:nvGrpSpPr>
        <p:grpSpPr>
          <a:xfrm>
            <a:off x="3504920" y="1868329"/>
            <a:ext cx="2377160" cy="3791902"/>
            <a:chOff x="3504920" y="1868329"/>
            <a:chExt cx="2377160" cy="3791902"/>
          </a:xfrm>
        </p:grpSpPr>
        <p:sp>
          <p:nvSpPr>
            <p:cNvPr id="13" name="reveal-2:10:shape"/>
            <p:cNvSpPr/>
            <p:nvPr/>
          </p:nvSpPr>
          <p:spPr>
            <a:xfrm>
              <a:off x="3504920" y="1868329"/>
              <a:ext cx="2377160" cy="3791902"/>
            </a:xfrm>
            <a:prstGeom prst="roundRect">
              <a:avLst>
                <a:gd name="adj" fmla="val 3785"/>
              </a:avLst>
            </a:prstGeom>
            <a:solidFill>
              <a:srgbClr val="292929"/>
            </a:solidFill>
            <a:ln w="7620">
              <a:solidFill>
                <a:srgbClr val="474747"/>
              </a:solidFill>
              <a:prstDash val="solid"/>
            </a:ln>
          </p:spPr>
          <p:txBody>
            <a:bodyPr/>
            <a:lstStyle/>
            <a:p>
              <a:endParaRPr lang="en-US"/>
            </a:p>
          </p:txBody>
        </p:sp>
        <p:sp>
          <p:nvSpPr>
            <p:cNvPr id="14" name="reveal-2:10:shape:border-0"/>
            <p:cNvSpPr/>
            <p:nvPr/>
          </p:nvSpPr>
          <p:spPr>
            <a:xfrm>
              <a:off x="3596360" y="1883569"/>
              <a:ext cx="2194280" cy="0"/>
            </a:xfrm>
            <a:prstGeom prst="line">
              <a:avLst/>
            </a:prstGeom>
            <a:noFill/>
            <a:ln w="30480">
              <a:solidFill>
                <a:srgbClr val="4ADE80"/>
              </a:solidFill>
              <a:prstDash val="solid"/>
              <a:headEnd type="none"/>
              <a:tailEnd type="none"/>
            </a:ln>
          </p:spPr>
          <p:txBody>
            <a:bodyPr/>
            <a:lstStyle/>
            <a:p>
              <a:endParaRPr lang="en-US"/>
            </a:p>
          </p:txBody>
        </p:sp>
        <p:sp>
          <p:nvSpPr>
            <p:cNvPr id="15" name="reveal-2:11:shape"/>
            <p:cNvSpPr/>
            <p:nvPr/>
          </p:nvSpPr>
          <p:spPr>
            <a:xfrm>
              <a:off x="3710660" y="2096929"/>
              <a:ext cx="411480" cy="411480"/>
            </a:xfrm>
            <a:prstGeom prst="roundRect">
              <a:avLst>
                <a:gd name="adj" fmla="val 25926"/>
              </a:avLst>
            </a:prstGeom>
            <a:solidFill>
              <a:srgbClr val="000000">
                <a:alpha val="0"/>
              </a:srgbClr>
            </a:solidFill>
            <a:ln w="15240">
              <a:solidFill>
                <a:srgbClr val="4ADE80"/>
              </a:solidFill>
              <a:prstDash val="solid"/>
            </a:ln>
          </p:spPr>
          <p:txBody>
            <a:bodyPr/>
            <a:lstStyle/>
            <a:p>
              <a:endParaRPr lang="en-US"/>
            </a:p>
          </p:txBody>
        </p:sp>
        <p:sp>
          <p:nvSpPr>
            <p:cNvPr id="16" name="reveal-2:12:text"/>
            <p:cNvSpPr/>
            <p:nvPr/>
          </p:nvSpPr>
          <p:spPr>
            <a:xfrm>
              <a:off x="3710660" y="2207419"/>
              <a:ext cx="411480" cy="190500"/>
            </a:xfrm>
            <a:prstGeom prst="rect">
              <a:avLst/>
            </a:prstGeom>
            <a:noFill/>
            <a:ln/>
          </p:spPr>
          <p:txBody>
            <a:bodyPr wrap="square" lIns="0" tIns="0" rIns="0" bIns="0" rtlCol="0" anchor="ctr"/>
            <a:lstStyle/>
            <a:p>
              <a:pPr marL="0" indent="0" algn="ctr">
                <a:buNone/>
              </a:pPr>
              <a:r>
                <a:rPr lang="en-US" sz="1200" b="1" kern="0" spc="-24" dirty="0">
                  <a:solidFill>
                    <a:srgbClr val="4ADE80"/>
                  </a:solidFill>
                  <a:latin typeface="Arial" pitchFamily="34" charset="0"/>
                  <a:ea typeface="Arial" pitchFamily="34" charset="-122"/>
                  <a:cs typeface="Arial" pitchFamily="34" charset="-120"/>
                </a:rPr>
                <a:t>2</a:t>
              </a:r>
              <a:endParaRPr lang="en-US" sz="1200" dirty="0"/>
            </a:p>
          </p:txBody>
        </p:sp>
        <p:sp>
          <p:nvSpPr>
            <p:cNvPr id="17" name="reveal-2:13:text"/>
            <p:cNvSpPr/>
            <p:nvPr/>
          </p:nvSpPr>
          <p:spPr>
            <a:xfrm>
              <a:off x="3710660" y="2698909"/>
              <a:ext cx="1965680" cy="266700"/>
            </a:xfrm>
            <a:prstGeom prst="rect">
              <a:avLst/>
            </a:prstGeom>
            <a:noFill/>
            <a:ln/>
          </p:spPr>
          <p:txBody>
            <a:bodyPr wrap="square" lIns="0" tIns="0" rIns="0" bIns="0" rtlCol="0" anchor="ctr"/>
            <a:lstStyle/>
            <a:p>
              <a:pPr marL="0" indent="0" algn="l">
                <a:buNone/>
              </a:pPr>
              <a:r>
                <a:rPr lang="en-US" sz="1440" b="1" dirty="0">
                  <a:solidFill>
                    <a:srgbClr val="4ADE80"/>
                  </a:solidFill>
                  <a:latin typeface="Arial" pitchFamily="34" charset="0"/>
                  <a:ea typeface="Arial" pitchFamily="34" charset="-122"/>
                  <a:cs typeface="Arial" pitchFamily="34" charset="-120"/>
                </a:rPr>
                <a:t>Change vs baseline</a:t>
              </a:r>
              <a:endParaRPr lang="en-US" sz="1440" dirty="0"/>
            </a:p>
          </p:txBody>
        </p:sp>
        <p:sp>
          <p:nvSpPr>
            <p:cNvPr id="18" name="reveal-2:14:text"/>
            <p:cNvSpPr/>
            <p:nvPr/>
          </p:nvSpPr>
          <p:spPr>
            <a:xfrm>
              <a:off x="3710660" y="3047881"/>
              <a:ext cx="1965680" cy="764123"/>
            </a:xfrm>
            <a:prstGeom prst="rect">
              <a:avLst/>
            </a:prstGeom>
            <a:noFill/>
            <a:ln/>
          </p:spPr>
          <p:txBody>
            <a:bodyPr wrap="square" lIns="0" tIns="0" rIns="0" bIns="0" rtlCol="0" anchor="t"/>
            <a:lstStyle/>
            <a:p>
              <a:pPr marL="0" indent="0" algn="l">
                <a:buNone/>
              </a:pPr>
              <a:r>
                <a:rPr lang="en-US" sz="1140" dirty="0">
                  <a:solidFill>
                    <a:srgbClr val="B0B0B0"/>
                  </a:solidFill>
                  <a:latin typeface="Arial" pitchFamily="34" charset="0"/>
                  <a:ea typeface="Arial" pitchFamily="34" charset="-122"/>
                  <a:cs typeface="Arial" pitchFamily="34" charset="-120"/>
                </a:rPr>
                <a:t>Fail on a drop bigger than the noise, not below a fixed number.</a:t>
              </a:r>
              <a:endParaRPr lang="en-US" sz="1140" dirty="0"/>
            </a:p>
          </p:txBody>
        </p:sp>
        <p:sp>
          <p:nvSpPr>
            <p:cNvPr id="20" name="reveal-2:16:shape"/>
            <p:cNvSpPr/>
            <p:nvPr/>
          </p:nvSpPr>
          <p:spPr>
            <a:xfrm>
              <a:off x="3710660" y="3852004"/>
              <a:ext cx="1965680" cy="78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21" name="reveal-2:17:text"/>
            <p:cNvSpPr/>
            <p:nvPr/>
          </p:nvSpPr>
          <p:spPr>
            <a:xfrm>
              <a:off x="3817340" y="3932004"/>
              <a:ext cx="1752320" cy="628640"/>
            </a:xfrm>
            <a:prstGeom prst="rect">
              <a:avLst/>
            </a:prstGeom>
            <a:noFill/>
            <a:ln/>
          </p:spPr>
          <p:txBody>
            <a:bodyPr wrap="square" lIns="0" tIns="0" rIns="0" bIns="0" rtlCol="0" anchor="t"/>
            <a:lstStyle/>
            <a:p>
              <a:pPr marL="0" indent="0" algn="l">
                <a:buNone/>
              </a:pPr>
              <a:r>
                <a:rPr lang="en-US" sz="900" b="1" dirty="0">
                  <a:solidFill>
                    <a:srgbClr val="DEDEDE"/>
                  </a:solidFill>
                  <a:latin typeface="Arial" pitchFamily="34" charset="0"/>
                  <a:ea typeface="Arial" pitchFamily="34" charset="-122"/>
                  <a:cs typeface="Arial" pitchFamily="34" charset="-120"/>
                </a:rPr>
                <a:t>Foundry treats changes under 0.03 as noise.</a:t>
              </a:r>
              <a:endParaRPr lang="en-US" sz="900" dirty="0"/>
            </a:p>
          </p:txBody>
        </p:sp>
      </p:grpSp>
      <p:grpSp>
        <p:nvGrpSpPr>
          <p:cNvPr id="37" name="Reveal 3"/>
          <p:cNvGrpSpPr/>
          <p:nvPr/>
        </p:nvGrpSpPr>
        <p:grpSpPr>
          <a:xfrm>
            <a:off x="6034480" y="1868329"/>
            <a:ext cx="2377160" cy="3791902"/>
            <a:chOff x="6034480" y="1868329"/>
            <a:chExt cx="2377160" cy="3791902"/>
          </a:xfrm>
        </p:grpSpPr>
        <p:sp>
          <p:nvSpPr>
            <p:cNvPr id="23" name="reveal-3:19:shape"/>
            <p:cNvSpPr/>
            <p:nvPr/>
          </p:nvSpPr>
          <p:spPr>
            <a:xfrm>
              <a:off x="6034480" y="1868329"/>
              <a:ext cx="2377160"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24" name="reveal-3:19:shape:border-0"/>
            <p:cNvSpPr/>
            <p:nvPr/>
          </p:nvSpPr>
          <p:spPr>
            <a:xfrm>
              <a:off x="6125920" y="1883569"/>
              <a:ext cx="2194280" cy="0"/>
            </a:xfrm>
            <a:prstGeom prst="line">
              <a:avLst/>
            </a:prstGeom>
            <a:noFill/>
            <a:ln w="30480">
              <a:solidFill>
                <a:srgbClr val="FBBF24"/>
              </a:solidFill>
              <a:prstDash val="solid"/>
              <a:headEnd type="none"/>
              <a:tailEnd type="none"/>
            </a:ln>
          </p:spPr>
          <p:txBody>
            <a:bodyPr/>
            <a:lstStyle/>
            <a:p>
              <a:endParaRPr lang="en-US"/>
            </a:p>
          </p:txBody>
        </p:sp>
        <p:sp>
          <p:nvSpPr>
            <p:cNvPr id="25" name="reveal-3:20:shape"/>
            <p:cNvSpPr/>
            <p:nvPr/>
          </p:nvSpPr>
          <p:spPr>
            <a:xfrm>
              <a:off x="6240220" y="2096929"/>
              <a:ext cx="411480" cy="411480"/>
            </a:xfrm>
            <a:prstGeom prst="roundRect">
              <a:avLst>
                <a:gd name="adj" fmla="val 25926"/>
              </a:avLst>
            </a:prstGeom>
            <a:solidFill>
              <a:srgbClr val="000000">
                <a:alpha val="0"/>
              </a:srgbClr>
            </a:solidFill>
            <a:ln w="15240">
              <a:solidFill>
                <a:srgbClr val="FBBF24"/>
              </a:solidFill>
              <a:prstDash val="solid"/>
            </a:ln>
          </p:spPr>
          <p:txBody>
            <a:bodyPr/>
            <a:lstStyle/>
            <a:p>
              <a:endParaRPr lang="en-US"/>
            </a:p>
          </p:txBody>
        </p:sp>
        <p:sp>
          <p:nvSpPr>
            <p:cNvPr id="26" name="reveal-3:21:text"/>
            <p:cNvSpPr/>
            <p:nvPr/>
          </p:nvSpPr>
          <p:spPr>
            <a:xfrm>
              <a:off x="6240220" y="2207419"/>
              <a:ext cx="411480" cy="190500"/>
            </a:xfrm>
            <a:prstGeom prst="rect">
              <a:avLst/>
            </a:prstGeom>
            <a:noFill/>
            <a:ln/>
          </p:spPr>
          <p:txBody>
            <a:bodyPr wrap="square" lIns="0" tIns="0" rIns="0" bIns="0" rtlCol="0" anchor="ctr"/>
            <a:lstStyle/>
            <a:p>
              <a:pPr marL="0" indent="0" algn="ctr">
                <a:buNone/>
              </a:pPr>
              <a:r>
                <a:rPr lang="en-US" sz="1200" b="1" kern="0" spc="-24" dirty="0">
                  <a:solidFill>
                    <a:srgbClr val="FBBF24"/>
                  </a:solidFill>
                  <a:latin typeface="Arial" pitchFamily="34" charset="0"/>
                  <a:ea typeface="Arial" pitchFamily="34" charset="-122"/>
                  <a:cs typeface="Arial" pitchFamily="34" charset="-120"/>
                </a:rPr>
                <a:t>3</a:t>
              </a:r>
              <a:endParaRPr lang="en-US" sz="1200" dirty="0"/>
            </a:p>
          </p:txBody>
        </p:sp>
        <p:sp>
          <p:nvSpPr>
            <p:cNvPr id="27" name="reveal-3:22:text"/>
            <p:cNvSpPr/>
            <p:nvPr/>
          </p:nvSpPr>
          <p:spPr>
            <a:xfrm>
              <a:off x="6240220" y="2698909"/>
              <a:ext cx="1965680" cy="266700"/>
            </a:xfrm>
            <a:prstGeom prst="rect">
              <a:avLst/>
            </a:prstGeom>
            <a:noFill/>
            <a:ln/>
          </p:spPr>
          <p:txBody>
            <a:bodyPr wrap="square" lIns="0" tIns="0" rIns="0" bIns="0" rtlCol="0" anchor="ctr"/>
            <a:lstStyle/>
            <a:p>
              <a:pPr marL="0" indent="0" algn="l">
                <a:buNone/>
              </a:pPr>
              <a:r>
                <a:rPr lang="en-US" sz="1440" b="1" dirty="0">
                  <a:solidFill>
                    <a:srgbClr val="FBBF24"/>
                  </a:solidFill>
                  <a:latin typeface="Arial" pitchFamily="34" charset="0"/>
                  <a:ea typeface="Arial" pitchFamily="34" charset="-122"/>
                  <a:cs typeface="Arial" pitchFamily="34" charset="-120"/>
                </a:rPr>
                <a:t>Must-pass cases</a:t>
              </a:r>
              <a:endParaRPr lang="en-US" sz="1440" dirty="0"/>
            </a:p>
          </p:txBody>
        </p:sp>
        <p:sp>
          <p:nvSpPr>
            <p:cNvPr id="28" name="reveal-3:23:text"/>
            <p:cNvSpPr/>
            <p:nvPr/>
          </p:nvSpPr>
          <p:spPr>
            <a:xfrm>
              <a:off x="6240220" y="3047881"/>
              <a:ext cx="1965680" cy="764123"/>
            </a:xfrm>
            <a:prstGeom prst="rect">
              <a:avLst/>
            </a:prstGeom>
            <a:noFill/>
            <a:ln/>
          </p:spPr>
          <p:txBody>
            <a:bodyPr wrap="square" lIns="0" tIns="0" rIns="0" bIns="0" rtlCol="0" anchor="t"/>
            <a:lstStyle/>
            <a:p>
              <a:pPr marL="0" indent="0" algn="l">
                <a:buNone/>
              </a:pPr>
              <a:r>
                <a:rPr lang="en-US" sz="1140" dirty="0">
                  <a:solidFill>
                    <a:srgbClr val="B0B0B0"/>
                  </a:solidFill>
                  <a:latin typeface="Arial" pitchFamily="34" charset="0"/>
                  <a:ea typeface="Arial" pitchFamily="34" charset="-122"/>
                  <a:cs typeface="Arial" pitchFamily="34" charset="-120"/>
                </a:rPr>
                <a:t>Wrong approver, or obeying an email, blocks the release whatever the average.</a:t>
              </a:r>
              <a:endParaRPr lang="en-US" sz="1140" dirty="0"/>
            </a:p>
          </p:txBody>
        </p:sp>
        <p:sp>
          <p:nvSpPr>
            <p:cNvPr id="30" name="reveal-3:25:shape"/>
            <p:cNvSpPr/>
            <p:nvPr/>
          </p:nvSpPr>
          <p:spPr>
            <a:xfrm>
              <a:off x="6240220" y="3852004"/>
              <a:ext cx="1965680" cy="78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31" name="reveal-3:26:text"/>
            <p:cNvSpPr/>
            <p:nvPr/>
          </p:nvSpPr>
          <p:spPr>
            <a:xfrm>
              <a:off x="6346900" y="3932004"/>
              <a:ext cx="1752320" cy="628640"/>
            </a:xfrm>
            <a:prstGeom prst="rect">
              <a:avLst/>
            </a:prstGeom>
            <a:noFill/>
            <a:ln/>
          </p:spPr>
          <p:txBody>
            <a:bodyPr wrap="square" lIns="0" tIns="0" rIns="0" bIns="0" rtlCol="0" anchor="t"/>
            <a:lstStyle/>
            <a:p>
              <a:pPr marL="0" indent="0" algn="l">
                <a:buNone/>
              </a:pPr>
              <a:r>
                <a:rPr lang="en-US" sz="900" b="1" dirty="0">
                  <a:solidFill>
                    <a:srgbClr val="DEDEDE"/>
                  </a:solidFill>
                  <a:latin typeface="Arial" pitchFamily="34" charset="0"/>
                  <a:ea typeface="Arial" pitchFamily="34" charset="-122"/>
                  <a:cs typeface="Arial" pitchFamily="34" charset="-120"/>
                </a:rPr>
                <a:t>Averages hide the failures that matter.</a:t>
              </a:r>
              <a:endParaRPr lang="en-US" sz="900" dirty="0"/>
            </a:p>
          </p:txBody>
        </p:sp>
      </p:grpSp>
      <p:grpSp>
        <p:nvGrpSpPr>
          <p:cNvPr id="38" name="Reveal 4"/>
          <p:cNvGrpSpPr/>
          <p:nvPr/>
        </p:nvGrpSpPr>
        <p:grpSpPr>
          <a:xfrm>
            <a:off x="8564040" y="1868329"/>
            <a:ext cx="2377160" cy="3791902"/>
            <a:chOff x="8564040" y="1868329"/>
            <a:chExt cx="2377160" cy="3791902"/>
          </a:xfrm>
        </p:grpSpPr>
        <p:sp>
          <p:nvSpPr>
            <p:cNvPr id="39" name="reveal-1:2:shape"/>
            <p:cNvSpPr/>
            <p:nvPr/>
          </p:nvSpPr>
          <p:spPr>
            <a:xfrm>
              <a:off x="8564040" y="1868329"/>
              <a:ext cx="2377160"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40" name="reveal-1:2:shape:border-0"/>
            <p:cNvSpPr/>
            <p:nvPr/>
          </p:nvSpPr>
          <p:spPr>
            <a:xfrm>
              <a:off x="8655480" y="1883569"/>
              <a:ext cx="2194280" cy="0"/>
            </a:xfrm>
            <a:prstGeom prst="line">
              <a:avLst/>
            </a:prstGeom>
            <a:noFill/>
            <a:ln w="30480">
              <a:solidFill>
                <a:srgbClr val="B88CFF"/>
              </a:solidFill>
              <a:prstDash val="solid"/>
              <a:headEnd type="none"/>
              <a:tailEnd type="none"/>
            </a:ln>
          </p:spPr>
          <p:txBody>
            <a:bodyPr/>
            <a:lstStyle/>
            <a:p>
              <a:endParaRPr lang="en-US"/>
            </a:p>
          </p:txBody>
        </p:sp>
        <p:sp>
          <p:nvSpPr>
            <p:cNvPr id="41" name="reveal-1:3:shape"/>
            <p:cNvSpPr/>
            <p:nvPr/>
          </p:nvSpPr>
          <p:spPr>
            <a:xfrm>
              <a:off x="8769780" y="2096929"/>
              <a:ext cx="411480" cy="411480"/>
            </a:xfrm>
            <a:prstGeom prst="roundRect">
              <a:avLst>
                <a:gd name="adj" fmla="val 25926"/>
              </a:avLst>
            </a:prstGeom>
            <a:solidFill>
              <a:srgbClr val="000000">
                <a:alpha val="0"/>
              </a:srgbClr>
            </a:solidFill>
            <a:ln w="15240">
              <a:solidFill>
                <a:srgbClr val="B88CFF"/>
              </a:solidFill>
              <a:prstDash val="solid"/>
            </a:ln>
          </p:spPr>
          <p:txBody>
            <a:bodyPr/>
            <a:lstStyle/>
            <a:p>
              <a:endParaRPr lang="en-US"/>
            </a:p>
          </p:txBody>
        </p:sp>
        <p:sp>
          <p:nvSpPr>
            <p:cNvPr id="42" name="reveal-1:4:text"/>
            <p:cNvSpPr/>
            <p:nvPr/>
          </p:nvSpPr>
          <p:spPr>
            <a:xfrm>
              <a:off x="8769780" y="2207419"/>
              <a:ext cx="411480" cy="190500"/>
            </a:xfrm>
            <a:prstGeom prst="rect">
              <a:avLst/>
            </a:prstGeom>
            <a:noFill/>
            <a:ln/>
          </p:spPr>
          <p:txBody>
            <a:bodyPr wrap="square" lIns="0" tIns="0" rIns="0" bIns="0" rtlCol="0" anchor="ctr"/>
            <a:lstStyle/>
            <a:p>
              <a:pPr marL="0" indent="0" algn="ctr">
                <a:buNone/>
              </a:pPr>
              <a:r>
                <a:rPr lang="en-US" sz="1200" b="1" kern="0" spc="-24" dirty="0">
                  <a:solidFill>
                    <a:srgbClr val="B88CFF"/>
                  </a:solidFill>
                  <a:latin typeface="Arial" pitchFamily="34" charset="0"/>
                  <a:ea typeface="Arial" pitchFamily="34" charset="-122"/>
                  <a:cs typeface="Arial" pitchFamily="34" charset="-120"/>
                </a:rPr>
                <a:t>4</a:t>
              </a:r>
              <a:endParaRPr lang="en-US" sz="1200" dirty="0"/>
            </a:p>
          </p:txBody>
        </p:sp>
        <p:sp>
          <p:nvSpPr>
            <p:cNvPr id="43" name="reveal-1:5:text"/>
            <p:cNvSpPr/>
            <p:nvPr/>
          </p:nvSpPr>
          <p:spPr>
            <a:xfrm>
              <a:off x="8769780" y="2698909"/>
              <a:ext cx="1965680" cy="266700"/>
            </a:xfrm>
            <a:prstGeom prst="rect">
              <a:avLst/>
            </a:prstGeom>
            <a:noFill/>
            <a:ln/>
          </p:spPr>
          <p:txBody>
            <a:bodyPr wrap="square" lIns="0" tIns="0" rIns="0" bIns="0" rtlCol="0" anchor="ctr"/>
            <a:lstStyle/>
            <a:p>
              <a:pPr marL="0" indent="0" algn="l">
                <a:buNone/>
              </a:pPr>
              <a:r>
                <a:rPr lang="en-US" sz="1440" b="1" dirty="0">
                  <a:solidFill>
                    <a:srgbClr val="B88CFF"/>
                  </a:solidFill>
                  <a:latin typeface="Arial" pitchFamily="34" charset="0"/>
                  <a:ea typeface="Arial" pitchFamily="34" charset="-122"/>
                  <a:cs typeface="Arial" pitchFamily="34" charset="-120"/>
                </a:rPr>
                <a:t>Pinned together</a:t>
              </a:r>
              <a:endParaRPr lang="en-US" sz="1440" dirty="0"/>
            </a:p>
          </p:txBody>
        </p:sp>
        <p:sp>
          <p:nvSpPr>
            <p:cNvPr id="44" name="reveal-1:6:text"/>
            <p:cNvSpPr/>
            <p:nvPr/>
          </p:nvSpPr>
          <p:spPr>
            <a:xfrm>
              <a:off x="8769780" y="3047881"/>
              <a:ext cx="1965680" cy="764123"/>
            </a:xfrm>
            <a:prstGeom prst="rect">
              <a:avLst/>
            </a:prstGeom>
            <a:noFill/>
            <a:ln/>
          </p:spPr>
          <p:txBody>
            <a:bodyPr wrap="square" lIns="0" tIns="0" rIns="0" bIns="0" rtlCol="0" anchor="t"/>
            <a:lstStyle/>
            <a:p>
              <a:pPr marL="0" indent="0" algn="l">
                <a:buNone/>
              </a:pPr>
              <a:r>
                <a:rPr lang="en-US" sz="1140" dirty="0">
                  <a:solidFill>
                    <a:srgbClr val="B0B0B0"/>
                  </a:solidFill>
                  <a:latin typeface="Arial" pitchFamily="34" charset="0"/>
                  <a:ea typeface="Arial" pitchFamily="34" charset="-122"/>
                  <a:cs typeface="Arial" pitchFamily="34" charset="-120"/>
                </a:rPr>
                <a:t>Prompt, tool descriptions, model and dataset version.</a:t>
              </a:r>
              <a:endParaRPr lang="en-US" sz="1140" dirty="0"/>
            </a:p>
          </p:txBody>
        </p:sp>
        <p:sp>
          <p:nvSpPr>
            <p:cNvPr id="46" name="reveal-1:8:shape"/>
            <p:cNvSpPr/>
            <p:nvPr/>
          </p:nvSpPr>
          <p:spPr>
            <a:xfrm>
              <a:off x="8769780" y="3852004"/>
              <a:ext cx="1965680" cy="66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47" name="reveal-1:9:text"/>
            <p:cNvSpPr/>
            <p:nvPr/>
          </p:nvSpPr>
          <p:spPr>
            <a:xfrm>
              <a:off x="8876460" y="3932004"/>
              <a:ext cx="1752320" cy="508640"/>
            </a:xfrm>
            <a:prstGeom prst="rect">
              <a:avLst/>
            </a:prstGeom>
            <a:noFill/>
            <a:ln/>
          </p:spPr>
          <p:txBody>
            <a:bodyPr wrap="square" lIns="0" tIns="0" rIns="0" bIns="0" rtlCol="0" anchor="t"/>
            <a:lstStyle/>
            <a:p>
              <a:pPr marL="0" indent="0" algn="l">
                <a:buNone/>
              </a:pPr>
              <a:r>
                <a:rPr lang="en-US" sz="900" b="1" dirty="0">
                  <a:solidFill>
                    <a:srgbClr val="DEDEDE"/>
                  </a:solidFill>
                  <a:latin typeface="Arial" pitchFamily="34" charset="0"/>
                  <a:ea typeface="Arial" pitchFamily="34" charset="-122"/>
                  <a:cs typeface="Arial" pitchFamily="34" charset="-120"/>
                </a:rPr>
                <a:t>A score is only comparable if all four are recorded.</a:t>
              </a:r>
              <a:endParaRPr lang="en-US" sz="900" dirty="0"/>
            </a:p>
          </p:txBody>
        </p:sp>
      </p:grpSp>
      <p:sp>
        <p:nvSpPr>
          <p:cNvPr id="33" name="static:28: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34" name="static:29:text"/>
          <p:cNvSpPr/>
          <p:nvPr/>
        </p:nvSpPr>
        <p:spPr>
          <a:xfrm>
            <a:off x="10457140" y="6461760"/>
            <a:ext cx="121670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15</a:t>
            </a:r>
            <a:endParaRPr lang="en-US" sz="72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Demo 6 - Release Check">
    <p:spTree>
      <p:nvGrpSpPr>
        <p:cNvPr id="1" name=""/>
        <p:cNvGrpSpPr/>
        <p:nvPr/>
      </p:nvGrpSpPr>
      <p:grpSpPr>
        <a:xfrm>
          <a:off x="0" y="0"/>
          <a:ext cx="0" cy="0"/>
          <a:chOff x="0" y="0"/>
          <a:chExt cx="0" cy="0"/>
        </a:xfrm>
      </p:grpSpPr>
      <p:sp>
        <p:nvSpPr>
          <p:cNvPr id="2" name="static:0:text"/>
          <p:cNvSpPr/>
          <p:nvPr/>
        </p:nvSpPr>
        <p:spPr>
          <a:xfrm>
            <a:off x="975360" y="2343626"/>
            <a:ext cx="814626" cy="190500"/>
          </a:xfrm>
          <a:prstGeom prst="rect">
            <a:avLst/>
          </a:prstGeom>
          <a:noFill/>
          <a:ln/>
        </p:spPr>
        <p:txBody>
          <a:bodyPr wrap="none" lIns="0" tIns="0" rIns="0" bIns="0" rtlCol="0" anchor="ctr"/>
          <a:lstStyle/>
          <a:p>
            <a:pPr marL="0" indent="0" algn="l">
              <a:buNone/>
            </a:pPr>
            <a:r>
              <a:rPr lang="en-US" sz="1200" b="1" kern="0" spc="180" dirty="0">
                <a:solidFill>
                  <a:srgbClr val="4DA6FF"/>
                </a:solidFill>
                <a:latin typeface="Arial" pitchFamily="34" charset="0"/>
                <a:ea typeface="Arial" pitchFamily="34" charset="-122"/>
                <a:cs typeface="Arial" pitchFamily="34" charset="-120"/>
              </a:rPr>
              <a:t>DEMO 6</a:t>
            </a:r>
            <a:endParaRPr lang="en-US" sz="1200" dirty="0"/>
          </a:p>
        </p:txBody>
      </p:sp>
      <p:sp>
        <p:nvSpPr>
          <p:cNvPr id="3" name="static:1:text"/>
          <p:cNvSpPr/>
          <p:nvPr/>
        </p:nvSpPr>
        <p:spPr>
          <a:xfrm>
            <a:off x="975360" y="2640806"/>
            <a:ext cx="7000000" cy="624840"/>
          </a:xfrm>
          <a:prstGeom prst="rect">
            <a:avLst/>
          </a:prstGeom>
          <a:noFill/>
          <a:ln/>
        </p:spPr>
        <p:txBody>
          <a:bodyPr wrap="none" lIns="0" tIns="0" rIns="0" bIns="0" rtlCol="0" anchor="ctr"/>
          <a:lstStyle/>
          <a:p>
            <a:pPr marL="0" indent="0" algn="l">
              <a:buNone/>
            </a:pPr>
            <a:r>
              <a:rPr lang="en-US" sz="4080" b="1" kern="0" spc="-143" dirty="0">
                <a:solidFill>
                  <a:srgbClr val="DEDEDE"/>
                </a:solidFill>
                <a:latin typeface="Arial" pitchFamily="34" charset="0"/>
                <a:ea typeface="Arial" pitchFamily="34" charset="-122"/>
                <a:cs typeface="Arial" pitchFamily="34" charset="-120"/>
              </a:rPr>
              <a:t>Three pull requests</a:t>
            </a:r>
            <a:endParaRPr lang="en-US" sz="4080" dirty="0"/>
          </a:p>
        </p:txBody>
      </p:sp>
      <p:sp>
        <p:nvSpPr>
          <p:cNvPr id="4" name="static:2:text"/>
          <p:cNvSpPr/>
          <p:nvPr/>
        </p:nvSpPr>
        <p:spPr>
          <a:xfrm>
            <a:off x="975360" y="3387566"/>
            <a:ext cx="6111835"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Copied facts, a regression that looks like a speed-up, and a</a:t>
            </a:r>
            <a:endParaRPr lang="en-US" sz="1620" dirty="0"/>
          </a:p>
        </p:txBody>
      </p:sp>
      <p:sp>
        <p:nvSpPr>
          <p:cNvPr id="5" name="static:3:text"/>
          <p:cNvSpPr/>
          <p:nvPr/>
        </p:nvSpPr>
        <p:spPr>
          <a:xfrm>
            <a:off x="975360" y="3665220"/>
            <a:ext cx="6111835"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reviewed improvement. What does the gate do with each?</a:t>
            </a:r>
            <a:endParaRPr lang="en-US" sz="1620" dirty="0"/>
          </a:p>
        </p:txBody>
      </p:sp>
      <p:sp>
        <p:nvSpPr>
          <p:cNvPr id="6" name="static:4: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7" name="static:5:text"/>
          <p:cNvSpPr/>
          <p:nvPr/>
        </p:nvSpPr>
        <p:spPr>
          <a:xfrm>
            <a:off x="10459403" y="6461760"/>
            <a:ext cx="1214438"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16</a:t>
            </a:r>
            <a:endParaRPr lang="en-US" sz="7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From test cases to production">
    <p:spTree>
      <p:nvGrpSpPr>
        <p:cNvPr id="1" name=""/>
        <p:cNvGrpSpPr/>
        <p:nvPr/>
      </p:nvGrpSpPr>
      <p:grpSpPr>
        <a:xfrm>
          <a:off x="0" y="0"/>
          <a:ext cx="0" cy="0"/>
          <a:chOff x="0" y="0"/>
          <a:chExt cx="0" cy="0"/>
        </a:xfrm>
      </p:grpSpPr>
      <p:sp>
        <p:nvSpPr>
          <p:cNvPr id="2" name="static:0:text"/>
          <p:cNvSpPr/>
          <p:nvPr/>
        </p:nvSpPr>
        <p:spPr>
          <a:xfrm>
            <a:off x="2727960" y="870109"/>
            <a:ext cx="2821900" cy="152400"/>
          </a:xfrm>
          <a:prstGeom prst="rect">
            <a:avLst/>
          </a:prstGeom>
          <a:noFill/>
          <a:ln/>
        </p:spPr>
        <p:txBody>
          <a:bodyPr wrap="none" lIns="0" tIns="0" rIns="0" bIns="0" rtlCol="0" anchor="ctr"/>
          <a:lstStyle/>
          <a:p>
            <a:pPr marL="0" indent="0" algn="l">
              <a:buNone/>
            </a:pPr>
            <a:r>
              <a:rPr lang="en-US" sz="960" b="1" kern="0" spc="154" dirty="0">
                <a:solidFill>
                  <a:srgbClr val="4DA6FF"/>
                </a:solidFill>
                <a:latin typeface="Arial" pitchFamily="34" charset="0"/>
                <a:ea typeface="Arial" pitchFamily="34" charset="-122"/>
                <a:cs typeface="Arial" pitchFamily="34" charset="-120"/>
              </a:rPr>
              <a:t>AFTER RELEASE</a:t>
            </a:r>
            <a:endParaRPr lang="en-US" sz="960" dirty="0"/>
          </a:p>
        </p:txBody>
      </p:sp>
      <p:sp>
        <p:nvSpPr>
          <p:cNvPr id="3" name="static:1:text"/>
          <p:cNvSpPr/>
          <p:nvPr/>
        </p:nvSpPr>
        <p:spPr>
          <a:xfrm>
            <a:off x="975360" y="1068229"/>
            <a:ext cx="4356473" cy="411480"/>
          </a:xfrm>
          <a:prstGeom prst="rect">
            <a:avLst/>
          </a:prstGeom>
          <a:noFill/>
          <a:ln/>
        </p:spPr>
        <p:txBody>
          <a:bodyPr wrap="none" lIns="0" tIns="0" rIns="0" bIns="0" rtlCol="0" anchor="ctr"/>
          <a:lstStyle/>
          <a:p>
            <a:pPr marL="0" indent="0" algn="l">
              <a:buNone/>
            </a:pPr>
            <a:r>
              <a:rPr lang="en-US" sz="2640" b="1" kern="0" spc="-92" dirty="0">
                <a:solidFill>
                  <a:srgbClr val="DEDEDE"/>
                </a:solidFill>
                <a:latin typeface="Arial" pitchFamily="34" charset="0"/>
                <a:ea typeface="Arial" pitchFamily="34" charset="-122"/>
                <a:cs typeface="Arial" pitchFamily="34" charset="-120"/>
              </a:rPr>
              <a:t>Production feeds the tests</a:t>
            </a:r>
            <a:endParaRPr lang="en-US" sz="2640" dirty="0"/>
          </a:p>
        </p:txBody>
      </p:sp>
      <p:grpSp>
        <p:nvGrpSpPr>
          <p:cNvPr id="52" name="Reveal 1"/>
          <p:cNvGrpSpPr/>
          <p:nvPr/>
        </p:nvGrpSpPr>
        <p:grpSpPr>
          <a:xfrm>
            <a:off x="975360" y="1868329"/>
            <a:ext cx="3220641" cy="3791902"/>
            <a:chOff x="975360" y="1868329"/>
            <a:chExt cx="3220641" cy="3791902"/>
          </a:xfrm>
        </p:grpSpPr>
        <p:sp>
          <p:nvSpPr>
            <p:cNvPr id="53" name="reveal-1:2:shape"/>
            <p:cNvSpPr/>
            <p:nvPr/>
          </p:nvSpPr>
          <p:spPr>
            <a:xfrm>
              <a:off x="975360" y="1868329"/>
              <a:ext cx="3220641"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54" name="reveal-1:2:shape:border-0"/>
            <p:cNvSpPr/>
            <p:nvPr/>
          </p:nvSpPr>
          <p:spPr>
            <a:xfrm>
              <a:off x="1066800" y="1883569"/>
              <a:ext cx="3037761" cy="0"/>
            </a:xfrm>
            <a:prstGeom prst="line">
              <a:avLst/>
            </a:prstGeom>
            <a:noFill/>
            <a:ln w="30480">
              <a:solidFill>
                <a:srgbClr val="4DA6FF"/>
              </a:solidFill>
              <a:prstDash val="solid"/>
              <a:headEnd type="none"/>
              <a:tailEnd type="none"/>
            </a:ln>
          </p:spPr>
          <p:txBody>
            <a:bodyPr/>
            <a:lstStyle/>
            <a:p>
              <a:endParaRPr lang="en-US"/>
            </a:p>
          </p:txBody>
        </p:sp>
        <p:sp>
          <p:nvSpPr>
            <p:cNvPr id="55" name="reveal-1:3:shape"/>
            <p:cNvSpPr/>
            <p:nvPr/>
          </p:nvSpPr>
          <p:spPr>
            <a:xfrm>
              <a:off x="1181100" y="2096929"/>
              <a:ext cx="411480" cy="411480"/>
            </a:xfrm>
            <a:prstGeom prst="roundRect">
              <a:avLst>
                <a:gd name="adj" fmla="val 25926"/>
              </a:avLst>
            </a:prstGeom>
            <a:solidFill>
              <a:srgbClr val="000000">
                <a:alpha val="0"/>
              </a:srgbClr>
            </a:solidFill>
            <a:ln w="15240">
              <a:solidFill>
                <a:srgbClr val="4DA6FF"/>
              </a:solidFill>
              <a:prstDash val="solid"/>
            </a:ln>
          </p:spPr>
          <p:txBody>
            <a:bodyPr/>
            <a:lstStyle/>
            <a:p>
              <a:endParaRPr lang="en-US"/>
            </a:p>
          </p:txBody>
        </p:sp>
        <p:sp>
          <p:nvSpPr>
            <p:cNvPr id="56" name="reveal-1:4:text"/>
            <p:cNvSpPr/>
            <p:nvPr/>
          </p:nvSpPr>
          <p:spPr>
            <a:xfrm>
              <a:off x="1181100" y="2207419"/>
              <a:ext cx="411480" cy="190500"/>
            </a:xfrm>
            <a:prstGeom prst="rect">
              <a:avLst/>
            </a:prstGeom>
            <a:noFill/>
            <a:ln/>
          </p:spPr>
          <p:txBody>
            <a:bodyPr wrap="square" lIns="0" tIns="0" rIns="0" bIns="0" rtlCol="0" anchor="ctr"/>
            <a:lstStyle/>
            <a:p>
              <a:pPr marL="0" indent="0" algn="ctr">
                <a:buNone/>
              </a:pPr>
              <a:r>
                <a:rPr lang="en-US" sz="1200" b="1" kern="0" spc="-24" dirty="0">
                  <a:solidFill>
                    <a:srgbClr val="4DA6FF"/>
                  </a:solidFill>
                  <a:latin typeface="Arial" pitchFamily="34" charset="0"/>
                  <a:ea typeface="Arial" pitchFamily="34" charset="-122"/>
                  <a:cs typeface="Arial" pitchFamily="34" charset="-120"/>
                </a:rPr>
                <a:t>1</a:t>
              </a:r>
              <a:endParaRPr lang="en-US" sz="1200" dirty="0"/>
            </a:p>
          </p:txBody>
        </p:sp>
        <p:sp>
          <p:nvSpPr>
            <p:cNvPr id="57" name="reveal-1:5:text"/>
            <p:cNvSpPr/>
            <p:nvPr/>
          </p:nvSpPr>
          <p:spPr>
            <a:xfrm>
              <a:off x="1181100" y="2698909"/>
              <a:ext cx="2809161" cy="266700"/>
            </a:xfrm>
            <a:prstGeom prst="rect">
              <a:avLst/>
            </a:prstGeom>
            <a:noFill/>
            <a:ln/>
          </p:spPr>
          <p:txBody>
            <a:bodyPr wrap="square" lIns="0" tIns="0" rIns="0" bIns="0" rtlCol="0" anchor="ctr"/>
            <a:lstStyle/>
            <a:p>
              <a:pPr marL="0" indent="0" algn="l">
                <a:buNone/>
              </a:pPr>
              <a:r>
                <a:rPr lang="en-US" sz="1680" b="1" dirty="0">
                  <a:solidFill>
                    <a:srgbClr val="4DA6FF"/>
                  </a:solidFill>
                  <a:latin typeface="Arial" pitchFamily="34" charset="0"/>
                  <a:ea typeface="Arial" pitchFamily="34" charset="-122"/>
                  <a:cs typeface="Arial" pitchFamily="34" charset="-120"/>
                </a:rPr>
                <a:t>Sample traces</a:t>
              </a:r>
              <a:endParaRPr lang="en-US" sz="1680" dirty="0"/>
            </a:p>
          </p:txBody>
        </p:sp>
        <p:sp>
          <p:nvSpPr>
            <p:cNvPr id="58" name="reveal-1:6:text"/>
            <p:cNvSpPr/>
            <p:nvPr/>
          </p:nvSpPr>
          <p:spPr>
            <a:xfrm>
              <a:off x="1181100" y="3047881"/>
              <a:ext cx="2809161" cy="564123"/>
            </a:xfrm>
            <a:prstGeom prst="rect">
              <a:avLst/>
            </a:prstGeom>
            <a:noFill/>
            <a:ln/>
          </p:spPr>
          <p:txBody>
            <a:bodyPr wrap="square" lIns="0" tIns="0" rIns="0" bIns="0" rtlCol="0" anchor="t"/>
            <a:lstStyle/>
            <a:p>
              <a:pPr marL="0" indent="0" algn="l">
                <a:buNone/>
              </a:pPr>
              <a:r>
                <a:rPr lang="en-US" sz="1140" dirty="0">
                  <a:solidFill>
                    <a:srgbClr val="B0B0B0"/>
                  </a:solidFill>
                  <a:latin typeface="Arial" pitchFamily="34" charset="0"/>
                  <a:ea typeface="Arial" pitchFamily="34" charset="-122"/>
                  <a:cs typeface="Arial" pitchFamily="34" charset="-120"/>
                </a:rPr>
                <a:t>Continuous evaluation scores a sample of real conversations.</a:t>
              </a:r>
              <a:endParaRPr lang="en-US" sz="1140" dirty="0"/>
            </a:p>
          </p:txBody>
        </p:sp>
        <p:sp>
          <p:nvSpPr>
            <p:cNvPr id="60" name="reveal-1:8:shape"/>
            <p:cNvSpPr/>
            <p:nvPr/>
          </p:nvSpPr>
          <p:spPr>
            <a:xfrm>
              <a:off x="1181100" y="3652004"/>
              <a:ext cx="2809161" cy="66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61" name="reveal-1:9:text"/>
            <p:cNvSpPr/>
            <p:nvPr/>
          </p:nvSpPr>
          <p:spPr>
            <a:xfrm>
              <a:off x="1287780" y="3732004"/>
              <a:ext cx="2595801" cy="508640"/>
            </a:xfrm>
            <a:prstGeom prst="rect">
              <a:avLst/>
            </a:prstGeom>
            <a:noFill/>
            <a:ln/>
          </p:spPr>
          <p:txBody>
            <a:bodyPr wrap="square" lIns="0" tIns="0" rIns="0" bIns="0" rtlCol="0" anchor="t"/>
            <a:lstStyle/>
            <a:p>
              <a:pPr marL="0" indent="0" algn="l">
                <a:buNone/>
              </a:pPr>
              <a:r>
                <a:rPr lang="en-US" sz="900" b="1" dirty="0">
                  <a:solidFill>
                    <a:srgbClr val="DEDEDE"/>
                  </a:solidFill>
                  <a:latin typeface="Arial" pitchFamily="34" charset="0"/>
                  <a:ea typeface="Arial" pitchFamily="34" charset="-122"/>
                  <a:cs typeface="Arial" pitchFamily="34" charset="-120"/>
                </a:rPr>
                <a:t>Alert on quality, latency and cost.</a:t>
              </a:r>
              <a:endParaRPr lang="en-US" sz="900" dirty="0"/>
            </a:p>
          </p:txBody>
        </p:sp>
      </p:grpSp>
      <p:grpSp>
        <p:nvGrpSpPr>
          <p:cNvPr id="62" name="Reveal 2"/>
          <p:cNvGrpSpPr/>
          <p:nvPr/>
        </p:nvGrpSpPr>
        <p:grpSpPr>
          <a:xfrm>
            <a:off x="4348401" y="1868329"/>
            <a:ext cx="3220641" cy="3791902"/>
            <a:chOff x="4348401" y="1868329"/>
            <a:chExt cx="3220641" cy="3791902"/>
          </a:xfrm>
        </p:grpSpPr>
        <p:sp>
          <p:nvSpPr>
            <p:cNvPr id="63" name="reveal-1:2:shape"/>
            <p:cNvSpPr/>
            <p:nvPr/>
          </p:nvSpPr>
          <p:spPr>
            <a:xfrm>
              <a:off x="4348401" y="1868329"/>
              <a:ext cx="3220641"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64" name="reveal-1:2:shape:border-0"/>
            <p:cNvSpPr/>
            <p:nvPr/>
          </p:nvSpPr>
          <p:spPr>
            <a:xfrm>
              <a:off x="4439841" y="1883569"/>
              <a:ext cx="3037761" cy="0"/>
            </a:xfrm>
            <a:prstGeom prst="line">
              <a:avLst/>
            </a:prstGeom>
            <a:noFill/>
            <a:ln w="30480">
              <a:solidFill>
                <a:srgbClr val="FBBF24"/>
              </a:solidFill>
              <a:prstDash val="solid"/>
              <a:headEnd type="none"/>
              <a:tailEnd type="none"/>
            </a:ln>
          </p:spPr>
          <p:txBody>
            <a:bodyPr/>
            <a:lstStyle/>
            <a:p>
              <a:endParaRPr lang="en-US"/>
            </a:p>
          </p:txBody>
        </p:sp>
        <p:sp>
          <p:nvSpPr>
            <p:cNvPr id="65" name="reveal-1:3:shape"/>
            <p:cNvSpPr/>
            <p:nvPr/>
          </p:nvSpPr>
          <p:spPr>
            <a:xfrm>
              <a:off x="4554141" y="2096929"/>
              <a:ext cx="411480" cy="411480"/>
            </a:xfrm>
            <a:prstGeom prst="roundRect">
              <a:avLst>
                <a:gd name="adj" fmla="val 25926"/>
              </a:avLst>
            </a:prstGeom>
            <a:solidFill>
              <a:srgbClr val="000000">
                <a:alpha val="0"/>
              </a:srgbClr>
            </a:solidFill>
            <a:ln w="15240">
              <a:solidFill>
                <a:srgbClr val="FBBF24"/>
              </a:solidFill>
              <a:prstDash val="solid"/>
            </a:ln>
          </p:spPr>
          <p:txBody>
            <a:bodyPr/>
            <a:lstStyle/>
            <a:p>
              <a:endParaRPr lang="en-US"/>
            </a:p>
          </p:txBody>
        </p:sp>
        <p:sp>
          <p:nvSpPr>
            <p:cNvPr id="66" name="reveal-1:4:text"/>
            <p:cNvSpPr/>
            <p:nvPr/>
          </p:nvSpPr>
          <p:spPr>
            <a:xfrm>
              <a:off x="4554141" y="2207419"/>
              <a:ext cx="411480" cy="190500"/>
            </a:xfrm>
            <a:prstGeom prst="rect">
              <a:avLst/>
            </a:prstGeom>
            <a:noFill/>
            <a:ln/>
          </p:spPr>
          <p:txBody>
            <a:bodyPr wrap="square" lIns="0" tIns="0" rIns="0" bIns="0" rtlCol="0" anchor="ctr"/>
            <a:lstStyle/>
            <a:p>
              <a:pPr marL="0" indent="0" algn="ctr">
                <a:buNone/>
              </a:pPr>
              <a:r>
                <a:rPr lang="en-US" sz="1200" b="1" kern="0" spc="-24" dirty="0">
                  <a:solidFill>
                    <a:srgbClr val="FBBF24"/>
                  </a:solidFill>
                  <a:latin typeface="Arial" pitchFamily="34" charset="0"/>
                  <a:ea typeface="Arial" pitchFamily="34" charset="-122"/>
                  <a:cs typeface="Arial" pitchFamily="34" charset="-120"/>
                </a:rPr>
                <a:t>2</a:t>
              </a:r>
              <a:endParaRPr lang="en-US" sz="1200" dirty="0"/>
            </a:p>
          </p:txBody>
        </p:sp>
        <p:sp>
          <p:nvSpPr>
            <p:cNvPr id="67" name="reveal-1:5:text"/>
            <p:cNvSpPr/>
            <p:nvPr/>
          </p:nvSpPr>
          <p:spPr>
            <a:xfrm>
              <a:off x="4554141" y="2698909"/>
              <a:ext cx="2809161" cy="266700"/>
            </a:xfrm>
            <a:prstGeom prst="rect">
              <a:avLst/>
            </a:prstGeom>
            <a:noFill/>
            <a:ln/>
          </p:spPr>
          <p:txBody>
            <a:bodyPr wrap="square" lIns="0" tIns="0" rIns="0" bIns="0" rtlCol="0" anchor="ctr"/>
            <a:lstStyle/>
            <a:p>
              <a:pPr marL="0" indent="0" algn="l">
                <a:buNone/>
              </a:pPr>
              <a:r>
                <a:rPr lang="en-US" sz="1680" b="1" dirty="0">
                  <a:solidFill>
                    <a:srgbClr val="FBBF24"/>
                  </a:solidFill>
                  <a:latin typeface="Arial" pitchFamily="34" charset="0"/>
                  <a:ea typeface="Arial" pitchFamily="34" charset="-122"/>
                  <a:cs typeface="Arial" pitchFamily="34" charset="-120"/>
                </a:rPr>
                <a:t>Keep the failures</a:t>
              </a:r>
              <a:endParaRPr lang="en-US" sz="1680" dirty="0"/>
            </a:p>
          </p:txBody>
        </p:sp>
        <p:sp>
          <p:nvSpPr>
            <p:cNvPr id="68" name="reveal-1:6:text"/>
            <p:cNvSpPr/>
            <p:nvPr/>
          </p:nvSpPr>
          <p:spPr>
            <a:xfrm>
              <a:off x="4554141" y="3047881"/>
              <a:ext cx="2809161" cy="564123"/>
            </a:xfrm>
            <a:prstGeom prst="rect">
              <a:avLst/>
            </a:prstGeom>
            <a:noFill/>
            <a:ln/>
          </p:spPr>
          <p:txBody>
            <a:bodyPr wrap="square" lIns="0" tIns="0" rIns="0" bIns="0" rtlCol="0" anchor="t"/>
            <a:lstStyle/>
            <a:p>
              <a:pPr marL="0" indent="0" algn="l">
                <a:buNone/>
              </a:pPr>
              <a:r>
                <a:rPr lang="en-US" sz="1140" dirty="0">
                  <a:solidFill>
                    <a:srgbClr val="B0B0B0"/>
                  </a:solidFill>
                  <a:latin typeface="Arial" pitchFamily="34" charset="0"/>
                  <a:ea typeface="Arial" pitchFamily="34" charset="-122"/>
                  <a:cs typeface="Arial" pitchFamily="34" charset="-120"/>
                </a:rPr>
                <a:t>Turn interesting failures into new, reviewed test rows.</a:t>
              </a:r>
              <a:endParaRPr lang="en-US" sz="1140" dirty="0"/>
            </a:p>
          </p:txBody>
        </p:sp>
        <p:sp>
          <p:nvSpPr>
            <p:cNvPr id="70" name="reveal-1:8:shape"/>
            <p:cNvSpPr/>
            <p:nvPr/>
          </p:nvSpPr>
          <p:spPr>
            <a:xfrm>
              <a:off x="4554141" y="3652004"/>
              <a:ext cx="2809161" cy="66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71" name="reveal-1:9:text"/>
            <p:cNvSpPr/>
            <p:nvPr/>
          </p:nvSpPr>
          <p:spPr>
            <a:xfrm>
              <a:off x="4660821" y="3732004"/>
              <a:ext cx="2595801" cy="508640"/>
            </a:xfrm>
            <a:prstGeom prst="rect">
              <a:avLst/>
            </a:prstGeom>
            <a:noFill/>
            <a:ln/>
          </p:spPr>
          <p:txBody>
            <a:bodyPr wrap="square" lIns="0" tIns="0" rIns="0" bIns="0" rtlCol="0" anchor="t"/>
            <a:lstStyle/>
            <a:p>
              <a:pPr marL="0" indent="0" algn="l">
                <a:buNone/>
              </a:pPr>
              <a:r>
                <a:rPr lang="en-US" sz="900" b="1" dirty="0">
                  <a:solidFill>
                    <a:srgbClr val="DEDEDE"/>
                  </a:solidFill>
                  <a:latin typeface="Arial" pitchFamily="34" charset="0"/>
                  <a:ea typeface="Arial" pitchFamily="34" charset="-122"/>
                  <a:cs typeface="Arial" pitchFamily="34" charset="-120"/>
                </a:rPr>
                <a:t>Redact personal data first.</a:t>
              </a:r>
              <a:endParaRPr lang="en-US" sz="900" dirty="0"/>
            </a:p>
          </p:txBody>
        </p:sp>
      </p:grpSp>
      <p:grpSp>
        <p:nvGrpSpPr>
          <p:cNvPr id="72" name="Reveal 3"/>
          <p:cNvGrpSpPr/>
          <p:nvPr/>
        </p:nvGrpSpPr>
        <p:grpSpPr>
          <a:xfrm>
            <a:off x="7721442" y="1868329"/>
            <a:ext cx="3220641" cy="3791902"/>
            <a:chOff x="7721442" y="1868329"/>
            <a:chExt cx="3220641" cy="3791902"/>
          </a:xfrm>
        </p:grpSpPr>
        <p:sp>
          <p:nvSpPr>
            <p:cNvPr id="73" name="reveal-1:2:shape"/>
            <p:cNvSpPr/>
            <p:nvPr/>
          </p:nvSpPr>
          <p:spPr>
            <a:xfrm>
              <a:off x="7721442" y="1868329"/>
              <a:ext cx="3220641" cy="3791902"/>
            </a:xfrm>
            <a:prstGeom prst="roundRect">
              <a:avLst>
                <a:gd name="adj" fmla="val 3786"/>
              </a:avLst>
            </a:prstGeom>
            <a:solidFill>
              <a:srgbClr val="292929"/>
            </a:solidFill>
            <a:ln w="7620">
              <a:solidFill>
                <a:srgbClr val="474747"/>
              </a:solidFill>
              <a:prstDash val="solid"/>
            </a:ln>
          </p:spPr>
          <p:txBody>
            <a:bodyPr/>
            <a:lstStyle/>
            <a:p>
              <a:endParaRPr lang="en-US"/>
            </a:p>
          </p:txBody>
        </p:sp>
        <p:sp>
          <p:nvSpPr>
            <p:cNvPr id="74" name="reveal-1:2:shape:border-0"/>
            <p:cNvSpPr/>
            <p:nvPr/>
          </p:nvSpPr>
          <p:spPr>
            <a:xfrm>
              <a:off x="7812882" y="1883569"/>
              <a:ext cx="3037761" cy="0"/>
            </a:xfrm>
            <a:prstGeom prst="line">
              <a:avLst/>
            </a:prstGeom>
            <a:noFill/>
            <a:ln w="30480">
              <a:solidFill>
                <a:srgbClr val="4ADE80"/>
              </a:solidFill>
              <a:prstDash val="solid"/>
              <a:headEnd type="none"/>
              <a:tailEnd type="none"/>
            </a:ln>
          </p:spPr>
          <p:txBody>
            <a:bodyPr/>
            <a:lstStyle/>
            <a:p>
              <a:endParaRPr lang="en-US"/>
            </a:p>
          </p:txBody>
        </p:sp>
        <p:sp>
          <p:nvSpPr>
            <p:cNvPr id="75" name="reveal-1:3:shape"/>
            <p:cNvSpPr/>
            <p:nvPr/>
          </p:nvSpPr>
          <p:spPr>
            <a:xfrm>
              <a:off x="7927182" y="2096929"/>
              <a:ext cx="411480" cy="411480"/>
            </a:xfrm>
            <a:prstGeom prst="roundRect">
              <a:avLst>
                <a:gd name="adj" fmla="val 25926"/>
              </a:avLst>
            </a:prstGeom>
            <a:solidFill>
              <a:srgbClr val="000000">
                <a:alpha val="0"/>
              </a:srgbClr>
            </a:solidFill>
            <a:ln w="15240">
              <a:solidFill>
                <a:srgbClr val="4ADE80"/>
              </a:solidFill>
              <a:prstDash val="solid"/>
            </a:ln>
          </p:spPr>
          <p:txBody>
            <a:bodyPr/>
            <a:lstStyle/>
            <a:p>
              <a:endParaRPr lang="en-US"/>
            </a:p>
          </p:txBody>
        </p:sp>
        <p:sp>
          <p:nvSpPr>
            <p:cNvPr id="76" name="reveal-1:4:text"/>
            <p:cNvSpPr/>
            <p:nvPr/>
          </p:nvSpPr>
          <p:spPr>
            <a:xfrm>
              <a:off x="7927182" y="2207419"/>
              <a:ext cx="411480" cy="190500"/>
            </a:xfrm>
            <a:prstGeom prst="rect">
              <a:avLst/>
            </a:prstGeom>
            <a:noFill/>
            <a:ln/>
          </p:spPr>
          <p:txBody>
            <a:bodyPr wrap="square" lIns="0" tIns="0" rIns="0" bIns="0" rtlCol="0" anchor="ctr"/>
            <a:lstStyle/>
            <a:p>
              <a:pPr marL="0" indent="0" algn="ctr">
                <a:buNone/>
              </a:pPr>
              <a:r>
                <a:rPr lang="en-US" sz="1200" b="1" kern="0" spc="-24" dirty="0">
                  <a:solidFill>
                    <a:srgbClr val="4ADE80"/>
                  </a:solidFill>
                  <a:latin typeface="Arial" pitchFamily="34" charset="0"/>
                  <a:ea typeface="Arial" pitchFamily="34" charset="-122"/>
                  <a:cs typeface="Arial" pitchFamily="34" charset="-120"/>
                </a:rPr>
                <a:t>3</a:t>
              </a:r>
              <a:endParaRPr lang="en-US" sz="1200" dirty="0"/>
            </a:p>
          </p:txBody>
        </p:sp>
        <p:sp>
          <p:nvSpPr>
            <p:cNvPr id="77" name="reveal-1:5:text"/>
            <p:cNvSpPr/>
            <p:nvPr/>
          </p:nvSpPr>
          <p:spPr>
            <a:xfrm>
              <a:off x="7927182" y="2698909"/>
              <a:ext cx="2809161" cy="266700"/>
            </a:xfrm>
            <a:prstGeom prst="rect">
              <a:avLst/>
            </a:prstGeom>
            <a:noFill/>
            <a:ln/>
          </p:spPr>
          <p:txBody>
            <a:bodyPr wrap="square" lIns="0" tIns="0" rIns="0" bIns="0" rtlCol="0" anchor="ctr"/>
            <a:lstStyle/>
            <a:p>
              <a:pPr marL="0" indent="0" algn="l">
                <a:buNone/>
              </a:pPr>
              <a:r>
                <a:rPr lang="en-US" sz="1680" b="1" dirty="0">
                  <a:solidFill>
                    <a:srgbClr val="4ADE80"/>
                  </a:solidFill>
                  <a:latin typeface="Arial" pitchFamily="34" charset="0"/>
                  <a:ea typeface="Arial" pitchFamily="34" charset="-122"/>
                  <a:cs typeface="Arial" pitchFamily="34" charset="-120"/>
                </a:rPr>
                <a:t>Same gate</a:t>
              </a:r>
              <a:endParaRPr lang="en-US" sz="1680" dirty="0"/>
            </a:p>
          </p:txBody>
        </p:sp>
        <p:sp>
          <p:nvSpPr>
            <p:cNvPr id="78" name="reveal-1:6:text"/>
            <p:cNvSpPr/>
            <p:nvPr/>
          </p:nvSpPr>
          <p:spPr>
            <a:xfrm>
              <a:off x="7927182" y="3047881"/>
              <a:ext cx="2809161" cy="564123"/>
            </a:xfrm>
            <a:prstGeom prst="rect">
              <a:avLst/>
            </a:prstGeom>
            <a:noFill/>
            <a:ln/>
          </p:spPr>
          <p:txBody>
            <a:bodyPr wrap="square" lIns="0" tIns="0" rIns="0" bIns="0" rtlCol="0" anchor="t"/>
            <a:lstStyle/>
            <a:p>
              <a:pPr marL="0" indent="0" algn="l">
                <a:buNone/>
              </a:pPr>
              <a:r>
                <a:rPr lang="en-US" sz="1140" dirty="0">
                  <a:solidFill>
                    <a:srgbClr val="B0B0B0"/>
                  </a:solidFill>
                  <a:latin typeface="Arial" pitchFamily="34" charset="0"/>
                  <a:ea typeface="Arial" pitchFamily="34" charset="-122"/>
                  <a:cs typeface="Arial" pitchFamily="34" charset="-120"/>
                </a:rPr>
                <a:t>The next change, human or optimizer, runs against them.</a:t>
              </a:r>
              <a:endParaRPr lang="en-US" sz="1140" dirty="0"/>
            </a:p>
          </p:txBody>
        </p:sp>
        <p:sp>
          <p:nvSpPr>
            <p:cNvPr id="80" name="reveal-1:8:shape"/>
            <p:cNvSpPr/>
            <p:nvPr/>
          </p:nvSpPr>
          <p:spPr>
            <a:xfrm>
              <a:off x="7927182" y="3652004"/>
              <a:ext cx="2809161" cy="668640"/>
            </a:xfrm>
            <a:prstGeom prst="roundRect">
              <a:avLst>
                <a:gd name="adj" fmla="val 13889"/>
              </a:avLst>
            </a:prstGeom>
            <a:solidFill>
              <a:srgbClr val="FFFFFF">
                <a:alpha val="3000"/>
              </a:srgbClr>
            </a:solidFill>
            <a:ln w="12700">
              <a:solidFill>
                <a:srgbClr val="333333">
                  <a:alpha val="0"/>
                </a:srgbClr>
              </a:solidFill>
              <a:prstDash val="solid"/>
            </a:ln>
          </p:spPr>
          <p:txBody>
            <a:bodyPr/>
            <a:lstStyle/>
            <a:p>
              <a:endParaRPr lang="en-US"/>
            </a:p>
          </p:txBody>
        </p:sp>
        <p:sp>
          <p:nvSpPr>
            <p:cNvPr id="81" name="reveal-1:9:text"/>
            <p:cNvSpPr/>
            <p:nvPr/>
          </p:nvSpPr>
          <p:spPr>
            <a:xfrm>
              <a:off x="8033862" y="3732004"/>
              <a:ext cx="2595801" cy="508640"/>
            </a:xfrm>
            <a:prstGeom prst="rect">
              <a:avLst/>
            </a:prstGeom>
            <a:noFill/>
            <a:ln/>
          </p:spPr>
          <p:txBody>
            <a:bodyPr wrap="square" lIns="0" tIns="0" rIns="0" bIns="0" rtlCol="0" anchor="t"/>
            <a:lstStyle/>
            <a:p>
              <a:pPr marL="0" indent="0" algn="l">
                <a:buNone/>
              </a:pPr>
              <a:r>
                <a:rPr lang="en-US" sz="900" b="1" dirty="0">
                  <a:solidFill>
                    <a:srgbClr val="DEDEDE"/>
                  </a:solidFill>
                  <a:latin typeface="Arial" pitchFamily="34" charset="0"/>
                  <a:ea typeface="Arial" pitchFamily="34" charset="-122"/>
                  <a:cs typeface="Arial" pitchFamily="34" charset="-120"/>
                </a:rPr>
                <a:t>Every production failure becomes a test.</a:t>
              </a:r>
              <a:endParaRPr lang="en-US" sz="900" dirty="0"/>
            </a:p>
          </p:txBody>
        </p:sp>
      </p:grpSp>
      <p:sp>
        <p:nvSpPr>
          <p:cNvPr id="50" name="static:47: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51" name="static:48:text"/>
          <p:cNvSpPr/>
          <p:nvPr/>
        </p:nvSpPr>
        <p:spPr>
          <a:xfrm>
            <a:off x="10457736" y="6461760"/>
            <a:ext cx="1216104"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17</a:t>
            </a:r>
            <a:endParaRPr lang="en-US" sz="72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Worth exploring next">
    <p:spTree>
      <p:nvGrpSpPr>
        <p:cNvPr id="1" name=""/>
        <p:cNvGrpSpPr/>
        <p:nvPr/>
      </p:nvGrpSpPr>
      <p:grpSpPr>
        <a:xfrm>
          <a:off x="0" y="0"/>
          <a:ext cx="0" cy="0"/>
          <a:chOff x="0" y="0"/>
          <a:chExt cx="0" cy="0"/>
        </a:xfrm>
      </p:grpSpPr>
      <p:sp>
        <p:nvSpPr>
          <p:cNvPr id="2" name="static:0:text"/>
          <p:cNvSpPr/>
          <p:nvPr/>
        </p:nvSpPr>
        <p:spPr>
          <a:xfrm>
            <a:off x="2727960" y="870109"/>
            <a:ext cx="2479715" cy="152400"/>
          </a:xfrm>
          <a:prstGeom prst="rect">
            <a:avLst/>
          </a:prstGeom>
          <a:noFill/>
          <a:ln/>
        </p:spPr>
        <p:txBody>
          <a:bodyPr wrap="none" lIns="0" tIns="0" rIns="0" bIns="0" rtlCol="0" anchor="ctr"/>
          <a:lstStyle/>
          <a:p>
            <a:pPr marL="0" indent="0" algn="l">
              <a:buNone/>
            </a:pPr>
            <a:r>
              <a:rPr lang="en-US" sz="960" b="1" kern="0" spc="154" dirty="0">
                <a:solidFill>
                  <a:srgbClr val="4DA6FF"/>
                </a:solidFill>
                <a:latin typeface="Arial" pitchFamily="34" charset="0"/>
                <a:ea typeface="Arial" pitchFamily="34" charset="-122"/>
                <a:cs typeface="Arial" pitchFamily="34" charset="-120"/>
              </a:rPr>
              <a:t>MORE IN MICROSOFT FOUNDRY</a:t>
            </a:r>
            <a:endParaRPr lang="en-US" sz="960" dirty="0"/>
          </a:p>
        </p:txBody>
      </p:sp>
      <p:sp>
        <p:nvSpPr>
          <p:cNvPr id="3" name="static:1:text"/>
          <p:cNvSpPr/>
          <p:nvPr/>
        </p:nvSpPr>
        <p:spPr>
          <a:xfrm>
            <a:off x="975360" y="1068229"/>
            <a:ext cx="3094530" cy="411480"/>
          </a:xfrm>
          <a:prstGeom prst="rect">
            <a:avLst/>
          </a:prstGeom>
          <a:noFill/>
          <a:ln/>
        </p:spPr>
        <p:txBody>
          <a:bodyPr wrap="none" lIns="0" tIns="0" rIns="0" bIns="0" rtlCol="0" anchor="ctr"/>
          <a:lstStyle/>
          <a:p>
            <a:pPr marL="0" indent="0" algn="l">
              <a:buNone/>
            </a:pPr>
            <a:r>
              <a:rPr lang="en-US" sz="2640" b="1" kern="0" spc="-92" dirty="0">
                <a:solidFill>
                  <a:srgbClr val="DEDEDE"/>
                </a:solidFill>
                <a:latin typeface="Arial" pitchFamily="34" charset="0"/>
                <a:ea typeface="Arial" pitchFamily="34" charset="-122"/>
                <a:cs typeface="Arial" pitchFamily="34" charset="-120"/>
              </a:rPr>
              <a:t>Worth exploring next</a:t>
            </a:r>
            <a:endParaRPr lang="en-US" sz="2640" dirty="0"/>
          </a:p>
        </p:txBody>
      </p:sp>
      <p:sp>
        <p:nvSpPr>
          <p:cNvPr id="4" name="static:2:text"/>
          <p:cNvSpPr/>
          <p:nvPr/>
        </p:nvSpPr>
        <p:spPr>
          <a:xfrm>
            <a:off x="975360" y="2251234"/>
            <a:ext cx="348377" cy="266700"/>
          </a:xfrm>
          <a:prstGeom prst="rect">
            <a:avLst/>
          </a:prstGeom>
          <a:noFill/>
          <a:ln/>
        </p:spPr>
        <p:txBody>
          <a:bodyPr wrap="none" lIns="0" tIns="0" rIns="0" bIns="0" rtlCol="0" anchor="ctr"/>
          <a:lstStyle/>
          <a:p>
            <a:pPr marL="0" indent="0" algn="l">
              <a:buNone/>
            </a:pPr>
            <a:r>
              <a:rPr lang="en-US" sz="1680" b="1" dirty="0">
                <a:solidFill>
                  <a:srgbClr val="4DA6FF"/>
                </a:solidFill>
                <a:latin typeface="Arial" pitchFamily="34" charset="0"/>
                <a:ea typeface="Arial" pitchFamily="34" charset="-122"/>
                <a:cs typeface="Arial" pitchFamily="34" charset="-120"/>
              </a:rPr>
              <a:t>01</a:t>
            </a:r>
            <a:endParaRPr lang="en-US" sz="1680" dirty="0"/>
          </a:p>
        </p:txBody>
      </p:sp>
      <p:sp>
        <p:nvSpPr>
          <p:cNvPr id="5" name="static:3:text"/>
          <p:cNvSpPr/>
          <p:nvPr/>
        </p:nvSpPr>
        <p:spPr>
          <a:xfrm>
            <a:off x="975360" y="2578894"/>
            <a:ext cx="1962507" cy="266700"/>
          </a:xfrm>
          <a:prstGeom prst="rect">
            <a:avLst/>
          </a:prstGeom>
          <a:noFill/>
          <a:ln/>
        </p:spPr>
        <p:txBody>
          <a:bodyPr wrap="none" lIns="0" tIns="0" rIns="0" bIns="0" rtlCol="0" anchor="ctr"/>
          <a:lstStyle/>
          <a:p>
            <a:pPr marL="0" indent="0" algn="l">
              <a:buNone/>
            </a:pPr>
            <a:r>
              <a:rPr lang="en-US" sz="1680" b="1" dirty="0">
                <a:solidFill>
                  <a:srgbClr val="DEDEDE"/>
                </a:solidFill>
                <a:latin typeface="Arial" pitchFamily="34" charset="0"/>
                <a:ea typeface="Arial" pitchFamily="34" charset="-122"/>
                <a:cs typeface="Arial" pitchFamily="34" charset="-120"/>
              </a:rPr>
              <a:t>Human Annotation</a:t>
            </a:r>
            <a:endParaRPr lang="en-US" sz="1680" dirty="0"/>
          </a:p>
        </p:txBody>
      </p:sp>
      <p:sp>
        <p:nvSpPr>
          <p:cNvPr id="6" name="static:4:text"/>
          <p:cNvSpPr/>
          <p:nvPr/>
        </p:nvSpPr>
        <p:spPr>
          <a:xfrm>
            <a:off x="975360" y="2912626"/>
            <a:ext cx="2510076" cy="190500"/>
          </a:xfrm>
          <a:prstGeom prst="rect">
            <a:avLst/>
          </a:prstGeom>
          <a:noFill/>
          <a:ln/>
        </p:spPr>
        <p:txBody>
          <a:bodyPr wrap="none" lIns="0" tIns="0" rIns="0" bIns="0" rtlCol="0" anchor="ctr"/>
          <a:lstStyle/>
          <a:p>
            <a:pPr marL="0" indent="0" algn="l">
              <a:buNone/>
            </a:pPr>
            <a:r>
              <a:rPr lang="en-US" sz="1200" dirty="0">
                <a:solidFill>
                  <a:srgbClr val="B0B0B0"/>
                </a:solidFill>
                <a:latin typeface="Arial" pitchFamily="34" charset="0"/>
                <a:ea typeface="Arial" pitchFamily="34" charset="-122"/>
                <a:cs typeface="Arial" pitchFamily="34" charset="-120"/>
              </a:rPr>
              <a:t>Bring domain experts into evaluation</a:t>
            </a:r>
            <a:endParaRPr lang="en-US" sz="1200" dirty="0"/>
          </a:p>
        </p:txBody>
      </p:sp>
      <p:sp>
        <p:nvSpPr>
          <p:cNvPr id="7" name="static:5:text"/>
          <p:cNvSpPr/>
          <p:nvPr/>
        </p:nvSpPr>
        <p:spPr>
          <a:xfrm>
            <a:off x="4256961" y="2251234"/>
            <a:ext cx="374690" cy="266700"/>
          </a:xfrm>
          <a:prstGeom prst="rect">
            <a:avLst/>
          </a:prstGeom>
          <a:noFill/>
          <a:ln/>
        </p:spPr>
        <p:txBody>
          <a:bodyPr wrap="none" lIns="0" tIns="0" rIns="0" bIns="0" rtlCol="0" anchor="ctr"/>
          <a:lstStyle/>
          <a:p>
            <a:pPr marL="0" indent="0" algn="l">
              <a:buNone/>
            </a:pPr>
            <a:r>
              <a:rPr lang="en-US" sz="1680" b="1" dirty="0">
                <a:solidFill>
                  <a:srgbClr val="FD8EA1"/>
                </a:solidFill>
                <a:latin typeface="Arial" pitchFamily="34" charset="0"/>
                <a:ea typeface="Arial" pitchFamily="34" charset="-122"/>
                <a:cs typeface="Arial" pitchFamily="34" charset="-120"/>
              </a:rPr>
              <a:t>02</a:t>
            </a:r>
            <a:endParaRPr lang="en-US" sz="1680" dirty="0"/>
          </a:p>
        </p:txBody>
      </p:sp>
      <p:sp>
        <p:nvSpPr>
          <p:cNvPr id="8" name="static:6:text"/>
          <p:cNvSpPr/>
          <p:nvPr/>
        </p:nvSpPr>
        <p:spPr>
          <a:xfrm>
            <a:off x="4256961" y="2578894"/>
            <a:ext cx="2031682" cy="266700"/>
          </a:xfrm>
          <a:prstGeom prst="rect">
            <a:avLst/>
          </a:prstGeom>
          <a:noFill/>
          <a:ln/>
        </p:spPr>
        <p:txBody>
          <a:bodyPr wrap="none" lIns="0" tIns="0" rIns="0" bIns="0" rtlCol="0" anchor="ctr"/>
          <a:lstStyle/>
          <a:p>
            <a:pPr marL="0" indent="0" algn="l">
              <a:buNone/>
            </a:pPr>
            <a:r>
              <a:rPr lang="en-US" sz="1680" b="1" dirty="0">
                <a:solidFill>
                  <a:srgbClr val="DEDEDE"/>
                </a:solidFill>
                <a:latin typeface="Arial" pitchFamily="34" charset="0"/>
                <a:ea typeface="Arial" pitchFamily="34" charset="-122"/>
                <a:cs typeface="Arial" pitchFamily="34" charset="-120"/>
              </a:rPr>
              <a:t>Synthetic Test Data</a:t>
            </a:r>
            <a:endParaRPr lang="en-US" sz="1680" dirty="0"/>
          </a:p>
        </p:txBody>
      </p:sp>
      <p:sp>
        <p:nvSpPr>
          <p:cNvPr id="9" name="static:7:text"/>
          <p:cNvSpPr/>
          <p:nvPr/>
        </p:nvSpPr>
        <p:spPr>
          <a:xfrm>
            <a:off x="4256961" y="2912626"/>
            <a:ext cx="1836182" cy="190500"/>
          </a:xfrm>
          <a:prstGeom prst="rect">
            <a:avLst/>
          </a:prstGeom>
          <a:noFill/>
          <a:ln/>
        </p:spPr>
        <p:txBody>
          <a:bodyPr wrap="none" lIns="0" tIns="0" rIns="0" bIns="0" rtlCol="0" anchor="ctr"/>
          <a:lstStyle/>
          <a:p>
            <a:pPr marL="0" indent="0" algn="l">
              <a:buNone/>
            </a:pPr>
            <a:r>
              <a:rPr lang="en-US" sz="1200" dirty="0">
                <a:solidFill>
                  <a:srgbClr val="B0B0B0"/>
                </a:solidFill>
                <a:latin typeface="Arial" pitchFamily="34" charset="0"/>
                <a:ea typeface="Arial" pitchFamily="34" charset="-122"/>
                <a:cs typeface="Arial" pitchFamily="34" charset="-120"/>
              </a:rPr>
              <a:t>Expand the cases you test</a:t>
            </a:r>
            <a:endParaRPr lang="en-US" sz="1200" dirty="0"/>
          </a:p>
        </p:txBody>
      </p:sp>
      <p:sp>
        <p:nvSpPr>
          <p:cNvPr id="10" name="static:8:text"/>
          <p:cNvSpPr/>
          <p:nvPr/>
        </p:nvSpPr>
        <p:spPr>
          <a:xfrm>
            <a:off x="7538680" y="2251234"/>
            <a:ext cx="380881" cy="266700"/>
          </a:xfrm>
          <a:prstGeom prst="rect">
            <a:avLst/>
          </a:prstGeom>
          <a:noFill/>
          <a:ln/>
        </p:spPr>
        <p:txBody>
          <a:bodyPr wrap="none" lIns="0" tIns="0" rIns="0" bIns="0" rtlCol="0" anchor="ctr"/>
          <a:lstStyle/>
          <a:p>
            <a:pPr marL="0" indent="0" algn="l">
              <a:buNone/>
            </a:pPr>
            <a:r>
              <a:rPr lang="en-US" sz="1680" b="1" dirty="0">
                <a:solidFill>
                  <a:srgbClr val="FBBF24"/>
                </a:solidFill>
                <a:latin typeface="Arial" pitchFamily="34" charset="0"/>
                <a:ea typeface="Arial" pitchFamily="34" charset="-122"/>
                <a:cs typeface="Arial" pitchFamily="34" charset="-120"/>
              </a:rPr>
              <a:t>03</a:t>
            </a:r>
            <a:endParaRPr lang="en-US" sz="1680" dirty="0"/>
          </a:p>
        </p:txBody>
      </p:sp>
      <p:sp>
        <p:nvSpPr>
          <p:cNvPr id="11" name="static:9:text"/>
          <p:cNvSpPr/>
          <p:nvPr/>
        </p:nvSpPr>
        <p:spPr>
          <a:xfrm>
            <a:off x="7538680" y="2578894"/>
            <a:ext cx="1626156" cy="266700"/>
          </a:xfrm>
          <a:prstGeom prst="rect">
            <a:avLst/>
          </a:prstGeom>
          <a:noFill/>
          <a:ln/>
        </p:spPr>
        <p:txBody>
          <a:bodyPr wrap="none" lIns="0" tIns="0" rIns="0" bIns="0" rtlCol="0" anchor="ctr"/>
          <a:lstStyle/>
          <a:p>
            <a:pPr marL="0" indent="0" algn="l">
              <a:buNone/>
            </a:pPr>
            <a:r>
              <a:rPr lang="en-US" sz="1680" b="1" dirty="0">
                <a:solidFill>
                  <a:srgbClr val="DEDEDE"/>
                </a:solidFill>
                <a:latin typeface="Arial" pitchFamily="34" charset="0"/>
                <a:ea typeface="Arial" pitchFamily="34" charset="-122"/>
                <a:cs typeface="Arial" pitchFamily="34" charset="-120"/>
              </a:rPr>
              <a:t>AI Red Teaming</a:t>
            </a:r>
            <a:endParaRPr lang="en-US" sz="1680" dirty="0"/>
          </a:p>
        </p:txBody>
      </p:sp>
      <p:sp>
        <p:nvSpPr>
          <p:cNvPr id="12" name="static:10:text"/>
          <p:cNvSpPr/>
          <p:nvPr/>
        </p:nvSpPr>
        <p:spPr>
          <a:xfrm>
            <a:off x="7538680" y="2912626"/>
            <a:ext cx="1828681" cy="190500"/>
          </a:xfrm>
          <a:prstGeom prst="rect">
            <a:avLst/>
          </a:prstGeom>
          <a:noFill/>
          <a:ln/>
        </p:spPr>
        <p:txBody>
          <a:bodyPr wrap="none" lIns="0" tIns="0" rIns="0" bIns="0" rtlCol="0" anchor="ctr"/>
          <a:lstStyle/>
          <a:p>
            <a:pPr marL="0" indent="0" algn="l">
              <a:buNone/>
            </a:pPr>
            <a:r>
              <a:rPr lang="en-US" sz="1200" dirty="0">
                <a:solidFill>
                  <a:srgbClr val="B0B0B0"/>
                </a:solidFill>
                <a:latin typeface="Arial" pitchFamily="34" charset="0"/>
                <a:ea typeface="Arial" pitchFamily="34" charset="-122"/>
                <a:cs typeface="Arial" pitchFamily="34" charset="-120"/>
              </a:rPr>
              <a:t>Test adversarial behaviour</a:t>
            </a:r>
            <a:endParaRPr lang="en-US" sz="1200" dirty="0"/>
          </a:p>
        </p:txBody>
      </p:sp>
      <p:sp>
        <p:nvSpPr>
          <p:cNvPr id="13" name="static:11:text"/>
          <p:cNvSpPr/>
          <p:nvPr/>
        </p:nvSpPr>
        <p:spPr>
          <a:xfrm>
            <a:off x="975360" y="3622834"/>
            <a:ext cx="385286" cy="266700"/>
          </a:xfrm>
          <a:prstGeom prst="rect">
            <a:avLst/>
          </a:prstGeom>
          <a:noFill/>
          <a:ln/>
        </p:spPr>
        <p:txBody>
          <a:bodyPr wrap="none" lIns="0" tIns="0" rIns="0" bIns="0" rtlCol="0" anchor="ctr"/>
          <a:lstStyle/>
          <a:p>
            <a:pPr marL="0" indent="0" algn="l">
              <a:buNone/>
            </a:pPr>
            <a:r>
              <a:rPr lang="en-US" sz="1680" b="1" dirty="0">
                <a:solidFill>
                  <a:srgbClr val="4ADE80"/>
                </a:solidFill>
                <a:latin typeface="Arial" pitchFamily="34" charset="0"/>
                <a:ea typeface="Arial" pitchFamily="34" charset="-122"/>
                <a:cs typeface="Arial" pitchFamily="34" charset="-120"/>
              </a:rPr>
              <a:t>04</a:t>
            </a:r>
            <a:endParaRPr lang="en-US" sz="1680" dirty="0"/>
          </a:p>
        </p:txBody>
      </p:sp>
      <p:sp>
        <p:nvSpPr>
          <p:cNvPr id="14" name="static:12:text"/>
          <p:cNvSpPr/>
          <p:nvPr/>
        </p:nvSpPr>
        <p:spPr>
          <a:xfrm>
            <a:off x="975360" y="3950494"/>
            <a:ext cx="1121212" cy="266700"/>
          </a:xfrm>
          <a:prstGeom prst="rect">
            <a:avLst/>
          </a:prstGeom>
          <a:noFill/>
          <a:ln/>
        </p:spPr>
        <p:txBody>
          <a:bodyPr wrap="none" lIns="0" tIns="0" rIns="0" bIns="0" rtlCol="0" anchor="ctr"/>
          <a:lstStyle/>
          <a:p>
            <a:pPr marL="0" indent="0" algn="l">
              <a:buNone/>
            </a:pPr>
            <a:r>
              <a:rPr lang="en-US" sz="1680" b="1" dirty="0">
                <a:solidFill>
                  <a:srgbClr val="DEDEDE"/>
                </a:solidFill>
                <a:latin typeface="Arial" pitchFamily="34" charset="0"/>
                <a:ea typeface="Arial" pitchFamily="34" charset="-122"/>
                <a:cs typeface="Arial" pitchFamily="34" charset="-120"/>
              </a:rPr>
              <a:t>Guardrails</a:t>
            </a:r>
            <a:endParaRPr lang="en-US" sz="1680" dirty="0"/>
          </a:p>
        </p:txBody>
      </p:sp>
      <p:sp>
        <p:nvSpPr>
          <p:cNvPr id="15" name="static:13:text"/>
          <p:cNvSpPr/>
          <p:nvPr/>
        </p:nvSpPr>
        <p:spPr>
          <a:xfrm>
            <a:off x="975360" y="4284226"/>
            <a:ext cx="2325291" cy="190500"/>
          </a:xfrm>
          <a:prstGeom prst="rect">
            <a:avLst/>
          </a:prstGeom>
          <a:noFill/>
          <a:ln/>
        </p:spPr>
        <p:txBody>
          <a:bodyPr wrap="none" lIns="0" tIns="0" rIns="0" bIns="0" rtlCol="0" anchor="ctr"/>
          <a:lstStyle/>
          <a:p>
            <a:pPr marL="0" indent="0" algn="l">
              <a:buNone/>
            </a:pPr>
            <a:r>
              <a:rPr lang="en-US" sz="1200" dirty="0">
                <a:solidFill>
                  <a:srgbClr val="B0B0B0"/>
                </a:solidFill>
                <a:latin typeface="Arial" pitchFamily="34" charset="0"/>
                <a:ea typeface="Arial" pitchFamily="34" charset="-122"/>
                <a:cs typeface="Arial" pitchFamily="34" charset="-120"/>
              </a:rPr>
              <a:t>Protect inputs and tool responses</a:t>
            </a:r>
            <a:endParaRPr lang="en-US" sz="1200" dirty="0"/>
          </a:p>
        </p:txBody>
      </p:sp>
      <p:sp>
        <p:nvSpPr>
          <p:cNvPr id="16" name="static:14:text"/>
          <p:cNvSpPr/>
          <p:nvPr/>
        </p:nvSpPr>
        <p:spPr>
          <a:xfrm>
            <a:off x="4256961" y="3622834"/>
            <a:ext cx="378619" cy="266700"/>
          </a:xfrm>
          <a:prstGeom prst="rect">
            <a:avLst/>
          </a:prstGeom>
          <a:noFill/>
          <a:ln/>
        </p:spPr>
        <p:txBody>
          <a:bodyPr wrap="none" lIns="0" tIns="0" rIns="0" bIns="0" rtlCol="0" anchor="ctr"/>
          <a:lstStyle/>
          <a:p>
            <a:pPr marL="0" indent="0" algn="l">
              <a:buNone/>
            </a:pPr>
            <a:r>
              <a:rPr lang="en-US" sz="1680" b="1" dirty="0">
                <a:solidFill>
                  <a:srgbClr val="F87171"/>
                </a:solidFill>
                <a:latin typeface="Arial" pitchFamily="34" charset="0"/>
                <a:ea typeface="Arial" pitchFamily="34" charset="-122"/>
                <a:cs typeface="Arial" pitchFamily="34" charset="-120"/>
              </a:rPr>
              <a:t>05</a:t>
            </a:r>
            <a:endParaRPr lang="en-US" sz="1680" dirty="0"/>
          </a:p>
        </p:txBody>
      </p:sp>
      <p:sp>
        <p:nvSpPr>
          <p:cNvPr id="17" name="static:15:text"/>
          <p:cNvSpPr/>
          <p:nvPr/>
        </p:nvSpPr>
        <p:spPr>
          <a:xfrm>
            <a:off x="4256961" y="3950494"/>
            <a:ext cx="2318385" cy="266700"/>
          </a:xfrm>
          <a:prstGeom prst="rect">
            <a:avLst/>
          </a:prstGeom>
          <a:noFill/>
          <a:ln/>
        </p:spPr>
        <p:txBody>
          <a:bodyPr wrap="none" lIns="0" tIns="0" rIns="0" bIns="0" rtlCol="0" anchor="ctr"/>
          <a:lstStyle/>
          <a:p>
            <a:pPr marL="0" indent="0" algn="l">
              <a:buNone/>
            </a:pPr>
            <a:r>
              <a:rPr lang="en-US" sz="1680" b="1" dirty="0">
                <a:solidFill>
                  <a:srgbClr val="DEDEDE"/>
                </a:solidFill>
                <a:latin typeface="Arial" pitchFamily="34" charset="0"/>
                <a:ea typeface="Arial" pitchFamily="34" charset="-122"/>
                <a:cs typeface="Arial" pitchFamily="34" charset="-120"/>
              </a:rPr>
              <a:t>Identity &amp; Permissions</a:t>
            </a:r>
            <a:endParaRPr lang="en-US" sz="1680" dirty="0"/>
          </a:p>
        </p:txBody>
      </p:sp>
      <p:sp>
        <p:nvSpPr>
          <p:cNvPr id="18" name="static:16:text"/>
          <p:cNvSpPr/>
          <p:nvPr/>
        </p:nvSpPr>
        <p:spPr>
          <a:xfrm>
            <a:off x="4256961" y="4284226"/>
            <a:ext cx="2229922" cy="190500"/>
          </a:xfrm>
          <a:prstGeom prst="rect">
            <a:avLst/>
          </a:prstGeom>
          <a:noFill/>
          <a:ln/>
        </p:spPr>
        <p:txBody>
          <a:bodyPr wrap="none" lIns="0" tIns="0" rIns="0" bIns="0" rtlCol="0" anchor="ctr"/>
          <a:lstStyle/>
          <a:p>
            <a:pPr marL="0" indent="0" algn="l">
              <a:buNone/>
            </a:pPr>
            <a:r>
              <a:rPr lang="en-US" sz="1200" dirty="0">
                <a:solidFill>
                  <a:srgbClr val="B0B0B0"/>
                </a:solidFill>
                <a:latin typeface="Arial" pitchFamily="34" charset="0"/>
                <a:ea typeface="Arial" pitchFamily="34" charset="-122"/>
                <a:cs typeface="Arial" pitchFamily="34" charset="-120"/>
              </a:rPr>
              <a:t>Limit what the agent can access</a:t>
            </a:r>
            <a:endParaRPr lang="en-US" sz="1200" dirty="0"/>
          </a:p>
        </p:txBody>
      </p:sp>
      <p:sp>
        <p:nvSpPr>
          <p:cNvPr id="19" name="static:17:text"/>
          <p:cNvSpPr/>
          <p:nvPr/>
        </p:nvSpPr>
        <p:spPr>
          <a:xfrm>
            <a:off x="7538680" y="3622834"/>
            <a:ext cx="385405" cy="266700"/>
          </a:xfrm>
          <a:prstGeom prst="rect">
            <a:avLst/>
          </a:prstGeom>
          <a:noFill/>
          <a:ln/>
        </p:spPr>
        <p:txBody>
          <a:bodyPr wrap="none" lIns="0" tIns="0" rIns="0" bIns="0" rtlCol="0" anchor="ctr"/>
          <a:lstStyle/>
          <a:p>
            <a:pPr marL="0" indent="0" algn="l">
              <a:buNone/>
            </a:pPr>
            <a:r>
              <a:rPr lang="en-US" sz="1680" b="1" dirty="0">
                <a:solidFill>
                  <a:srgbClr val="4DA6FF"/>
                </a:solidFill>
                <a:latin typeface="Arial" pitchFamily="34" charset="0"/>
                <a:ea typeface="Arial" pitchFamily="34" charset="-122"/>
                <a:cs typeface="Arial" pitchFamily="34" charset="-120"/>
              </a:rPr>
              <a:t>06</a:t>
            </a:r>
            <a:endParaRPr lang="en-US" sz="1680" dirty="0"/>
          </a:p>
        </p:txBody>
      </p:sp>
      <p:sp>
        <p:nvSpPr>
          <p:cNvPr id="20" name="static:18:text"/>
          <p:cNvSpPr/>
          <p:nvPr/>
        </p:nvSpPr>
        <p:spPr>
          <a:xfrm>
            <a:off x="7538680" y="3950494"/>
            <a:ext cx="1861423" cy="266700"/>
          </a:xfrm>
          <a:prstGeom prst="rect">
            <a:avLst/>
          </a:prstGeom>
          <a:noFill/>
          <a:ln/>
        </p:spPr>
        <p:txBody>
          <a:bodyPr wrap="none" lIns="0" tIns="0" rIns="0" bIns="0" rtlCol="0" anchor="ctr"/>
          <a:lstStyle/>
          <a:p>
            <a:pPr marL="0" indent="0" algn="l">
              <a:buNone/>
            </a:pPr>
            <a:r>
              <a:rPr lang="en-US" sz="1680" b="1" dirty="0">
                <a:solidFill>
                  <a:srgbClr val="DEDEDE"/>
                </a:solidFill>
                <a:latin typeface="Arial" pitchFamily="34" charset="0"/>
                <a:ea typeface="Arial" pitchFamily="34" charset="-122"/>
                <a:cs typeface="Arial" pitchFamily="34" charset="-120"/>
              </a:rPr>
              <a:t>Human Approvals</a:t>
            </a:r>
            <a:endParaRPr lang="en-US" sz="1680" dirty="0"/>
          </a:p>
        </p:txBody>
      </p:sp>
      <p:sp>
        <p:nvSpPr>
          <p:cNvPr id="21" name="static:19:text"/>
          <p:cNvSpPr/>
          <p:nvPr/>
        </p:nvSpPr>
        <p:spPr>
          <a:xfrm>
            <a:off x="7538680" y="4284226"/>
            <a:ext cx="2269450" cy="190500"/>
          </a:xfrm>
          <a:prstGeom prst="rect">
            <a:avLst/>
          </a:prstGeom>
          <a:noFill/>
          <a:ln/>
        </p:spPr>
        <p:txBody>
          <a:bodyPr wrap="none" lIns="0" tIns="0" rIns="0" bIns="0" rtlCol="0" anchor="ctr"/>
          <a:lstStyle/>
          <a:p>
            <a:pPr marL="0" indent="0" algn="l">
              <a:buNone/>
            </a:pPr>
            <a:r>
              <a:rPr lang="en-US" sz="1200" dirty="0">
                <a:solidFill>
                  <a:srgbClr val="B0B0B0"/>
                </a:solidFill>
                <a:latin typeface="Arial" pitchFamily="34" charset="0"/>
                <a:ea typeface="Arial" pitchFamily="34" charset="-122"/>
                <a:cs typeface="Arial" pitchFamily="34" charset="-120"/>
              </a:rPr>
              <a:t>Keep people in control of actions</a:t>
            </a:r>
            <a:endParaRPr lang="en-US" sz="1200" dirty="0"/>
          </a:p>
        </p:txBody>
      </p:sp>
      <p:sp>
        <p:nvSpPr>
          <p:cNvPr id="22" name="static:20: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23" name="static:21:text"/>
          <p:cNvSpPr/>
          <p:nvPr/>
        </p:nvSpPr>
        <p:spPr>
          <a:xfrm>
            <a:off x="10463927" y="6461760"/>
            <a:ext cx="1209913"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18</a:t>
            </a:r>
            <a:endParaRPr lang="en-US" sz="7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Build measure improve repeat">
    <p:spTree>
      <p:nvGrpSpPr>
        <p:cNvPr id="1" name=""/>
        <p:cNvGrpSpPr/>
        <p:nvPr/>
      </p:nvGrpSpPr>
      <p:grpSpPr>
        <a:xfrm>
          <a:off x="0" y="0"/>
          <a:ext cx="0" cy="0"/>
          <a:chOff x="0" y="0"/>
          <a:chExt cx="0" cy="0"/>
        </a:xfrm>
      </p:grpSpPr>
      <p:sp>
        <p:nvSpPr>
          <p:cNvPr id="2" name="static:0:text"/>
          <p:cNvSpPr/>
          <p:nvPr/>
        </p:nvSpPr>
        <p:spPr>
          <a:xfrm>
            <a:off x="975360" y="2343626"/>
            <a:ext cx="496133" cy="190500"/>
          </a:xfrm>
          <a:prstGeom prst="rect">
            <a:avLst/>
          </a:prstGeom>
          <a:noFill/>
          <a:ln/>
        </p:spPr>
        <p:txBody>
          <a:bodyPr wrap="none" lIns="0" tIns="0" rIns="0" bIns="0" rtlCol="0" anchor="ctr"/>
          <a:lstStyle/>
          <a:p>
            <a:pPr marL="0" indent="0" algn="l">
              <a:buNone/>
            </a:pPr>
            <a:r>
              <a:rPr lang="en-US" sz="1200" b="1" kern="0" spc="180" dirty="0">
                <a:solidFill>
                  <a:srgbClr val="4DA6FF"/>
                </a:solidFill>
                <a:latin typeface="Arial" pitchFamily="34" charset="0"/>
                <a:ea typeface="Arial" pitchFamily="34" charset="-122"/>
                <a:cs typeface="Arial" pitchFamily="34" charset="-120"/>
              </a:rPr>
              <a:t>Q&amp;A</a:t>
            </a:r>
            <a:endParaRPr lang="en-US" sz="1200" dirty="0"/>
          </a:p>
        </p:txBody>
      </p:sp>
      <p:sp>
        <p:nvSpPr>
          <p:cNvPr id="3" name="static:1:text"/>
          <p:cNvSpPr/>
          <p:nvPr/>
        </p:nvSpPr>
        <p:spPr>
          <a:xfrm>
            <a:off x="975360" y="2640806"/>
            <a:ext cx="8494705" cy="624840"/>
          </a:xfrm>
          <a:prstGeom prst="rect">
            <a:avLst/>
          </a:prstGeom>
          <a:noFill/>
          <a:ln/>
        </p:spPr>
        <p:txBody>
          <a:bodyPr wrap="none" lIns="0" tIns="0" rIns="0" bIns="0" rtlCol="0" anchor="ctr"/>
          <a:lstStyle/>
          <a:p>
            <a:pPr marL="0" indent="0" algn="l">
              <a:buNone/>
            </a:pPr>
            <a:r>
              <a:rPr lang="en-US" sz="4080" b="1" kern="0" spc="-143" dirty="0">
                <a:solidFill>
                  <a:srgbClr val="DEDEDE"/>
                </a:solidFill>
                <a:latin typeface="Arial" pitchFamily="34" charset="0"/>
                <a:ea typeface="Arial" pitchFamily="34" charset="-122"/>
                <a:cs typeface="Arial" pitchFamily="34" charset="-120"/>
              </a:rPr>
              <a:t>Build → Measure → Improve → Repeat</a:t>
            </a:r>
            <a:endParaRPr lang="en-US" sz="4080" dirty="0"/>
          </a:p>
        </p:txBody>
      </p:sp>
      <p:sp>
        <p:nvSpPr>
          <p:cNvPr id="4" name="static:2:text"/>
          <p:cNvSpPr/>
          <p:nvPr/>
        </p:nvSpPr>
        <p:spPr>
          <a:xfrm>
            <a:off x="975360" y="3387566"/>
            <a:ext cx="5526524"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One working agent. Consistent answers. Measured trade-offs.</a:t>
            </a:r>
            <a:endParaRPr lang="en-US" sz="1620" dirty="0"/>
          </a:p>
        </p:txBody>
      </p:sp>
      <p:sp>
        <p:nvSpPr>
          <p:cNvPr id="5" name="static:3:text"/>
          <p:cNvSpPr/>
          <p:nvPr/>
        </p:nvSpPr>
        <p:spPr>
          <a:xfrm>
            <a:off x="975360" y="3665220"/>
            <a:ext cx="2498288" cy="259080"/>
          </a:xfrm>
          <a:prstGeom prst="rect">
            <a:avLst/>
          </a:prstGeom>
          <a:noFill/>
          <a:ln/>
        </p:spPr>
        <p:txBody>
          <a:bodyPr wrap="none" lIns="0" tIns="0" rIns="0" bIns="0" rtlCol="0" anchor="ctr"/>
          <a:lstStyle/>
          <a:p>
            <a:pPr marL="0" indent="0" algn="l">
              <a:buNone/>
            </a:pPr>
            <a:r>
              <a:rPr lang="en-US" sz="1620" dirty="0">
                <a:solidFill>
                  <a:srgbClr val="B0B0B0"/>
                </a:solidFill>
                <a:latin typeface="Arial" pitchFamily="34" charset="0"/>
                <a:ea typeface="Arial" pitchFamily="34" charset="-122"/>
                <a:cs typeface="Arial" pitchFamily="34" charset="-120"/>
              </a:rPr>
              <a:t>Repeatable release checks.</a:t>
            </a:r>
            <a:endParaRPr lang="en-US" sz="1620" dirty="0"/>
          </a:p>
        </p:txBody>
      </p:sp>
      <p:sp>
        <p:nvSpPr>
          <p:cNvPr id="6" name="static:4:text"/>
          <p:cNvSpPr/>
          <p:nvPr/>
        </p:nvSpPr>
        <p:spPr>
          <a:xfrm>
            <a:off x="609600" y="6461760"/>
            <a:ext cx="1539240"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FY27 AI GENIUS</a:t>
            </a:r>
            <a:endParaRPr lang="en-US" sz="720" dirty="0"/>
          </a:p>
        </p:txBody>
      </p:sp>
      <p:sp>
        <p:nvSpPr>
          <p:cNvPr id="7" name="static:5:text"/>
          <p:cNvSpPr/>
          <p:nvPr/>
        </p:nvSpPr>
        <p:spPr>
          <a:xfrm>
            <a:off x="10457617" y="6461760"/>
            <a:ext cx="1216223" cy="129540"/>
          </a:xfrm>
          <a:prstGeom prst="rect">
            <a:avLst/>
          </a:prstGeom>
          <a:noFill/>
          <a:ln/>
        </p:spPr>
        <p:txBody>
          <a:bodyPr wrap="none" lIns="0" tIns="0" rIns="0" bIns="0" rtlCol="0" anchor="ctr"/>
          <a:lstStyle/>
          <a:p>
            <a:pPr marL="0" indent="0" algn="l">
              <a:buNone/>
            </a:pPr>
            <a:r>
              <a:rPr lang="en-US" sz="720" kern="0" spc="58" dirty="0">
                <a:solidFill>
                  <a:srgbClr val="919191"/>
                </a:solidFill>
                <a:latin typeface="Arial" pitchFamily="34" charset="0"/>
                <a:ea typeface="Arial" pitchFamily="34" charset="-122"/>
                <a:cs typeface="Arial" pitchFamily="34" charset="-120"/>
              </a:rPr>
              <a:t>AI GENIUS / S6 E2 / 19</a:t>
            </a:r>
            <a:endParaRPr lang="en-US" sz="7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4b5f3023-3641-4fd5-9aa3-170596dd4367}" contentBits="0" removed="0"/>
</clbl:labelList>
</file>

<file path=docProps/app.xml><?xml version="1.0" encoding="utf-8"?>
<Properties xmlns="http://schemas.openxmlformats.org/officeDocument/2006/extended-properties" xmlns:vt="http://schemas.openxmlformats.org/officeDocument/2006/docPropsVTypes">
  <TotalTime>381</TotalTime>
  <Words>4091</Words>
  <Application>Microsoft Macintosh PowerPoint</Application>
  <PresentationFormat>Widescreen</PresentationFormat>
  <Paragraphs>298</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Prompt to Production</dc:title>
  <dc:subject>AI Genius S6 E2 - From Prompt to Production</dc:subject>
  <dc:creator>Graeme Foster</dc:creator>
  <cp:lastModifiedBy>Graeme Foster</cp:lastModifiedBy>
  <cp:revision>3</cp:revision>
  <dcterms:created xsi:type="dcterms:W3CDTF">2026-09-24T03:46:03Z</dcterms:created>
  <dcterms:modified xsi:type="dcterms:W3CDTF">2026-10-09T07:57:39Z</dcterms:modified>
</cp:coreProperties>
</file>