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Prompt to Production
Suggested timing: 1 minutes
KEY MESSAGE
Microsoft Foundry connects model choice, context, evaluation, optimisation and delivery.
DEFINITION
An agent combines a model, instructions, tools and context to work towards a goal.
TALK TRACK
Frame the session around a working purchasing agent. The question is how consistently it answers across real tasks, what each successful answer costs and how to improve it. Follow the same implementation through six saved checkpoints, using live questions and traces alongside completed evaluation and optimisation runs.
TRANSITION
Preview the agenda, starting with model choice.
SOURCES
Session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Suggested timing: 1 minutes
KEY MESSAGE
Model Choice, Grounding, Observe, Evaluate, Optimise, Automate.
DEFINITION
These are the six topics we will cover, in presentation order.
TALK TRACK
Introduce the six topics and their corresponding stage folders. One shared agent implementation runs throughout; each stage records configuration, actions and evidence. Observe and Evaluate add visibility and measurement without requiring a different agent.
TRANSITION
First, meet the agent we'll use throughout the session.
SOURCES
Session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the agent
Suggested timing: 1 minutes
KEY MESSAGE
One purchasing advice agent and one question connect the demonstrations.
DEFINITION
The agent helps employees interpret purchasing guidance and identify the approvals they need.
TALK TRACK
Introduce the team lead and read the dinner question. Leave alcohol out on purpose: the agent should ask about it. The agent advises on purchasing; the employee follows the approval process. This one question carries the whole session: policy (Foundry IQ), who can approve today (Work IQ), and budget (Fabric IQ). Later we expand to different dates, purchase types and incomplete requests when evaluating consistency.
TRANSITION
The first choice is normally which model to use.
SOURCES
Team dinner scenario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Choice
Suggested timing: 2 minutes
KEY MESSAGE
The first choice is normally which model to use.
DEFINITION
Speed is how long the user waits; cost is what you pay. Smaller models usually win on both, so they share a card.
TALK TRACK
Keep this short. Model 1 handles complex reasoning, at higher cost and with slower responses. Model 2 is fast and cheap but less capable on complex tasks; speed and cost usually go together, though not always (batch jobs are cheap but slow). Model Router picks a model per request, sending simple questions to small models and hard ones to strong models; it saves money but is less predictable, so test it like any other model. Land the line at the bottom: the first choice isn't a lock-in; built the right way you can change model later, and evaluations tell you when to.
TRANSITION
Open the Foundry portal to compare real models and see where Model Router fits.
SOURCES
Session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Foundry Model Comparison
Suggested timing: 2 minutes
KEY MESSAGE
The first model choice isn't a lock-in.
DEFINITION
Built the right way, an agent can change model later; evaluations on the real task tell you whether a change is better.
TALK TRACK
Compare a small fixed-model shortlist and Model Router in Foundry. Record the starting model or routing configuration and explain the choice. Keep later baseline comparisons tied to that exact configuration.
DEMO CHECKPOINT
01-model-choice: save the starting model/configuration and portal comparison evidence. The stage playbook records prerequisites, commands, portal steps and the reset procedure.
TRANSITION
Now give the starting agent the organisational context it needs.
SOURCES
Microsoft Foundry model catalog and Model Router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Suggested timing: 4 minutes
KEY MESSAGE
Different sources provide different kinds of organisational context.
DEFINITION
Foundry IQ provides institutional knowledge, Fabric IQ provides governed business entities and state, and Work IQ provides workplace context.
TALK TRACK
Return to the purchasing question and explain the three source types: institutional documents, business records and workplace conversations. Open tools.py: each IQ is a tool shaped like the real MCP tool. Foundry IQ is knowledge_base_retrieve over policies, Work IQ is ask over people, roles, leave, recorded delegations and messages, and Fabric IQ is search_ontology returning one fixed budget. Line to land: Foundry IQ tells you what the rules say, Work IQ tells you who can approve today, and Fabric IQ tells you whether there is budget left. (Our Fabric stand-in always returns the same budget, so it never changes the answer in the demo.) Tim, the Hospitality Lead, is on leave; the Approvals Register records Priya as his delegate. A chat message or an email can tell you who to contact, but never transfers approval authority. Real IQs are LLM-backed agents with generic tool descriptions; domain guidance lives in the knowledge base or ontology. Ours are deterministic local stand-ins, so none is a real IQ connection.
TRANSITION
Let's ask the agent and explore the context available to it.
SOURCES
Microsoft IQ concepts and fictional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Run the Starting Agent
Suggested timing: 5 minutes
KEY MESSAGE
Establish the working baseline and preserve its evidence.
DEFINITION
Instructions define the task and boundaries; tool descriptions explain when a source is useful and what it returns.
TALK TRACK
Ask the dinner question first (playbook command). It should ask about alcohol; reply 'Yes, there will be wine.' Hospitality Lead approval is needed, Tim is on leave, and the Approvals Register records Priya as his delegate: Work IQ doing its job. Then ask the second question: Marcus Webb in Engineering, 21 October, a $6,800 video-conferencing system with two quotes. The right answer: above $5,000 the policy needs Category Manager approval, and Marco is away until 2 November with no delegate; Leah Fischer's delegation covers line-manager approval only. It sometimes gets this right and sometimes names Leah. If it's wrong: it used Work IQ, checked leave, found the delegation and cited everything, and still asked the wrong question. If it's right: good answer, but it's one run; how often does it get this right? Either way: one answer isn't evidence; that's what evaluation is for.
DEMO CHECKPOINT
Rehearse the Marcus question three times and note what it says. Whichever way it answers, the line is the same: one answer isn't evidence. If the network fails, show your screenshots, then a failing question from the prepared holdout run in Demo 4.
TRANSITION
Open the trace to inspect how the answer was produced.
SOURCES
Demo implementation to be rehearsed.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
Suggested timing: 1 minutes
KEY MESSAGE
Inspect the calls, inputs and outputs behind the answer.
DEFINITION
A trace records LLM calls, tool calls and timings, with captured prompts and responses.
TALK TRACK
Introduce the three things to inspect: call order, inputs and outputs, and duration. Explain how these let us reconstruct a run. Ask what evidence the audience would look for in the trace.
TRANSITION
Let's follow the run that produced this answer.
SOURCES
Microsoft Foundry observability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Inspect the Trace
Suggested timing: 3 minutes
KEY MESSAGE
Understand how the agent produced the answer and where it spent time.
DEFINITION
Tool-call inputs and outputs show what was requested and returned.
TALK TRACK
Open the saved baseline run and follow the LLM and tool calls, including both context sources when used. Inspect captured prompts, returned evidence, responses and timings. Discuss repeated calls or slow steps only where the trace shows them. Use the request and expected outcome as an evaluation case.
DEMO CHECKPOINT
03-observe: save the trace, call sequence and timing evidence. Keep the same agent configuration as stage 02.
TRANSITION
We've inspected one run. How consistently does the agent handle other purchasing situations?
SOURCES
Microsoft Foundry tracing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
Suggested timing: 5 minutes
KEY MESSAGE
Built-in evaluators catch generic failures; a wrong approver needs judges of our own.
DEFINITION
A judge is an LLM evaluator. Its reason matters as much as its score.
TALK TRACK
Start with what's built in: Groundedness checks the answer uses only the evidence it was given; task adherence checks it stays on task. Useful, but our failure is a wrong approver, and a generic evaluator can't know who the right approver is. So we run two of our own. The next-action judge is a custom prompt evaluator: pass/fail against a reference answer, and its reason starts with what the tools did, for example 'used the line-manager lookup instead of the required higher-level route'. That reason is what the optimizer learns from: Microsoft's own lesson is that the reflector only sees what the evaluator returns. The rubric scores weighted dimensions such as approval route, current approver and citations. The rubric evaluator is in preview.
TRANSITION
Let's measure the starting agent with our two judges across purchasing cases.
SOURCES
Microsoft Learn: rubric evaluators https://learn.microsoft.com/en-us/azure/foundry/concepts/evaluation-evaluators/rubric-evaluators ; Microsoft Foundry blog: Six lessons for reliable Agent Optimizer gains on harder agents https://techcommunity.microsoft.com/blog/azure-ai-foundry-blog/six-lessons-for-reliable-agent-optimizer-gains-on-harder-agents/4551357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Evaluate Across Cases
Suggested timing: 9 minutes
KEY MESSAGE
Measure consistency across cases, not just the opening answer.
DEFINITION
Tokens are units of model input and output; response time is the user's end-to-end wait.
TALK TRACK
Open your prepared holdout run in Foundry: questions with different departments, people and dates from the ones the optimizer trains on. Click a failing question and read the judge's reason: it describes what the tools did, not just that the answer was wrong. Which questions fail varies from run to run; when we built this, the over-$5,000 ones did, sending the employee to their line manager instead of the Category Manager, the same failure as Marcus. Then the story from building it: with our first mock search tool the baseline scored 12 of 18; fixing two tools, not the prompt, took it to 18 of 18, so we wrote harder questions. Finish with your own noise level from the two baseline runs: only trust a change bigger than that.
DEMO CHECKPOINT
Prepared: your holdout evaluation run, open in a tab, with a failing question ready, and your noise level from two baseline runs. Screenshot both as a backup.
TRANSITION
Use these results to set the optimisation goal, then keep the tests fixed.
SOURCES
Microsoft Foundry model comparison and evaluation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Optimise
Suggested timing: 3 minutes
KEY MESSAGE
Compare candidate scores and configuration changes with the baseline.
DEFINITION
A baseline is the starting configuration; candidates are alternatives generated and evaluated by Agent Optimizer.
TALK TRACK
The optimizer evaluates the baseline, reflects on failed practice questions, proposes a change, tests it on a few training questions, then scores it on the validation set, which influences candidate selection. Microsoft's guidance: changes under 0.03 are noise, 0.03 to 0.10 are moderate. The optimizer can also use per-question criteria, specific checks such as 'asks for the total cost first'; our evaluation runs don't use them, so mention them here, not on the Evaluate slide. Land the takeaway: a higher score isn't permission to ship. First check the gain is bigger than your noise; then always read the new prompt and tool descriptions. Our early mock search needed repair: the score went up by copying facts into the prompt, but that did not fix retrieval.
TRANSITION
Let's open the Optimizer run and compare the candidates.
SOURCES
Microsoft Learn: Agent optimizer overview (score interpretation); Microsoft Foundry blog: Six lessons for reliable Agent Optimizer gains on harder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 Agent Optimizer
Suggested timing: 8 minutes
KEY MESSAGE
Inspect the evidence behind the recommended candidate.
DEFINITION
The optional validation dataset supplies separate evaluation cases within the optimisation run.
TALK TRACK
Open the agent's Optimize tab and your prepared run. Every run differs, so read it rather than following a script. First, the score change on the holdout: by Microsoft's scale, under 0.03 is noise and 0.03 to 0.10 is moderate; also count how many questions changed, against your noise level. If the gain is under 0.03, say so: it's noise, and that's a useful result to show. Then View changes on the best candidate, in the instructions and the tool descriptions, and sort what you find: rules worth keeping, such as answer-first wording; copied facts, such as training names and amounts, which in ours were hidden in the tool descriptions; and what's missing, such as a rule for the Demo 4 failure. The score went up; that doesn't mean you ship it.
DEMO CHECKPOINT
Prepared: the Optimize tab on your completed run, with View changes ready on the instructions and the ask tool description. If your run has nothing worth showing, use the candidate saved from ours in sample/evaluation/candidates/optimiser-0.691/: +0.078 on the holdout, three good rules, training names and amounts in its tool descriptions, and no role rule.
TRANSITION
Carry the same evidence into the release process.
SOURCES
Microsoft Learn: Optimize agent instructions, skills, tools, and models; Agent optimizer cost and token usage overview. Checked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test sets
Suggested timing: 4 minutes
KEY MESSAGE
Drift is the one set neither the optimizer nor development has seen: the final check before production.
DEFINITION
Development data trains the optimizer, holdout data helps it choose candidates, and a drift set is seen by neither the optimizer nor development.
TALK TRACK
Homework, practice exam, surprise exam. The optimizer trains on development and picks its best candidate using holdout, so it has seen both, and we look at both often. Drift is the one set neither the optimizer nor development has seen: the final check that the agent handles the variation it will meet in production. Ours asks about the training teams on later dates, when the roster records different leave and cover. Holdout uses different teams, so it can't catch a copied fact like 'Finance: ask Grace'; drift can. An agent that looks things up passes; one that copied training facts into its prompt gives the old answer.
TRANSITION
So what does the gate actually check?
SOURCES
Microsoft Learn: Optimize agent instructions, skills, tools, and models (validation_dataset).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gate checks
Suggested timing: 2 minutes
KEY MESSAGE
Cheapest check first.
DEFINITION
A release gate is an automated check that can stop a change from being promoted.
TALK TRACK
One: a script scans the candidate prompt and tool descriptions for amounts, dates, durations and names that the baseline didn't have. Seconds, no LLM. Two: compare against the stored baseline, not a fixed threshold. LLM-judged scores move between runs; Foundry's own optimizer guidance treats changes under 0.03 as noise, so fail on a bigger drop. Three: some failures block regardless of the average, such as sending someone to the wrong approver or following an instruction in an email. Four: like for like. A score only compares with the baseline if it used the same questions and the same judge; CI checks fingerprints of the dataset and judge definitions and refuses to compare otherwise.
TRANSITION
Let's see the gate handle two real pull requests.
SOURCES
Microsoft Learn: Agent optimizer overview (score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 Sample CI/CD Pipelines
Suggested timing: 5 minutes
KEY MESSAGE
The cheapest check runs first; the evaluation catches what it can't.
DEFINITION
A pull request check runs on every proposed change; it blocks merging only if the branch's ruleset requires it.
TALK TRACK
Two prepared pull requests. First, the reviewed improvement: the development set passed on the PR; after merge, main evaluated -dev on the holdout, a reviewer inspected it, every drift case passed, then a separate release approval deployed the same commit. Second, the bad prompt: no tools, the same answer every time. The cheap offline checks pass, but the development set fails against the baseline, and because branch protection requires that check, it can't be merged normally. Optionally run the fact check live on the old copied-facts candidate: one second, no model. The gate only asks that a change not fall below the baseline by more than the normal wobble. Admins can still bypass, and every bypass is recorded.
DEMO CHECKPOINT
Prepared: both pull requests and the main promotion run, opened after the optimizer finished. Live (optional): the fact-check command from the playbook. If CI isn't working on the day, use slides 14 and 15 with the live command.
TRANSITION
And after release, production keeps feeding the tests.
SOURCES
GitHub Actions release-check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test cases to production
Suggested timing: 2 minutes
KEY MESSAGE
Every change takes the same path to production, and production evidence feeds the next change.
DEFINITION
Holdout and drift datasets are kept apart from development, so a score shows whether a change generalises rather than fits the tests it was tuned on.
TALK TRACK
Read it left to right. Before launch, simulation explores behaviour before real users arrive; review generated cases before they become tests, and keep holdout and drift apart from development to help prevent overfitting. Every change then takes the same path: a pull request runs the development evals, it merges to main, holdout evals run, drift evals are the final check, and only then does it deploy. In production, sample real traces and score them with continuous evaluation; live traffic has no reference answers, so use a rubric there. Two things come back through a new pull request: an optimised candidate, which never deploys directly, and new evals made from reviewed, redacted production failures, so the next change has to handle them. Simulation and trace-to-dataset generation are in preview; gates and alerts must be wired explicitly in your workflow.
TRANSITION
Let's step back to where we started: one agent, one question.
SOURCES
Microsoft Learn and GitHub Docs, checked 24 September 2026: https://learn.microsoft.com/en-us/azure/foundry/observability/how-to/evaluation-dataset-synthetic ; https://learn.microsoft.com/en-us/azure/foundry/observability/how-to/evaluation-datasets ; https://learn.microsoft.com/en-us/azure/foundry/observability/how-to/traces-to-dataset ; https://learn.microsoft.com/en-us/azure/foundry/concepts/observability ; https://docs.github.com/en/actions/reference/workflows-and-actions/deployments-and-environments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agent, one question
Suggested timing: 1 minutes
KEY MESSAGE
Production isn't the end of building an agent. Build the measurement system that lets you keep changing it safely.
DEFINITION
No new definition. This slide retells the session as one agent's journey.
TALK TRACK
So we started with one fairly ordinary purchasing agent and one question: can I book dinner? We chose a model. We gave the agent the right organisational context. We learnt how to see what it was doing. Then we discovered that seeing isn't the same as knowing it's right, so we evaluated it. Once we could measure it, we could optimise it. And once we could measure every change, we could safely put those checks into the path to production. That's the takeaway: don't treat production as the end of building an agent. Build the measurement system that lets you keep changing it safely.
TRANSITION
Before questions, a few places to explore next.
SOURCES
Session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exploring next
Suggested timing: 1 minutes
KEY MESSAGE
Six next steps for extending the purchasing agent.
DEFINITION
Human annotation assesses an answer; human approval authorises an action.
TALK TRACK
Spend no more than one minute signposting these topics. Human annotation captures expert assessments: explicitly curate that feedback into better criteria and tests rather than imply automatic learning. Synthetic data expands purchase types, dates and ambiguous requests; review generated cases. AI Red Teaming probes adversarial behaviour, while guardrails such as Prompt Shields help detect malicious instructions in requests and retrieved emails or documents. Identity and permissions limit real enterprise access. Human approval workflows are an extension beyond our advice-only agent: pause before submitting a purchase request and resume after an authorised decision. Human Evaluation, synthetic data generation and the documented long-running hosted-agent approval workflow are in preview; verify availability and agent support before implementation.
TRANSITION
Return to the complete process, then take questions.
SOURCES
Microsoft Learn, checked 24 September 2026: Human Evaluation https://learn.microsoft.com/en-us/azure/foundry/observability/how-to/human-evaluation ; Synthetic Test Data https://learn.microsoft.com/en-us/azure/foundry/observability/how-to/evaluation-dataset-synthetic ; AI Red Teaming https://learn.microsoft.com/en-us/azure/foundry/concepts/ai-red-teaming-agent ; Prompt Shields https://learn.microsoft.com/en-us/azure/foundry/openai/concepts/content-filter-prompt-shields ; Agent Identity https://learn.microsoft.com/en-us/azure/foundry/agents/concepts/agent-identity ; Human Approval https://learn.microsoft.com/en-us/azure/foundry/agents/how-to/add-human-in-the-loop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measure improve repeat
Suggested timing: 1 minutes
KEY MESSAGE
Build, measure, improve and repeat.
DEFINITION
No new definition. This slide summarises the complete process.
TALK TRACK
Close on one working agent, consistent answers, measured trade-offs and repeatable release checks. Return to the six stage playbooks: each records what changed, how it was run and the evidence collected. Discuss what the measured runs demonstrated and which configuration was retained, then take questions.
TRANSITION
Move into questions.
SOURCES
Session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Suggested timing: 1 minutes
KEY MESSAGE
Everything we used is documented.
DEFINITION
No new definition.
TALK TRACK
Leave this up while people take a photo. The links follow the session: build the agent, observe and evaluate it, optimise it, then ship it with continuous evaluation and CI/CD.
TRANSITION
SOURCES
Microsoft Learn and Microsoft Tech Community, links checked 19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Suggested timing: 1 minutes
KEY MESSAGE
Ask for feedback while the session is fresh.
DEFINITION
No new definition.
TALK TRACK
Leave the QR code up long enough for people to scan it. Feedback shapes the next episodes.
TRANSITION
SOURCES
AI Genius template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Series page
Suggested timing: 1 minutes
KEY MESSAGE
Point people to the rest of the series.
DEFINITION
No new definition.
TALK TRACK
Replace the placeholder with the series page QR code before presenting.
TRANSITION
SOURCES
AI Genius template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Genius badge
Suggested timing: 1 minutes
KEY MESSAGE
Everyone can claim the AI Genius Certified badge.
DEFINITION
No new definition.
TALK TRACK
Scan, download the badge, post it on LinkedIn with your own caption and add the #MSAIGenius hashtag.
TRANSITION
SOURCES
AI Genius template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Suggested timing: 1 minutes
KEY MESSAGE
Thank the audience.
DEFINITION
No new definition.
TALK TRACK
Thank everyone for their time and questions.
TRANSITION
SOURCES
AI Genius template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jp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jp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jp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jp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jp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jpg"/><Relationship Id="rId2"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I Genius - ai-genius-title">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I Genius - ai-genius-content-minimal">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I Genius - ai-genius-content-framed">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I Genius - ai-genius-content-green">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I Genius - ai-genius-framed-green">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I Genius - ai-genius-content-red">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I Genius - ai-genius-framed-red">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I Genius - ai-genius-closing-qr">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I Genius - ai-genius-closing-badge">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I Genius - ai-genius-closing-thanks">
    <p:bg>
      <p:bgPr>
        <a:solidFill>
          <a:srgbClr val="000000"/>
        </a:solidFill>
      </p:bgPr>
    </p:bg>
    <p:spTree>
      <p:nvGrpSpPr>
        <p:cNvPr id="1" name=""/>
        <p:cNvGrpSpPr/>
        <p:nvPr/>
      </p:nvGrpSpPr>
      <p:grpSpPr>
        <a:xfrm>
          <a:off x="0" y="0"/>
          <a:ext cx="0" cy="0"/>
          <a:chOff x="0" y="0"/>
          <a:chExt cx="0" cy="0"/>
        </a:xfrm>
      </p:grpSpPr>
      <p:pic>
        <p:nvPicPr>
          <p:cNvPr id="2" name="Image 0" descr="Official AI Genius template artwork">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 Id="rId4" Type="http://schemas.openxmlformats.org/officeDocument/2006/relationships/image" Target="../media/vector-3-2.sv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 Id="rId6" Type="http://schemas.openxmlformats.org/officeDocument/2006/relationships/image" Target="../media/vector-4-3.svg"/><Relationship Id="rId7" Type="http://schemas.openxmlformats.org/officeDocument/2006/relationships/image" Target="../media/vector-4-12.svg"/><Relationship Id="rId8" Type="http://schemas.openxmlformats.org/officeDocument/2006/relationships/image" Target="../media/vector-4-21.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learn.microsoft.com/en-us/agent-framework/" TargetMode="External"/><Relationship Id="rId2" Type="http://schemas.openxmlformats.org/officeDocument/2006/relationships/hyperlink" Target="https://learn.microsoft.com/en-us/azure/foundry/how-to/benchmark-model-in-catalog" TargetMode="External"/><Relationship Id="rId3" Type="http://schemas.openxmlformats.org/officeDocument/2006/relationships/hyperlink" Target="https://learn.microsoft.com/en-us/azure/foundry/how-to/benchmark-model-in-catalog" TargetMode="External"/><Relationship Id="rId4" Type="http://schemas.openxmlformats.org/officeDocument/2006/relationships/hyperlink" Target="https://learn.microsoft.com/en-us/azure/foundry/openai/concepts/model-router" TargetMode="External"/><Relationship Id="rId5" Type="http://schemas.openxmlformats.org/officeDocument/2006/relationships/hyperlink" Target="https://learn.microsoft.com/en-us/azure/foundry/agents/concepts/what-is-foundry-iq" TargetMode="External"/><Relationship Id="rId6" Type="http://schemas.openxmlformats.org/officeDocument/2006/relationships/hyperlink" Target="https://learn.microsoft.com/en-us/microsoft-365-copilot/extensibility/work-iq" TargetMode="External"/><Relationship Id="rId7" Type="http://schemas.openxmlformats.org/officeDocument/2006/relationships/hyperlink" Target="https://learn.microsoft.com/en-us/azure/foundry/observability/concepts/trace-agent-concept" TargetMode="External"/><Relationship Id="rId8" Type="http://schemas.openxmlformats.org/officeDocument/2006/relationships/hyperlink" Target="https://learn.microsoft.com/en-us/azure/foundry/concepts/evaluation-evaluators/rubric-evaluators" TargetMode="External"/><Relationship Id="rId9" Type="http://schemas.openxmlformats.org/officeDocument/2006/relationships/hyperlink" Target="https://learn.microsoft.com/en-us/azure/foundry/how-to/develop/cloud-evaluation" TargetMode="External"/><Relationship Id="rId10" Type="http://schemas.openxmlformats.org/officeDocument/2006/relationships/hyperlink" Target="https://learn.microsoft.com/en-us/azure/foundry/observability/how-to/traces-to-dataset" TargetMode="External"/><Relationship Id="rId11" Type="http://schemas.openxmlformats.org/officeDocument/2006/relationships/hyperlink" Target="https://learn.microsoft.com/en-us/azure/foundry/agents/concepts/agent-optimizer-overview" TargetMode="External"/><Relationship Id="rId12" Type="http://schemas.openxmlformats.org/officeDocument/2006/relationships/hyperlink" Target="https://learn.microsoft.com/en-us/azure/foundry/agents/how-to/optimize-agent-targets" TargetMode="External"/><Relationship Id="rId13" Type="http://schemas.openxmlformats.org/officeDocument/2006/relationships/hyperlink" Target="https://learn.microsoft.com/en-us/azure/foundry/agents/how-to/optimize-agent-targets" TargetMode="External"/><Relationship Id="rId14" Type="http://schemas.openxmlformats.org/officeDocument/2006/relationships/hyperlink" Target="https://techcommunity.microsoft.com/blog/azure-ai-foundry-blog/six-lessons-for-reliable-agent-optimizer-gains-on-harder-agents/4551357" TargetMode="External"/><Relationship Id="rId15" Type="http://schemas.openxmlformats.org/officeDocument/2006/relationships/hyperlink" Target="https://techcommunity.microsoft.com/blog/azure-ai-foundry-blog/six-lessons-for-reliable-agent-optimizer-gains-on-harder-agents/4551357" TargetMode="External"/><Relationship Id="rId16" Type="http://schemas.openxmlformats.org/officeDocument/2006/relationships/hyperlink" Target="https://learn.microsoft.com/en-us/azure/foundry/observability/how-to/how-to-monitor-agents-dashboard#set-up-continuous-evaluation" TargetMode="External"/><Relationship Id="rId17" Type="http://schemas.openxmlformats.org/officeDocument/2006/relationships/hyperlink" Target="https://learn.microsoft.com/en-us/azure/foundry/how-to/evaluation-github-action" TargetMode="External"/><Relationship Id="rId18" Type="http://schemas.openxmlformats.org/officeDocument/2006/relationships/hyperlink" Target="https://learn.microsoft.com/en-us/azure/foundry/how-to/evaluation-github-action" TargetMode="External"/><Relationship Id="rId19" Type="http://schemas.openxmlformats.org/officeDocument/2006/relationships/hyperlink" Target="https://learn.microsoft.com/en-us/azure/foundry/agents/how-to/set-up-ci-cd-cli" TargetMode="External"/><Relationship Id="rId20" Type="http://schemas.openxmlformats.org/officeDocument/2006/relationships/slideLayout" Target="../slideLayouts/slideLayout3.xml"/><Relationship Id="rId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9.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0.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From Prompt to Production">
    <p:spTree>
      <p:nvGrpSpPr>
        <p:cNvPr id="1" name=""/>
        <p:cNvGrpSpPr/>
        <p:nvPr/>
      </p:nvGrpSpPr>
      <p:grpSpPr>
        <a:xfrm>
          <a:off x="0" y="0"/>
          <a:ext cx="0" cy="0"/>
          <a:chOff x="0" y="0"/>
          <a:chExt cx="0" cy="0"/>
        </a:xfrm>
      </p:grpSpPr>
      <p:sp>
        <p:nvSpPr>
          <p:cNvPr id="2" name="static:0:text"/>
          <p:cNvSpPr/>
          <p:nvPr/>
        </p:nvSpPr>
        <p:spPr>
          <a:xfrm>
            <a:off x="975360" y="2199918"/>
            <a:ext cx="2768322"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AI GENIUS / SEASON 6 / EPISODE 2</a:t>
            </a:r>
            <a:endParaRPr lang="en-US" sz="960" dirty="0"/>
          </a:p>
        </p:txBody>
      </p:sp>
      <p:sp>
        <p:nvSpPr>
          <p:cNvPr id="3" name="static:1:text"/>
          <p:cNvSpPr/>
          <p:nvPr/>
        </p:nvSpPr>
        <p:spPr>
          <a:xfrm>
            <a:off x="975360" y="2359938"/>
            <a:ext cx="3810786" cy="807720"/>
          </a:xfrm>
          <a:prstGeom prst="rect">
            <a:avLst/>
          </a:prstGeom>
          <a:noFill/>
          <a:ln/>
        </p:spPr>
        <p:txBody>
          <a:bodyPr wrap="none" lIns="0" tIns="0" rIns="0" bIns="0" rtlCol="0" anchor="ctr"/>
          <a:lstStyle/>
          <a:p>
            <a:pPr algn="l" indent="0" marL="0">
              <a:buNone/>
            </a:pPr>
            <a:r>
              <a:rPr lang="en-US" sz="5280" b="1" spc="-238" kern="0" dirty="0">
                <a:solidFill>
                  <a:srgbClr val="DEDEDE"/>
                </a:solidFill>
                <a:latin typeface="Arial" pitchFamily="34" charset="0"/>
                <a:ea typeface="Arial" pitchFamily="34" charset="-122"/>
                <a:cs typeface="Arial" pitchFamily="34" charset="-120"/>
              </a:rPr>
              <a:t>From Prompt</a:t>
            </a:r>
            <a:endParaRPr lang="en-US" sz="5280" dirty="0"/>
          </a:p>
        </p:txBody>
      </p:sp>
      <p:sp>
        <p:nvSpPr>
          <p:cNvPr id="4" name="static:2:text"/>
          <p:cNvSpPr/>
          <p:nvPr/>
        </p:nvSpPr>
        <p:spPr>
          <a:xfrm>
            <a:off x="975360" y="3017044"/>
            <a:ext cx="3911275" cy="807720"/>
          </a:xfrm>
          <a:prstGeom prst="rect">
            <a:avLst/>
          </a:prstGeom>
          <a:noFill/>
          <a:ln/>
        </p:spPr>
        <p:txBody>
          <a:bodyPr wrap="none" lIns="0" tIns="0" rIns="0" bIns="0" rtlCol="0" anchor="ctr"/>
          <a:lstStyle/>
          <a:p>
            <a:pPr algn="l" indent="0" marL="0">
              <a:buNone/>
            </a:pPr>
            <a:r>
              <a:rPr lang="en-US" sz="5280" b="1" spc="-238" kern="0" dirty="0">
                <a:solidFill>
                  <a:srgbClr val="FBBF24"/>
                </a:solidFill>
                <a:latin typeface="Arial" pitchFamily="34" charset="0"/>
                <a:ea typeface="Arial" pitchFamily="34" charset="-122"/>
                <a:cs typeface="Arial" pitchFamily="34" charset="-120"/>
              </a:rPr>
              <a:t>to Production</a:t>
            </a:r>
            <a:endParaRPr lang="en-US" sz="5280" dirty="0"/>
          </a:p>
        </p:txBody>
      </p:sp>
      <p:sp>
        <p:nvSpPr>
          <p:cNvPr id="5" name="static:3:text"/>
          <p:cNvSpPr/>
          <p:nvPr/>
        </p:nvSpPr>
        <p:spPr>
          <a:xfrm>
            <a:off x="975360" y="3895130"/>
            <a:ext cx="3240524"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Start with a working agent. Measure</a:t>
            </a:r>
            <a:endParaRPr lang="en-US" sz="1620" dirty="0"/>
          </a:p>
        </p:txBody>
      </p:sp>
      <p:sp>
        <p:nvSpPr>
          <p:cNvPr id="6" name="static:4:text"/>
          <p:cNvSpPr/>
          <p:nvPr/>
        </p:nvSpPr>
        <p:spPr>
          <a:xfrm>
            <a:off x="975360" y="4172783"/>
            <a:ext cx="3783806"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consistency, speed and cost. Improve with</a:t>
            </a:r>
            <a:endParaRPr lang="en-US" sz="1620" dirty="0"/>
          </a:p>
        </p:txBody>
      </p:sp>
      <p:sp>
        <p:nvSpPr>
          <p:cNvPr id="7" name="static:5:text"/>
          <p:cNvSpPr/>
          <p:nvPr/>
        </p:nvSpPr>
        <p:spPr>
          <a:xfrm>
            <a:off x="975360" y="4450437"/>
            <a:ext cx="940594"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evidence.</a:t>
            </a:r>
            <a:endParaRPr lang="en-US" sz="1620" dirty="0"/>
          </a:p>
        </p:txBody>
      </p:sp>
      <p:sp>
        <p:nvSpPr>
          <p:cNvPr id="8" name="static:6:text"/>
          <p:cNvSpPr/>
          <p:nvPr/>
        </p:nvSpPr>
        <p:spPr>
          <a:xfrm>
            <a:off x="975360" y="4918591"/>
            <a:ext cx="819388" cy="144780"/>
          </a:xfrm>
          <a:prstGeom prst="rect">
            <a:avLst/>
          </a:prstGeom>
          <a:noFill/>
          <a:ln/>
        </p:spPr>
        <p:txBody>
          <a:bodyPr wrap="none" lIns="0" tIns="0" rIns="0" bIns="0" rtlCol="0" anchor="ctr"/>
          <a:lstStyle/>
          <a:p>
            <a:pPr algn="l" indent="0" marL="0">
              <a:buNone/>
            </a:pPr>
            <a:r>
              <a:rPr lang="en-US" sz="840" dirty="0">
                <a:solidFill>
                  <a:srgbClr val="919191"/>
                </a:solidFill>
                <a:latin typeface="Arial" pitchFamily="34" charset="0"/>
                <a:ea typeface="Arial" pitchFamily="34" charset="-122"/>
                <a:cs typeface="Arial" pitchFamily="34" charset="-120"/>
              </a:rPr>
              <a:t>Graeme Foster</a:t>
            </a:r>
            <a:endParaRPr lang="en-US" sz="840" dirty="0"/>
          </a:p>
        </p:txBody>
      </p:sp>
      <p:sp>
        <p:nvSpPr>
          <p:cNvPr id="9" name="static:7:shape"/>
          <p:cNvSpPr/>
          <p:nvPr/>
        </p:nvSpPr>
        <p:spPr>
          <a:xfrm>
            <a:off x="6838355" y="2244804"/>
            <a:ext cx="2143363" cy="899160"/>
          </a:xfrm>
          <a:prstGeom prst="roundRect">
            <a:avLst>
              <a:gd name="adj" fmla="val 13559"/>
            </a:avLst>
          </a:prstGeom>
          <a:solidFill>
            <a:srgbClr val="292929"/>
          </a:solidFill>
          <a:ln w="7620">
            <a:solidFill>
              <a:srgbClr val="474747"/>
            </a:solidFill>
            <a:prstDash val="solid"/>
          </a:ln>
        </p:spPr>
      </p:sp>
      <p:sp>
        <p:nvSpPr>
          <p:cNvPr id="10" name="static:8:text"/>
          <p:cNvSpPr/>
          <p:nvPr/>
        </p:nvSpPr>
        <p:spPr>
          <a:xfrm>
            <a:off x="6983135" y="2381964"/>
            <a:ext cx="533757"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Model</a:t>
            </a:r>
            <a:endParaRPr lang="en-US" sz="1200" dirty="0"/>
          </a:p>
        </p:txBody>
      </p:sp>
      <p:sp>
        <p:nvSpPr>
          <p:cNvPr id="11" name="static:9:text"/>
          <p:cNvSpPr/>
          <p:nvPr/>
        </p:nvSpPr>
        <p:spPr>
          <a:xfrm>
            <a:off x="6983135" y="2618184"/>
            <a:ext cx="1834277"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Balance quality, speed and cost</a:t>
            </a:r>
            <a:endParaRPr lang="en-US" sz="960" dirty="0"/>
          </a:p>
        </p:txBody>
      </p:sp>
      <p:sp>
        <p:nvSpPr>
          <p:cNvPr id="12" name="static:10:shape"/>
          <p:cNvSpPr/>
          <p:nvPr/>
        </p:nvSpPr>
        <p:spPr>
          <a:xfrm>
            <a:off x="9073158" y="2244804"/>
            <a:ext cx="2143482" cy="899160"/>
          </a:xfrm>
          <a:prstGeom prst="roundRect">
            <a:avLst>
              <a:gd name="adj" fmla="val 13559"/>
            </a:avLst>
          </a:prstGeom>
          <a:solidFill>
            <a:srgbClr val="292929"/>
          </a:solidFill>
          <a:ln w="7620">
            <a:solidFill>
              <a:srgbClr val="474747"/>
            </a:solidFill>
            <a:prstDash val="solid"/>
          </a:ln>
        </p:spPr>
      </p:sp>
      <p:sp>
        <p:nvSpPr>
          <p:cNvPr id="13" name="static:11:text"/>
          <p:cNvSpPr/>
          <p:nvPr/>
        </p:nvSpPr>
        <p:spPr>
          <a:xfrm>
            <a:off x="9217938" y="2381964"/>
            <a:ext cx="660440"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Context</a:t>
            </a:r>
            <a:endParaRPr lang="en-US" sz="1200" dirty="0"/>
          </a:p>
        </p:txBody>
      </p:sp>
      <p:sp>
        <p:nvSpPr>
          <p:cNvPr id="14" name="static:12:text"/>
          <p:cNvSpPr/>
          <p:nvPr/>
        </p:nvSpPr>
        <p:spPr>
          <a:xfrm>
            <a:off x="9217938" y="2618184"/>
            <a:ext cx="1854756"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Ground answers in current facts</a:t>
            </a:r>
            <a:endParaRPr lang="en-US" sz="960" dirty="0"/>
          </a:p>
        </p:txBody>
      </p:sp>
      <p:sp>
        <p:nvSpPr>
          <p:cNvPr id="15" name="static:13:shape"/>
          <p:cNvSpPr/>
          <p:nvPr/>
        </p:nvSpPr>
        <p:spPr>
          <a:xfrm>
            <a:off x="6838355" y="3235404"/>
            <a:ext cx="2143363" cy="899160"/>
          </a:xfrm>
          <a:prstGeom prst="roundRect">
            <a:avLst>
              <a:gd name="adj" fmla="val 13559"/>
            </a:avLst>
          </a:prstGeom>
          <a:solidFill>
            <a:srgbClr val="292929"/>
          </a:solidFill>
          <a:ln w="7620">
            <a:solidFill>
              <a:srgbClr val="474747"/>
            </a:solidFill>
            <a:prstDash val="solid"/>
          </a:ln>
        </p:spPr>
      </p:sp>
      <p:sp>
        <p:nvSpPr>
          <p:cNvPr id="16" name="static:14:text"/>
          <p:cNvSpPr/>
          <p:nvPr/>
        </p:nvSpPr>
        <p:spPr>
          <a:xfrm>
            <a:off x="6983135" y="3372564"/>
            <a:ext cx="1049774"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Observability</a:t>
            </a:r>
            <a:endParaRPr lang="en-US" sz="1200" dirty="0"/>
          </a:p>
        </p:txBody>
      </p:sp>
      <p:sp>
        <p:nvSpPr>
          <p:cNvPr id="17" name="static:15:text"/>
          <p:cNvSpPr/>
          <p:nvPr/>
        </p:nvSpPr>
        <p:spPr>
          <a:xfrm>
            <a:off x="6983135" y="3608784"/>
            <a:ext cx="1586865"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See every call and decision</a:t>
            </a:r>
            <a:endParaRPr lang="en-US" sz="960" dirty="0"/>
          </a:p>
        </p:txBody>
      </p:sp>
      <p:sp>
        <p:nvSpPr>
          <p:cNvPr id="18" name="static:16:shape"/>
          <p:cNvSpPr/>
          <p:nvPr/>
        </p:nvSpPr>
        <p:spPr>
          <a:xfrm>
            <a:off x="9073158" y="3235404"/>
            <a:ext cx="2143482" cy="899160"/>
          </a:xfrm>
          <a:prstGeom prst="roundRect">
            <a:avLst>
              <a:gd name="adj" fmla="val 13559"/>
            </a:avLst>
          </a:prstGeom>
          <a:solidFill>
            <a:srgbClr val="292929"/>
          </a:solidFill>
          <a:ln w="7620">
            <a:solidFill>
              <a:srgbClr val="474747"/>
            </a:solidFill>
            <a:prstDash val="solid"/>
          </a:ln>
        </p:spPr>
      </p:sp>
      <p:sp>
        <p:nvSpPr>
          <p:cNvPr id="19" name="static:17:text"/>
          <p:cNvSpPr/>
          <p:nvPr/>
        </p:nvSpPr>
        <p:spPr>
          <a:xfrm>
            <a:off x="9217938" y="3372564"/>
            <a:ext cx="837486"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Evaluation</a:t>
            </a:r>
            <a:endParaRPr lang="en-US" sz="1200" dirty="0"/>
          </a:p>
        </p:txBody>
      </p:sp>
      <p:sp>
        <p:nvSpPr>
          <p:cNvPr id="20" name="static:18:text"/>
          <p:cNvSpPr/>
          <p:nvPr/>
        </p:nvSpPr>
        <p:spPr>
          <a:xfrm>
            <a:off x="9217938" y="3608784"/>
            <a:ext cx="1867852"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Measure quality, not one answer</a:t>
            </a:r>
            <a:endParaRPr lang="en-US" sz="960" dirty="0"/>
          </a:p>
        </p:txBody>
      </p:sp>
      <p:sp>
        <p:nvSpPr>
          <p:cNvPr id="21" name="static:19:shape"/>
          <p:cNvSpPr/>
          <p:nvPr/>
        </p:nvSpPr>
        <p:spPr>
          <a:xfrm>
            <a:off x="6838355" y="4226004"/>
            <a:ext cx="2143363" cy="899160"/>
          </a:xfrm>
          <a:prstGeom prst="roundRect">
            <a:avLst>
              <a:gd name="adj" fmla="val 13559"/>
            </a:avLst>
          </a:prstGeom>
          <a:solidFill>
            <a:srgbClr val="292929"/>
          </a:solidFill>
          <a:ln w="7620">
            <a:solidFill>
              <a:srgbClr val="474747"/>
            </a:solidFill>
            <a:prstDash val="solid"/>
          </a:ln>
        </p:spPr>
      </p:sp>
      <p:sp>
        <p:nvSpPr>
          <p:cNvPr id="22" name="static:20:text"/>
          <p:cNvSpPr/>
          <p:nvPr/>
        </p:nvSpPr>
        <p:spPr>
          <a:xfrm>
            <a:off x="6983135" y="4363164"/>
            <a:ext cx="1012507"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Optimisation</a:t>
            </a:r>
            <a:endParaRPr lang="en-US" sz="1200" dirty="0"/>
          </a:p>
        </p:txBody>
      </p:sp>
      <p:sp>
        <p:nvSpPr>
          <p:cNvPr id="23" name="static:21:text"/>
          <p:cNvSpPr/>
          <p:nvPr/>
        </p:nvSpPr>
        <p:spPr>
          <a:xfrm>
            <a:off x="6983135" y="4599384"/>
            <a:ext cx="1329571"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Improve with evidence</a:t>
            </a:r>
            <a:endParaRPr lang="en-US" sz="960" dirty="0"/>
          </a:p>
        </p:txBody>
      </p:sp>
      <p:sp>
        <p:nvSpPr>
          <p:cNvPr id="24" name="static:22:shape"/>
          <p:cNvSpPr/>
          <p:nvPr/>
        </p:nvSpPr>
        <p:spPr>
          <a:xfrm>
            <a:off x="9073158" y="4226004"/>
            <a:ext cx="2143482" cy="899160"/>
          </a:xfrm>
          <a:prstGeom prst="roundRect">
            <a:avLst>
              <a:gd name="adj" fmla="val 13559"/>
            </a:avLst>
          </a:prstGeom>
          <a:solidFill>
            <a:srgbClr val="292929"/>
          </a:solidFill>
          <a:ln w="7620">
            <a:solidFill>
              <a:srgbClr val="474747"/>
            </a:solidFill>
            <a:prstDash val="solid"/>
          </a:ln>
        </p:spPr>
      </p:sp>
      <p:sp>
        <p:nvSpPr>
          <p:cNvPr id="25" name="static:23:text"/>
          <p:cNvSpPr/>
          <p:nvPr/>
        </p:nvSpPr>
        <p:spPr>
          <a:xfrm>
            <a:off x="9217938" y="4363164"/>
            <a:ext cx="927378" cy="190500"/>
          </a:xfrm>
          <a:prstGeom prst="rect">
            <a:avLst/>
          </a:prstGeom>
          <a:noFill/>
          <a:ln/>
        </p:spPr>
        <p:txBody>
          <a:bodyPr wrap="none" lIns="0" tIns="0" rIns="0" bIns="0" rtlCol="0" anchor="ctr"/>
          <a:lstStyle/>
          <a:p>
            <a:pPr algn="l" indent="0" marL="0">
              <a:buNone/>
            </a:pPr>
            <a:r>
              <a:rPr lang="en-US" sz="1200" b="1" dirty="0">
                <a:solidFill>
                  <a:srgbClr val="FBBF24"/>
                </a:solidFill>
                <a:latin typeface="Arial" pitchFamily="34" charset="0"/>
                <a:ea typeface="Arial" pitchFamily="34" charset="-122"/>
                <a:cs typeface="Arial" pitchFamily="34" charset="-120"/>
              </a:rPr>
              <a:t>Automation</a:t>
            </a:r>
            <a:endParaRPr lang="en-US" sz="1200" dirty="0"/>
          </a:p>
        </p:txBody>
      </p:sp>
      <p:sp>
        <p:nvSpPr>
          <p:cNvPr id="26" name="static:24:text"/>
          <p:cNvSpPr/>
          <p:nvPr/>
        </p:nvSpPr>
        <p:spPr>
          <a:xfrm>
            <a:off x="9217938" y="4599384"/>
            <a:ext cx="1119068" cy="152400"/>
          </a:xfrm>
          <a:prstGeom prst="rect">
            <a:avLst/>
          </a:prstGeom>
          <a:noFill/>
          <a:ln/>
        </p:spPr>
        <p:txBody>
          <a:bodyPr wrap="none" lIns="0" tIns="0" rIns="0" bIns="0" rtlCol="0" anchor="ctr"/>
          <a:lstStyle/>
          <a:p>
            <a:pPr algn="l" indent="0" marL="0">
              <a:buNone/>
            </a:pPr>
            <a:r>
              <a:rPr lang="en-US" sz="960" dirty="0">
                <a:solidFill>
                  <a:srgbClr val="DEDEDE"/>
                </a:solidFill>
                <a:latin typeface="Arial" pitchFamily="34" charset="0"/>
                <a:ea typeface="Arial" pitchFamily="34" charset="-122"/>
                <a:cs typeface="Arial" pitchFamily="34" charset="-120"/>
              </a:rPr>
              <a:t>Gate every release</a:t>
            </a:r>
            <a:endParaRPr lang="en-US" sz="960" dirty="0"/>
          </a:p>
        </p:txBody>
      </p:sp>
      <p:sp>
        <p:nvSpPr>
          <p:cNvPr id="27" name="static:25: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28" name="static:26:text"/>
          <p:cNvSpPr/>
          <p:nvPr/>
        </p:nvSpPr>
        <p:spPr>
          <a:xfrm>
            <a:off x="9726811" y="6461760"/>
            <a:ext cx="121550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01</a:t>
            </a:r>
            <a:endParaRPr lang="en-US" sz="7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tatic:0:text"/>
          <p:cNvSpPr/>
          <p:nvPr/>
        </p:nvSpPr>
        <p:spPr>
          <a:xfrm>
            <a:off x="2727960" y="870109"/>
            <a:ext cx="2556391"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TODAY IN MICROSOFT FOUNDRY</a:t>
            </a:r>
            <a:endParaRPr lang="en-US" sz="960" dirty="0"/>
          </a:p>
        </p:txBody>
      </p:sp>
      <p:sp>
        <p:nvSpPr>
          <p:cNvPr id="3" name="static:1:text"/>
          <p:cNvSpPr/>
          <p:nvPr/>
        </p:nvSpPr>
        <p:spPr>
          <a:xfrm>
            <a:off x="975360" y="1068229"/>
            <a:ext cx="2515291"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What we'll cover.</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456849"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Model Choice</a:t>
            </a:r>
            <a:endParaRPr lang="en-US" sz="1680" dirty="0"/>
          </a:p>
        </p:txBody>
      </p:sp>
      <p:sp>
        <p:nvSpPr>
          <p:cNvPr id="6" name="static:4:text"/>
          <p:cNvSpPr/>
          <p:nvPr/>
        </p:nvSpPr>
        <p:spPr>
          <a:xfrm>
            <a:off x="975360" y="2912626"/>
            <a:ext cx="2387560"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Model comparison + Model Router</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algn="l" indent="0" marL="0">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1142881"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Grounding</a:t>
            </a:r>
            <a:endParaRPr lang="en-US" sz="1680" dirty="0"/>
          </a:p>
        </p:txBody>
      </p:sp>
      <p:sp>
        <p:nvSpPr>
          <p:cNvPr id="9" name="static:7:text"/>
          <p:cNvSpPr/>
          <p:nvPr/>
        </p:nvSpPr>
        <p:spPr>
          <a:xfrm>
            <a:off x="4256961" y="2912626"/>
            <a:ext cx="2186583"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Foundry IQ, Fabric IQ + Work IQ</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1426250"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Observability</a:t>
            </a:r>
            <a:endParaRPr lang="en-US" sz="1680" dirty="0"/>
          </a:p>
        </p:txBody>
      </p:sp>
      <p:sp>
        <p:nvSpPr>
          <p:cNvPr id="12" name="static:10:text"/>
          <p:cNvSpPr/>
          <p:nvPr/>
        </p:nvSpPr>
        <p:spPr>
          <a:xfrm>
            <a:off x="7538680" y="2912626"/>
            <a:ext cx="1143119"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Foundry tracing</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948214"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Evaluate</a:t>
            </a:r>
            <a:endParaRPr lang="en-US" sz="1680" dirty="0"/>
          </a:p>
        </p:txBody>
      </p:sp>
      <p:sp>
        <p:nvSpPr>
          <p:cNvPr id="15" name="static:13:text"/>
          <p:cNvSpPr/>
          <p:nvPr/>
        </p:nvSpPr>
        <p:spPr>
          <a:xfrm>
            <a:off x="975360" y="4284226"/>
            <a:ext cx="1990487"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Quality, safety, stays on-task</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algn="l" indent="0" marL="0">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992981"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Optimise</a:t>
            </a:r>
            <a:endParaRPr lang="en-US" sz="1680" dirty="0"/>
          </a:p>
        </p:txBody>
      </p:sp>
      <p:sp>
        <p:nvSpPr>
          <p:cNvPr id="18" name="static:16:text"/>
          <p:cNvSpPr/>
          <p:nvPr/>
        </p:nvSpPr>
        <p:spPr>
          <a:xfrm>
            <a:off x="4256961" y="4284226"/>
            <a:ext cx="1173599"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Agent Optimizer</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072039"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Automate</a:t>
            </a:r>
            <a:endParaRPr lang="en-US" sz="1680" dirty="0"/>
          </a:p>
        </p:txBody>
      </p:sp>
      <p:sp>
        <p:nvSpPr>
          <p:cNvPr id="21" name="static:19:text"/>
          <p:cNvSpPr/>
          <p:nvPr/>
        </p:nvSpPr>
        <p:spPr>
          <a:xfrm>
            <a:off x="7538680" y="4284226"/>
            <a:ext cx="1571387"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Continuous evaluation</a:t>
            </a:r>
            <a:endParaRPr lang="en-US" sz="1200" dirty="0"/>
          </a:p>
        </p:txBody>
      </p:sp>
      <p:sp>
        <p:nvSpPr>
          <p:cNvPr id="22" name="static:20:text"/>
          <p:cNvSpPr/>
          <p:nvPr/>
        </p:nvSpPr>
        <p:spPr>
          <a:xfrm>
            <a:off x="7538680" y="4482346"/>
            <a:ext cx="1227296"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 GitHub Actions</a:t>
            </a:r>
            <a:endParaRPr lang="en-US" sz="1200" dirty="0"/>
          </a:p>
        </p:txBody>
      </p:sp>
      <p:sp>
        <p:nvSpPr>
          <p:cNvPr id="23" name="static:21: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24" name="static:22:text"/>
          <p:cNvSpPr/>
          <p:nvPr/>
        </p:nvSpPr>
        <p:spPr>
          <a:xfrm>
            <a:off x="10445591" y="6461760"/>
            <a:ext cx="122824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02</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Meet the agent">
    <p:spTree>
      <p:nvGrpSpPr>
        <p:cNvPr id="1" name=""/>
        <p:cNvGrpSpPr/>
        <p:nvPr/>
      </p:nvGrpSpPr>
      <p:grpSpPr>
        <a:xfrm>
          <a:off x="0" y="0"/>
          <a:ext cx="0" cy="0"/>
          <a:chOff x="0" y="0"/>
          <a:chExt cx="0" cy="0"/>
        </a:xfrm>
      </p:grpSpPr>
      <p:sp>
        <p:nvSpPr>
          <p:cNvPr id="2" name="static:0:text"/>
          <p:cNvSpPr/>
          <p:nvPr/>
        </p:nvSpPr>
        <p:spPr>
          <a:xfrm>
            <a:off x="2727960" y="870109"/>
            <a:ext cx="1179671"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OUR EXAMPLE</a:t>
            </a:r>
            <a:endParaRPr lang="en-US" sz="960" dirty="0"/>
          </a:p>
        </p:txBody>
      </p:sp>
      <p:sp>
        <p:nvSpPr>
          <p:cNvPr id="3" name="static:1:text"/>
          <p:cNvSpPr/>
          <p:nvPr/>
        </p:nvSpPr>
        <p:spPr>
          <a:xfrm>
            <a:off x="975360" y="1068229"/>
            <a:ext cx="2270379"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Meet the agent</a:t>
            </a:r>
            <a:endParaRPr lang="en-US" sz="2640" dirty="0"/>
          </a:p>
        </p:txBody>
      </p:sp>
      <p:pic>
        <p:nvPicPr>
          <p:cNvPr id="4" name="static:2:svg:vector-3-2" descr="Purchasing advice agent">    </p:cNvPr>
          <p:cNvPicPr>
            <a:picLocks noChangeAspect="1"/>
          </p:cNvPicPr>
          <p:nvPr/>
        </p:nvPicPr>
        <p:blipFill>
          <a:blip r:embed="rId1">
            <a:extLst>
              <a:ext uri="{96DAC541-7B7A-43D3-8B79-37D633B846F1}">
                <ns0:svgBlip xmlns:ns0="http://schemas.microsoft.com/office/drawing/2016/SVG/main" r:embed="rId4"/>
              </a:ext>
            </a:extLst>
          </a:blip>
          <a:stretch>
            <a:fillRect/>
          </a:stretch>
        </p:blipFill>
        <p:spPr>
          <a:xfrm>
            <a:off x="1280160" y="2088952"/>
            <a:ext cx="1676400" cy="1524000"/>
          </a:xfrm>
          <a:prstGeom prst="rect">
            <a:avLst/>
          </a:prstGeom>
        </p:spPr>
      </p:pic>
      <p:sp>
        <p:nvSpPr>
          <p:cNvPr id="5" name="static:3:text"/>
          <p:cNvSpPr/>
          <p:nvPr/>
        </p:nvSpPr>
        <p:spPr>
          <a:xfrm>
            <a:off x="1202531" y="3734872"/>
            <a:ext cx="1923098"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Purchasing advice</a:t>
            </a:r>
            <a:endParaRPr lang="en-US" sz="1680" dirty="0"/>
          </a:p>
        </p:txBody>
      </p:sp>
      <p:sp>
        <p:nvSpPr>
          <p:cNvPr id="6" name="static:4:text"/>
          <p:cNvSpPr/>
          <p:nvPr/>
        </p:nvSpPr>
        <p:spPr>
          <a:xfrm>
            <a:off x="1830705" y="3969544"/>
            <a:ext cx="666631"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agent</a:t>
            </a:r>
            <a:endParaRPr lang="en-US" sz="1680" dirty="0"/>
          </a:p>
        </p:txBody>
      </p:sp>
      <p:sp>
        <p:nvSpPr>
          <p:cNvPr id="7" name="static:5:text"/>
          <p:cNvSpPr/>
          <p:nvPr/>
        </p:nvSpPr>
        <p:spPr>
          <a:xfrm>
            <a:off x="1147882" y="4326136"/>
            <a:ext cx="2032278"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Helps employees understand</a:t>
            </a:r>
            <a:endParaRPr lang="en-US" sz="1200" dirty="0"/>
          </a:p>
        </p:txBody>
      </p:sp>
      <p:sp>
        <p:nvSpPr>
          <p:cNvPr id="8" name="static:6:text"/>
          <p:cNvSpPr/>
          <p:nvPr/>
        </p:nvSpPr>
        <p:spPr>
          <a:xfrm>
            <a:off x="1365885" y="4539496"/>
            <a:ext cx="1596271"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what they can buy and</a:t>
            </a:r>
            <a:endParaRPr lang="en-US" sz="1200" dirty="0"/>
          </a:p>
        </p:txBody>
      </p:sp>
      <p:sp>
        <p:nvSpPr>
          <p:cNvPr id="9" name="static:7:text"/>
          <p:cNvSpPr/>
          <p:nvPr/>
        </p:nvSpPr>
        <p:spPr>
          <a:xfrm>
            <a:off x="1211461" y="4752856"/>
            <a:ext cx="1905238"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which approvals they need.</a:t>
            </a:r>
            <a:endParaRPr lang="en-US" sz="1200" dirty="0"/>
          </a:p>
        </p:txBody>
      </p:sp>
      <p:sp>
        <p:nvSpPr>
          <p:cNvPr id="10" name="static:8:shape"/>
          <p:cNvSpPr/>
          <p:nvPr/>
        </p:nvSpPr>
        <p:spPr>
          <a:xfrm>
            <a:off x="3749040" y="2670334"/>
            <a:ext cx="6248400" cy="1859280"/>
          </a:xfrm>
          <a:prstGeom prst="roundRect">
            <a:avLst>
              <a:gd name="adj" fmla="val 6557"/>
            </a:avLst>
          </a:prstGeom>
          <a:solidFill>
            <a:srgbClr val="292929"/>
          </a:solidFill>
          <a:ln w="7620">
            <a:solidFill>
              <a:srgbClr val="474747"/>
            </a:solidFill>
            <a:prstDash val="solid"/>
          </a:ln>
        </p:spPr>
      </p:sp>
      <p:sp>
        <p:nvSpPr>
          <p:cNvPr id="11" name="static:9:text"/>
          <p:cNvSpPr/>
          <p:nvPr/>
        </p:nvSpPr>
        <p:spPr>
          <a:xfrm>
            <a:off x="4000500" y="2914174"/>
            <a:ext cx="1344216" cy="190500"/>
          </a:xfrm>
          <a:prstGeom prst="rect">
            <a:avLst/>
          </a:prstGeom>
          <a:noFill/>
          <a:ln/>
        </p:spPr>
        <p:txBody>
          <a:bodyPr wrap="none" lIns="0" tIns="0" rIns="0" bIns="0" rtlCol="0" anchor="ctr"/>
          <a:lstStyle/>
          <a:p>
            <a:pPr algn="l" indent="0" marL="0">
              <a:buNone/>
            </a:pPr>
            <a:r>
              <a:rPr lang="en-US" sz="1200" b="1" dirty="0">
                <a:solidFill>
                  <a:srgbClr val="4DA6FF"/>
                </a:solidFill>
                <a:latin typeface="Arial" pitchFamily="34" charset="0"/>
                <a:ea typeface="Arial" pitchFamily="34" charset="-122"/>
                <a:cs typeface="Arial" pitchFamily="34" charset="-120"/>
              </a:rPr>
              <a:t>A team lead asks:</a:t>
            </a:r>
            <a:endParaRPr lang="en-US" sz="1200" dirty="0"/>
          </a:p>
        </p:txBody>
      </p:sp>
      <p:sp>
        <p:nvSpPr>
          <p:cNvPr id="12" name="static:10:text"/>
          <p:cNvSpPr/>
          <p:nvPr/>
        </p:nvSpPr>
        <p:spPr>
          <a:xfrm>
            <a:off x="4000500" y="3249454"/>
            <a:ext cx="4691063" cy="342900"/>
          </a:xfrm>
          <a:prstGeom prst="rect">
            <a:avLst/>
          </a:prstGeom>
          <a:noFill/>
          <a:ln/>
        </p:spPr>
        <p:txBody>
          <a:bodyPr wrap="none" lIns="0" tIns="0" rIns="0" bIns="0" rtlCol="0" anchor="ctr"/>
          <a:lstStyle/>
          <a:p>
            <a:pPr algn="l" indent="0" marL="0">
              <a:buNone/>
            </a:pPr>
            <a:r>
              <a:rPr lang="en-US" sz="2160" b="1" dirty="0">
                <a:solidFill>
                  <a:srgbClr val="DEDEDE"/>
                </a:solidFill>
                <a:latin typeface="Arial" pitchFamily="34" charset="0"/>
                <a:ea typeface="Arial" pitchFamily="34" charset="-122"/>
                <a:cs typeface="Arial" pitchFamily="34" charset="-120"/>
              </a:rPr>
              <a:t>“Can I book a team dinner for six this</a:t>
            </a:r>
            <a:endParaRPr lang="en-US" sz="2160" dirty="0"/>
          </a:p>
        </p:txBody>
      </p:sp>
      <p:sp>
        <p:nvSpPr>
          <p:cNvPr id="13" name="static:11:text"/>
          <p:cNvSpPr/>
          <p:nvPr/>
        </p:nvSpPr>
        <p:spPr>
          <a:xfrm>
            <a:off x="4000500" y="3592354"/>
            <a:ext cx="4475559" cy="342900"/>
          </a:xfrm>
          <a:prstGeom prst="rect">
            <a:avLst/>
          </a:prstGeom>
          <a:noFill/>
          <a:ln/>
        </p:spPr>
        <p:txBody>
          <a:bodyPr wrap="none" lIns="0" tIns="0" rIns="0" bIns="0" rtlCol="0" anchor="ctr"/>
          <a:lstStyle/>
          <a:p>
            <a:pPr algn="l" indent="0" marL="0">
              <a:buNone/>
            </a:pPr>
            <a:r>
              <a:rPr lang="en-US" sz="2160" b="1" dirty="0">
                <a:solidFill>
                  <a:srgbClr val="DEDEDE"/>
                </a:solidFill>
                <a:latin typeface="Arial" pitchFamily="34" charset="0"/>
                <a:ea typeface="Arial" pitchFamily="34" charset="-122"/>
                <a:cs typeface="Arial" pitchFamily="34" charset="-120"/>
              </a:rPr>
              <a:t>Thursday? It’s about $540, and my</a:t>
            </a:r>
            <a:endParaRPr lang="en-US" sz="2160" dirty="0"/>
          </a:p>
        </p:txBody>
      </p:sp>
      <p:sp>
        <p:nvSpPr>
          <p:cNvPr id="14" name="static:12:text"/>
          <p:cNvSpPr/>
          <p:nvPr/>
        </p:nvSpPr>
        <p:spPr>
          <a:xfrm>
            <a:off x="4000500" y="3935254"/>
            <a:ext cx="3079313" cy="342900"/>
          </a:xfrm>
          <a:prstGeom prst="rect">
            <a:avLst/>
          </a:prstGeom>
          <a:noFill/>
          <a:ln/>
        </p:spPr>
        <p:txBody>
          <a:bodyPr wrap="none" lIns="0" tIns="0" rIns="0" bIns="0" rtlCol="0" anchor="ctr"/>
          <a:lstStyle/>
          <a:p>
            <a:pPr algn="l" indent="0" marL="0">
              <a:buNone/>
            </a:pPr>
            <a:r>
              <a:rPr lang="en-US" sz="2160" b="1" dirty="0">
                <a:solidFill>
                  <a:srgbClr val="DEDEDE"/>
                </a:solidFill>
                <a:latin typeface="Arial" pitchFamily="34" charset="0"/>
                <a:ea typeface="Arial" pitchFamily="34" charset="-122"/>
                <a:cs typeface="Arial" pitchFamily="34" charset="-120"/>
              </a:rPr>
              <a:t>manager’s approved it.”</a:t>
            </a:r>
            <a:endParaRPr lang="en-US" sz="2160" dirty="0"/>
          </a:p>
        </p:txBody>
      </p:sp>
      <p:sp>
        <p:nvSpPr>
          <p:cNvPr id="15" name="static:1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16" name="static:14:text"/>
          <p:cNvSpPr/>
          <p:nvPr/>
        </p:nvSpPr>
        <p:spPr>
          <a:xfrm>
            <a:off x="10443448" y="6461760"/>
            <a:ext cx="1230392"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03</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Model Choice">
    <p:spTree>
      <p:nvGrpSpPr>
        <p:cNvPr id="1" name=""/>
        <p:cNvGrpSpPr/>
        <p:nvPr/>
      </p:nvGrpSpPr>
      <p:grpSpPr>
        <a:xfrm>
          <a:off x="0" y="0"/>
          <a:ext cx="0" cy="0"/>
          <a:chOff x="0" y="0"/>
          <a:chExt cx="0" cy="0"/>
        </a:xfrm>
      </p:grpSpPr>
      <p:sp>
        <p:nvSpPr>
          <p:cNvPr id="2" name="static:0:text"/>
          <p:cNvSpPr/>
          <p:nvPr/>
        </p:nvSpPr>
        <p:spPr>
          <a:xfrm>
            <a:off x="2727960" y="870109"/>
            <a:ext cx="3541514"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DIFFERENT MODELS. DIFFERENT PRIORITIES.</a:t>
            </a:r>
            <a:endParaRPr lang="en-US" sz="960" dirty="0"/>
          </a:p>
        </p:txBody>
      </p:sp>
      <p:sp>
        <p:nvSpPr>
          <p:cNvPr id="3" name="static:1:text"/>
          <p:cNvSpPr/>
          <p:nvPr/>
        </p:nvSpPr>
        <p:spPr>
          <a:xfrm>
            <a:off x="975360" y="1068229"/>
            <a:ext cx="2083808"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Model Choice</a:t>
            </a:r>
            <a:endParaRPr lang="en-US" sz="2640" dirty="0"/>
          </a:p>
        </p:txBody>
      </p:sp>
      <p:grpSp>
        <p:nvGrpSpPr>
          <p:cNvPr id="37" name="Reveal 1"/>
          <p:cNvGrpSpPr/>
          <p:nvPr/>
        </p:nvGrpSpPr>
        <p:grpSpPr>
          <a:xfrm>
            <a:off x="975360" y="1792129"/>
            <a:ext cx="2834640" cy="3569137"/>
            <a:chOff x="975360" y="1792129"/>
            <a:chExt cx="2834640" cy="3569137"/>
          </a:xfrm>
        </p:grpSpPr>
        <p:sp>
          <p:nvSpPr>
            <p:cNvPr id="4" name="reveal-1:2:shape"/>
            <p:cNvSpPr/>
            <p:nvPr/>
          </p:nvSpPr>
          <p:spPr>
            <a:xfrm>
              <a:off x="975360" y="1792129"/>
              <a:ext cx="2834640" cy="3569137"/>
            </a:xfrm>
            <a:prstGeom prst="roundRect">
              <a:avLst>
                <a:gd name="adj" fmla="val 4839"/>
              </a:avLst>
            </a:prstGeom>
            <a:solidFill>
              <a:srgbClr val="292929"/>
            </a:solidFill>
            <a:ln w="7620">
              <a:solidFill>
                <a:srgbClr val="474747"/>
              </a:solidFill>
              <a:prstDash val="solid"/>
            </a:ln>
          </p:spPr>
        </p:sp>
        <p:sp>
          <p:nvSpPr>
            <p:cNvPr id="5" name="reveal-1:2:shape:border-0"/>
            <p:cNvSpPr/>
            <p:nvPr/>
          </p:nvSpPr>
          <p:spPr>
            <a:xfrm>
              <a:off x="1066800" y="1807369"/>
              <a:ext cx="2651760" cy="0"/>
            </a:xfrm>
            <a:prstGeom prst="line">
              <a:avLst/>
            </a:prstGeom>
            <a:noFill/>
            <a:ln w="30480">
              <a:solidFill>
                <a:srgbClr val="FBBF24"/>
              </a:solidFill>
              <a:prstDash val="solid"/>
              <a:headEnd type="none"/>
              <a:tailEnd type="none"/>
            </a:ln>
          </p:spPr>
        </p:sp>
        <p:pic>
          <p:nvPicPr>
            <p:cNvPr id="6" name="reveal-1:3:svg:vector-4-3" descr="Model 1: a robot with a connected reasoning diagram">    </p:cNvPr>
            <p:cNvPicPr>
              <a:picLocks noChangeAspect="1"/>
            </p:cNvPicPr>
            <p:nvPr/>
          </p:nvPicPr>
          <p:blipFill>
            <a:blip r:embed="rId1">
              <a:extLst>
                <a:ext uri="{96DAC541-7B7A-43D3-8B79-37D633B846F1}">
                  <ns0:svgBlip xmlns:ns0="http://schemas.microsoft.com/office/drawing/2016/SVG/main" r:embed="rId6"/>
                </a:ext>
              </a:extLst>
            </a:blip>
            <a:stretch>
              <a:fillRect/>
            </a:stretch>
          </p:blipFill>
          <p:spPr>
            <a:xfrm>
              <a:off x="1706880" y="2035969"/>
              <a:ext cx="1371600" cy="1249680"/>
            </a:xfrm>
            <a:prstGeom prst="rect">
              <a:avLst/>
            </a:prstGeom>
          </p:spPr>
        </p:pic>
        <p:sp>
          <p:nvSpPr>
            <p:cNvPr id="7" name="reveal-1:4:text"/>
            <p:cNvSpPr/>
            <p:nvPr/>
          </p:nvSpPr>
          <p:spPr>
            <a:xfrm>
              <a:off x="2064782" y="3392329"/>
              <a:ext cx="747236" cy="228600"/>
            </a:xfrm>
            <a:prstGeom prst="rect">
              <a:avLst/>
            </a:prstGeom>
            <a:noFill/>
            <a:ln/>
          </p:spPr>
          <p:txBody>
            <a:bodyPr wrap="none" lIns="0" tIns="0" rIns="0" bIns="0" rtlCol="0" anchor="ctr"/>
            <a:lstStyle/>
            <a:p>
              <a:pPr algn="l" indent="0" marL="0">
                <a:buNone/>
              </a:pPr>
              <a:r>
                <a:rPr lang="en-US" sz="1440" b="1" dirty="0">
                  <a:solidFill>
                    <a:srgbClr val="FBBF24"/>
                  </a:solidFill>
                  <a:latin typeface="Arial" pitchFamily="34" charset="0"/>
                  <a:ea typeface="Arial" pitchFamily="34" charset="-122"/>
                  <a:cs typeface="Arial" pitchFamily="34" charset="-120"/>
                </a:rPr>
                <a:t>Model 1</a:t>
              </a:r>
              <a:endParaRPr lang="en-US" sz="1440" dirty="0"/>
            </a:p>
          </p:txBody>
        </p:sp>
        <p:sp>
          <p:nvSpPr>
            <p:cNvPr id="8" name="reveal-1:5:text"/>
            <p:cNvSpPr/>
            <p:nvPr/>
          </p:nvSpPr>
          <p:spPr>
            <a:xfrm>
              <a:off x="1414820" y="3700105"/>
              <a:ext cx="2047042" cy="243840"/>
            </a:xfrm>
            <a:prstGeom prst="rect">
              <a:avLst/>
            </a:prstGeom>
            <a:noFill/>
            <a:ln/>
          </p:spPr>
          <p:txBody>
            <a:bodyPr wrap="none" lIns="0" tIns="0" rIns="0" bIns="0" rtlCol="0" anchor="ctr"/>
            <a:lstStyle/>
            <a:p>
              <a:pPr algn="l" indent="0" marL="0">
                <a:buNone/>
              </a:pPr>
              <a:r>
                <a:rPr lang="en-US" sz="1560" b="1" dirty="0">
                  <a:solidFill>
                    <a:srgbClr val="DEDEDE"/>
                  </a:solidFill>
                  <a:latin typeface="Arial" pitchFamily="34" charset="0"/>
                  <a:ea typeface="Arial" pitchFamily="34" charset="-122"/>
                  <a:cs typeface="Arial" pitchFamily="34" charset="-120"/>
                </a:rPr>
                <a:t>Optimised for quality</a:t>
              </a:r>
              <a:endParaRPr lang="en-US" sz="1560" dirty="0"/>
            </a:p>
          </p:txBody>
        </p:sp>
        <p:sp>
          <p:nvSpPr>
            <p:cNvPr id="9" name="reveal-1:6:text"/>
            <p:cNvSpPr/>
            <p:nvPr/>
          </p:nvSpPr>
          <p:spPr>
            <a:xfrm>
              <a:off x="1751528" y="4035385"/>
              <a:ext cx="1373624"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Complex reasoning</a:t>
              </a:r>
              <a:endParaRPr lang="en-US" sz="1200" dirty="0"/>
            </a:p>
          </p:txBody>
        </p:sp>
        <p:sp>
          <p:nvSpPr>
            <p:cNvPr id="10" name="reveal-1:7:text"/>
            <p:cNvSpPr/>
            <p:nvPr/>
          </p:nvSpPr>
          <p:spPr>
            <a:xfrm>
              <a:off x="1713309" y="4241125"/>
              <a:ext cx="1450181"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and multi-step tasks</a:t>
              </a:r>
              <a:endParaRPr lang="en-US" sz="1200" dirty="0"/>
            </a:p>
          </p:txBody>
        </p:sp>
        <p:sp>
          <p:nvSpPr>
            <p:cNvPr id="11" name="reveal-1:8:shape"/>
            <p:cNvSpPr/>
            <p:nvPr/>
          </p:nvSpPr>
          <p:spPr>
            <a:xfrm>
              <a:off x="1196340" y="4591645"/>
              <a:ext cx="2392680" cy="548640"/>
            </a:xfrm>
            <a:prstGeom prst="roundRect">
              <a:avLst>
                <a:gd name="adj" fmla="val 13889"/>
              </a:avLst>
            </a:prstGeom>
            <a:solidFill>
              <a:srgbClr val="2E2E2E"/>
            </a:solidFill>
            <a:ln w="12700">
              <a:solidFill>
                <a:srgbClr val="333333">
                  <a:alpha val="0"/>
                </a:srgbClr>
              </a:solidFill>
              <a:prstDash val="solid"/>
            </a:ln>
          </p:spPr>
        </p:sp>
        <p:sp>
          <p:nvSpPr>
            <p:cNvPr id="12" name="reveal-1:9:text"/>
            <p:cNvSpPr/>
            <p:nvPr/>
          </p:nvSpPr>
          <p:spPr>
            <a:xfrm>
              <a:off x="1909643" y="4675465"/>
              <a:ext cx="1057394"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Trade-off: $$$</a:t>
              </a:r>
              <a:endParaRPr lang="en-US" sz="1080" dirty="0"/>
            </a:p>
          </p:txBody>
        </p:sp>
        <p:sp>
          <p:nvSpPr>
            <p:cNvPr id="13" name="reveal-1:10:text"/>
            <p:cNvSpPr/>
            <p:nvPr/>
          </p:nvSpPr>
          <p:spPr>
            <a:xfrm>
              <a:off x="1811417" y="4846915"/>
              <a:ext cx="1253966"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Slower responses</a:t>
              </a:r>
              <a:endParaRPr lang="en-US" sz="1080" dirty="0"/>
            </a:p>
          </p:txBody>
        </p:sp>
      </p:grpSp>
      <p:grpSp>
        <p:nvGrpSpPr>
          <p:cNvPr id="38" name="Reveal 2"/>
          <p:cNvGrpSpPr/>
          <p:nvPr/>
        </p:nvGrpSpPr>
        <p:grpSpPr>
          <a:xfrm>
            <a:off x="3992880" y="1792129"/>
            <a:ext cx="2834640" cy="3569137"/>
            <a:chOff x="3992880" y="1792129"/>
            <a:chExt cx="2834640" cy="3569137"/>
          </a:xfrm>
        </p:grpSpPr>
        <p:sp>
          <p:nvSpPr>
            <p:cNvPr id="14" name="reveal-2:11:shape"/>
            <p:cNvSpPr/>
            <p:nvPr/>
          </p:nvSpPr>
          <p:spPr>
            <a:xfrm>
              <a:off x="3992880" y="1792129"/>
              <a:ext cx="2834640" cy="3569137"/>
            </a:xfrm>
            <a:prstGeom prst="roundRect">
              <a:avLst>
                <a:gd name="adj" fmla="val 4839"/>
              </a:avLst>
            </a:prstGeom>
            <a:solidFill>
              <a:srgbClr val="292929"/>
            </a:solidFill>
            <a:ln w="7620">
              <a:solidFill>
                <a:srgbClr val="474747"/>
              </a:solidFill>
              <a:prstDash val="solid"/>
            </a:ln>
          </p:spPr>
        </p:sp>
        <p:sp>
          <p:nvSpPr>
            <p:cNvPr id="15" name="reveal-2:11:shape:border-0"/>
            <p:cNvSpPr/>
            <p:nvPr/>
          </p:nvSpPr>
          <p:spPr>
            <a:xfrm>
              <a:off x="4084320" y="1807369"/>
              <a:ext cx="2651760" cy="0"/>
            </a:xfrm>
            <a:prstGeom prst="line">
              <a:avLst/>
            </a:prstGeom>
            <a:noFill/>
            <a:ln w="30480">
              <a:solidFill>
                <a:srgbClr val="4DA6FF"/>
              </a:solidFill>
              <a:prstDash val="solid"/>
              <a:headEnd type="none"/>
              <a:tailEnd type="none"/>
            </a:ln>
          </p:spPr>
        </p:sp>
        <p:pic>
          <p:nvPicPr>
            <p:cNvPr id="16" name="reveal-2:12:svg:vector-4-12" descr="Model 2: a robot with a lightning bolt and speed lines">    </p:cNvPr>
            <p:cNvPicPr>
              <a:picLocks noChangeAspect="1"/>
            </p:cNvPicPr>
            <p:nvPr/>
          </p:nvPicPr>
          <p:blipFill>
            <a:blip r:embed="rId2">
              <a:extLst>
                <a:ext uri="{96DAC541-7B7A-43D3-8B79-37D633B846F1}">
                  <ns0:svgBlip xmlns:ns0="http://schemas.microsoft.com/office/drawing/2016/SVG/main" r:embed="rId7"/>
                </a:ext>
              </a:extLst>
            </a:blip>
            <a:stretch>
              <a:fillRect/>
            </a:stretch>
          </p:blipFill>
          <p:spPr>
            <a:xfrm>
              <a:off x="4724400" y="2035969"/>
              <a:ext cx="1371600" cy="1249680"/>
            </a:xfrm>
            <a:prstGeom prst="rect">
              <a:avLst/>
            </a:prstGeom>
          </p:spPr>
        </p:pic>
        <p:sp>
          <p:nvSpPr>
            <p:cNvPr id="17" name="reveal-2:13:text"/>
            <p:cNvSpPr/>
            <p:nvPr/>
          </p:nvSpPr>
          <p:spPr>
            <a:xfrm>
              <a:off x="5070872" y="3392329"/>
              <a:ext cx="770096" cy="228600"/>
            </a:xfrm>
            <a:prstGeom prst="rect">
              <a:avLst/>
            </a:prstGeom>
            <a:noFill/>
            <a:ln/>
          </p:spPr>
          <p:txBody>
            <a:bodyPr wrap="none" lIns="0" tIns="0" rIns="0" bIns="0" rtlCol="0" anchor="ctr"/>
            <a:lstStyle/>
            <a:p>
              <a:pPr algn="l" indent="0" marL="0">
                <a:buNone/>
              </a:pPr>
              <a:r>
                <a:rPr lang="en-US" sz="1440" b="1" dirty="0">
                  <a:solidFill>
                    <a:srgbClr val="4DA6FF"/>
                  </a:solidFill>
                  <a:latin typeface="Arial" pitchFamily="34" charset="0"/>
                  <a:ea typeface="Arial" pitchFamily="34" charset="-122"/>
                  <a:cs typeface="Arial" pitchFamily="34" charset="-120"/>
                </a:rPr>
                <a:t>Model 2</a:t>
              </a:r>
              <a:endParaRPr lang="en-US" sz="1440" dirty="0"/>
            </a:p>
          </p:txBody>
        </p:sp>
        <p:sp>
          <p:nvSpPr>
            <p:cNvPr id="18" name="reveal-2:14:text"/>
            <p:cNvSpPr/>
            <p:nvPr/>
          </p:nvSpPr>
          <p:spPr>
            <a:xfrm>
              <a:off x="4601289" y="3700105"/>
              <a:ext cx="1709261" cy="243840"/>
            </a:xfrm>
            <a:prstGeom prst="rect">
              <a:avLst/>
            </a:prstGeom>
            <a:noFill/>
            <a:ln/>
          </p:spPr>
          <p:txBody>
            <a:bodyPr wrap="none" lIns="0" tIns="0" rIns="0" bIns="0" rtlCol="0" anchor="ctr"/>
            <a:lstStyle/>
            <a:p>
              <a:pPr algn="l" indent="0" marL="0">
                <a:buNone/>
              </a:pPr>
              <a:r>
                <a:rPr lang="en-US" sz="1560" b="1" dirty="0">
                  <a:solidFill>
                    <a:srgbClr val="DEDEDE"/>
                  </a:solidFill>
                  <a:latin typeface="Arial" pitchFamily="34" charset="0"/>
                  <a:ea typeface="Arial" pitchFamily="34" charset="-122"/>
                  <a:cs typeface="Arial" pitchFamily="34" charset="-120"/>
                </a:rPr>
                <a:t>Fast and low cost</a:t>
              </a:r>
              <a:endParaRPr lang="en-US" sz="1560" dirty="0"/>
            </a:p>
          </p:txBody>
        </p:sp>
        <p:sp>
          <p:nvSpPr>
            <p:cNvPr id="19" name="reveal-2:15:text"/>
            <p:cNvSpPr/>
            <p:nvPr/>
          </p:nvSpPr>
          <p:spPr>
            <a:xfrm>
              <a:off x="4718804" y="4035385"/>
              <a:ext cx="1474232"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Responsive chat and</a:t>
              </a:r>
              <a:endParaRPr lang="en-US" sz="1200" dirty="0"/>
            </a:p>
          </p:txBody>
        </p:sp>
        <p:sp>
          <p:nvSpPr>
            <p:cNvPr id="20" name="reveal-2:16:text"/>
            <p:cNvSpPr/>
            <p:nvPr/>
          </p:nvSpPr>
          <p:spPr>
            <a:xfrm>
              <a:off x="4797147" y="4241125"/>
              <a:ext cx="1317546"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high-volume tasks</a:t>
              </a:r>
              <a:endParaRPr lang="en-US" sz="1200" dirty="0"/>
            </a:p>
          </p:txBody>
        </p:sp>
        <p:sp>
          <p:nvSpPr>
            <p:cNvPr id="21" name="reveal-2:17:shape"/>
            <p:cNvSpPr/>
            <p:nvPr/>
          </p:nvSpPr>
          <p:spPr>
            <a:xfrm>
              <a:off x="4213860" y="4591645"/>
              <a:ext cx="2392680" cy="548640"/>
            </a:xfrm>
            <a:prstGeom prst="roundRect">
              <a:avLst>
                <a:gd name="adj" fmla="val 13889"/>
              </a:avLst>
            </a:prstGeom>
            <a:solidFill>
              <a:srgbClr val="2E2E2E"/>
            </a:solidFill>
            <a:ln w="12700">
              <a:solidFill>
                <a:srgbClr val="333333">
                  <a:alpha val="0"/>
                </a:srgbClr>
              </a:solidFill>
              <a:prstDash val="solid"/>
            </a:ln>
          </p:spPr>
        </p:sp>
        <p:sp>
          <p:nvSpPr>
            <p:cNvPr id="22" name="reveal-2:18:text"/>
            <p:cNvSpPr/>
            <p:nvPr/>
          </p:nvSpPr>
          <p:spPr>
            <a:xfrm>
              <a:off x="4654272" y="4675465"/>
              <a:ext cx="1603177"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Trade-off: less capable</a:t>
              </a:r>
              <a:endParaRPr lang="en-US" sz="1080" dirty="0"/>
            </a:p>
          </p:txBody>
        </p:sp>
        <p:sp>
          <p:nvSpPr>
            <p:cNvPr id="23" name="reveal-2:19:text"/>
            <p:cNvSpPr/>
            <p:nvPr/>
          </p:nvSpPr>
          <p:spPr>
            <a:xfrm>
              <a:off x="4841677" y="4846915"/>
              <a:ext cx="1228487"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on complex tasks</a:t>
              </a:r>
              <a:endParaRPr lang="en-US" sz="1080" dirty="0"/>
            </a:p>
          </p:txBody>
        </p:sp>
      </p:grpSp>
      <p:grpSp>
        <p:nvGrpSpPr>
          <p:cNvPr id="39" name="Reveal 3"/>
          <p:cNvGrpSpPr/>
          <p:nvPr/>
        </p:nvGrpSpPr>
        <p:grpSpPr>
          <a:xfrm>
            <a:off x="7010400" y="1792129"/>
            <a:ext cx="2834640" cy="3569137"/>
            <a:chOff x="7010400" y="1792129"/>
            <a:chExt cx="2834640" cy="3569137"/>
          </a:xfrm>
        </p:grpSpPr>
        <p:sp>
          <p:nvSpPr>
            <p:cNvPr id="24" name="reveal-3:20:shape"/>
            <p:cNvSpPr/>
            <p:nvPr/>
          </p:nvSpPr>
          <p:spPr>
            <a:xfrm>
              <a:off x="7010400" y="1792129"/>
              <a:ext cx="2834640" cy="3569137"/>
            </a:xfrm>
            <a:prstGeom prst="roundRect">
              <a:avLst>
                <a:gd name="adj" fmla="val 4839"/>
              </a:avLst>
            </a:prstGeom>
            <a:solidFill>
              <a:srgbClr val="292929"/>
            </a:solidFill>
            <a:ln w="7620">
              <a:solidFill>
                <a:srgbClr val="474747"/>
              </a:solidFill>
              <a:prstDash val="solid"/>
            </a:ln>
          </p:spPr>
        </p:sp>
        <p:sp>
          <p:nvSpPr>
            <p:cNvPr id="25" name="reveal-3:20:shape:border-0"/>
            <p:cNvSpPr/>
            <p:nvPr/>
          </p:nvSpPr>
          <p:spPr>
            <a:xfrm>
              <a:off x="7101840" y="1807369"/>
              <a:ext cx="2651760" cy="0"/>
            </a:xfrm>
            <a:prstGeom prst="line">
              <a:avLst/>
            </a:prstGeom>
            <a:noFill/>
            <a:ln w="30480">
              <a:solidFill>
                <a:srgbClr val="4ADE80"/>
              </a:solidFill>
              <a:prstDash val="solid"/>
              <a:headEnd type="none"/>
              <a:tailEnd type="none"/>
            </a:ln>
          </p:spPr>
        </p:sp>
        <p:pic>
          <p:nvPicPr>
            <p:cNvPr id="26" name="reveal-3:21:svg:vector-4-21" descr="Model Router: a robot sending requests to small, medium and large models">    </p:cNvPr>
            <p:cNvPicPr>
              <a:picLocks noChangeAspect="1"/>
            </p:cNvPicPr>
            <p:nvPr/>
          </p:nvPicPr>
          <p:blipFill>
            <a:blip r:embed="rId3">
              <a:extLst>
                <a:ext uri="{96DAC541-7B7A-43D3-8B79-37D633B846F1}">
                  <ns0:svgBlip xmlns:ns0="http://schemas.microsoft.com/office/drawing/2016/SVG/main" r:embed="rId8"/>
                </a:ext>
              </a:extLst>
            </a:blip>
            <a:stretch>
              <a:fillRect/>
            </a:stretch>
          </p:blipFill>
          <p:spPr>
            <a:xfrm>
              <a:off x="7741920" y="2035969"/>
              <a:ext cx="1371600" cy="1249680"/>
            </a:xfrm>
            <a:prstGeom prst="rect">
              <a:avLst/>
            </a:prstGeom>
          </p:spPr>
        </p:pic>
        <p:sp>
          <p:nvSpPr>
            <p:cNvPr id="27" name="reveal-3:22:text"/>
            <p:cNvSpPr/>
            <p:nvPr/>
          </p:nvSpPr>
          <p:spPr>
            <a:xfrm>
              <a:off x="7858601" y="3392329"/>
              <a:ext cx="1229678" cy="228600"/>
            </a:xfrm>
            <a:prstGeom prst="rect">
              <a:avLst/>
            </a:prstGeom>
            <a:noFill/>
            <a:ln/>
          </p:spPr>
          <p:txBody>
            <a:bodyPr wrap="none" lIns="0" tIns="0" rIns="0" bIns="0" rtlCol="0" anchor="ctr"/>
            <a:lstStyle/>
            <a:p>
              <a:pPr algn="l" indent="0" marL="0">
                <a:buNone/>
              </a:pPr>
              <a:r>
                <a:rPr lang="en-US" sz="1440" b="1" dirty="0">
                  <a:solidFill>
                    <a:srgbClr val="4ADE80"/>
                  </a:solidFill>
                  <a:latin typeface="Arial" pitchFamily="34" charset="0"/>
                  <a:ea typeface="Arial" pitchFamily="34" charset="-122"/>
                  <a:cs typeface="Arial" pitchFamily="34" charset="-120"/>
                </a:rPr>
                <a:t>Model Router</a:t>
              </a:r>
              <a:endParaRPr lang="en-US" sz="1440" dirty="0"/>
            </a:p>
          </p:txBody>
        </p:sp>
        <p:sp>
          <p:nvSpPr>
            <p:cNvPr id="28" name="reveal-3:23:text"/>
            <p:cNvSpPr/>
            <p:nvPr/>
          </p:nvSpPr>
          <p:spPr>
            <a:xfrm>
              <a:off x="7488674" y="3700105"/>
              <a:ext cx="1969413" cy="243840"/>
            </a:xfrm>
            <a:prstGeom prst="rect">
              <a:avLst/>
            </a:prstGeom>
            <a:noFill/>
            <a:ln/>
          </p:spPr>
          <p:txBody>
            <a:bodyPr wrap="none" lIns="0" tIns="0" rIns="0" bIns="0" rtlCol="0" anchor="ctr"/>
            <a:lstStyle/>
            <a:p>
              <a:pPr algn="l" indent="0" marL="0">
                <a:buNone/>
              </a:pPr>
              <a:r>
                <a:rPr lang="en-US" sz="1560" b="1" dirty="0">
                  <a:solidFill>
                    <a:srgbClr val="DEDEDE"/>
                  </a:solidFill>
                  <a:latin typeface="Arial" pitchFamily="34" charset="0"/>
                  <a:ea typeface="Arial" pitchFamily="34" charset="-122"/>
                  <a:cs typeface="Arial" pitchFamily="34" charset="-120"/>
                </a:rPr>
                <a:t>Decides per request</a:t>
              </a:r>
              <a:endParaRPr lang="en-US" sz="1560" dirty="0"/>
            </a:p>
          </p:txBody>
        </p:sp>
        <p:sp>
          <p:nvSpPr>
            <p:cNvPr id="29" name="reveal-3:24:text"/>
            <p:cNvSpPr/>
            <p:nvPr/>
          </p:nvSpPr>
          <p:spPr>
            <a:xfrm>
              <a:off x="7490222" y="4035385"/>
              <a:ext cx="1966317"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Easy questions: small model</a:t>
              </a:r>
              <a:endParaRPr lang="en-US" sz="1200" dirty="0"/>
            </a:p>
          </p:txBody>
        </p:sp>
        <p:sp>
          <p:nvSpPr>
            <p:cNvPr id="30" name="reveal-3:25:text"/>
            <p:cNvSpPr/>
            <p:nvPr/>
          </p:nvSpPr>
          <p:spPr>
            <a:xfrm>
              <a:off x="7444859" y="4241125"/>
              <a:ext cx="2057162"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Hard questions: strong model</a:t>
              </a:r>
              <a:endParaRPr lang="en-US" sz="1200" dirty="0"/>
            </a:p>
          </p:txBody>
        </p:sp>
        <p:sp>
          <p:nvSpPr>
            <p:cNvPr id="31" name="reveal-3:26:shape"/>
            <p:cNvSpPr/>
            <p:nvPr/>
          </p:nvSpPr>
          <p:spPr>
            <a:xfrm>
              <a:off x="7231380" y="4591645"/>
              <a:ext cx="2392680" cy="548640"/>
            </a:xfrm>
            <a:prstGeom prst="roundRect">
              <a:avLst>
                <a:gd name="adj" fmla="val 13889"/>
              </a:avLst>
            </a:prstGeom>
            <a:solidFill>
              <a:srgbClr val="2E2E2E"/>
            </a:solidFill>
            <a:ln w="12700">
              <a:solidFill>
                <a:srgbClr val="333333">
                  <a:alpha val="0"/>
                </a:srgbClr>
              </a:solidFill>
              <a:prstDash val="solid"/>
            </a:ln>
          </p:spPr>
        </p:sp>
        <p:sp>
          <p:nvSpPr>
            <p:cNvPr id="32" name="reveal-3:27:text"/>
            <p:cNvSpPr/>
            <p:nvPr/>
          </p:nvSpPr>
          <p:spPr>
            <a:xfrm>
              <a:off x="7556540" y="4675465"/>
              <a:ext cx="1833682"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Trade-off: less predictable</a:t>
              </a:r>
              <a:endParaRPr lang="en-US" sz="1080" dirty="0"/>
            </a:p>
          </p:txBody>
        </p:sp>
        <p:sp>
          <p:nvSpPr>
            <p:cNvPr id="33" name="reveal-3:28:text"/>
            <p:cNvSpPr/>
            <p:nvPr/>
          </p:nvSpPr>
          <p:spPr>
            <a:xfrm>
              <a:off x="7746206" y="4846915"/>
              <a:ext cx="1454348" cy="175260"/>
            </a:xfrm>
            <a:prstGeom prst="rect">
              <a:avLst/>
            </a:prstGeom>
            <a:noFill/>
            <a:ln/>
          </p:spPr>
          <p:txBody>
            <a:bodyPr wrap="none" lIns="0" tIns="0" rIns="0" bIns="0" rtlCol="0" anchor="ctr"/>
            <a:lstStyle/>
            <a:p>
              <a:pPr algn="l" indent="0" marL="0">
                <a:buNone/>
              </a:pPr>
              <a:r>
                <a:rPr lang="en-US" sz="1080" b="1" dirty="0">
                  <a:solidFill>
                    <a:srgbClr val="DEDEDE"/>
                  </a:solidFill>
                  <a:latin typeface="Arial" pitchFamily="34" charset="0"/>
                  <a:ea typeface="Arial" pitchFamily="34" charset="-122"/>
                  <a:cs typeface="Arial" pitchFamily="34" charset="-120"/>
                </a:rPr>
                <a:t>Test it like any model</a:t>
              </a:r>
              <a:endParaRPr lang="en-US" sz="1080" dirty="0"/>
            </a:p>
          </p:txBody>
        </p:sp>
      </p:grpSp>
      <p:grpSp>
        <p:nvGrpSpPr>
          <p:cNvPr id="40" name="Reveal 4"/>
          <p:cNvGrpSpPr/>
          <p:nvPr/>
        </p:nvGrpSpPr>
        <p:grpSpPr>
          <a:xfrm>
            <a:off x="975360" y="5666065"/>
            <a:ext cx="9966960" cy="213360"/>
            <a:chOff x="975360" y="5666065"/>
            <a:chExt cx="9966960" cy="213360"/>
          </a:xfrm>
        </p:grpSpPr>
        <p:sp>
          <p:nvSpPr>
            <p:cNvPr id="34" name="reveal-4:29:text"/>
            <p:cNvSpPr/>
            <p:nvPr/>
          </p:nvSpPr>
          <p:spPr>
            <a:xfrm>
              <a:off x="3643789" y="5658445"/>
              <a:ext cx="4721543" cy="228600"/>
            </a:xfrm>
            <a:prstGeom prst="rect">
              <a:avLst/>
            </a:prstGeom>
            <a:noFill/>
            <a:ln/>
          </p:spPr>
          <p:txBody>
            <a:bodyPr wrap="none" lIns="0" tIns="0" rIns="0" bIns="0" rtlCol="0" anchor="ctr"/>
            <a:lstStyle/>
            <a:p>
              <a:pPr algn="l" indent="0" marL="0">
                <a:buNone/>
              </a:pPr>
              <a:r>
                <a:rPr lang="en-US" sz="1440" b="1" spc="-14" kern="0" dirty="0">
                  <a:solidFill>
                    <a:srgbClr val="DEDEDE"/>
                  </a:solidFill>
                  <a:latin typeface="Arial" pitchFamily="34" charset="0"/>
                  <a:ea typeface="Arial" pitchFamily="34" charset="-122"/>
                  <a:cs typeface="Arial" pitchFamily="34" charset="-120"/>
                </a:rPr>
                <a:t>The first choice isn't final. </a:t>
              </a:r>
              <a:r>
                <a:rPr lang="en-US" sz="1440" b="1" spc="-14" kern="0" dirty="0">
                  <a:solidFill>
                    <a:srgbClr val="FBBF24"/>
                  </a:solidFill>
                  <a:latin typeface="Arial" pitchFamily="34" charset="0"/>
                  <a:ea typeface="Arial" pitchFamily="34" charset="-122"/>
                  <a:cs typeface="Arial" pitchFamily="34" charset="-120"/>
                </a:rPr>
                <a:t>Evaluations let you change it.</a:t>
              </a:r>
              <a:endParaRPr lang="en-US" sz="1440" dirty="0"/>
            </a:p>
          </p:txBody>
        </p:sp>
      </p:grpSp>
      <p:sp>
        <p:nvSpPr>
          <p:cNvPr id="35" name="static:30: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6" name="static:31:text"/>
          <p:cNvSpPr/>
          <p:nvPr/>
        </p:nvSpPr>
        <p:spPr>
          <a:xfrm>
            <a:off x="10441900" y="6461760"/>
            <a:ext cx="12319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04</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Demo 1 - Foundry Model Comparison">
    <p:spTree>
      <p:nvGrpSpPr>
        <p:cNvPr id="1" name=""/>
        <p:cNvGrpSpPr/>
        <p:nvPr/>
      </p:nvGrpSpPr>
      <p:grpSpPr>
        <a:xfrm>
          <a:off x="0" y="0"/>
          <a:ext cx="0" cy="0"/>
          <a:chOff x="0" y="0"/>
          <a:chExt cx="0" cy="0"/>
        </a:xfrm>
      </p:grpSpPr>
      <p:sp>
        <p:nvSpPr>
          <p:cNvPr id="2" name="static:0:text"/>
          <p:cNvSpPr/>
          <p:nvPr/>
        </p:nvSpPr>
        <p:spPr>
          <a:xfrm>
            <a:off x="975360" y="2482453"/>
            <a:ext cx="788432" cy="190500"/>
          </a:xfrm>
          <a:prstGeom prst="rect">
            <a:avLst/>
          </a:prstGeom>
          <a:noFill/>
          <a:ln/>
        </p:spPr>
        <p:txBody>
          <a:bodyPr wrap="none" lIns="0" tIns="0" rIns="0" bIns="0" rtlCol="0" anchor="ctr"/>
          <a:lstStyle/>
          <a:p>
            <a:pPr algn="l" indent="0" marL="0">
              <a:buNone/>
            </a:pPr>
            <a:r>
              <a:rPr lang="en-US" sz="1200" b="1" spc="180" kern="0" dirty="0">
                <a:solidFill>
                  <a:srgbClr val="FBBF24"/>
                </a:solidFill>
                <a:latin typeface="Arial" pitchFamily="34" charset="0"/>
                <a:ea typeface="Arial" pitchFamily="34" charset="-122"/>
                <a:cs typeface="Arial" pitchFamily="34" charset="-120"/>
              </a:rPr>
              <a:t>DEMO 1</a:t>
            </a:r>
            <a:endParaRPr lang="en-US" sz="1200" dirty="0"/>
          </a:p>
        </p:txBody>
      </p:sp>
      <p:sp>
        <p:nvSpPr>
          <p:cNvPr id="3" name="static:1:text"/>
          <p:cNvSpPr/>
          <p:nvPr/>
        </p:nvSpPr>
        <p:spPr>
          <a:xfrm>
            <a:off x="975360" y="2779633"/>
            <a:ext cx="6257163"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Foundry Model Comparison</a:t>
            </a:r>
            <a:endParaRPr lang="en-US" sz="4080" dirty="0"/>
          </a:p>
        </p:txBody>
      </p:sp>
      <p:sp>
        <p:nvSpPr>
          <p:cNvPr id="4" name="static:2:text"/>
          <p:cNvSpPr/>
          <p:nvPr/>
        </p:nvSpPr>
        <p:spPr>
          <a:xfrm>
            <a:off x="975360" y="3526393"/>
            <a:ext cx="3688556"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Compare fixed models and Model Router</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44282" y="6461760"/>
            <a:ext cx="1229558"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05</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Grounding">
    <p:spTree>
      <p:nvGrpSpPr>
        <p:cNvPr id="1" name=""/>
        <p:cNvGrpSpPr/>
        <p:nvPr/>
      </p:nvGrpSpPr>
      <p:grpSpPr>
        <a:xfrm>
          <a:off x="0" y="0"/>
          <a:ext cx="0" cy="0"/>
          <a:chOff x="0" y="0"/>
          <a:chExt cx="0" cy="0"/>
        </a:xfrm>
      </p:grpSpPr>
      <p:sp>
        <p:nvSpPr>
          <p:cNvPr id="2" name="static:0:text"/>
          <p:cNvSpPr/>
          <p:nvPr/>
        </p:nvSpPr>
        <p:spPr>
          <a:xfrm>
            <a:off x="2727960" y="870109"/>
            <a:ext cx="1215033" cy="152400"/>
          </a:xfrm>
          <a:prstGeom prst="rect">
            <a:avLst/>
          </a:prstGeom>
          <a:noFill/>
          <a:ln/>
        </p:spPr>
        <p:txBody>
          <a:bodyPr wrap="none" lIns="0" tIns="0" rIns="0" bIns="0" rtlCol="0" anchor="ctr"/>
          <a:lstStyle/>
          <a:p>
            <a:pPr algn="l" indent="0" marL="0">
              <a:buNone/>
            </a:pPr>
            <a:r>
              <a:rPr lang="en-US" sz="960" b="1" spc="154" kern="0" dirty="0">
                <a:solidFill>
                  <a:srgbClr val="FBBF24"/>
                </a:solidFill>
                <a:latin typeface="Arial" pitchFamily="34" charset="0"/>
                <a:ea typeface="Arial" pitchFamily="34" charset="-122"/>
                <a:cs typeface="Arial" pitchFamily="34" charset="-120"/>
              </a:rPr>
              <a:t>MICROSOFT IQ</a:t>
            </a:r>
            <a:endParaRPr lang="en-US" sz="960" dirty="0"/>
          </a:p>
        </p:txBody>
      </p:sp>
      <p:sp>
        <p:nvSpPr>
          <p:cNvPr id="3" name="static:1:text"/>
          <p:cNvSpPr/>
          <p:nvPr/>
        </p:nvSpPr>
        <p:spPr>
          <a:xfrm>
            <a:off x="975360" y="1068229"/>
            <a:ext cx="1631013"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Grounding</a:t>
            </a:r>
            <a:endParaRPr lang="en-US" sz="2640" dirty="0"/>
          </a:p>
        </p:txBody>
      </p:sp>
      <p:grpSp>
        <p:nvGrpSpPr>
          <p:cNvPr id="36" name="Reveal 1"/>
          <p:cNvGrpSpPr/>
          <p:nvPr/>
        </p:nvGrpSpPr>
        <p:grpSpPr>
          <a:xfrm>
            <a:off x="975360" y="1868329"/>
            <a:ext cx="3220641" cy="3548062"/>
            <a:chOff x="975360" y="1868329"/>
            <a:chExt cx="3220641" cy="3548062"/>
          </a:xfrm>
        </p:grpSpPr>
        <p:sp>
          <p:nvSpPr>
            <p:cNvPr id="4" name="reveal-1:2:shape"/>
            <p:cNvSpPr/>
            <p:nvPr/>
          </p:nvSpPr>
          <p:spPr>
            <a:xfrm>
              <a:off x="975360" y="1868329"/>
              <a:ext cx="3220641" cy="3548063"/>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FBBF24"/>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7" name="reveal-1:4:text"/>
            <p:cNvSpPr/>
            <p:nvPr/>
          </p:nvSpPr>
          <p:spPr>
            <a:xfrm>
              <a:off x="1265873" y="2207419"/>
              <a:ext cx="333256"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FIQ</a:t>
              </a:r>
              <a:endParaRPr lang="en-US" sz="1200" dirty="0"/>
            </a:p>
          </p:txBody>
        </p:sp>
        <p:sp>
          <p:nvSpPr>
            <p:cNvPr id="8" name="reveal-1:5:text"/>
            <p:cNvSpPr/>
            <p:nvPr/>
          </p:nvSpPr>
          <p:spPr>
            <a:xfrm>
              <a:off x="1181100" y="2698909"/>
              <a:ext cx="1185148"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Foundry IQ</a:t>
              </a:r>
              <a:endParaRPr lang="en-US" sz="1680" dirty="0"/>
            </a:p>
          </p:txBody>
        </p:sp>
        <p:sp>
          <p:nvSpPr>
            <p:cNvPr id="9" name="reveal-1:6:text"/>
            <p:cNvSpPr/>
            <p:nvPr/>
          </p:nvSpPr>
          <p:spPr>
            <a:xfrm>
              <a:off x="1181100" y="3047881"/>
              <a:ext cx="2690455"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Institutional knowledge and authoritative</a:t>
              </a:r>
              <a:endParaRPr lang="en-US" sz="1140" dirty="0"/>
            </a:p>
          </p:txBody>
        </p:sp>
        <p:sp>
          <p:nvSpPr>
            <p:cNvPr id="10" name="reveal-1:7:text"/>
            <p:cNvSpPr/>
            <p:nvPr/>
          </p:nvSpPr>
          <p:spPr>
            <a:xfrm>
              <a:off x="1181100" y="3243263"/>
              <a:ext cx="622935"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content.</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2" name="reveal-1:9:text"/>
            <p:cNvSpPr/>
            <p:nvPr/>
          </p:nvSpPr>
          <p:spPr>
            <a:xfrm>
              <a:off x="1287780" y="3735824"/>
              <a:ext cx="2030373"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Policies, procedures and reference</a:t>
              </a:r>
              <a:endParaRPr lang="en-US" sz="900" dirty="0"/>
            </a:p>
          </p:txBody>
        </p:sp>
        <p:sp>
          <p:nvSpPr>
            <p:cNvPr id="13" name="reveal-1:10:text"/>
            <p:cNvSpPr/>
            <p:nvPr/>
          </p:nvSpPr>
          <p:spPr>
            <a:xfrm>
              <a:off x="1287780" y="3884414"/>
              <a:ext cx="755809"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documents.</a:t>
              </a:r>
              <a:endParaRPr lang="en-US" sz="900" dirty="0"/>
            </a:p>
          </p:txBody>
        </p:sp>
      </p:grpSp>
      <p:grpSp>
        <p:nvGrpSpPr>
          <p:cNvPr id="37" name="Reveal 2"/>
          <p:cNvGrpSpPr/>
          <p:nvPr/>
        </p:nvGrpSpPr>
        <p:grpSpPr>
          <a:xfrm>
            <a:off x="4348401" y="1868329"/>
            <a:ext cx="3220760" cy="3548062"/>
            <a:chOff x="4348401" y="1868329"/>
            <a:chExt cx="3220760" cy="3548062"/>
          </a:xfrm>
        </p:grpSpPr>
        <p:sp>
          <p:nvSpPr>
            <p:cNvPr id="14" name="reveal-2:11:shape"/>
            <p:cNvSpPr/>
            <p:nvPr/>
          </p:nvSpPr>
          <p:spPr>
            <a:xfrm>
              <a:off x="4348401" y="1868329"/>
              <a:ext cx="3220760" cy="3548063"/>
            </a:xfrm>
            <a:prstGeom prst="roundRect">
              <a:avLst>
                <a:gd name="adj" fmla="val 3785"/>
              </a:avLst>
            </a:prstGeom>
            <a:solidFill>
              <a:srgbClr val="292929"/>
            </a:solidFill>
            <a:ln w="7620">
              <a:solidFill>
                <a:srgbClr val="474747"/>
              </a:solidFill>
              <a:prstDash val="solid"/>
            </a:ln>
          </p:spPr>
        </p:sp>
        <p:sp>
          <p:nvSpPr>
            <p:cNvPr id="15" name="reveal-2:11:shape:border-0"/>
            <p:cNvSpPr/>
            <p:nvPr/>
          </p:nvSpPr>
          <p:spPr>
            <a:xfrm>
              <a:off x="4439841" y="1883569"/>
              <a:ext cx="3037880" cy="0"/>
            </a:xfrm>
            <a:prstGeom prst="line">
              <a:avLst/>
            </a:prstGeom>
            <a:noFill/>
            <a:ln w="30480">
              <a:solidFill>
                <a:srgbClr val="4DA6FF"/>
              </a:solidFill>
              <a:prstDash val="solid"/>
              <a:headEnd type="none"/>
              <a:tailEnd type="none"/>
            </a:ln>
          </p:spPr>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sp>
        <p:sp>
          <p:nvSpPr>
            <p:cNvPr id="17" name="reveal-2:13:text"/>
            <p:cNvSpPr/>
            <p:nvPr/>
          </p:nvSpPr>
          <p:spPr>
            <a:xfrm>
              <a:off x="4631174" y="2207419"/>
              <a:ext cx="348734"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BIQ</a:t>
              </a:r>
              <a:endParaRPr lang="en-US" sz="1200" dirty="0"/>
            </a:p>
          </p:txBody>
        </p:sp>
        <p:sp>
          <p:nvSpPr>
            <p:cNvPr id="18" name="reveal-2:14:text"/>
            <p:cNvSpPr/>
            <p:nvPr/>
          </p:nvSpPr>
          <p:spPr>
            <a:xfrm>
              <a:off x="4554141" y="2698909"/>
              <a:ext cx="978575"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Fabric IQ</a:t>
              </a:r>
              <a:endParaRPr lang="en-US" sz="1680" dirty="0"/>
            </a:p>
          </p:txBody>
        </p:sp>
        <p:sp>
          <p:nvSpPr>
            <p:cNvPr id="19" name="reveal-2:15:text"/>
            <p:cNvSpPr/>
            <p:nvPr/>
          </p:nvSpPr>
          <p:spPr>
            <a:xfrm>
              <a:off x="4554141" y="3047881"/>
              <a:ext cx="2609731"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Governed business entities and current</a:t>
              </a:r>
              <a:endParaRPr lang="en-US" sz="1140" dirty="0"/>
            </a:p>
          </p:txBody>
        </p:sp>
        <p:sp>
          <p:nvSpPr>
            <p:cNvPr id="20" name="reveal-2:16:text"/>
            <p:cNvSpPr/>
            <p:nvPr/>
          </p:nvSpPr>
          <p:spPr>
            <a:xfrm>
              <a:off x="4554141" y="3243263"/>
              <a:ext cx="105644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business state.</a:t>
              </a:r>
              <a:endParaRPr lang="en-US" sz="1140" dirty="0"/>
            </a:p>
          </p:txBody>
        </p:sp>
        <p:sp>
          <p:nvSpPr>
            <p:cNvPr id="21" name="reveal-2:17: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2" name="reveal-2:18:text"/>
            <p:cNvSpPr/>
            <p:nvPr/>
          </p:nvSpPr>
          <p:spPr>
            <a:xfrm>
              <a:off x="4660821" y="3735824"/>
              <a:ext cx="2595086"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Spend so far, remaining budget and business</a:t>
              </a:r>
              <a:endParaRPr lang="en-US" sz="900" dirty="0"/>
            </a:p>
          </p:txBody>
        </p:sp>
        <p:sp>
          <p:nvSpPr>
            <p:cNvPr id="23" name="reveal-2:19:text"/>
            <p:cNvSpPr/>
            <p:nvPr/>
          </p:nvSpPr>
          <p:spPr>
            <a:xfrm>
              <a:off x="4660821" y="3884414"/>
              <a:ext cx="55947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records.</a:t>
              </a:r>
              <a:endParaRPr lang="en-US" sz="900" dirty="0"/>
            </a:p>
          </p:txBody>
        </p:sp>
      </p:grpSp>
      <p:grpSp>
        <p:nvGrpSpPr>
          <p:cNvPr id="38" name="Reveal 3"/>
          <p:cNvGrpSpPr/>
          <p:nvPr/>
        </p:nvGrpSpPr>
        <p:grpSpPr>
          <a:xfrm>
            <a:off x="7721560" y="1868329"/>
            <a:ext cx="3220641" cy="3548062"/>
            <a:chOff x="7721560" y="1868329"/>
            <a:chExt cx="3220641" cy="3548062"/>
          </a:xfrm>
        </p:grpSpPr>
        <p:sp>
          <p:nvSpPr>
            <p:cNvPr id="24" name="reveal-3:20:shape"/>
            <p:cNvSpPr/>
            <p:nvPr/>
          </p:nvSpPr>
          <p:spPr>
            <a:xfrm>
              <a:off x="7721560" y="1868329"/>
              <a:ext cx="3220641" cy="3548063"/>
            </a:xfrm>
            <a:prstGeom prst="roundRect">
              <a:avLst>
                <a:gd name="adj" fmla="val 3786"/>
              </a:avLst>
            </a:prstGeom>
            <a:solidFill>
              <a:srgbClr val="292929"/>
            </a:solidFill>
            <a:ln w="7620">
              <a:solidFill>
                <a:srgbClr val="474747"/>
              </a:solidFill>
              <a:prstDash val="solid"/>
            </a:ln>
          </p:spPr>
        </p:sp>
        <p:sp>
          <p:nvSpPr>
            <p:cNvPr id="25" name="reveal-3:20:shape:border-0"/>
            <p:cNvSpPr/>
            <p:nvPr/>
          </p:nvSpPr>
          <p:spPr>
            <a:xfrm>
              <a:off x="7813000" y="1883569"/>
              <a:ext cx="3037761" cy="0"/>
            </a:xfrm>
            <a:prstGeom prst="line">
              <a:avLst/>
            </a:prstGeom>
            <a:noFill/>
            <a:ln w="30480">
              <a:solidFill>
                <a:srgbClr val="4ADE80"/>
              </a:solidFill>
              <a:prstDash val="solid"/>
              <a:headEnd type="none"/>
              <a:tailEnd type="none"/>
            </a:ln>
          </p:spPr>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27" name="reveal-3:22:text"/>
            <p:cNvSpPr/>
            <p:nvPr/>
          </p:nvSpPr>
          <p:spPr>
            <a:xfrm>
              <a:off x="7979926" y="2207419"/>
              <a:ext cx="397550"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WIQ</a:t>
              </a:r>
              <a:endParaRPr lang="en-US" sz="1200" dirty="0"/>
            </a:p>
          </p:txBody>
        </p:sp>
        <p:sp>
          <p:nvSpPr>
            <p:cNvPr id="28" name="reveal-3:23:text"/>
            <p:cNvSpPr/>
            <p:nvPr/>
          </p:nvSpPr>
          <p:spPr>
            <a:xfrm>
              <a:off x="7927300" y="2698909"/>
              <a:ext cx="879158"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Work IQ</a:t>
              </a:r>
              <a:endParaRPr lang="en-US" sz="1680" dirty="0"/>
            </a:p>
          </p:txBody>
        </p:sp>
        <p:sp>
          <p:nvSpPr>
            <p:cNvPr id="29" name="reveal-3:24:text"/>
            <p:cNvSpPr/>
            <p:nvPr/>
          </p:nvSpPr>
          <p:spPr>
            <a:xfrm>
              <a:off x="7927300" y="3047881"/>
              <a:ext cx="2889885"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People, collaboration and workflow context.</a:t>
              </a:r>
              <a:endParaRPr lang="en-US" sz="1140" dirty="0"/>
            </a:p>
          </p:txBody>
        </p:sp>
        <p:sp>
          <p:nvSpPr>
            <p:cNvPr id="30" name="reveal-3:25:shape"/>
            <p:cNvSpPr/>
            <p:nvPr/>
          </p:nvSpPr>
          <p:spPr>
            <a:xfrm>
              <a:off x="79273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31" name="reveal-3:26:text"/>
            <p:cNvSpPr/>
            <p:nvPr/>
          </p:nvSpPr>
          <p:spPr>
            <a:xfrm>
              <a:off x="8033980" y="3540443"/>
              <a:ext cx="2655332"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Who holds a role today, who’s away and who’s</a:t>
              </a:r>
              <a:endParaRPr lang="en-US" sz="900" dirty="0"/>
            </a:p>
          </p:txBody>
        </p:sp>
        <p:sp>
          <p:nvSpPr>
            <p:cNvPr id="32" name="reveal-3:27:text"/>
            <p:cNvSpPr/>
            <p:nvPr/>
          </p:nvSpPr>
          <p:spPr>
            <a:xfrm>
              <a:off x="8033980" y="3689033"/>
              <a:ext cx="61150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covering.</a:t>
              </a:r>
              <a:endParaRPr lang="en-US" sz="900" dirty="0"/>
            </a:p>
          </p:txBody>
        </p:sp>
      </p:grpSp>
      <p:grpSp>
        <p:nvGrpSpPr>
          <p:cNvPr id="39" name="Reveal 4"/>
          <p:cNvGrpSpPr/>
          <p:nvPr/>
        </p:nvGrpSpPr>
        <p:grpSpPr>
          <a:xfrm>
            <a:off x="975360" y="5507831"/>
            <a:ext cx="9966960" cy="213360"/>
            <a:chOff x="975360" y="5507831"/>
            <a:chExt cx="9966960" cy="213360"/>
          </a:xfrm>
        </p:grpSpPr>
        <p:sp>
          <p:nvSpPr>
            <p:cNvPr id="33" name="reveal-4:28:text"/>
            <p:cNvSpPr/>
            <p:nvPr/>
          </p:nvSpPr>
          <p:spPr>
            <a:xfrm>
              <a:off x="975360" y="5500211"/>
              <a:ext cx="6810494" cy="228600"/>
            </a:xfrm>
            <a:prstGeom prst="rect">
              <a:avLst/>
            </a:prstGeom>
            <a:noFill/>
            <a:ln/>
          </p:spPr>
          <p:txBody>
            <a:bodyPr wrap="none" lIns="0" tIns="0" rIns="0" bIns="0" rtlCol="0" anchor="ctr"/>
            <a:lstStyle/>
            <a:p>
              <a:pPr algn="l" indent="0" marL="0">
                <a:buNone/>
              </a:pPr>
              <a:r>
                <a:rPr lang="en-US" sz="1440" b="1" spc="-14" kern="0" dirty="0">
                  <a:solidFill>
                    <a:srgbClr val="DEDEDE"/>
                  </a:solidFill>
                  <a:latin typeface="Arial" pitchFamily="34" charset="0"/>
                  <a:ea typeface="Arial" pitchFamily="34" charset="-122"/>
                  <a:cs typeface="Arial" pitchFamily="34" charset="-120"/>
                </a:rPr>
                <a:t>Foundry IQ: </a:t>
              </a:r>
              <a:r>
                <a:rPr lang="en-US" sz="1440" b="1" spc="-14" kern="0" dirty="0">
                  <a:solidFill>
                    <a:srgbClr val="FBBF24"/>
                  </a:solidFill>
                  <a:latin typeface="Arial" pitchFamily="34" charset="0"/>
                  <a:ea typeface="Arial" pitchFamily="34" charset="-122"/>
                  <a:cs typeface="Arial" pitchFamily="34" charset="-120"/>
                </a:rPr>
                <a:t>the rules</a:t>
              </a:r>
              <a:r>
                <a:rPr lang="en-US" sz="1440" b="1" spc="-14" kern="0" dirty="0">
                  <a:solidFill>
                    <a:srgbClr val="DEDEDE"/>
                  </a:solidFill>
                  <a:latin typeface="Arial" pitchFamily="34" charset="0"/>
                  <a:ea typeface="Arial" pitchFamily="34" charset="-122"/>
                  <a:cs typeface="Arial" pitchFamily="34" charset="-120"/>
                </a:rPr>
                <a:t>. Fabric IQ: </a:t>
              </a:r>
              <a:r>
                <a:rPr lang="en-US" sz="1440" b="1" spc="-14" kern="0" dirty="0">
                  <a:solidFill>
                    <a:srgbClr val="FBBF24"/>
                  </a:solidFill>
                  <a:latin typeface="Arial" pitchFamily="34" charset="0"/>
                  <a:ea typeface="Arial" pitchFamily="34" charset="-122"/>
                  <a:cs typeface="Arial" pitchFamily="34" charset="-120"/>
                </a:rPr>
                <a:t>the budget left</a:t>
              </a:r>
              <a:r>
                <a:rPr lang="en-US" sz="1440" b="1" spc="-14" kern="0" dirty="0">
                  <a:solidFill>
                    <a:srgbClr val="DEDEDE"/>
                  </a:solidFill>
                  <a:latin typeface="Arial" pitchFamily="34" charset="0"/>
                  <a:ea typeface="Arial" pitchFamily="34" charset="-122"/>
                  <a:cs typeface="Arial" pitchFamily="34" charset="-120"/>
                </a:rPr>
                <a:t>. Work IQ: </a:t>
              </a:r>
              <a:r>
                <a:rPr lang="en-US" sz="1440" b="1" spc="-14" kern="0" dirty="0">
                  <a:solidFill>
                    <a:srgbClr val="FBBF24"/>
                  </a:solidFill>
                  <a:latin typeface="Arial" pitchFamily="34" charset="0"/>
                  <a:ea typeface="Arial" pitchFamily="34" charset="-122"/>
                  <a:cs typeface="Arial" pitchFamily="34" charset="-120"/>
                </a:rPr>
                <a:t>who can approve today</a:t>
              </a:r>
              <a:r>
                <a:rPr lang="en-US" sz="1440" b="1" spc="-14" kern="0" dirty="0">
                  <a:solidFill>
                    <a:srgbClr val="DEDEDE"/>
                  </a:solidFill>
                  <a:latin typeface="Arial" pitchFamily="34" charset="0"/>
                  <a:ea typeface="Arial" pitchFamily="34" charset="-122"/>
                  <a:cs typeface="Arial" pitchFamily="34" charset="-120"/>
                </a:rPr>
                <a:t>.</a:t>
              </a:r>
              <a:endParaRPr lang="en-US" sz="1440" dirty="0"/>
            </a:p>
          </p:txBody>
        </p:sp>
      </p:grpSp>
      <p:sp>
        <p:nvSpPr>
          <p:cNvPr id="34" name="static:29: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5" name="static:30:text"/>
          <p:cNvSpPr/>
          <p:nvPr/>
        </p:nvSpPr>
        <p:spPr>
          <a:xfrm>
            <a:off x="10442615" y="6461760"/>
            <a:ext cx="1231225"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06</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Demo 2 - Run the Starting Agent">
    <p:spTree>
      <p:nvGrpSpPr>
        <p:cNvPr id="1" name=""/>
        <p:cNvGrpSpPr/>
        <p:nvPr/>
      </p:nvGrpSpPr>
      <p:grpSpPr>
        <a:xfrm>
          <a:off x="0" y="0"/>
          <a:ext cx="0" cy="0"/>
          <a:chOff x="0" y="0"/>
          <a:chExt cx="0" cy="0"/>
        </a:xfrm>
      </p:grpSpPr>
      <p:sp>
        <p:nvSpPr>
          <p:cNvPr id="2" name="static:0:text"/>
          <p:cNvSpPr/>
          <p:nvPr/>
        </p:nvSpPr>
        <p:spPr>
          <a:xfrm>
            <a:off x="975360" y="2482453"/>
            <a:ext cx="807839" cy="190500"/>
          </a:xfrm>
          <a:prstGeom prst="rect">
            <a:avLst/>
          </a:prstGeom>
          <a:noFill/>
          <a:ln/>
        </p:spPr>
        <p:txBody>
          <a:bodyPr wrap="none" lIns="0" tIns="0" rIns="0" bIns="0" rtlCol="0" anchor="ctr"/>
          <a:lstStyle/>
          <a:p>
            <a:pPr algn="l" indent="0" marL="0">
              <a:buNone/>
            </a:pPr>
            <a:r>
              <a:rPr lang="en-US" sz="1200" b="1" spc="180" kern="0" dirty="0">
                <a:solidFill>
                  <a:srgbClr val="FBBF24"/>
                </a:solidFill>
                <a:latin typeface="Arial" pitchFamily="34" charset="0"/>
                <a:ea typeface="Arial" pitchFamily="34" charset="-122"/>
                <a:cs typeface="Arial" pitchFamily="34" charset="-120"/>
              </a:rPr>
              <a:t>DEMO 2</a:t>
            </a:r>
            <a:endParaRPr lang="en-US" sz="1200" dirty="0"/>
          </a:p>
        </p:txBody>
      </p:sp>
      <p:sp>
        <p:nvSpPr>
          <p:cNvPr id="3" name="static:1:text"/>
          <p:cNvSpPr/>
          <p:nvPr/>
        </p:nvSpPr>
        <p:spPr>
          <a:xfrm>
            <a:off x="975360" y="2779633"/>
            <a:ext cx="5129046"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Run the Starting Agent</a:t>
            </a:r>
            <a:endParaRPr lang="en-US" sz="4080" dirty="0"/>
          </a:p>
        </p:txBody>
      </p:sp>
      <p:sp>
        <p:nvSpPr>
          <p:cNvPr id="4" name="static:2:text"/>
          <p:cNvSpPr/>
          <p:nvPr/>
        </p:nvSpPr>
        <p:spPr>
          <a:xfrm>
            <a:off x="975360" y="3526393"/>
            <a:ext cx="6113740"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Ask two questions: one it gets right, and one that looks right but isn’t.</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50473" y="6461760"/>
            <a:ext cx="1223367"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07</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bserve">
    <p:spTree>
      <p:nvGrpSpPr>
        <p:cNvPr id="1" name=""/>
        <p:cNvGrpSpPr/>
        <p:nvPr/>
      </p:nvGrpSpPr>
      <p:grpSpPr>
        <a:xfrm>
          <a:off x="0" y="0"/>
          <a:ext cx="0" cy="0"/>
          <a:chOff x="0" y="0"/>
          <a:chExt cx="0" cy="0"/>
        </a:xfrm>
      </p:grpSpPr>
      <p:sp>
        <p:nvSpPr>
          <p:cNvPr id="2" name="static:0:text"/>
          <p:cNvSpPr/>
          <p:nvPr/>
        </p:nvSpPr>
        <p:spPr>
          <a:xfrm>
            <a:off x="2727960" y="870109"/>
            <a:ext cx="1305997" cy="152400"/>
          </a:xfrm>
          <a:prstGeom prst="rect">
            <a:avLst/>
          </a:prstGeom>
          <a:noFill/>
          <a:ln/>
        </p:spPr>
        <p:txBody>
          <a:bodyPr wrap="none" lIns="0" tIns="0" rIns="0" bIns="0" rtlCol="0" anchor="ctr"/>
          <a:lstStyle/>
          <a:p>
            <a:pPr algn="l" indent="0" marL="0">
              <a:buNone/>
            </a:pPr>
            <a:r>
              <a:rPr lang="en-US" sz="960" b="1" spc="154" kern="0" dirty="0">
                <a:solidFill>
                  <a:srgbClr val="4ADE80"/>
                </a:solidFill>
                <a:latin typeface="Arial" pitchFamily="34" charset="0"/>
                <a:ea typeface="Arial" pitchFamily="34" charset="-122"/>
                <a:cs typeface="Arial" pitchFamily="34" charset="-120"/>
              </a:rPr>
              <a:t>OBSERVABILITY</a:t>
            </a:r>
            <a:endParaRPr lang="en-US" sz="960" dirty="0"/>
          </a:p>
        </p:txBody>
      </p:sp>
      <p:sp>
        <p:nvSpPr>
          <p:cNvPr id="3" name="static:1:text"/>
          <p:cNvSpPr/>
          <p:nvPr/>
        </p:nvSpPr>
        <p:spPr>
          <a:xfrm>
            <a:off x="975360" y="1068229"/>
            <a:ext cx="1333833"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Observe</a:t>
            </a:r>
            <a:endParaRPr lang="en-US" sz="2640" dirty="0"/>
          </a:p>
        </p:txBody>
      </p:sp>
      <p:grpSp>
        <p:nvGrpSpPr>
          <p:cNvPr id="31"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sp>
        <p:sp>
          <p:nvSpPr>
            <p:cNvPr id="7" name="reveal-1:4:text"/>
            <p:cNvSpPr/>
            <p:nvPr/>
          </p:nvSpPr>
          <p:spPr>
            <a:xfrm>
              <a:off x="1349812" y="2207419"/>
              <a:ext cx="165378"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587454"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Calls</a:t>
              </a:r>
              <a:endParaRPr lang="en-US" sz="1680" dirty="0"/>
            </a:p>
          </p:txBody>
        </p:sp>
        <p:sp>
          <p:nvSpPr>
            <p:cNvPr id="9" name="reveal-1:6:text"/>
            <p:cNvSpPr/>
            <p:nvPr/>
          </p:nvSpPr>
          <p:spPr>
            <a:xfrm>
              <a:off x="1181100" y="3047881"/>
              <a:ext cx="2065139"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Follow LLM calls and tool calls.</a:t>
              </a:r>
              <a:endParaRPr lang="en-US" sz="1140" dirty="0"/>
            </a:p>
          </p:txBody>
        </p:sp>
        <p:sp>
          <p:nvSpPr>
            <p:cNvPr id="10" name="reveal-1:7:shape"/>
            <p:cNvSpPr/>
            <p:nvPr/>
          </p:nvSpPr>
          <p:spPr>
            <a:xfrm>
              <a:off x="11811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1" name="reveal-1:8:text"/>
            <p:cNvSpPr/>
            <p:nvPr/>
          </p:nvSpPr>
          <p:spPr>
            <a:xfrm>
              <a:off x="1287780" y="3540443"/>
              <a:ext cx="2099667"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What was called, and in what order?</a:t>
              </a:r>
              <a:endParaRPr lang="en-US" sz="900" dirty="0"/>
            </a:p>
          </p:txBody>
        </p:sp>
      </p:grpSp>
      <p:grpSp>
        <p:nvGrpSpPr>
          <p:cNvPr id="32" name="Reveal 2"/>
          <p:cNvGrpSpPr/>
          <p:nvPr/>
        </p:nvGrpSpPr>
        <p:grpSpPr>
          <a:xfrm>
            <a:off x="4348401" y="1868329"/>
            <a:ext cx="3220760" cy="3791902"/>
            <a:chOff x="4348401" y="1868329"/>
            <a:chExt cx="3220760" cy="3791902"/>
          </a:xfrm>
        </p:grpSpPr>
        <p:sp>
          <p:nvSpPr>
            <p:cNvPr id="12" name="reveal-2:9: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sp>
        <p:sp>
          <p:nvSpPr>
            <p:cNvPr id="13" name="reveal-2:9:shape:border-0"/>
            <p:cNvSpPr/>
            <p:nvPr/>
          </p:nvSpPr>
          <p:spPr>
            <a:xfrm>
              <a:off x="4439841" y="1883569"/>
              <a:ext cx="3037880" cy="0"/>
            </a:xfrm>
            <a:prstGeom prst="line">
              <a:avLst/>
            </a:prstGeom>
            <a:noFill/>
            <a:ln w="30480">
              <a:solidFill>
                <a:srgbClr val="4ADE80"/>
              </a:solidFill>
              <a:prstDash val="solid"/>
              <a:headEnd type="none"/>
              <a:tailEnd type="none"/>
            </a:ln>
          </p:spPr>
        </p:sp>
        <p:sp>
          <p:nvSpPr>
            <p:cNvPr id="14" name="reveal-2:10: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15" name="reveal-2:11:text"/>
            <p:cNvSpPr/>
            <p:nvPr/>
          </p:nvSpPr>
          <p:spPr>
            <a:xfrm>
              <a:off x="4713327" y="2207419"/>
              <a:ext cx="184547"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2</a:t>
              </a:r>
              <a:endParaRPr lang="en-US" sz="1200" dirty="0"/>
            </a:p>
          </p:txBody>
        </p:sp>
        <p:sp>
          <p:nvSpPr>
            <p:cNvPr id="16" name="reveal-2:12:text"/>
            <p:cNvSpPr/>
            <p:nvPr/>
          </p:nvSpPr>
          <p:spPr>
            <a:xfrm>
              <a:off x="4554141" y="2698909"/>
              <a:ext cx="174295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Inputs &amp; outputs</a:t>
              </a:r>
              <a:endParaRPr lang="en-US" sz="1680" dirty="0"/>
            </a:p>
          </p:txBody>
        </p:sp>
        <p:sp>
          <p:nvSpPr>
            <p:cNvPr id="17" name="reveal-2:13:text"/>
            <p:cNvSpPr/>
            <p:nvPr/>
          </p:nvSpPr>
          <p:spPr>
            <a:xfrm>
              <a:off x="4554141" y="3047881"/>
              <a:ext cx="2736056"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Inspect captured prompts and responses</a:t>
              </a:r>
              <a:endParaRPr lang="en-US" sz="1140" dirty="0"/>
            </a:p>
          </p:txBody>
        </p:sp>
        <p:sp>
          <p:nvSpPr>
            <p:cNvPr id="18" name="reveal-2:14:shape"/>
            <p:cNvSpPr/>
            <p:nvPr/>
          </p:nvSpPr>
          <p:spPr>
            <a:xfrm>
              <a:off x="4554141" y="3456623"/>
              <a:ext cx="28092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9" name="reveal-2:15:text"/>
            <p:cNvSpPr/>
            <p:nvPr/>
          </p:nvSpPr>
          <p:spPr>
            <a:xfrm>
              <a:off x="4660821" y="3540443"/>
              <a:ext cx="2632472"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What information passed between each step?</a:t>
              </a:r>
              <a:endParaRPr lang="en-US" sz="900" dirty="0"/>
            </a:p>
          </p:txBody>
        </p:sp>
      </p:grpSp>
      <p:grpSp>
        <p:nvGrpSpPr>
          <p:cNvPr id="33" name="Reveal 3"/>
          <p:cNvGrpSpPr/>
          <p:nvPr/>
        </p:nvGrpSpPr>
        <p:grpSpPr>
          <a:xfrm>
            <a:off x="7721560" y="1868329"/>
            <a:ext cx="3220641" cy="3791902"/>
            <a:chOff x="7721560" y="1868329"/>
            <a:chExt cx="3220641" cy="3791902"/>
          </a:xfrm>
        </p:grpSpPr>
        <p:sp>
          <p:nvSpPr>
            <p:cNvPr id="20" name="reveal-3:16: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sp>
        <p:sp>
          <p:nvSpPr>
            <p:cNvPr id="21" name="reveal-3:16:shape:border-0"/>
            <p:cNvSpPr/>
            <p:nvPr/>
          </p:nvSpPr>
          <p:spPr>
            <a:xfrm>
              <a:off x="7813000" y="1883569"/>
              <a:ext cx="3037761" cy="0"/>
            </a:xfrm>
            <a:prstGeom prst="line">
              <a:avLst/>
            </a:prstGeom>
            <a:noFill/>
            <a:ln w="30480">
              <a:solidFill>
                <a:srgbClr val="FBBF24"/>
              </a:solidFill>
              <a:prstDash val="solid"/>
              <a:headEnd type="none"/>
              <a:tailEnd type="none"/>
            </a:ln>
          </p:spPr>
        </p:sp>
        <p:sp>
          <p:nvSpPr>
            <p:cNvPr id="22" name="reveal-3:17: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23" name="reveal-3:18:text"/>
            <p:cNvSpPr/>
            <p:nvPr/>
          </p:nvSpPr>
          <p:spPr>
            <a:xfrm>
              <a:off x="8084344" y="2207419"/>
              <a:ext cx="188714"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3</a:t>
              </a:r>
              <a:endParaRPr lang="en-US" sz="1200" dirty="0"/>
            </a:p>
          </p:txBody>
        </p:sp>
        <p:sp>
          <p:nvSpPr>
            <p:cNvPr id="24" name="reveal-3:19:text"/>
            <p:cNvSpPr/>
            <p:nvPr/>
          </p:nvSpPr>
          <p:spPr>
            <a:xfrm>
              <a:off x="7927300" y="2698909"/>
              <a:ext cx="1832015"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Timing and errors</a:t>
              </a:r>
              <a:endParaRPr lang="en-US" sz="1680" dirty="0"/>
            </a:p>
          </p:txBody>
        </p:sp>
        <p:sp>
          <p:nvSpPr>
            <p:cNvPr id="25" name="reveal-3:20:text"/>
            <p:cNvSpPr/>
            <p:nvPr/>
          </p:nvSpPr>
          <p:spPr>
            <a:xfrm>
              <a:off x="7927300" y="3047881"/>
              <a:ext cx="2461498"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See the duration of each call and any</a:t>
              </a:r>
              <a:endParaRPr lang="en-US" sz="1140" dirty="0"/>
            </a:p>
          </p:txBody>
        </p:sp>
        <p:sp>
          <p:nvSpPr>
            <p:cNvPr id="26" name="reveal-3:21:text"/>
            <p:cNvSpPr/>
            <p:nvPr/>
          </p:nvSpPr>
          <p:spPr>
            <a:xfrm>
              <a:off x="7927300" y="3243263"/>
              <a:ext cx="51161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errors.</a:t>
              </a:r>
              <a:endParaRPr lang="en-US" sz="1140" dirty="0"/>
            </a:p>
          </p:txBody>
        </p:sp>
        <p:sp>
          <p:nvSpPr>
            <p:cNvPr id="27" name="reveal-3:22: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8" name="reveal-3:23:text"/>
            <p:cNvSpPr/>
            <p:nvPr/>
          </p:nvSpPr>
          <p:spPr>
            <a:xfrm>
              <a:off x="8033980" y="3735824"/>
              <a:ext cx="2094428"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Where did the agent spend its time?</a:t>
              </a:r>
              <a:endParaRPr lang="en-US" sz="900" dirty="0"/>
            </a:p>
          </p:txBody>
        </p:sp>
      </p:grpSp>
      <p:sp>
        <p:nvSpPr>
          <p:cNvPr id="29" name="static:24: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0" name="static:25:text"/>
          <p:cNvSpPr/>
          <p:nvPr/>
        </p:nvSpPr>
        <p:spPr>
          <a:xfrm>
            <a:off x="7394377" y="6461760"/>
            <a:ext cx="1231463"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08</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Demo 3 - Inspect the Trace">
    <p:spTree>
      <p:nvGrpSpPr>
        <p:cNvPr id="1" name=""/>
        <p:cNvGrpSpPr/>
        <p:nvPr/>
      </p:nvGrpSpPr>
      <p:grpSpPr>
        <a:xfrm>
          <a:off x="0" y="0"/>
          <a:ext cx="0" cy="0"/>
          <a:chOff x="0" y="0"/>
          <a:chExt cx="0" cy="0"/>
        </a:xfrm>
      </p:grpSpPr>
      <p:sp>
        <p:nvSpPr>
          <p:cNvPr id="2" name="static:0:text"/>
          <p:cNvSpPr/>
          <p:nvPr/>
        </p:nvSpPr>
        <p:spPr>
          <a:xfrm>
            <a:off x="975360" y="2482453"/>
            <a:ext cx="812006" cy="190500"/>
          </a:xfrm>
          <a:prstGeom prst="rect">
            <a:avLst/>
          </a:prstGeom>
          <a:noFill/>
          <a:ln/>
        </p:spPr>
        <p:txBody>
          <a:bodyPr wrap="none" lIns="0" tIns="0" rIns="0" bIns="0" rtlCol="0" anchor="ctr"/>
          <a:lstStyle/>
          <a:p>
            <a:pPr algn="l" indent="0" marL="0">
              <a:buNone/>
            </a:pPr>
            <a:r>
              <a:rPr lang="en-US" sz="1200" b="1" spc="180" kern="0" dirty="0">
                <a:solidFill>
                  <a:srgbClr val="4ADE80"/>
                </a:solidFill>
                <a:latin typeface="Arial" pitchFamily="34" charset="0"/>
                <a:ea typeface="Arial" pitchFamily="34" charset="-122"/>
                <a:cs typeface="Arial" pitchFamily="34" charset="-120"/>
              </a:rPr>
              <a:t>DEMO 3</a:t>
            </a:r>
            <a:endParaRPr lang="en-US" sz="1200" dirty="0"/>
          </a:p>
        </p:txBody>
      </p:sp>
      <p:sp>
        <p:nvSpPr>
          <p:cNvPr id="3" name="static:1:text"/>
          <p:cNvSpPr/>
          <p:nvPr/>
        </p:nvSpPr>
        <p:spPr>
          <a:xfrm>
            <a:off x="975360" y="2779633"/>
            <a:ext cx="3926753"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Inspect the Trace</a:t>
            </a:r>
            <a:endParaRPr lang="en-US" sz="4080" dirty="0"/>
          </a:p>
        </p:txBody>
      </p:sp>
      <p:sp>
        <p:nvSpPr>
          <p:cNvPr id="4" name="static:2:text"/>
          <p:cNvSpPr/>
          <p:nvPr/>
        </p:nvSpPr>
        <p:spPr>
          <a:xfrm>
            <a:off x="975360" y="3526393"/>
            <a:ext cx="4439126"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Visualise the calls and timings behind the answer.</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42615" y="6461760"/>
            <a:ext cx="1231225"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09</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Evaluate">
    <p:spTree>
      <p:nvGrpSpPr>
        <p:cNvPr id="1" name=""/>
        <p:cNvGrpSpPr/>
        <p:nvPr/>
      </p:nvGrpSpPr>
      <p:grpSpPr>
        <a:xfrm>
          <a:off x="0" y="0"/>
          <a:ext cx="0" cy="0"/>
          <a:chOff x="0" y="0"/>
          <a:chExt cx="0" cy="0"/>
        </a:xfrm>
      </p:grpSpPr>
      <p:sp>
        <p:nvSpPr>
          <p:cNvPr id="2" name="static:0:text"/>
          <p:cNvSpPr/>
          <p:nvPr/>
        </p:nvSpPr>
        <p:spPr>
          <a:xfrm>
            <a:off x="2727960" y="870109"/>
            <a:ext cx="3464719" cy="152400"/>
          </a:xfrm>
          <a:prstGeom prst="rect">
            <a:avLst/>
          </a:prstGeom>
          <a:noFill/>
          <a:ln/>
        </p:spPr>
        <p:txBody>
          <a:bodyPr wrap="none" lIns="0" tIns="0" rIns="0" bIns="0" rtlCol="0" anchor="ctr"/>
          <a:lstStyle/>
          <a:p>
            <a:pPr algn="l" indent="0" marL="0">
              <a:buNone/>
            </a:pPr>
            <a:r>
              <a:rPr lang="en-US" sz="960" b="1" spc="154" kern="0" dirty="0">
                <a:solidFill>
                  <a:srgbClr val="4ADE80"/>
                </a:solidFill>
                <a:latin typeface="Arial" pitchFamily="34" charset="0"/>
                <a:ea typeface="Arial" pitchFamily="34" charset="-122"/>
                <a:cs typeface="Arial" pitchFamily="34" charset="-120"/>
              </a:rPr>
              <a:t>CONSISTENCY ACROSS PURCHASING TASKS</a:t>
            </a:r>
            <a:endParaRPr lang="en-US" sz="960" dirty="0"/>
          </a:p>
        </p:txBody>
      </p:sp>
      <p:sp>
        <p:nvSpPr>
          <p:cNvPr id="3" name="static:1:text"/>
          <p:cNvSpPr/>
          <p:nvPr/>
        </p:nvSpPr>
        <p:spPr>
          <a:xfrm>
            <a:off x="975360" y="1068229"/>
            <a:ext cx="1338596"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Evaluate</a:t>
            </a:r>
            <a:endParaRPr lang="en-US" sz="2640" dirty="0"/>
          </a:p>
        </p:txBody>
      </p:sp>
      <p:grpSp>
        <p:nvGrpSpPr>
          <p:cNvPr id="37"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FBBF24"/>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7" name="reveal-1:4:text"/>
            <p:cNvSpPr/>
            <p:nvPr/>
          </p:nvSpPr>
          <p:spPr>
            <a:xfrm>
              <a:off x="1332071" y="2207419"/>
              <a:ext cx="200858"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G</a:t>
              </a:r>
              <a:endParaRPr lang="en-US" sz="1200" dirty="0"/>
            </a:p>
          </p:txBody>
        </p:sp>
        <p:sp>
          <p:nvSpPr>
            <p:cNvPr id="8" name="reveal-1:5:text"/>
            <p:cNvSpPr/>
            <p:nvPr/>
          </p:nvSpPr>
          <p:spPr>
            <a:xfrm>
              <a:off x="1181100" y="2698909"/>
              <a:ext cx="1910715"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Built-in evaluators</a:t>
              </a:r>
              <a:endParaRPr lang="en-US" sz="1680" dirty="0"/>
            </a:p>
          </p:txBody>
        </p:sp>
        <p:sp>
          <p:nvSpPr>
            <p:cNvPr id="9" name="reveal-1:6:text"/>
            <p:cNvSpPr/>
            <p:nvPr/>
          </p:nvSpPr>
          <p:spPr>
            <a:xfrm>
              <a:off x="1181100" y="3285649"/>
              <a:ext cx="1406247"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Grounded? On task?</a:t>
              </a:r>
              <a:endParaRPr lang="en-US" sz="1140" dirty="0"/>
            </a:p>
          </p:txBody>
        </p:sp>
        <p:sp>
          <p:nvSpPr>
            <p:cNvPr id="10" name="reveal-1:7:shape"/>
            <p:cNvSpPr/>
            <p:nvPr/>
          </p:nvSpPr>
          <p:spPr>
            <a:xfrm>
              <a:off x="1181100" y="3694390"/>
              <a:ext cx="2809161" cy="636984"/>
            </a:xfrm>
            <a:prstGeom prst="roundRect">
              <a:avLst>
                <a:gd name="adj" fmla="val 11963"/>
              </a:avLst>
            </a:prstGeom>
            <a:solidFill>
              <a:srgbClr val="FFFFFF">
                <a:alpha val="3000"/>
              </a:srgbClr>
            </a:solidFill>
            <a:ln w="12700">
              <a:solidFill>
                <a:srgbClr val="333333">
                  <a:alpha val="0"/>
                </a:srgbClr>
              </a:solidFill>
              <a:prstDash val="solid"/>
            </a:ln>
          </p:spPr>
        </p:sp>
        <p:sp>
          <p:nvSpPr>
            <p:cNvPr id="11" name="reveal-1:8:text"/>
            <p:cNvSpPr/>
            <p:nvPr/>
          </p:nvSpPr>
          <p:spPr>
            <a:xfrm>
              <a:off x="1287780" y="3778210"/>
              <a:ext cx="2607826"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Catch generic failures, ready-made. Ours is a</a:t>
              </a:r>
              <a:endParaRPr lang="en-US" sz="900" dirty="0"/>
            </a:p>
          </p:txBody>
        </p:sp>
        <p:sp>
          <p:nvSpPr>
            <p:cNvPr id="12" name="reveal-1:9:text"/>
            <p:cNvSpPr/>
            <p:nvPr/>
          </p:nvSpPr>
          <p:spPr>
            <a:xfrm>
              <a:off x="1287780" y="3926800"/>
              <a:ext cx="100012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wrong approver.</a:t>
              </a:r>
              <a:endParaRPr lang="en-US" sz="900" dirty="0"/>
            </a:p>
          </p:txBody>
        </p:sp>
        <p:sp>
          <p:nvSpPr>
            <p:cNvPr id="13" name="reveal-1:10:text"/>
            <p:cNvSpPr/>
            <p:nvPr/>
          </p:nvSpPr>
          <p:spPr>
            <a:xfrm>
              <a:off x="1287780" y="4113490"/>
              <a:ext cx="1950839" cy="129540"/>
            </a:xfrm>
            <a:prstGeom prst="rect">
              <a:avLst/>
            </a:prstGeom>
            <a:noFill/>
            <a:ln/>
          </p:spPr>
          <p:txBody>
            <a:bodyPr wrap="none" lIns="0" tIns="0" rIns="0" bIns="0" rtlCol="0" anchor="ctr"/>
            <a:lstStyle/>
            <a:p>
              <a:pPr algn="l" indent="0" marL="0">
                <a:buNone/>
              </a:pPr>
              <a:r>
                <a:rPr lang="en-US" sz="720" b="1" spc="43" kern="0" dirty="0">
                  <a:solidFill>
                    <a:srgbClr val="B0B0B0"/>
                  </a:solidFill>
                  <a:latin typeface="Arial" pitchFamily="34" charset="0"/>
                  <a:ea typeface="Arial" pitchFamily="34" charset="-122"/>
                  <a:cs typeface="Arial" pitchFamily="34" charset="-120"/>
                </a:rPr>
                <a:t>GROUNDEDNESS, TASK ADHERENCE</a:t>
              </a:r>
              <a:endParaRPr lang="en-US" sz="720" dirty="0"/>
            </a:p>
          </p:txBody>
        </p:sp>
      </p:grpSp>
      <p:grpSp>
        <p:nvGrpSpPr>
          <p:cNvPr id="38"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sp>
        <p:sp>
          <p:nvSpPr>
            <p:cNvPr id="15" name="reveal-2:11:shape:border-0"/>
            <p:cNvSpPr/>
            <p:nvPr/>
          </p:nvSpPr>
          <p:spPr>
            <a:xfrm>
              <a:off x="4439841" y="1883569"/>
              <a:ext cx="3037880" cy="0"/>
            </a:xfrm>
            <a:prstGeom prst="line">
              <a:avLst/>
            </a:prstGeom>
            <a:noFill/>
            <a:ln w="30480">
              <a:solidFill>
                <a:srgbClr val="4ADE80"/>
              </a:solidFill>
              <a:prstDash val="solid"/>
              <a:headEnd type="none"/>
              <a:tailEnd type="none"/>
            </a:ln>
          </p:spPr>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17" name="reveal-2:13:text"/>
            <p:cNvSpPr/>
            <p:nvPr/>
          </p:nvSpPr>
          <p:spPr>
            <a:xfrm>
              <a:off x="4715589" y="2207419"/>
              <a:ext cx="179903"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J</a:t>
              </a:r>
              <a:endParaRPr lang="en-US" sz="1200" dirty="0"/>
            </a:p>
          </p:txBody>
        </p:sp>
        <p:sp>
          <p:nvSpPr>
            <p:cNvPr id="18" name="reveal-2:14:text"/>
            <p:cNvSpPr/>
            <p:nvPr/>
          </p:nvSpPr>
          <p:spPr>
            <a:xfrm>
              <a:off x="4554141" y="2698909"/>
              <a:ext cx="188523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Next-action judge</a:t>
              </a:r>
              <a:endParaRPr lang="en-US" sz="1680" dirty="0"/>
            </a:p>
          </p:txBody>
        </p:sp>
        <p:sp>
          <p:nvSpPr>
            <p:cNvPr id="19" name="reveal-2:15:text"/>
            <p:cNvSpPr/>
            <p:nvPr/>
          </p:nvSpPr>
          <p:spPr>
            <a:xfrm>
              <a:off x="4554141" y="3285649"/>
              <a:ext cx="218158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Right next step? Right approver?</a:t>
              </a:r>
              <a:endParaRPr lang="en-US" sz="1140" dirty="0"/>
            </a:p>
          </p:txBody>
        </p:sp>
        <p:sp>
          <p:nvSpPr>
            <p:cNvPr id="20" name="reveal-2:16:shape"/>
            <p:cNvSpPr/>
            <p:nvPr/>
          </p:nvSpPr>
          <p:spPr>
            <a:xfrm>
              <a:off x="4554141" y="3694390"/>
              <a:ext cx="2809280" cy="636984"/>
            </a:xfrm>
            <a:prstGeom prst="roundRect">
              <a:avLst>
                <a:gd name="adj" fmla="val 11963"/>
              </a:avLst>
            </a:prstGeom>
            <a:solidFill>
              <a:srgbClr val="FFFFFF">
                <a:alpha val="3000"/>
              </a:srgbClr>
            </a:solidFill>
            <a:ln w="12700">
              <a:solidFill>
                <a:srgbClr val="333333">
                  <a:alpha val="0"/>
                </a:srgbClr>
              </a:solidFill>
              <a:prstDash val="solid"/>
            </a:ln>
          </p:spPr>
        </p:sp>
        <p:sp>
          <p:nvSpPr>
            <p:cNvPr id="21" name="reveal-2:17:text"/>
            <p:cNvSpPr/>
            <p:nvPr/>
          </p:nvSpPr>
          <p:spPr>
            <a:xfrm>
              <a:off x="4660821" y="3778210"/>
              <a:ext cx="2682359"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Pass/fail against a business-specific reference</a:t>
              </a:r>
              <a:endParaRPr lang="en-US" sz="900" dirty="0"/>
            </a:p>
          </p:txBody>
        </p:sp>
        <p:sp>
          <p:nvSpPr>
            <p:cNvPr id="22" name="reveal-2:18:text"/>
            <p:cNvSpPr/>
            <p:nvPr/>
          </p:nvSpPr>
          <p:spPr>
            <a:xfrm>
              <a:off x="4660821" y="3926800"/>
              <a:ext cx="52387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answer.</a:t>
              </a:r>
              <a:endParaRPr lang="en-US" sz="900" dirty="0"/>
            </a:p>
          </p:txBody>
        </p:sp>
        <p:sp>
          <p:nvSpPr>
            <p:cNvPr id="23" name="reveal-2:19:text"/>
            <p:cNvSpPr/>
            <p:nvPr/>
          </p:nvSpPr>
          <p:spPr>
            <a:xfrm>
              <a:off x="4660821" y="4113490"/>
              <a:ext cx="1647468" cy="129540"/>
            </a:xfrm>
            <a:prstGeom prst="rect">
              <a:avLst/>
            </a:prstGeom>
            <a:noFill/>
            <a:ln/>
          </p:spPr>
          <p:txBody>
            <a:bodyPr wrap="none" lIns="0" tIns="0" rIns="0" bIns="0" rtlCol="0" anchor="ctr"/>
            <a:lstStyle/>
            <a:p>
              <a:pPr algn="l" indent="0" marL="0">
                <a:buNone/>
              </a:pPr>
              <a:r>
                <a:rPr lang="en-US" sz="720" b="1" spc="43" kern="0" dirty="0">
                  <a:solidFill>
                    <a:srgbClr val="B0B0B0"/>
                  </a:solidFill>
                  <a:latin typeface="Arial" pitchFamily="34" charset="0"/>
                  <a:ea typeface="Arial" pitchFamily="34" charset="-122"/>
                  <a:cs typeface="Arial" pitchFamily="34" charset="-120"/>
                </a:rPr>
                <a:t>CUSTOM PROMPT EVALUATOR</a:t>
              </a:r>
              <a:endParaRPr lang="en-US" sz="720" dirty="0"/>
            </a:p>
          </p:txBody>
        </p:sp>
      </p:grpSp>
      <p:grpSp>
        <p:nvGrpSpPr>
          <p:cNvPr id="39"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sp>
        <p:sp>
          <p:nvSpPr>
            <p:cNvPr id="25" name="reveal-3:20:shape:border-0"/>
            <p:cNvSpPr/>
            <p:nvPr/>
          </p:nvSpPr>
          <p:spPr>
            <a:xfrm>
              <a:off x="7813000" y="1883569"/>
              <a:ext cx="3037761" cy="0"/>
            </a:xfrm>
            <a:prstGeom prst="line">
              <a:avLst/>
            </a:prstGeom>
            <a:noFill/>
            <a:ln w="30480">
              <a:solidFill>
                <a:srgbClr val="4DA6FF"/>
              </a:solidFill>
              <a:prstDash val="solid"/>
              <a:headEnd type="none"/>
              <a:tailEnd type="none"/>
            </a:ln>
          </p:spPr>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DA6FF"/>
              </a:solidFill>
              <a:prstDash val="solid"/>
            </a:ln>
          </p:spPr>
        </p:sp>
        <p:sp>
          <p:nvSpPr>
            <p:cNvPr id="27" name="reveal-3:22:text"/>
            <p:cNvSpPr/>
            <p:nvPr/>
          </p:nvSpPr>
          <p:spPr>
            <a:xfrm>
              <a:off x="8082677" y="2207419"/>
              <a:ext cx="192048"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R</a:t>
              </a:r>
              <a:endParaRPr lang="en-US" sz="1200" dirty="0"/>
            </a:p>
          </p:txBody>
        </p:sp>
        <p:sp>
          <p:nvSpPr>
            <p:cNvPr id="28" name="reveal-3:23:text"/>
            <p:cNvSpPr/>
            <p:nvPr/>
          </p:nvSpPr>
          <p:spPr>
            <a:xfrm>
              <a:off x="7927300" y="2698909"/>
              <a:ext cx="741045"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Rubric</a:t>
              </a:r>
              <a:endParaRPr lang="en-US" sz="1680" dirty="0"/>
            </a:p>
          </p:txBody>
        </p:sp>
        <p:sp>
          <p:nvSpPr>
            <p:cNvPr id="29" name="reveal-3:24:text"/>
            <p:cNvSpPr/>
            <p:nvPr/>
          </p:nvSpPr>
          <p:spPr>
            <a:xfrm>
              <a:off x="7927300" y="3285649"/>
              <a:ext cx="268712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Did the agent broadly succeed in the set</a:t>
              </a:r>
              <a:endParaRPr lang="en-US" sz="1140" dirty="0"/>
            </a:p>
          </p:txBody>
        </p:sp>
        <p:sp>
          <p:nvSpPr>
            <p:cNvPr id="30" name="reveal-3:25:text"/>
            <p:cNvSpPr/>
            <p:nvPr/>
          </p:nvSpPr>
          <p:spPr>
            <a:xfrm>
              <a:off x="7927300" y="3481030"/>
              <a:ext cx="432197"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task?</a:t>
              </a:r>
              <a:endParaRPr lang="en-US" sz="1140" dirty="0"/>
            </a:p>
          </p:txBody>
        </p:sp>
        <p:sp>
          <p:nvSpPr>
            <p:cNvPr id="31" name="reveal-3:26:shape"/>
            <p:cNvSpPr/>
            <p:nvPr/>
          </p:nvSpPr>
          <p:spPr>
            <a:xfrm>
              <a:off x="7927300" y="3889772"/>
              <a:ext cx="2809161" cy="636984"/>
            </a:xfrm>
            <a:prstGeom prst="roundRect">
              <a:avLst>
                <a:gd name="adj" fmla="val 11963"/>
              </a:avLst>
            </a:prstGeom>
            <a:solidFill>
              <a:srgbClr val="FFFFFF">
                <a:alpha val="3000"/>
              </a:srgbClr>
            </a:solidFill>
            <a:ln w="12700">
              <a:solidFill>
                <a:srgbClr val="333333">
                  <a:alpha val="0"/>
                </a:srgbClr>
              </a:solidFill>
              <a:prstDash val="solid"/>
            </a:ln>
          </p:spPr>
        </p:sp>
        <p:sp>
          <p:nvSpPr>
            <p:cNvPr id="32" name="reveal-3:27:text"/>
            <p:cNvSpPr/>
            <p:nvPr/>
          </p:nvSpPr>
          <p:spPr>
            <a:xfrm>
              <a:off x="8033980" y="3973592"/>
              <a:ext cx="253186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Weighted: approval route, current approver,</a:t>
              </a:r>
              <a:endParaRPr lang="en-US" sz="900" dirty="0"/>
            </a:p>
          </p:txBody>
        </p:sp>
        <p:sp>
          <p:nvSpPr>
            <p:cNvPr id="33" name="reveal-3:28:text"/>
            <p:cNvSpPr/>
            <p:nvPr/>
          </p:nvSpPr>
          <p:spPr>
            <a:xfrm>
              <a:off x="8033980" y="4122182"/>
              <a:ext cx="1026676"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citations, clarity.</a:t>
              </a:r>
              <a:endParaRPr lang="en-US" sz="900" dirty="0"/>
            </a:p>
          </p:txBody>
        </p:sp>
        <p:sp>
          <p:nvSpPr>
            <p:cNvPr id="34" name="reveal-3:29:text"/>
            <p:cNvSpPr/>
            <p:nvPr/>
          </p:nvSpPr>
          <p:spPr>
            <a:xfrm>
              <a:off x="8033980" y="4308872"/>
              <a:ext cx="1689140" cy="129540"/>
            </a:xfrm>
            <a:prstGeom prst="rect">
              <a:avLst/>
            </a:prstGeom>
            <a:noFill/>
            <a:ln/>
          </p:spPr>
          <p:txBody>
            <a:bodyPr wrap="none" lIns="0" tIns="0" rIns="0" bIns="0" rtlCol="0" anchor="ctr"/>
            <a:lstStyle/>
            <a:p>
              <a:pPr algn="l" indent="0" marL="0">
                <a:buNone/>
              </a:pPr>
              <a:r>
                <a:rPr lang="en-US" sz="720" b="1" spc="43" kern="0" dirty="0">
                  <a:solidFill>
                    <a:srgbClr val="B0B0B0"/>
                  </a:solidFill>
                  <a:latin typeface="Arial" pitchFamily="34" charset="0"/>
                  <a:ea typeface="Arial" pitchFamily="34" charset="-122"/>
                  <a:cs typeface="Arial" pitchFamily="34" charset="-120"/>
                </a:rPr>
                <a:t>RUBRIC EVALUATOR / PREVIEW</a:t>
              </a:r>
              <a:endParaRPr lang="en-US" sz="720" dirty="0"/>
            </a:p>
          </p:txBody>
        </p:sp>
      </p:grpSp>
      <p:sp>
        <p:nvSpPr>
          <p:cNvPr id="35" name="static:30: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6" name="static:31:text"/>
          <p:cNvSpPr/>
          <p:nvPr/>
        </p:nvSpPr>
        <p:spPr>
          <a:xfrm>
            <a:off x="7410331" y="6461760"/>
            <a:ext cx="121550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10</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Demo 4 - Evaluate Across Cases">
    <p:spTree>
      <p:nvGrpSpPr>
        <p:cNvPr id="1" name=""/>
        <p:cNvGrpSpPr/>
        <p:nvPr/>
      </p:nvGrpSpPr>
      <p:grpSpPr>
        <a:xfrm>
          <a:off x="0" y="0"/>
          <a:ext cx="0" cy="0"/>
          <a:chOff x="0" y="0"/>
          <a:chExt cx="0" cy="0"/>
        </a:xfrm>
      </p:grpSpPr>
      <p:sp>
        <p:nvSpPr>
          <p:cNvPr id="2" name="static:0:text"/>
          <p:cNvSpPr/>
          <p:nvPr/>
        </p:nvSpPr>
        <p:spPr>
          <a:xfrm>
            <a:off x="975360" y="2343626"/>
            <a:ext cx="814864" cy="190500"/>
          </a:xfrm>
          <a:prstGeom prst="rect">
            <a:avLst/>
          </a:prstGeom>
          <a:noFill/>
          <a:ln/>
        </p:spPr>
        <p:txBody>
          <a:bodyPr wrap="none" lIns="0" tIns="0" rIns="0" bIns="0" rtlCol="0" anchor="ctr"/>
          <a:lstStyle/>
          <a:p>
            <a:pPr algn="l" indent="0" marL="0">
              <a:buNone/>
            </a:pPr>
            <a:r>
              <a:rPr lang="en-US" sz="1200" b="1" spc="180" kern="0" dirty="0">
                <a:solidFill>
                  <a:srgbClr val="4ADE80"/>
                </a:solidFill>
                <a:latin typeface="Arial" pitchFamily="34" charset="0"/>
                <a:ea typeface="Arial" pitchFamily="34" charset="-122"/>
                <a:cs typeface="Arial" pitchFamily="34" charset="-120"/>
              </a:rPr>
              <a:t>DEMO 4</a:t>
            </a:r>
            <a:endParaRPr lang="en-US" sz="1200" dirty="0"/>
          </a:p>
        </p:txBody>
      </p:sp>
      <p:sp>
        <p:nvSpPr>
          <p:cNvPr id="3" name="static:1:text"/>
          <p:cNvSpPr/>
          <p:nvPr/>
        </p:nvSpPr>
        <p:spPr>
          <a:xfrm>
            <a:off x="975360" y="2640806"/>
            <a:ext cx="5144524"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Evaluate Across Cases</a:t>
            </a:r>
            <a:endParaRPr lang="en-US" sz="4080" dirty="0"/>
          </a:p>
        </p:txBody>
      </p:sp>
      <p:sp>
        <p:nvSpPr>
          <p:cNvPr id="4" name="static:2:text"/>
          <p:cNvSpPr/>
          <p:nvPr/>
        </p:nvSpPr>
        <p:spPr>
          <a:xfrm>
            <a:off x="975360" y="3387566"/>
            <a:ext cx="5408057"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Can the agent handle different purchases, dates and missing</a:t>
            </a:r>
            <a:endParaRPr lang="en-US" sz="1620" dirty="0"/>
          </a:p>
        </p:txBody>
      </p:sp>
      <p:sp>
        <p:nvSpPr>
          <p:cNvPr id="5" name="static:3:text"/>
          <p:cNvSpPr/>
          <p:nvPr/>
        </p:nvSpPr>
        <p:spPr>
          <a:xfrm>
            <a:off x="975360" y="3665220"/>
            <a:ext cx="1192054"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information?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73571" y="6461760"/>
            <a:ext cx="120026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11</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Optimise">
    <p:spTree>
      <p:nvGrpSpPr>
        <p:cNvPr id="1" name=""/>
        <p:cNvGrpSpPr/>
        <p:nvPr/>
      </p:nvGrpSpPr>
      <p:grpSpPr>
        <a:xfrm>
          <a:off x="0" y="0"/>
          <a:ext cx="0" cy="0"/>
          <a:chOff x="0" y="0"/>
          <a:chExt cx="0" cy="0"/>
        </a:xfrm>
      </p:grpSpPr>
      <p:sp>
        <p:nvSpPr>
          <p:cNvPr id="2" name="static:0:text"/>
          <p:cNvSpPr/>
          <p:nvPr/>
        </p:nvSpPr>
        <p:spPr>
          <a:xfrm>
            <a:off x="2727960" y="870109"/>
            <a:ext cx="1497568" cy="152400"/>
          </a:xfrm>
          <a:prstGeom prst="rect">
            <a:avLst/>
          </a:prstGeom>
          <a:noFill/>
          <a:ln/>
        </p:spPr>
        <p:txBody>
          <a:bodyPr wrap="none" lIns="0" tIns="0" rIns="0" bIns="0" rtlCol="0" anchor="ctr"/>
          <a:lstStyle/>
          <a:p>
            <a:pPr algn="l" indent="0" marL="0">
              <a:buNone/>
            </a:pPr>
            <a:r>
              <a:rPr lang="en-US" sz="960" b="1" spc="154" kern="0" dirty="0">
                <a:solidFill>
                  <a:srgbClr val="F87171"/>
                </a:solidFill>
                <a:latin typeface="Arial" pitchFamily="34" charset="0"/>
                <a:ea typeface="Arial" pitchFamily="34" charset="-122"/>
                <a:cs typeface="Arial" pitchFamily="34" charset="-120"/>
              </a:rPr>
              <a:t>AGENT OPTIMIZER</a:t>
            </a:r>
            <a:endParaRPr lang="en-US" sz="960" dirty="0"/>
          </a:p>
        </p:txBody>
      </p:sp>
      <p:sp>
        <p:nvSpPr>
          <p:cNvPr id="3" name="static:1:text"/>
          <p:cNvSpPr/>
          <p:nvPr/>
        </p:nvSpPr>
        <p:spPr>
          <a:xfrm>
            <a:off x="975360" y="1068229"/>
            <a:ext cx="1408962"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Optimise</a:t>
            </a:r>
            <a:endParaRPr lang="en-US" sz="2640" dirty="0"/>
          </a:p>
        </p:txBody>
      </p:sp>
      <p:grpSp>
        <p:nvGrpSpPr>
          <p:cNvPr id="36" name="Reveal 1"/>
          <p:cNvGrpSpPr/>
          <p:nvPr/>
        </p:nvGrpSpPr>
        <p:grpSpPr>
          <a:xfrm>
            <a:off x="975360" y="1868329"/>
            <a:ext cx="3220641" cy="3548062"/>
            <a:chOff x="975360" y="1868329"/>
            <a:chExt cx="3220641" cy="3548062"/>
          </a:xfrm>
        </p:grpSpPr>
        <p:sp>
          <p:nvSpPr>
            <p:cNvPr id="4" name="reveal-1:2:shape"/>
            <p:cNvSpPr/>
            <p:nvPr/>
          </p:nvSpPr>
          <p:spPr>
            <a:xfrm>
              <a:off x="975360" y="1868329"/>
              <a:ext cx="3220641" cy="3548063"/>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F87171"/>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87171"/>
              </a:solidFill>
              <a:prstDash val="solid"/>
            </a:ln>
          </p:spPr>
        </p:sp>
        <p:sp>
          <p:nvSpPr>
            <p:cNvPr id="7" name="reveal-1:4:text"/>
            <p:cNvSpPr/>
            <p:nvPr/>
          </p:nvSpPr>
          <p:spPr>
            <a:xfrm>
              <a:off x="1336715" y="2207419"/>
              <a:ext cx="191572" cy="190500"/>
            </a:xfrm>
            <a:prstGeom prst="rect">
              <a:avLst/>
            </a:prstGeom>
            <a:noFill/>
            <a:ln/>
          </p:spPr>
          <p:txBody>
            <a:bodyPr wrap="none" lIns="0" tIns="0" rIns="0" bIns="0" rtlCol="0" anchor="ctr"/>
            <a:lstStyle/>
            <a:p>
              <a:pPr algn="l" indent="0" marL="0">
                <a:buNone/>
              </a:pPr>
              <a:r>
                <a:rPr lang="en-US" sz="1200" b="1" spc="-24" kern="0" dirty="0">
                  <a:solidFill>
                    <a:srgbClr val="F87171"/>
                  </a:solidFill>
                  <a:latin typeface="Arial" pitchFamily="34" charset="0"/>
                  <a:ea typeface="Arial" pitchFamily="34" charset="-122"/>
                  <a:cs typeface="Arial" pitchFamily="34" charset="-120"/>
                </a:rPr>
                <a:t>B</a:t>
              </a:r>
              <a:endParaRPr lang="en-US" sz="1200" dirty="0"/>
            </a:p>
          </p:txBody>
        </p:sp>
        <p:sp>
          <p:nvSpPr>
            <p:cNvPr id="8" name="reveal-1:5:text"/>
            <p:cNvSpPr/>
            <p:nvPr/>
          </p:nvSpPr>
          <p:spPr>
            <a:xfrm>
              <a:off x="1181100" y="2698909"/>
              <a:ext cx="940713" cy="266700"/>
            </a:xfrm>
            <a:prstGeom prst="rect">
              <a:avLst/>
            </a:prstGeom>
            <a:noFill/>
            <a:ln/>
          </p:spPr>
          <p:txBody>
            <a:bodyPr wrap="none" lIns="0" tIns="0" rIns="0" bIns="0" rtlCol="0" anchor="ctr"/>
            <a:lstStyle/>
            <a:p>
              <a:pPr algn="l" indent="0" marL="0">
                <a:buNone/>
              </a:pPr>
              <a:r>
                <a:rPr lang="en-US" sz="1680" b="1" dirty="0">
                  <a:solidFill>
                    <a:srgbClr val="F87171"/>
                  </a:solidFill>
                  <a:latin typeface="Arial" pitchFamily="34" charset="0"/>
                  <a:ea typeface="Arial" pitchFamily="34" charset="-122"/>
                  <a:cs typeface="Arial" pitchFamily="34" charset="-120"/>
                </a:rPr>
                <a:t>Baseline</a:t>
              </a:r>
              <a:endParaRPr lang="en-US" sz="1680" dirty="0"/>
            </a:p>
          </p:txBody>
        </p:sp>
        <p:sp>
          <p:nvSpPr>
            <p:cNvPr id="9" name="reveal-1:6:text"/>
            <p:cNvSpPr/>
            <p:nvPr/>
          </p:nvSpPr>
          <p:spPr>
            <a:xfrm>
              <a:off x="1181100" y="3047881"/>
              <a:ext cx="2487573"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Record the starting configuration and</a:t>
              </a:r>
              <a:endParaRPr lang="en-US" sz="1140" dirty="0"/>
            </a:p>
          </p:txBody>
        </p:sp>
        <p:sp>
          <p:nvSpPr>
            <p:cNvPr id="10" name="reveal-1:7:text"/>
            <p:cNvSpPr/>
            <p:nvPr/>
          </p:nvSpPr>
          <p:spPr>
            <a:xfrm>
              <a:off x="1181100" y="3243263"/>
              <a:ext cx="125170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evaluation results.</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2" name="reveal-1:9:text"/>
            <p:cNvSpPr/>
            <p:nvPr/>
          </p:nvSpPr>
          <p:spPr>
            <a:xfrm>
              <a:off x="1287780" y="3735824"/>
              <a:ext cx="2381369"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How consistently does the starting agent</a:t>
              </a:r>
              <a:endParaRPr lang="en-US" sz="900" dirty="0"/>
            </a:p>
          </p:txBody>
        </p:sp>
        <p:sp>
          <p:nvSpPr>
            <p:cNvPr id="13" name="reveal-1:10:text"/>
            <p:cNvSpPr/>
            <p:nvPr/>
          </p:nvSpPr>
          <p:spPr>
            <a:xfrm>
              <a:off x="1287780" y="3884414"/>
              <a:ext cx="101036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meet the rubric?</a:t>
              </a:r>
              <a:endParaRPr lang="en-US" sz="900" dirty="0"/>
            </a:p>
          </p:txBody>
        </p:sp>
      </p:grpSp>
      <p:grpSp>
        <p:nvGrpSpPr>
          <p:cNvPr id="37" name="Reveal 2"/>
          <p:cNvGrpSpPr/>
          <p:nvPr/>
        </p:nvGrpSpPr>
        <p:grpSpPr>
          <a:xfrm>
            <a:off x="4348401" y="1868329"/>
            <a:ext cx="3220760" cy="3548062"/>
            <a:chOff x="4348401" y="1868329"/>
            <a:chExt cx="3220760" cy="3548062"/>
          </a:xfrm>
        </p:grpSpPr>
        <p:sp>
          <p:nvSpPr>
            <p:cNvPr id="14" name="reveal-2:11:shape"/>
            <p:cNvSpPr/>
            <p:nvPr/>
          </p:nvSpPr>
          <p:spPr>
            <a:xfrm>
              <a:off x="4348401" y="1868329"/>
              <a:ext cx="3220760" cy="3548063"/>
            </a:xfrm>
            <a:prstGeom prst="roundRect">
              <a:avLst>
                <a:gd name="adj" fmla="val 3785"/>
              </a:avLst>
            </a:prstGeom>
            <a:solidFill>
              <a:srgbClr val="292929"/>
            </a:solidFill>
            <a:ln w="7620">
              <a:solidFill>
                <a:srgbClr val="474747"/>
              </a:solidFill>
              <a:prstDash val="solid"/>
            </a:ln>
          </p:spPr>
        </p:sp>
        <p:sp>
          <p:nvSpPr>
            <p:cNvPr id="15" name="reveal-2:11:shape:border-0"/>
            <p:cNvSpPr/>
            <p:nvPr/>
          </p:nvSpPr>
          <p:spPr>
            <a:xfrm>
              <a:off x="4439841" y="1883569"/>
              <a:ext cx="3037880" cy="0"/>
            </a:xfrm>
            <a:prstGeom prst="line">
              <a:avLst/>
            </a:prstGeom>
            <a:noFill/>
            <a:ln w="30480">
              <a:solidFill>
                <a:srgbClr val="FBBF24"/>
              </a:solidFill>
              <a:prstDash val="solid"/>
              <a:headEnd type="none"/>
              <a:tailEnd type="none"/>
            </a:ln>
          </p:spPr>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17" name="reveal-2:13:text"/>
            <p:cNvSpPr/>
            <p:nvPr/>
          </p:nvSpPr>
          <p:spPr>
            <a:xfrm>
              <a:off x="4706183" y="2207419"/>
              <a:ext cx="198834"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C</a:t>
              </a:r>
              <a:endParaRPr lang="en-US" sz="1200" dirty="0"/>
            </a:p>
          </p:txBody>
        </p:sp>
        <p:sp>
          <p:nvSpPr>
            <p:cNvPr id="18" name="reveal-2:14:text"/>
            <p:cNvSpPr/>
            <p:nvPr/>
          </p:nvSpPr>
          <p:spPr>
            <a:xfrm>
              <a:off x="4554141" y="2698909"/>
              <a:ext cx="1236702"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Candidates</a:t>
              </a:r>
              <a:endParaRPr lang="en-US" sz="1680" dirty="0"/>
            </a:p>
          </p:txBody>
        </p:sp>
        <p:sp>
          <p:nvSpPr>
            <p:cNvPr id="19" name="reveal-2:15:text"/>
            <p:cNvSpPr/>
            <p:nvPr/>
          </p:nvSpPr>
          <p:spPr>
            <a:xfrm>
              <a:off x="4554141" y="3047881"/>
              <a:ext cx="2219206"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Test changes to instructions, tool</a:t>
              </a:r>
              <a:endParaRPr lang="en-US" sz="1140" dirty="0"/>
            </a:p>
          </p:txBody>
        </p:sp>
        <p:sp>
          <p:nvSpPr>
            <p:cNvPr id="20" name="reveal-2:16:text"/>
            <p:cNvSpPr/>
            <p:nvPr/>
          </p:nvSpPr>
          <p:spPr>
            <a:xfrm>
              <a:off x="4554141" y="3243263"/>
              <a:ext cx="209752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descriptions and model choice.</a:t>
              </a:r>
              <a:endParaRPr lang="en-US" sz="1140" dirty="0"/>
            </a:p>
          </p:txBody>
        </p:sp>
        <p:sp>
          <p:nvSpPr>
            <p:cNvPr id="21" name="reveal-2:17: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2" name="reveal-2:18:text"/>
            <p:cNvSpPr/>
            <p:nvPr/>
          </p:nvSpPr>
          <p:spPr>
            <a:xfrm>
              <a:off x="4660821" y="3735824"/>
              <a:ext cx="242268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Which changes improve the results on the</a:t>
              </a:r>
              <a:endParaRPr lang="en-US" sz="900" dirty="0"/>
            </a:p>
          </p:txBody>
        </p:sp>
        <p:sp>
          <p:nvSpPr>
            <p:cNvPr id="23" name="reveal-2:19:text"/>
            <p:cNvSpPr/>
            <p:nvPr/>
          </p:nvSpPr>
          <p:spPr>
            <a:xfrm>
              <a:off x="4660821" y="3884414"/>
              <a:ext cx="763667"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same tests?</a:t>
              </a:r>
              <a:endParaRPr lang="en-US" sz="900" dirty="0"/>
            </a:p>
          </p:txBody>
        </p:sp>
      </p:grpSp>
      <p:grpSp>
        <p:nvGrpSpPr>
          <p:cNvPr id="38" name="Reveal 3"/>
          <p:cNvGrpSpPr/>
          <p:nvPr/>
        </p:nvGrpSpPr>
        <p:grpSpPr>
          <a:xfrm>
            <a:off x="7721560" y="1868329"/>
            <a:ext cx="3220641" cy="3548062"/>
            <a:chOff x="7721560" y="1868329"/>
            <a:chExt cx="3220641" cy="3548062"/>
          </a:xfrm>
        </p:grpSpPr>
        <p:sp>
          <p:nvSpPr>
            <p:cNvPr id="24" name="reveal-3:20:shape"/>
            <p:cNvSpPr/>
            <p:nvPr/>
          </p:nvSpPr>
          <p:spPr>
            <a:xfrm>
              <a:off x="7721560" y="1868329"/>
              <a:ext cx="3220641" cy="3548063"/>
            </a:xfrm>
            <a:prstGeom prst="roundRect">
              <a:avLst>
                <a:gd name="adj" fmla="val 3786"/>
              </a:avLst>
            </a:prstGeom>
            <a:solidFill>
              <a:srgbClr val="292929"/>
            </a:solidFill>
            <a:ln w="7620">
              <a:solidFill>
                <a:srgbClr val="474747"/>
              </a:solidFill>
              <a:prstDash val="solid"/>
            </a:ln>
          </p:spPr>
        </p:sp>
        <p:sp>
          <p:nvSpPr>
            <p:cNvPr id="25" name="reveal-3:20:shape:border-0"/>
            <p:cNvSpPr/>
            <p:nvPr/>
          </p:nvSpPr>
          <p:spPr>
            <a:xfrm>
              <a:off x="7813000" y="1883569"/>
              <a:ext cx="3037761" cy="0"/>
            </a:xfrm>
            <a:prstGeom prst="line">
              <a:avLst/>
            </a:prstGeom>
            <a:noFill/>
            <a:ln w="30480">
              <a:solidFill>
                <a:srgbClr val="4ADE80"/>
              </a:solidFill>
              <a:prstDash val="solid"/>
              <a:headEnd type="none"/>
              <a:tailEnd type="none"/>
            </a:ln>
          </p:spPr>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27" name="reveal-3:22:text"/>
            <p:cNvSpPr/>
            <p:nvPr/>
          </p:nvSpPr>
          <p:spPr>
            <a:xfrm>
              <a:off x="8084344" y="2207419"/>
              <a:ext cx="188714"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3</a:t>
              </a:r>
              <a:endParaRPr lang="en-US" sz="1200" dirty="0"/>
            </a:p>
          </p:txBody>
        </p:sp>
        <p:sp>
          <p:nvSpPr>
            <p:cNvPr id="28" name="reveal-3:23:text"/>
            <p:cNvSpPr/>
            <p:nvPr/>
          </p:nvSpPr>
          <p:spPr>
            <a:xfrm>
              <a:off x="7927300" y="2698909"/>
              <a:ext cx="1006078"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Compare</a:t>
              </a:r>
              <a:endParaRPr lang="en-US" sz="1680" dirty="0"/>
            </a:p>
          </p:txBody>
        </p:sp>
        <p:sp>
          <p:nvSpPr>
            <p:cNvPr id="29" name="reveal-3:24:text"/>
            <p:cNvSpPr/>
            <p:nvPr/>
          </p:nvSpPr>
          <p:spPr>
            <a:xfrm>
              <a:off x="7927300" y="3047881"/>
              <a:ext cx="2311122"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Compare scores and configuration</a:t>
              </a:r>
              <a:endParaRPr lang="en-US" sz="1140" dirty="0"/>
            </a:p>
          </p:txBody>
        </p:sp>
        <p:sp>
          <p:nvSpPr>
            <p:cNvPr id="30" name="reveal-3:25:text"/>
            <p:cNvSpPr/>
            <p:nvPr/>
          </p:nvSpPr>
          <p:spPr>
            <a:xfrm>
              <a:off x="7927300" y="3243263"/>
              <a:ext cx="678418"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changes.</a:t>
              </a:r>
              <a:endParaRPr lang="en-US" sz="1140" dirty="0"/>
            </a:p>
          </p:txBody>
        </p:sp>
        <p:sp>
          <p:nvSpPr>
            <p:cNvPr id="31" name="reveal-3:26: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32" name="reveal-3:27:text"/>
            <p:cNvSpPr/>
            <p:nvPr/>
          </p:nvSpPr>
          <p:spPr>
            <a:xfrm>
              <a:off x="8033980" y="3735824"/>
              <a:ext cx="258270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Is the quality change worth the cost change?</a:t>
              </a:r>
              <a:endParaRPr lang="en-US" sz="900" dirty="0"/>
            </a:p>
          </p:txBody>
        </p:sp>
      </p:grpSp>
      <p:grpSp>
        <p:nvGrpSpPr>
          <p:cNvPr id="39" name="Reveal 4"/>
          <p:cNvGrpSpPr/>
          <p:nvPr/>
        </p:nvGrpSpPr>
        <p:grpSpPr>
          <a:xfrm>
            <a:off x="975360" y="5507831"/>
            <a:ext cx="9966960" cy="213360"/>
            <a:chOff x="975360" y="5507831"/>
            <a:chExt cx="9966960" cy="213360"/>
          </a:xfrm>
        </p:grpSpPr>
        <p:sp>
          <p:nvSpPr>
            <p:cNvPr id="33" name="reveal-4:28:text"/>
            <p:cNvSpPr/>
            <p:nvPr/>
          </p:nvSpPr>
          <p:spPr>
            <a:xfrm>
              <a:off x="975360" y="5500211"/>
              <a:ext cx="7624643" cy="228600"/>
            </a:xfrm>
            <a:prstGeom prst="rect">
              <a:avLst/>
            </a:prstGeom>
            <a:noFill/>
            <a:ln/>
          </p:spPr>
          <p:txBody>
            <a:bodyPr wrap="none" lIns="0" tIns="0" rIns="0" bIns="0" rtlCol="0" anchor="ctr"/>
            <a:lstStyle/>
            <a:p>
              <a:pPr algn="l" indent="0" marL="0">
                <a:buNone/>
              </a:pPr>
              <a:r>
                <a:rPr lang="en-US" sz="1440" b="1" spc="-14" kern="0" dirty="0">
                  <a:solidFill>
                    <a:srgbClr val="DEDEDE"/>
                  </a:solidFill>
                  <a:latin typeface="Arial" pitchFamily="34" charset="0"/>
                  <a:ea typeface="Arial" pitchFamily="34" charset="-122"/>
                  <a:cs typeface="Arial" pitchFamily="34" charset="-120"/>
                </a:rPr>
                <a:t>A higher score isn't permission to ship. </a:t>
              </a:r>
              <a:r>
                <a:rPr lang="en-US" sz="1440" b="1" spc="-14" kern="0" dirty="0">
                  <a:solidFill>
                    <a:srgbClr val="F87171"/>
                  </a:solidFill>
                  <a:latin typeface="Arial" pitchFamily="34" charset="0"/>
                  <a:ea typeface="Arial" pitchFamily="34" charset="-122"/>
                  <a:cs typeface="Arial" pitchFamily="34" charset="-120"/>
                </a:rPr>
                <a:t>Always read the new prompt and tool descriptions.</a:t>
              </a:r>
              <a:endParaRPr lang="en-US" sz="1440" dirty="0"/>
            </a:p>
          </p:txBody>
        </p:sp>
      </p:grpSp>
      <p:sp>
        <p:nvSpPr>
          <p:cNvPr id="34" name="static:29: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5" name="static:30:text"/>
          <p:cNvSpPr/>
          <p:nvPr/>
        </p:nvSpPr>
        <p:spPr>
          <a:xfrm>
            <a:off x="7412831" y="6461760"/>
            <a:ext cx="121300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12</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Demo 5 - Agent Optimizer">
    <p:spTree>
      <p:nvGrpSpPr>
        <p:cNvPr id="1" name=""/>
        <p:cNvGrpSpPr/>
        <p:nvPr/>
      </p:nvGrpSpPr>
      <p:grpSpPr>
        <a:xfrm>
          <a:off x="0" y="0"/>
          <a:ext cx="0" cy="0"/>
          <a:chOff x="0" y="0"/>
          <a:chExt cx="0" cy="0"/>
        </a:xfrm>
      </p:grpSpPr>
      <p:sp>
        <p:nvSpPr>
          <p:cNvPr id="2" name="static:0:text"/>
          <p:cNvSpPr/>
          <p:nvPr/>
        </p:nvSpPr>
        <p:spPr>
          <a:xfrm>
            <a:off x="975360" y="2482453"/>
            <a:ext cx="811292" cy="190500"/>
          </a:xfrm>
          <a:prstGeom prst="rect">
            <a:avLst/>
          </a:prstGeom>
          <a:noFill/>
          <a:ln/>
        </p:spPr>
        <p:txBody>
          <a:bodyPr wrap="none" lIns="0" tIns="0" rIns="0" bIns="0" rtlCol="0" anchor="ctr"/>
          <a:lstStyle/>
          <a:p>
            <a:pPr algn="l" indent="0" marL="0">
              <a:buNone/>
            </a:pPr>
            <a:r>
              <a:rPr lang="en-US" sz="1200" b="1" spc="180" kern="0" dirty="0">
                <a:solidFill>
                  <a:srgbClr val="F87171"/>
                </a:solidFill>
                <a:latin typeface="Arial" pitchFamily="34" charset="0"/>
                <a:ea typeface="Arial" pitchFamily="34" charset="-122"/>
                <a:cs typeface="Arial" pitchFamily="34" charset="-120"/>
              </a:rPr>
              <a:t>DEMO 5</a:t>
            </a:r>
            <a:endParaRPr lang="en-US" sz="1200" dirty="0"/>
          </a:p>
        </p:txBody>
      </p:sp>
      <p:sp>
        <p:nvSpPr>
          <p:cNvPr id="3" name="static:1:text"/>
          <p:cNvSpPr/>
          <p:nvPr/>
        </p:nvSpPr>
        <p:spPr>
          <a:xfrm>
            <a:off x="975360" y="2779633"/>
            <a:ext cx="3743516"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Agent Optimizer</a:t>
            </a:r>
            <a:endParaRPr lang="en-US" sz="4080" dirty="0"/>
          </a:p>
        </p:txBody>
      </p:sp>
      <p:sp>
        <p:nvSpPr>
          <p:cNvPr id="4" name="static:2:text"/>
          <p:cNvSpPr/>
          <p:nvPr/>
        </p:nvSpPr>
        <p:spPr>
          <a:xfrm>
            <a:off x="975360" y="3526393"/>
            <a:ext cx="2491978"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Can we improve the agent?</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58688" y="6461760"/>
            <a:ext cx="1215152"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13</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Three test sets">
    <p:spTree>
      <p:nvGrpSpPr>
        <p:cNvPr id="1" name=""/>
        <p:cNvGrpSpPr/>
        <p:nvPr/>
      </p:nvGrpSpPr>
      <p:grpSpPr>
        <a:xfrm>
          <a:off x="0" y="0"/>
          <a:ext cx="0" cy="0"/>
          <a:chOff x="0" y="0"/>
          <a:chExt cx="0" cy="0"/>
        </a:xfrm>
      </p:grpSpPr>
      <p:sp>
        <p:nvSpPr>
          <p:cNvPr id="2" name="static:0:text"/>
          <p:cNvSpPr/>
          <p:nvPr/>
        </p:nvSpPr>
        <p:spPr>
          <a:xfrm>
            <a:off x="2727960" y="870109"/>
            <a:ext cx="2995255"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CONTINUOUS EVALUATION AND CI/CD</a:t>
            </a:r>
            <a:endParaRPr lang="en-US" sz="960" dirty="0"/>
          </a:p>
        </p:txBody>
      </p:sp>
      <p:sp>
        <p:nvSpPr>
          <p:cNvPr id="3" name="static:1:text"/>
          <p:cNvSpPr/>
          <p:nvPr/>
        </p:nvSpPr>
        <p:spPr>
          <a:xfrm>
            <a:off x="975360" y="1068229"/>
            <a:ext cx="3765209"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Three test sets, three jobs</a:t>
            </a:r>
            <a:endParaRPr lang="en-US" sz="2640" dirty="0"/>
          </a:p>
        </p:txBody>
      </p:sp>
      <p:grpSp>
        <p:nvGrpSpPr>
          <p:cNvPr id="34" name="Reveal 1"/>
          <p:cNvGrpSpPr/>
          <p:nvPr/>
        </p:nvGrpSpPr>
        <p:grpSpPr>
          <a:xfrm>
            <a:off x="975360" y="1868329"/>
            <a:ext cx="3220641" cy="3548062"/>
            <a:chOff x="975360" y="1868329"/>
            <a:chExt cx="3220641" cy="3548062"/>
          </a:xfrm>
        </p:grpSpPr>
        <p:sp>
          <p:nvSpPr>
            <p:cNvPr id="4" name="reveal-1:2:shape"/>
            <p:cNvSpPr/>
            <p:nvPr/>
          </p:nvSpPr>
          <p:spPr>
            <a:xfrm>
              <a:off x="975360" y="1868329"/>
              <a:ext cx="3220641" cy="3548063"/>
            </a:xfrm>
            <a:prstGeom prst="roundRect">
              <a:avLst>
                <a:gd name="adj" fmla="val 3786"/>
              </a:avLst>
            </a:prstGeom>
            <a:solidFill>
              <a:srgbClr val="292929"/>
            </a:solidFill>
            <a:ln w="7620">
              <a:solidFill>
                <a:srgbClr val="474747"/>
              </a:solidFill>
              <a:prstDash val="solid"/>
            </a:ln>
          </p:spPr>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sp>
        <p:sp>
          <p:nvSpPr>
            <p:cNvPr id="7" name="reveal-1:4:text"/>
            <p:cNvSpPr/>
            <p:nvPr/>
          </p:nvSpPr>
          <p:spPr>
            <a:xfrm>
              <a:off x="1333143" y="2207419"/>
              <a:ext cx="198834"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D</a:t>
              </a:r>
              <a:endParaRPr lang="en-US" sz="1200" dirty="0"/>
            </a:p>
          </p:txBody>
        </p:sp>
        <p:sp>
          <p:nvSpPr>
            <p:cNvPr id="8" name="reveal-1:5:text"/>
            <p:cNvSpPr/>
            <p:nvPr/>
          </p:nvSpPr>
          <p:spPr>
            <a:xfrm>
              <a:off x="1181100" y="2698909"/>
              <a:ext cx="1416368"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Development</a:t>
              </a:r>
              <a:endParaRPr lang="en-US" sz="1680" dirty="0"/>
            </a:p>
          </p:txBody>
        </p:sp>
        <p:sp>
          <p:nvSpPr>
            <p:cNvPr id="9" name="reveal-1:6:text"/>
            <p:cNvSpPr/>
            <p:nvPr/>
          </p:nvSpPr>
          <p:spPr>
            <a:xfrm>
              <a:off x="1181100" y="3047881"/>
              <a:ext cx="1723311"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The optimizer trains on it.</a:t>
              </a:r>
              <a:endParaRPr lang="en-US" sz="1140" dirty="0"/>
            </a:p>
          </p:txBody>
        </p:sp>
        <p:sp>
          <p:nvSpPr>
            <p:cNvPr id="10" name="reveal-1:7:shape"/>
            <p:cNvSpPr/>
            <p:nvPr/>
          </p:nvSpPr>
          <p:spPr>
            <a:xfrm>
              <a:off x="11811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1" name="reveal-1:8:text"/>
            <p:cNvSpPr/>
            <p:nvPr/>
          </p:nvSpPr>
          <p:spPr>
            <a:xfrm>
              <a:off x="1287780" y="3540443"/>
              <a:ext cx="2551628"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Runs on every pull request, as a small, quick</a:t>
              </a:r>
              <a:endParaRPr lang="en-US" sz="900" dirty="0"/>
            </a:p>
          </p:txBody>
        </p:sp>
        <p:sp>
          <p:nvSpPr>
            <p:cNvPr id="12" name="reveal-1:9:text"/>
            <p:cNvSpPr/>
            <p:nvPr/>
          </p:nvSpPr>
          <p:spPr>
            <a:xfrm>
              <a:off x="1287780" y="3689033"/>
              <a:ext cx="510302"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subset.</a:t>
              </a:r>
              <a:endParaRPr lang="en-US" sz="900" dirty="0"/>
            </a:p>
          </p:txBody>
        </p:sp>
      </p:grpSp>
      <p:grpSp>
        <p:nvGrpSpPr>
          <p:cNvPr id="35" name="Reveal 2"/>
          <p:cNvGrpSpPr/>
          <p:nvPr/>
        </p:nvGrpSpPr>
        <p:grpSpPr>
          <a:xfrm>
            <a:off x="4348401" y="1868329"/>
            <a:ext cx="3220760" cy="3548062"/>
            <a:chOff x="4348401" y="1868329"/>
            <a:chExt cx="3220760" cy="3548062"/>
          </a:xfrm>
        </p:grpSpPr>
        <p:sp>
          <p:nvSpPr>
            <p:cNvPr id="13" name="reveal-2:10:shape"/>
            <p:cNvSpPr/>
            <p:nvPr/>
          </p:nvSpPr>
          <p:spPr>
            <a:xfrm>
              <a:off x="4348401" y="1868329"/>
              <a:ext cx="3220760" cy="3548063"/>
            </a:xfrm>
            <a:prstGeom prst="roundRect">
              <a:avLst>
                <a:gd name="adj" fmla="val 3785"/>
              </a:avLst>
            </a:prstGeom>
            <a:solidFill>
              <a:srgbClr val="292929"/>
            </a:solidFill>
            <a:ln w="7620">
              <a:solidFill>
                <a:srgbClr val="474747"/>
              </a:solidFill>
              <a:prstDash val="solid"/>
            </a:ln>
          </p:spPr>
        </p:sp>
        <p:sp>
          <p:nvSpPr>
            <p:cNvPr id="14" name="reveal-2:10:shape:border-0"/>
            <p:cNvSpPr/>
            <p:nvPr/>
          </p:nvSpPr>
          <p:spPr>
            <a:xfrm>
              <a:off x="4439841" y="1883569"/>
              <a:ext cx="3037880" cy="0"/>
            </a:xfrm>
            <a:prstGeom prst="line">
              <a:avLst/>
            </a:prstGeom>
            <a:noFill/>
            <a:ln w="30480">
              <a:solidFill>
                <a:srgbClr val="4ADE80"/>
              </a:solidFill>
              <a:prstDash val="solid"/>
              <a:headEnd type="none"/>
              <a:tailEnd type="none"/>
            </a:ln>
          </p:spPr>
        </p:sp>
        <p:sp>
          <p:nvSpPr>
            <p:cNvPr id="15" name="reveal-2:11: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sp>
        <p:sp>
          <p:nvSpPr>
            <p:cNvPr id="16" name="reveal-2:12:text"/>
            <p:cNvSpPr/>
            <p:nvPr/>
          </p:nvSpPr>
          <p:spPr>
            <a:xfrm>
              <a:off x="4702850" y="2207419"/>
              <a:ext cx="205383"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H</a:t>
              </a:r>
              <a:endParaRPr lang="en-US" sz="1200" dirty="0"/>
            </a:p>
          </p:txBody>
        </p:sp>
        <p:sp>
          <p:nvSpPr>
            <p:cNvPr id="17" name="reveal-2:13:text"/>
            <p:cNvSpPr/>
            <p:nvPr/>
          </p:nvSpPr>
          <p:spPr>
            <a:xfrm>
              <a:off x="4554141" y="2698909"/>
              <a:ext cx="88951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Holdout</a:t>
              </a:r>
              <a:endParaRPr lang="en-US" sz="1680" dirty="0"/>
            </a:p>
          </p:txBody>
        </p:sp>
        <p:sp>
          <p:nvSpPr>
            <p:cNvPr id="18" name="reveal-2:14:text"/>
            <p:cNvSpPr/>
            <p:nvPr/>
          </p:nvSpPr>
          <p:spPr>
            <a:xfrm>
              <a:off x="4554141" y="3047881"/>
              <a:ext cx="269950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Our optimizer sees it too: it picks its best</a:t>
              </a:r>
              <a:endParaRPr lang="en-US" sz="1140" dirty="0"/>
            </a:p>
          </p:txBody>
        </p:sp>
        <p:sp>
          <p:nvSpPr>
            <p:cNvPr id="19" name="reveal-2:15:text"/>
            <p:cNvSpPr/>
            <p:nvPr/>
          </p:nvSpPr>
          <p:spPr>
            <a:xfrm>
              <a:off x="4554141" y="3243263"/>
              <a:ext cx="1531263"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candidates by using it.</a:t>
              </a:r>
              <a:endParaRPr lang="en-US" sz="1140" dirty="0"/>
            </a:p>
          </p:txBody>
        </p:sp>
        <p:sp>
          <p:nvSpPr>
            <p:cNvPr id="20" name="reveal-2:16: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1" name="reveal-2:17:text"/>
            <p:cNvSpPr/>
            <p:nvPr/>
          </p:nvSpPr>
          <p:spPr>
            <a:xfrm>
              <a:off x="4660821" y="3735824"/>
              <a:ext cx="1401961"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Runs on merge to main.</a:t>
              </a:r>
              <a:endParaRPr lang="en-US" sz="900" dirty="0"/>
            </a:p>
          </p:txBody>
        </p:sp>
      </p:grpSp>
      <p:grpSp>
        <p:nvGrpSpPr>
          <p:cNvPr id="36" name="Reveal 3"/>
          <p:cNvGrpSpPr/>
          <p:nvPr/>
        </p:nvGrpSpPr>
        <p:grpSpPr>
          <a:xfrm>
            <a:off x="7721560" y="1868329"/>
            <a:ext cx="3220641" cy="3548062"/>
            <a:chOff x="7721560" y="1868329"/>
            <a:chExt cx="3220641" cy="3548062"/>
          </a:xfrm>
        </p:grpSpPr>
        <p:sp>
          <p:nvSpPr>
            <p:cNvPr id="22" name="reveal-3:18:shape"/>
            <p:cNvSpPr/>
            <p:nvPr/>
          </p:nvSpPr>
          <p:spPr>
            <a:xfrm>
              <a:off x="7721560" y="1868329"/>
              <a:ext cx="3220641" cy="3548063"/>
            </a:xfrm>
            <a:prstGeom prst="roundRect">
              <a:avLst>
                <a:gd name="adj" fmla="val 3786"/>
              </a:avLst>
            </a:prstGeom>
            <a:solidFill>
              <a:srgbClr val="292929"/>
            </a:solidFill>
            <a:ln w="7620">
              <a:solidFill>
                <a:srgbClr val="474747"/>
              </a:solidFill>
              <a:prstDash val="solid"/>
            </a:ln>
          </p:spPr>
        </p:sp>
        <p:sp>
          <p:nvSpPr>
            <p:cNvPr id="23" name="reveal-3:18:shape:border-0"/>
            <p:cNvSpPr/>
            <p:nvPr/>
          </p:nvSpPr>
          <p:spPr>
            <a:xfrm>
              <a:off x="7813000" y="1883569"/>
              <a:ext cx="3037761" cy="0"/>
            </a:xfrm>
            <a:prstGeom prst="line">
              <a:avLst/>
            </a:prstGeom>
            <a:noFill/>
            <a:ln w="30480">
              <a:solidFill>
                <a:srgbClr val="FBBF24"/>
              </a:solidFill>
              <a:prstDash val="solid"/>
              <a:headEnd type="none"/>
              <a:tailEnd type="none"/>
            </a:ln>
          </p:spPr>
        </p:sp>
        <p:sp>
          <p:nvSpPr>
            <p:cNvPr id="24" name="reveal-3:19: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sp>
        <p:sp>
          <p:nvSpPr>
            <p:cNvPr id="25" name="reveal-3:20:text"/>
            <p:cNvSpPr/>
            <p:nvPr/>
          </p:nvSpPr>
          <p:spPr>
            <a:xfrm>
              <a:off x="8079105" y="2207419"/>
              <a:ext cx="199192"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Δ</a:t>
              </a:r>
              <a:endParaRPr lang="en-US" sz="1200" dirty="0"/>
            </a:p>
          </p:txBody>
        </p:sp>
        <p:sp>
          <p:nvSpPr>
            <p:cNvPr id="26" name="reveal-3:21:text"/>
            <p:cNvSpPr/>
            <p:nvPr/>
          </p:nvSpPr>
          <p:spPr>
            <a:xfrm>
              <a:off x="7927300" y="2698909"/>
              <a:ext cx="536258"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Drift</a:t>
              </a:r>
              <a:endParaRPr lang="en-US" sz="1680" dirty="0"/>
            </a:p>
          </p:txBody>
        </p:sp>
        <p:sp>
          <p:nvSpPr>
            <p:cNvPr id="27" name="reveal-3:22:text"/>
            <p:cNvSpPr/>
            <p:nvPr/>
          </p:nvSpPr>
          <p:spPr>
            <a:xfrm>
              <a:off x="7927300" y="3047881"/>
              <a:ext cx="2833926"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Neither the optimizer nor development has</a:t>
              </a:r>
              <a:endParaRPr lang="en-US" sz="1140" dirty="0"/>
            </a:p>
          </p:txBody>
        </p:sp>
        <p:sp>
          <p:nvSpPr>
            <p:cNvPr id="28" name="reveal-3:23:text"/>
            <p:cNvSpPr/>
            <p:nvPr/>
          </p:nvSpPr>
          <p:spPr>
            <a:xfrm>
              <a:off x="7927300" y="3243263"/>
              <a:ext cx="2794516"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seen it. The final check before production.</a:t>
              </a:r>
              <a:endParaRPr lang="en-US" sz="1140" dirty="0"/>
            </a:p>
          </p:txBody>
        </p:sp>
        <p:sp>
          <p:nvSpPr>
            <p:cNvPr id="29" name="reveal-3:24: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30" name="reveal-3:25:text"/>
            <p:cNvSpPr/>
            <p:nvPr/>
          </p:nvSpPr>
          <p:spPr>
            <a:xfrm>
              <a:off x="8033980" y="3735824"/>
              <a:ext cx="217360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Runs before a candidate is promoted.</a:t>
              </a:r>
              <a:endParaRPr lang="en-US" sz="900" dirty="0"/>
            </a:p>
          </p:txBody>
        </p:sp>
      </p:grpSp>
      <p:grpSp>
        <p:nvGrpSpPr>
          <p:cNvPr id="37" name="Reveal 4"/>
          <p:cNvGrpSpPr/>
          <p:nvPr/>
        </p:nvGrpSpPr>
        <p:grpSpPr>
          <a:xfrm>
            <a:off x="975360" y="5507831"/>
            <a:ext cx="9966960" cy="213360"/>
            <a:chOff x="975360" y="5507831"/>
            <a:chExt cx="9966960" cy="213360"/>
          </a:xfrm>
        </p:grpSpPr>
        <p:sp>
          <p:nvSpPr>
            <p:cNvPr id="31" name="reveal-4:26:text"/>
            <p:cNvSpPr/>
            <p:nvPr/>
          </p:nvSpPr>
          <p:spPr>
            <a:xfrm>
              <a:off x="975360" y="5500211"/>
              <a:ext cx="3601164" cy="228600"/>
            </a:xfrm>
            <a:prstGeom prst="rect">
              <a:avLst/>
            </a:prstGeom>
            <a:noFill/>
            <a:ln/>
          </p:spPr>
          <p:txBody>
            <a:bodyPr wrap="none" lIns="0" tIns="0" rIns="0" bIns="0" rtlCol="0" anchor="ctr"/>
            <a:lstStyle/>
            <a:p>
              <a:pPr algn="l" indent="0" marL="0">
                <a:buNone/>
              </a:pPr>
              <a:r>
                <a:rPr lang="en-US" sz="1440" b="1" spc="-14" kern="0" dirty="0">
                  <a:solidFill>
                    <a:srgbClr val="DEDEDE"/>
                  </a:solidFill>
                  <a:latin typeface="Arial" pitchFamily="34" charset="0"/>
                  <a:ea typeface="Arial" pitchFamily="34" charset="-122"/>
                  <a:cs typeface="Arial" pitchFamily="34" charset="-120"/>
                </a:rPr>
                <a:t>Homework, practice exam, </a:t>
              </a:r>
              <a:r>
                <a:rPr lang="en-US" sz="1440" b="1" spc="-14" kern="0" dirty="0">
                  <a:solidFill>
                    <a:srgbClr val="4DA6FF"/>
                  </a:solidFill>
                  <a:latin typeface="Arial" pitchFamily="34" charset="0"/>
                  <a:ea typeface="Arial" pitchFamily="34" charset="-122"/>
                  <a:cs typeface="Arial" pitchFamily="34" charset="-120"/>
                </a:rPr>
                <a:t>surprise exam</a:t>
              </a:r>
              <a:r>
                <a:rPr lang="en-US" sz="1440" b="1" spc="-14" kern="0" dirty="0">
                  <a:solidFill>
                    <a:srgbClr val="DEDEDE"/>
                  </a:solidFill>
                  <a:latin typeface="Arial" pitchFamily="34" charset="0"/>
                  <a:ea typeface="Arial" pitchFamily="34" charset="-122"/>
                  <a:cs typeface="Arial" pitchFamily="34" charset="-120"/>
                </a:rPr>
                <a:t>.</a:t>
              </a:r>
              <a:endParaRPr lang="en-US" sz="1440" dirty="0"/>
            </a:p>
          </p:txBody>
        </p:sp>
      </p:grpSp>
      <p:sp>
        <p:nvSpPr>
          <p:cNvPr id="32" name="static:27: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3" name="static:28:text"/>
          <p:cNvSpPr/>
          <p:nvPr/>
        </p:nvSpPr>
        <p:spPr>
          <a:xfrm>
            <a:off x="10457140" y="6461760"/>
            <a:ext cx="121670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14</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What the gate checks">
    <p:spTree>
      <p:nvGrpSpPr>
        <p:cNvPr id="1" name=""/>
        <p:cNvGrpSpPr/>
        <p:nvPr/>
      </p:nvGrpSpPr>
      <p:grpSpPr>
        <a:xfrm>
          <a:off x="0" y="0"/>
          <a:ext cx="0" cy="0"/>
          <a:chOff x="0" y="0"/>
          <a:chExt cx="0" cy="0"/>
        </a:xfrm>
      </p:grpSpPr>
      <p:sp>
        <p:nvSpPr>
          <p:cNvPr id="2" name="static:0:text"/>
          <p:cNvSpPr/>
          <p:nvPr/>
        </p:nvSpPr>
        <p:spPr>
          <a:xfrm>
            <a:off x="2727960" y="870109"/>
            <a:ext cx="2326362"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RELEASE GATES FOR AGENTS</a:t>
            </a:r>
            <a:endParaRPr lang="en-US" sz="960" dirty="0"/>
          </a:p>
        </p:txBody>
      </p:sp>
      <p:sp>
        <p:nvSpPr>
          <p:cNvPr id="3" name="static:1:text"/>
          <p:cNvSpPr/>
          <p:nvPr/>
        </p:nvSpPr>
        <p:spPr>
          <a:xfrm>
            <a:off x="975360" y="1068229"/>
            <a:ext cx="3226570"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What the gate checks</a:t>
            </a:r>
            <a:endParaRPr lang="en-US" sz="2640" dirty="0"/>
          </a:p>
        </p:txBody>
      </p:sp>
      <p:grpSp>
        <p:nvGrpSpPr>
          <p:cNvPr id="47" name="Reveal 1"/>
          <p:cNvGrpSpPr/>
          <p:nvPr/>
        </p:nvGrpSpPr>
        <p:grpSpPr>
          <a:xfrm>
            <a:off x="975360" y="1868329"/>
            <a:ext cx="2400300" cy="3791902"/>
            <a:chOff x="975360" y="1868329"/>
            <a:chExt cx="2400300" cy="3791902"/>
          </a:xfrm>
        </p:grpSpPr>
        <p:sp>
          <p:nvSpPr>
            <p:cNvPr id="4" name="reveal-1:2:shape"/>
            <p:cNvSpPr/>
            <p:nvPr/>
          </p:nvSpPr>
          <p:spPr>
            <a:xfrm>
              <a:off x="975360" y="1868329"/>
              <a:ext cx="2400300" cy="3791902"/>
            </a:xfrm>
            <a:prstGeom prst="roundRect">
              <a:avLst>
                <a:gd name="adj" fmla="val 5079"/>
              </a:avLst>
            </a:prstGeom>
            <a:solidFill>
              <a:srgbClr val="292929"/>
            </a:solidFill>
            <a:ln w="7620">
              <a:solidFill>
                <a:srgbClr val="474747"/>
              </a:solidFill>
              <a:prstDash val="solid"/>
            </a:ln>
          </p:spPr>
        </p:sp>
        <p:sp>
          <p:nvSpPr>
            <p:cNvPr id="5" name="reveal-1:2:shape:border-0"/>
            <p:cNvSpPr/>
            <p:nvPr/>
          </p:nvSpPr>
          <p:spPr>
            <a:xfrm>
              <a:off x="1066800" y="1883569"/>
              <a:ext cx="2217420" cy="0"/>
            </a:xfrm>
            <a:prstGeom prst="line">
              <a:avLst/>
            </a:prstGeom>
            <a:noFill/>
            <a:ln w="30480">
              <a:solidFill>
                <a:srgbClr val="4DA6FF"/>
              </a:solidFill>
              <a:prstDash val="solid"/>
              <a:headEnd type="none"/>
              <a:tailEnd type="none"/>
            </a:ln>
          </p:spPr>
        </p:sp>
        <p:sp>
          <p:nvSpPr>
            <p:cNvPr id="6" name="reveal-1:3:shape"/>
            <p:cNvSpPr/>
            <p:nvPr/>
          </p:nvSpPr>
          <p:spPr>
            <a:xfrm>
              <a:off x="1150620" y="2066449"/>
              <a:ext cx="411480" cy="411480"/>
            </a:xfrm>
            <a:prstGeom prst="roundRect">
              <a:avLst>
                <a:gd name="adj" fmla="val 25926"/>
              </a:avLst>
            </a:prstGeom>
            <a:solidFill>
              <a:srgbClr val="000000">
                <a:alpha val="0"/>
              </a:srgbClr>
            </a:solidFill>
            <a:ln w="15240">
              <a:solidFill>
                <a:srgbClr val="4DA6FF"/>
              </a:solidFill>
              <a:prstDash val="solid"/>
            </a:ln>
          </p:spPr>
        </p:sp>
        <p:sp>
          <p:nvSpPr>
            <p:cNvPr id="7" name="reveal-1:4:text"/>
            <p:cNvSpPr/>
            <p:nvPr/>
          </p:nvSpPr>
          <p:spPr>
            <a:xfrm>
              <a:off x="1319332" y="2176939"/>
              <a:ext cx="165378"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50620" y="2676049"/>
              <a:ext cx="1729859" cy="228600"/>
            </a:xfrm>
            <a:prstGeom prst="rect">
              <a:avLst/>
            </a:prstGeom>
            <a:noFill/>
            <a:ln/>
          </p:spPr>
          <p:txBody>
            <a:bodyPr wrap="none" lIns="0" tIns="0" rIns="0" bIns="0" rtlCol="0" anchor="ctr"/>
            <a:lstStyle/>
            <a:p>
              <a:pPr algn="l" indent="0" marL="0">
                <a:buNone/>
              </a:pPr>
              <a:r>
                <a:rPr lang="en-US" sz="1440" b="1" dirty="0">
                  <a:solidFill>
                    <a:srgbClr val="4DA6FF"/>
                  </a:solidFill>
                  <a:latin typeface="Arial" pitchFamily="34" charset="0"/>
                  <a:ea typeface="Arial" pitchFamily="34" charset="-122"/>
                  <a:cs typeface="Arial" pitchFamily="34" charset="-120"/>
                </a:rPr>
                <a:t>Facts in the prompt</a:t>
              </a:r>
              <a:endParaRPr lang="en-US" sz="1440" dirty="0"/>
            </a:p>
          </p:txBody>
        </p:sp>
        <p:sp>
          <p:nvSpPr>
            <p:cNvPr id="9" name="reveal-1:6:text"/>
            <p:cNvSpPr/>
            <p:nvPr/>
          </p:nvSpPr>
          <p:spPr>
            <a:xfrm>
              <a:off x="1150620" y="2983825"/>
              <a:ext cx="2104787"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Did the candidate copy amounts,</a:t>
              </a:r>
              <a:endParaRPr lang="en-US" sz="1080" dirty="0"/>
            </a:p>
          </p:txBody>
        </p:sp>
        <p:sp>
          <p:nvSpPr>
            <p:cNvPr id="10" name="reveal-1:7:text"/>
            <p:cNvSpPr/>
            <p:nvPr/>
          </p:nvSpPr>
          <p:spPr>
            <a:xfrm>
              <a:off x="1150620" y="3168968"/>
              <a:ext cx="1475303"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dates or names into its</a:t>
              </a:r>
              <a:endParaRPr lang="en-US" sz="1080" dirty="0"/>
            </a:p>
          </p:txBody>
        </p:sp>
        <p:sp>
          <p:nvSpPr>
            <p:cNvPr id="11" name="reveal-1:8:text"/>
            <p:cNvSpPr/>
            <p:nvPr/>
          </p:nvSpPr>
          <p:spPr>
            <a:xfrm>
              <a:off x="1150620" y="3354110"/>
              <a:ext cx="875705"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instructions?</a:t>
              </a:r>
              <a:endParaRPr lang="en-US" sz="1080" dirty="0"/>
            </a:p>
          </p:txBody>
        </p:sp>
        <p:sp>
          <p:nvSpPr>
            <p:cNvPr id="12" name="reveal-1:9:shape"/>
            <p:cNvSpPr/>
            <p:nvPr/>
          </p:nvSpPr>
          <p:spPr>
            <a:xfrm>
              <a:off x="1150620" y="3752612"/>
              <a:ext cx="20497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13" name="reveal-1:10:text"/>
            <p:cNvSpPr/>
            <p:nvPr/>
          </p:nvSpPr>
          <p:spPr>
            <a:xfrm>
              <a:off x="1257300" y="3836432"/>
              <a:ext cx="1538049"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Seconds. No LLM needed.</a:t>
              </a:r>
              <a:endParaRPr lang="en-US" sz="900" dirty="0"/>
            </a:p>
          </p:txBody>
        </p:sp>
      </p:grpSp>
      <p:grpSp>
        <p:nvGrpSpPr>
          <p:cNvPr id="48" name="Reveal 2"/>
          <p:cNvGrpSpPr/>
          <p:nvPr/>
        </p:nvGrpSpPr>
        <p:grpSpPr>
          <a:xfrm>
            <a:off x="3497580" y="1868329"/>
            <a:ext cx="2400300" cy="3791902"/>
            <a:chOff x="3497580" y="1868329"/>
            <a:chExt cx="2400300" cy="3791902"/>
          </a:xfrm>
        </p:grpSpPr>
        <p:sp>
          <p:nvSpPr>
            <p:cNvPr id="14" name="reveal-2:11:shape"/>
            <p:cNvSpPr/>
            <p:nvPr/>
          </p:nvSpPr>
          <p:spPr>
            <a:xfrm>
              <a:off x="3497580" y="1868329"/>
              <a:ext cx="2400300" cy="3791902"/>
            </a:xfrm>
            <a:prstGeom prst="roundRect">
              <a:avLst>
                <a:gd name="adj" fmla="val 5079"/>
              </a:avLst>
            </a:prstGeom>
            <a:solidFill>
              <a:srgbClr val="292929"/>
            </a:solidFill>
            <a:ln w="7620">
              <a:solidFill>
                <a:srgbClr val="474747"/>
              </a:solidFill>
              <a:prstDash val="solid"/>
            </a:ln>
          </p:spPr>
        </p:sp>
        <p:sp>
          <p:nvSpPr>
            <p:cNvPr id="15" name="reveal-2:11:shape:border-0"/>
            <p:cNvSpPr/>
            <p:nvPr/>
          </p:nvSpPr>
          <p:spPr>
            <a:xfrm>
              <a:off x="3589020" y="1883569"/>
              <a:ext cx="2217420" cy="0"/>
            </a:xfrm>
            <a:prstGeom prst="line">
              <a:avLst/>
            </a:prstGeom>
            <a:noFill/>
            <a:ln w="30480">
              <a:solidFill>
                <a:srgbClr val="4ADE80"/>
              </a:solidFill>
              <a:prstDash val="solid"/>
              <a:headEnd type="none"/>
              <a:tailEnd type="none"/>
            </a:ln>
          </p:spPr>
        </p:sp>
        <p:sp>
          <p:nvSpPr>
            <p:cNvPr id="16" name="reveal-2:12:shape"/>
            <p:cNvSpPr/>
            <p:nvPr/>
          </p:nvSpPr>
          <p:spPr>
            <a:xfrm>
              <a:off x="3672840" y="2066449"/>
              <a:ext cx="411480" cy="411480"/>
            </a:xfrm>
            <a:prstGeom prst="roundRect">
              <a:avLst>
                <a:gd name="adj" fmla="val 25926"/>
              </a:avLst>
            </a:prstGeom>
            <a:solidFill>
              <a:srgbClr val="000000">
                <a:alpha val="0"/>
              </a:srgbClr>
            </a:solidFill>
            <a:ln w="15240">
              <a:solidFill>
                <a:srgbClr val="4ADE80"/>
              </a:solidFill>
              <a:prstDash val="solid"/>
            </a:ln>
          </p:spPr>
        </p:sp>
        <p:sp>
          <p:nvSpPr>
            <p:cNvPr id="17" name="reveal-2:13:text"/>
            <p:cNvSpPr/>
            <p:nvPr/>
          </p:nvSpPr>
          <p:spPr>
            <a:xfrm>
              <a:off x="3832027" y="2176939"/>
              <a:ext cx="184547"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2</a:t>
              </a:r>
              <a:endParaRPr lang="en-US" sz="1200" dirty="0"/>
            </a:p>
          </p:txBody>
        </p:sp>
        <p:sp>
          <p:nvSpPr>
            <p:cNvPr id="18" name="reveal-2:14:text"/>
            <p:cNvSpPr/>
            <p:nvPr/>
          </p:nvSpPr>
          <p:spPr>
            <a:xfrm>
              <a:off x="3672840" y="2676049"/>
              <a:ext cx="1745099" cy="228600"/>
            </a:xfrm>
            <a:prstGeom prst="rect">
              <a:avLst/>
            </a:prstGeom>
            <a:noFill/>
            <a:ln/>
          </p:spPr>
          <p:txBody>
            <a:bodyPr wrap="none" lIns="0" tIns="0" rIns="0" bIns="0" rtlCol="0" anchor="ctr"/>
            <a:lstStyle/>
            <a:p>
              <a:pPr algn="l" indent="0" marL="0">
                <a:buNone/>
              </a:pPr>
              <a:r>
                <a:rPr lang="en-US" sz="1440" b="1" dirty="0">
                  <a:solidFill>
                    <a:srgbClr val="4ADE80"/>
                  </a:solidFill>
                  <a:latin typeface="Arial" pitchFamily="34" charset="0"/>
                  <a:ea typeface="Arial" pitchFamily="34" charset="-122"/>
                  <a:cs typeface="Arial" pitchFamily="34" charset="-120"/>
                </a:rPr>
                <a:t>Change vs baseline</a:t>
              </a:r>
              <a:endParaRPr lang="en-US" sz="1440" dirty="0"/>
            </a:p>
          </p:txBody>
        </p:sp>
        <p:sp>
          <p:nvSpPr>
            <p:cNvPr id="19" name="reveal-2:15:text"/>
            <p:cNvSpPr/>
            <p:nvPr/>
          </p:nvSpPr>
          <p:spPr>
            <a:xfrm>
              <a:off x="3672840" y="2983825"/>
              <a:ext cx="1875830"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Fail on a drop bigger than the</a:t>
              </a:r>
              <a:endParaRPr lang="en-US" sz="1080" dirty="0"/>
            </a:p>
          </p:txBody>
        </p:sp>
        <p:sp>
          <p:nvSpPr>
            <p:cNvPr id="20" name="reveal-2:16:text"/>
            <p:cNvSpPr/>
            <p:nvPr/>
          </p:nvSpPr>
          <p:spPr>
            <a:xfrm>
              <a:off x="3672840" y="3168968"/>
              <a:ext cx="2059781"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noise, not below a fixed number.</a:t>
              </a:r>
              <a:endParaRPr lang="en-US" sz="1080" dirty="0"/>
            </a:p>
          </p:txBody>
        </p:sp>
        <p:sp>
          <p:nvSpPr>
            <p:cNvPr id="21" name="reveal-2:17:shape"/>
            <p:cNvSpPr/>
            <p:nvPr/>
          </p:nvSpPr>
          <p:spPr>
            <a:xfrm>
              <a:off x="3672840" y="3567470"/>
              <a:ext cx="20497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22" name="reveal-2:18:text"/>
            <p:cNvSpPr/>
            <p:nvPr/>
          </p:nvSpPr>
          <p:spPr>
            <a:xfrm>
              <a:off x="3779520" y="3651290"/>
              <a:ext cx="177105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Foundry treats changes under</a:t>
              </a:r>
              <a:endParaRPr lang="en-US" sz="900" dirty="0"/>
            </a:p>
          </p:txBody>
        </p:sp>
        <p:sp>
          <p:nvSpPr>
            <p:cNvPr id="23" name="reveal-2:19:text"/>
            <p:cNvSpPr/>
            <p:nvPr/>
          </p:nvSpPr>
          <p:spPr>
            <a:xfrm>
              <a:off x="3779520" y="3799880"/>
              <a:ext cx="866775"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0.03 as noise.</a:t>
              </a:r>
              <a:endParaRPr lang="en-US" sz="900" dirty="0"/>
            </a:p>
          </p:txBody>
        </p:sp>
      </p:grpSp>
      <p:grpSp>
        <p:nvGrpSpPr>
          <p:cNvPr id="49" name="Reveal 3"/>
          <p:cNvGrpSpPr/>
          <p:nvPr/>
        </p:nvGrpSpPr>
        <p:grpSpPr>
          <a:xfrm>
            <a:off x="6019800" y="1868329"/>
            <a:ext cx="2400300" cy="3791902"/>
            <a:chOff x="6019800" y="1868329"/>
            <a:chExt cx="2400300" cy="3791902"/>
          </a:xfrm>
        </p:grpSpPr>
        <p:sp>
          <p:nvSpPr>
            <p:cNvPr id="24" name="reveal-3:20:shape"/>
            <p:cNvSpPr/>
            <p:nvPr/>
          </p:nvSpPr>
          <p:spPr>
            <a:xfrm>
              <a:off x="6019800" y="1868329"/>
              <a:ext cx="2400300" cy="3791902"/>
            </a:xfrm>
            <a:prstGeom prst="roundRect">
              <a:avLst>
                <a:gd name="adj" fmla="val 5079"/>
              </a:avLst>
            </a:prstGeom>
            <a:solidFill>
              <a:srgbClr val="292929"/>
            </a:solidFill>
            <a:ln w="7620">
              <a:solidFill>
                <a:srgbClr val="474747"/>
              </a:solidFill>
              <a:prstDash val="solid"/>
            </a:ln>
          </p:spPr>
        </p:sp>
        <p:sp>
          <p:nvSpPr>
            <p:cNvPr id="25" name="reveal-3:20:shape:border-0"/>
            <p:cNvSpPr/>
            <p:nvPr/>
          </p:nvSpPr>
          <p:spPr>
            <a:xfrm>
              <a:off x="6111240" y="1883569"/>
              <a:ext cx="2217420" cy="0"/>
            </a:xfrm>
            <a:prstGeom prst="line">
              <a:avLst/>
            </a:prstGeom>
            <a:noFill/>
            <a:ln w="30480">
              <a:solidFill>
                <a:srgbClr val="FBBF24"/>
              </a:solidFill>
              <a:prstDash val="solid"/>
              <a:headEnd type="none"/>
              <a:tailEnd type="none"/>
            </a:ln>
          </p:spPr>
        </p:sp>
        <p:sp>
          <p:nvSpPr>
            <p:cNvPr id="26" name="reveal-3:21:shape"/>
            <p:cNvSpPr/>
            <p:nvPr/>
          </p:nvSpPr>
          <p:spPr>
            <a:xfrm>
              <a:off x="6195060" y="2066449"/>
              <a:ext cx="411480" cy="411480"/>
            </a:xfrm>
            <a:prstGeom prst="roundRect">
              <a:avLst>
                <a:gd name="adj" fmla="val 25926"/>
              </a:avLst>
            </a:prstGeom>
            <a:solidFill>
              <a:srgbClr val="000000">
                <a:alpha val="0"/>
              </a:srgbClr>
            </a:solidFill>
            <a:ln w="15240">
              <a:solidFill>
                <a:srgbClr val="FBBF24"/>
              </a:solidFill>
              <a:prstDash val="solid"/>
            </a:ln>
          </p:spPr>
        </p:sp>
        <p:sp>
          <p:nvSpPr>
            <p:cNvPr id="27" name="reveal-3:22:text"/>
            <p:cNvSpPr/>
            <p:nvPr/>
          </p:nvSpPr>
          <p:spPr>
            <a:xfrm>
              <a:off x="6352103" y="2176939"/>
              <a:ext cx="188714"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3</a:t>
              </a:r>
              <a:endParaRPr lang="en-US" sz="1200" dirty="0"/>
            </a:p>
          </p:txBody>
        </p:sp>
        <p:sp>
          <p:nvSpPr>
            <p:cNvPr id="28" name="reveal-3:23:text"/>
            <p:cNvSpPr/>
            <p:nvPr/>
          </p:nvSpPr>
          <p:spPr>
            <a:xfrm>
              <a:off x="6195060" y="2676049"/>
              <a:ext cx="1547098" cy="228600"/>
            </a:xfrm>
            <a:prstGeom prst="rect">
              <a:avLst/>
            </a:prstGeom>
            <a:noFill/>
            <a:ln/>
          </p:spPr>
          <p:txBody>
            <a:bodyPr wrap="none" lIns="0" tIns="0" rIns="0" bIns="0" rtlCol="0" anchor="ctr"/>
            <a:lstStyle/>
            <a:p>
              <a:pPr algn="l" indent="0" marL="0">
                <a:buNone/>
              </a:pPr>
              <a:r>
                <a:rPr lang="en-US" sz="1440" b="1" dirty="0">
                  <a:solidFill>
                    <a:srgbClr val="FBBF24"/>
                  </a:solidFill>
                  <a:latin typeface="Arial" pitchFamily="34" charset="0"/>
                  <a:ea typeface="Arial" pitchFamily="34" charset="-122"/>
                  <a:cs typeface="Arial" pitchFamily="34" charset="-120"/>
                </a:rPr>
                <a:t>Must-pass cases</a:t>
              </a:r>
              <a:endParaRPr lang="en-US" sz="1440" dirty="0"/>
            </a:p>
          </p:txBody>
        </p:sp>
        <p:sp>
          <p:nvSpPr>
            <p:cNvPr id="29" name="reveal-3:24:text"/>
            <p:cNvSpPr/>
            <p:nvPr/>
          </p:nvSpPr>
          <p:spPr>
            <a:xfrm>
              <a:off x="6195060" y="2983825"/>
              <a:ext cx="1969532"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Wrong approver, or obeying an</a:t>
              </a:r>
              <a:endParaRPr lang="en-US" sz="1080" dirty="0"/>
            </a:p>
          </p:txBody>
        </p:sp>
        <p:sp>
          <p:nvSpPr>
            <p:cNvPr id="30" name="reveal-3:25:text"/>
            <p:cNvSpPr/>
            <p:nvPr/>
          </p:nvSpPr>
          <p:spPr>
            <a:xfrm>
              <a:off x="6195060" y="3168968"/>
              <a:ext cx="1592818"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email, blocks the release</a:t>
              </a:r>
              <a:endParaRPr lang="en-US" sz="1080" dirty="0"/>
            </a:p>
          </p:txBody>
        </p:sp>
        <p:sp>
          <p:nvSpPr>
            <p:cNvPr id="31" name="reveal-3:26:text"/>
            <p:cNvSpPr/>
            <p:nvPr/>
          </p:nvSpPr>
          <p:spPr>
            <a:xfrm>
              <a:off x="6195060" y="3354110"/>
              <a:ext cx="1442918"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whatever the average.</a:t>
              </a:r>
              <a:endParaRPr lang="en-US" sz="1080" dirty="0"/>
            </a:p>
          </p:txBody>
        </p:sp>
        <p:sp>
          <p:nvSpPr>
            <p:cNvPr id="32" name="reveal-3:27:shape"/>
            <p:cNvSpPr/>
            <p:nvPr/>
          </p:nvSpPr>
          <p:spPr>
            <a:xfrm>
              <a:off x="6195060" y="3752612"/>
              <a:ext cx="20497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33" name="reveal-3:28:text"/>
            <p:cNvSpPr/>
            <p:nvPr/>
          </p:nvSpPr>
          <p:spPr>
            <a:xfrm>
              <a:off x="6301740" y="3836432"/>
              <a:ext cx="1789033"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Averages hide the failures that</a:t>
              </a:r>
              <a:endParaRPr lang="en-US" sz="900" dirty="0"/>
            </a:p>
          </p:txBody>
        </p:sp>
        <p:sp>
          <p:nvSpPr>
            <p:cNvPr id="34" name="reveal-3:29:text"/>
            <p:cNvSpPr/>
            <p:nvPr/>
          </p:nvSpPr>
          <p:spPr>
            <a:xfrm>
              <a:off x="6301740" y="3985022"/>
              <a:ext cx="495776"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matter.</a:t>
              </a:r>
              <a:endParaRPr lang="en-US" sz="900" dirty="0"/>
            </a:p>
          </p:txBody>
        </p:sp>
      </p:grpSp>
      <p:grpSp>
        <p:nvGrpSpPr>
          <p:cNvPr id="50" name="Reveal 4"/>
          <p:cNvGrpSpPr/>
          <p:nvPr/>
        </p:nvGrpSpPr>
        <p:grpSpPr>
          <a:xfrm>
            <a:off x="8542020" y="1868329"/>
            <a:ext cx="2400300" cy="3791902"/>
            <a:chOff x="8542020" y="1868329"/>
            <a:chExt cx="2400300" cy="3791902"/>
          </a:xfrm>
        </p:grpSpPr>
        <p:sp>
          <p:nvSpPr>
            <p:cNvPr id="35" name="reveal-4:30:shape"/>
            <p:cNvSpPr/>
            <p:nvPr/>
          </p:nvSpPr>
          <p:spPr>
            <a:xfrm>
              <a:off x="8542020" y="1868329"/>
              <a:ext cx="2400300" cy="3791902"/>
            </a:xfrm>
            <a:prstGeom prst="roundRect">
              <a:avLst>
                <a:gd name="adj" fmla="val 5079"/>
              </a:avLst>
            </a:prstGeom>
            <a:solidFill>
              <a:srgbClr val="292929"/>
            </a:solidFill>
            <a:ln w="7620">
              <a:solidFill>
                <a:srgbClr val="474747"/>
              </a:solidFill>
              <a:prstDash val="solid"/>
            </a:ln>
          </p:spPr>
        </p:sp>
        <p:sp>
          <p:nvSpPr>
            <p:cNvPr id="36" name="reveal-4:30:shape:border-0"/>
            <p:cNvSpPr/>
            <p:nvPr/>
          </p:nvSpPr>
          <p:spPr>
            <a:xfrm>
              <a:off x="8633460" y="1883569"/>
              <a:ext cx="2217420" cy="0"/>
            </a:xfrm>
            <a:prstGeom prst="line">
              <a:avLst/>
            </a:prstGeom>
            <a:noFill/>
            <a:ln w="30480">
              <a:solidFill>
                <a:srgbClr val="B88CFF"/>
              </a:solidFill>
              <a:prstDash val="solid"/>
              <a:headEnd type="none"/>
              <a:tailEnd type="none"/>
            </a:ln>
          </p:spPr>
        </p:sp>
        <p:sp>
          <p:nvSpPr>
            <p:cNvPr id="37" name="reveal-4:31:shape"/>
            <p:cNvSpPr/>
            <p:nvPr/>
          </p:nvSpPr>
          <p:spPr>
            <a:xfrm>
              <a:off x="8717280" y="2066449"/>
              <a:ext cx="411480" cy="411480"/>
            </a:xfrm>
            <a:prstGeom prst="roundRect">
              <a:avLst>
                <a:gd name="adj" fmla="val 25926"/>
              </a:avLst>
            </a:prstGeom>
            <a:solidFill>
              <a:srgbClr val="000000">
                <a:alpha val="0"/>
              </a:srgbClr>
            </a:solidFill>
            <a:ln w="15240">
              <a:solidFill>
                <a:srgbClr val="B88CFF"/>
              </a:solidFill>
              <a:prstDash val="solid"/>
            </a:ln>
          </p:spPr>
        </p:sp>
        <p:sp>
          <p:nvSpPr>
            <p:cNvPr id="38" name="reveal-4:32:text"/>
            <p:cNvSpPr/>
            <p:nvPr/>
          </p:nvSpPr>
          <p:spPr>
            <a:xfrm>
              <a:off x="8872895" y="2176939"/>
              <a:ext cx="191572" cy="190500"/>
            </a:xfrm>
            <a:prstGeom prst="rect">
              <a:avLst/>
            </a:prstGeom>
            <a:noFill/>
            <a:ln/>
          </p:spPr>
          <p:txBody>
            <a:bodyPr wrap="none" lIns="0" tIns="0" rIns="0" bIns="0" rtlCol="0" anchor="ctr"/>
            <a:lstStyle/>
            <a:p>
              <a:pPr algn="l" indent="0" marL="0">
                <a:buNone/>
              </a:pPr>
              <a:r>
                <a:rPr lang="en-US" sz="1200" b="1" spc="-24" kern="0" dirty="0">
                  <a:solidFill>
                    <a:srgbClr val="B88CFF"/>
                  </a:solidFill>
                  <a:latin typeface="Arial" pitchFamily="34" charset="0"/>
                  <a:ea typeface="Arial" pitchFamily="34" charset="-122"/>
                  <a:cs typeface="Arial" pitchFamily="34" charset="-120"/>
                </a:rPr>
                <a:t>4</a:t>
              </a:r>
              <a:endParaRPr lang="en-US" sz="1200" dirty="0"/>
            </a:p>
          </p:txBody>
        </p:sp>
        <p:sp>
          <p:nvSpPr>
            <p:cNvPr id="39" name="reveal-4:33:text"/>
            <p:cNvSpPr/>
            <p:nvPr/>
          </p:nvSpPr>
          <p:spPr>
            <a:xfrm>
              <a:off x="8717280" y="2676049"/>
              <a:ext cx="1046440" cy="228600"/>
            </a:xfrm>
            <a:prstGeom prst="rect">
              <a:avLst/>
            </a:prstGeom>
            <a:noFill/>
            <a:ln/>
          </p:spPr>
          <p:txBody>
            <a:bodyPr wrap="none" lIns="0" tIns="0" rIns="0" bIns="0" rtlCol="0" anchor="ctr"/>
            <a:lstStyle/>
            <a:p>
              <a:pPr algn="l" indent="0" marL="0">
                <a:buNone/>
              </a:pPr>
              <a:r>
                <a:rPr lang="en-US" sz="1440" b="1" dirty="0">
                  <a:solidFill>
                    <a:srgbClr val="B88CFF"/>
                  </a:solidFill>
                  <a:latin typeface="Arial" pitchFamily="34" charset="0"/>
                  <a:ea typeface="Arial" pitchFamily="34" charset="-122"/>
                  <a:cs typeface="Arial" pitchFamily="34" charset="-120"/>
                </a:rPr>
                <a:t>Like for like</a:t>
              </a:r>
              <a:endParaRPr lang="en-US" sz="1440" dirty="0"/>
            </a:p>
          </p:txBody>
        </p:sp>
        <p:sp>
          <p:nvSpPr>
            <p:cNvPr id="40" name="reveal-4:34:text"/>
            <p:cNvSpPr/>
            <p:nvPr/>
          </p:nvSpPr>
          <p:spPr>
            <a:xfrm>
              <a:off x="8717280" y="2983825"/>
              <a:ext cx="1846421"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Same questions, same judge</a:t>
              </a:r>
              <a:endParaRPr lang="en-US" sz="1080" dirty="0"/>
            </a:p>
          </p:txBody>
        </p:sp>
        <p:sp>
          <p:nvSpPr>
            <p:cNvPr id="41" name="reveal-4:35:text"/>
            <p:cNvSpPr/>
            <p:nvPr/>
          </p:nvSpPr>
          <p:spPr>
            <a:xfrm>
              <a:off x="8717280" y="3168968"/>
              <a:ext cx="1519595" cy="175260"/>
            </a:xfrm>
            <a:prstGeom prst="rect">
              <a:avLst/>
            </a:prstGeom>
            <a:noFill/>
            <a:ln/>
          </p:spPr>
          <p:txBody>
            <a:bodyPr wrap="none" lIns="0" tIns="0" rIns="0" bIns="0" rtlCol="0" anchor="ctr"/>
            <a:lstStyle/>
            <a:p>
              <a:pPr algn="l" indent="0" marL="0">
                <a:buNone/>
              </a:pPr>
              <a:r>
                <a:rPr lang="en-US" sz="1080" dirty="0">
                  <a:solidFill>
                    <a:srgbClr val="B0B0B0"/>
                  </a:solidFill>
                  <a:latin typeface="Arial" pitchFamily="34" charset="0"/>
                  <a:ea typeface="Arial" pitchFamily="34" charset="-122"/>
                  <a:cs typeface="Arial" pitchFamily="34" charset="-120"/>
                </a:rPr>
                <a:t>version as the baseline.</a:t>
              </a:r>
              <a:endParaRPr lang="en-US" sz="1080" dirty="0"/>
            </a:p>
          </p:txBody>
        </p:sp>
        <p:sp>
          <p:nvSpPr>
            <p:cNvPr id="42" name="reveal-4:36:shape"/>
            <p:cNvSpPr/>
            <p:nvPr/>
          </p:nvSpPr>
          <p:spPr>
            <a:xfrm>
              <a:off x="8717280" y="3567470"/>
              <a:ext cx="2049780" cy="548640"/>
            </a:xfrm>
            <a:prstGeom prst="roundRect">
              <a:avLst>
                <a:gd name="adj" fmla="val 13889"/>
              </a:avLst>
            </a:prstGeom>
            <a:solidFill>
              <a:srgbClr val="FFFFFF">
                <a:alpha val="3000"/>
              </a:srgbClr>
            </a:solidFill>
            <a:ln w="12700">
              <a:solidFill>
                <a:srgbClr val="333333">
                  <a:alpha val="0"/>
                </a:srgbClr>
              </a:solidFill>
              <a:prstDash val="solid"/>
            </a:ln>
          </p:spPr>
        </p:sp>
        <p:sp>
          <p:nvSpPr>
            <p:cNvPr id="43" name="reveal-4:37:text"/>
            <p:cNvSpPr/>
            <p:nvPr/>
          </p:nvSpPr>
          <p:spPr>
            <a:xfrm>
              <a:off x="8823960" y="3651290"/>
              <a:ext cx="1719024"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CI refuses to compare scores</a:t>
              </a:r>
              <a:endParaRPr lang="en-US" sz="900" dirty="0"/>
            </a:p>
          </p:txBody>
        </p:sp>
        <p:sp>
          <p:nvSpPr>
            <p:cNvPr id="44" name="reveal-4:38:text"/>
            <p:cNvSpPr/>
            <p:nvPr/>
          </p:nvSpPr>
          <p:spPr>
            <a:xfrm>
              <a:off x="8823960" y="3799880"/>
              <a:ext cx="1045250" cy="152400"/>
            </a:xfrm>
            <a:prstGeom prst="rect">
              <a:avLst/>
            </a:prstGeom>
            <a:noFill/>
            <a:ln/>
          </p:spPr>
          <p:txBody>
            <a:bodyPr wrap="none" lIns="0" tIns="0" rIns="0" bIns="0" rtlCol="0" anchor="ctr"/>
            <a:lstStyle/>
            <a:p>
              <a:pPr algn="l" indent="0" marL="0">
                <a:buNone/>
              </a:pPr>
              <a:r>
                <a:rPr lang="en-US" sz="900" b="1" dirty="0">
                  <a:solidFill>
                    <a:srgbClr val="DEDEDE"/>
                  </a:solidFill>
                  <a:latin typeface="Arial" pitchFamily="34" charset="0"/>
                  <a:ea typeface="Arial" pitchFamily="34" charset="-122"/>
                  <a:cs typeface="Arial" pitchFamily="34" charset="-120"/>
                </a:rPr>
                <a:t>made differently.</a:t>
              </a:r>
              <a:endParaRPr lang="en-US" sz="900" dirty="0"/>
            </a:p>
          </p:txBody>
        </p:sp>
      </p:grpSp>
      <p:sp>
        <p:nvSpPr>
          <p:cNvPr id="45" name="static:39: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46" name="static:40:text"/>
          <p:cNvSpPr/>
          <p:nvPr/>
        </p:nvSpPr>
        <p:spPr>
          <a:xfrm>
            <a:off x="10459403" y="6461760"/>
            <a:ext cx="1214438"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15</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Demo 6 - Sample CI/CD Pipelines">
    <p:spTree>
      <p:nvGrpSpPr>
        <p:cNvPr id="1" name=""/>
        <p:cNvGrpSpPr/>
        <p:nvPr/>
      </p:nvGrpSpPr>
      <p:grpSpPr>
        <a:xfrm>
          <a:off x="0" y="0"/>
          <a:ext cx="0" cy="0"/>
          <a:chOff x="0" y="0"/>
          <a:chExt cx="0" cy="0"/>
        </a:xfrm>
      </p:grpSpPr>
      <p:sp>
        <p:nvSpPr>
          <p:cNvPr id="2" name="static:0:text"/>
          <p:cNvSpPr/>
          <p:nvPr/>
        </p:nvSpPr>
        <p:spPr>
          <a:xfrm>
            <a:off x="975360" y="2482453"/>
            <a:ext cx="814626" cy="190500"/>
          </a:xfrm>
          <a:prstGeom prst="rect">
            <a:avLst/>
          </a:prstGeom>
          <a:noFill/>
          <a:ln/>
        </p:spPr>
        <p:txBody>
          <a:bodyPr wrap="none" lIns="0" tIns="0" rIns="0" bIns="0" rtlCol="0" anchor="ctr"/>
          <a:lstStyle/>
          <a:p>
            <a:pPr algn="l" indent="0" marL="0">
              <a:buNone/>
            </a:pPr>
            <a:r>
              <a:rPr lang="en-US" sz="1200" b="1" spc="180" kern="0" dirty="0">
                <a:solidFill>
                  <a:srgbClr val="4DA6FF"/>
                </a:solidFill>
                <a:latin typeface="Arial" pitchFamily="34" charset="0"/>
                <a:ea typeface="Arial" pitchFamily="34" charset="-122"/>
                <a:cs typeface="Arial" pitchFamily="34" charset="-120"/>
              </a:rPr>
              <a:t>DEMO 6</a:t>
            </a:r>
            <a:endParaRPr lang="en-US" sz="1200" dirty="0"/>
          </a:p>
        </p:txBody>
      </p:sp>
      <p:sp>
        <p:nvSpPr>
          <p:cNvPr id="3" name="static:1:text"/>
          <p:cNvSpPr/>
          <p:nvPr/>
        </p:nvSpPr>
        <p:spPr>
          <a:xfrm>
            <a:off x="975360" y="2779633"/>
            <a:ext cx="5307401"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Sample CI/CD Pipelines</a:t>
            </a:r>
            <a:endParaRPr lang="en-US" sz="4080" dirty="0"/>
          </a:p>
        </p:txBody>
      </p:sp>
      <p:sp>
        <p:nvSpPr>
          <p:cNvPr id="4" name="static:2:text"/>
          <p:cNvSpPr/>
          <p:nvPr/>
        </p:nvSpPr>
        <p:spPr>
          <a:xfrm>
            <a:off x="975360" y="3526393"/>
            <a:ext cx="2268855"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PR checks, release gates</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57736" y="6461760"/>
            <a:ext cx="1216104"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From test cases to production">
    <p:spTree>
      <p:nvGrpSpPr>
        <p:cNvPr id="1" name=""/>
        <p:cNvGrpSpPr/>
        <p:nvPr/>
      </p:nvGrpSpPr>
      <p:grpSpPr>
        <a:xfrm>
          <a:off x="0" y="0"/>
          <a:ext cx="0" cy="0"/>
          <a:chOff x="0" y="0"/>
          <a:chExt cx="0" cy="0"/>
        </a:xfrm>
      </p:grpSpPr>
      <p:sp>
        <p:nvSpPr>
          <p:cNvPr id="2" name="static:0:text"/>
          <p:cNvSpPr/>
          <p:nvPr/>
        </p:nvSpPr>
        <p:spPr>
          <a:xfrm>
            <a:off x="2727960" y="870109"/>
            <a:ext cx="2821900"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THE COMPLETE DELIVERY PROCESS</a:t>
            </a:r>
            <a:endParaRPr lang="en-US" sz="960" dirty="0"/>
          </a:p>
        </p:txBody>
      </p:sp>
      <p:sp>
        <p:nvSpPr>
          <p:cNvPr id="3" name="static:1:text"/>
          <p:cNvSpPr/>
          <p:nvPr/>
        </p:nvSpPr>
        <p:spPr>
          <a:xfrm>
            <a:off x="975360" y="1068229"/>
            <a:ext cx="4356473"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From test cases to production</a:t>
            </a:r>
            <a:endParaRPr lang="en-US" sz="2640" dirty="0"/>
          </a:p>
        </p:txBody>
      </p:sp>
      <p:sp>
        <p:nvSpPr>
          <p:cNvPr id="4" name="static:2:shape"/>
          <p:cNvSpPr/>
          <p:nvPr/>
        </p:nvSpPr>
        <p:spPr>
          <a:xfrm>
            <a:off x="975360" y="1768316"/>
            <a:ext cx="2574608" cy="3002280"/>
          </a:xfrm>
          <a:prstGeom prst="roundRect">
            <a:avLst>
              <a:gd name="adj" fmla="val 4735"/>
            </a:avLst>
          </a:prstGeom>
          <a:solidFill>
            <a:srgbClr val="292929"/>
          </a:solidFill>
          <a:ln w="7620">
            <a:solidFill>
              <a:srgbClr val="474747"/>
            </a:solidFill>
            <a:prstDash val="solid"/>
          </a:ln>
        </p:spPr>
      </p:sp>
      <p:sp>
        <p:nvSpPr>
          <p:cNvPr id="5" name="static:3:text"/>
          <p:cNvSpPr/>
          <p:nvPr/>
        </p:nvSpPr>
        <p:spPr>
          <a:xfrm>
            <a:off x="1135380" y="1920716"/>
            <a:ext cx="1308735" cy="137160"/>
          </a:xfrm>
          <a:prstGeom prst="rect">
            <a:avLst/>
          </a:prstGeom>
          <a:noFill/>
          <a:ln/>
        </p:spPr>
        <p:txBody>
          <a:bodyPr wrap="none" lIns="0" tIns="0" rIns="0" bIns="0" rtlCol="0" anchor="ctr"/>
          <a:lstStyle/>
          <a:p>
            <a:pPr algn="l" indent="0" marL="0">
              <a:buNone/>
            </a:pPr>
            <a:r>
              <a:rPr lang="en-US" sz="780" b="1" spc="62" kern="0" dirty="0">
                <a:solidFill>
                  <a:srgbClr val="4DA6FF"/>
                </a:solidFill>
                <a:latin typeface="Arial" pitchFamily="34" charset="0"/>
                <a:ea typeface="Arial" pitchFamily="34" charset="-122"/>
                <a:cs typeface="Arial" pitchFamily="34" charset="-120"/>
              </a:rPr>
              <a:t>BUILD / PRE-LAUNCH</a:t>
            </a:r>
            <a:endParaRPr lang="en-US" sz="780" dirty="0"/>
          </a:p>
        </p:txBody>
      </p:sp>
      <p:sp>
        <p:nvSpPr>
          <p:cNvPr id="6" name="static:4:text"/>
          <p:cNvSpPr/>
          <p:nvPr/>
        </p:nvSpPr>
        <p:spPr>
          <a:xfrm>
            <a:off x="1135380" y="2149316"/>
            <a:ext cx="1154668"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Simulation</a:t>
            </a:r>
            <a:endParaRPr lang="en-US" sz="1680" dirty="0"/>
          </a:p>
        </p:txBody>
      </p:sp>
      <p:sp>
        <p:nvSpPr>
          <p:cNvPr id="7" name="static:5:text"/>
          <p:cNvSpPr/>
          <p:nvPr/>
        </p:nvSpPr>
        <p:spPr>
          <a:xfrm>
            <a:off x="1135380" y="2528768"/>
            <a:ext cx="196798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Explore behaviour before real</a:t>
            </a:r>
            <a:endParaRPr lang="en-US" sz="1140" dirty="0"/>
          </a:p>
        </p:txBody>
      </p:sp>
      <p:sp>
        <p:nvSpPr>
          <p:cNvPr id="8" name="static:6:text"/>
          <p:cNvSpPr/>
          <p:nvPr/>
        </p:nvSpPr>
        <p:spPr>
          <a:xfrm>
            <a:off x="1135380" y="2724150"/>
            <a:ext cx="878443"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users arrive.</a:t>
            </a:r>
            <a:endParaRPr lang="en-US" sz="1140" dirty="0"/>
          </a:p>
        </p:txBody>
      </p:sp>
      <p:sp>
        <p:nvSpPr>
          <p:cNvPr id="9" name="static:7:shape"/>
          <p:cNvSpPr/>
          <p:nvPr/>
        </p:nvSpPr>
        <p:spPr>
          <a:xfrm>
            <a:off x="1135380" y="3653195"/>
            <a:ext cx="2254568" cy="957382"/>
          </a:xfrm>
          <a:prstGeom prst="roundRect">
            <a:avLst>
              <a:gd name="adj" fmla="val 7959"/>
            </a:avLst>
          </a:prstGeom>
          <a:solidFill>
            <a:srgbClr val="2E2E2E"/>
          </a:solidFill>
          <a:ln w="7620">
            <a:solidFill>
              <a:srgbClr val="474747"/>
            </a:solidFill>
            <a:prstDash val="solid"/>
          </a:ln>
        </p:spPr>
      </p:sp>
      <p:sp>
        <p:nvSpPr>
          <p:cNvPr id="10" name="static:8:text"/>
          <p:cNvSpPr/>
          <p:nvPr/>
        </p:nvSpPr>
        <p:spPr>
          <a:xfrm>
            <a:off x="1280160" y="3790355"/>
            <a:ext cx="1416844" cy="213360"/>
          </a:xfrm>
          <a:prstGeom prst="rect">
            <a:avLst/>
          </a:prstGeom>
          <a:noFill/>
          <a:ln/>
        </p:spPr>
        <p:txBody>
          <a:bodyPr wrap="none" lIns="0" tIns="0" rIns="0" bIns="0" rtlCol="0" anchor="ctr"/>
          <a:lstStyle/>
          <a:p>
            <a:pPr algn="l" indent="0" marL="0">
              <a:buNone/>
            </a:pPr>
            <a:r>
              <a:rPr lang="en-US" sz="1320" b="1" dirty="0">
                <a:solidFill>
                  <a:srgbClr val="4DA6FF"/>
                </a:solidFill>
                <a:latin typeface="Arial" pitchFamily="34" charset="0"/>
                <a:ea typeface="Arial" pitchFamily="34" charset="-122"/>
                <a:cs typeface="Arial" pitchFamily="34" charset="-120"/>
              </a:rPr>
              <a:t>Holdout and drift</a:t>
            </a:r>
            <a:endParaRPr lang="en-US" sz="1320" dirty="0"/>
          </a:p>
        </p:txBody>
      </p:sp>
      <p:sp>
        <p:nvSpPr>
          <p:cNvPr id="11" name="static:9:text"/>
          <p:cNvSpPr/>
          <p:nvPr/>
        </p:nvSpPr>
        <p:spPr>
          <a:xfrm>
            <a:off x="1280160" y="3988475"/>
            <a:ext cx="775097" cy="213360"/>
          </a:xfrm>
          <a:prstGeom prst="rect">
            <a:avLst/>
          </a:prstGeom>
          <a:noFill/>
          <a:ln/>
        </p:spPr>
        <p:txBody>
          <a:bodyPr wrap="none" lIns="0" tIns="0" rIns="0" bIns="0" rtlCol="0" anchor="ctr"/>
          <a:lstStyle/>
          <a:p>
            <a:pPr algn="l" indent="0" marL="0">
              <a:buNone/>
            </a:pPr>
            <a:r>
              <a:rPr lang="en-US" sz="1320" b="1" dirty="0">
                <a:solidFill>
                  <a:srgbClr val="4DA6FF"/>
                </a:solidFill>
                <a:latin typeface="Arial" pitchFamily="34" charset="0"/>
                <a:ea typeface="Arial" pitchFamily="34" charset="-122"/>
                <a:cs typeface="Arial" pitchFamily="34" charset="-120"/>
              </a:rPr>
              <a:t>datasets</a:t>
            </a:r>
            <a:endParaRPr lang="en-US" sz="1320" dirty="0"/>
          </a:p>
        </p:txBody>
      </p:sp>
      <p:sp>
        <p:nvSpPr>
          <p:cNvPr id="12" name="static:10:text"/>
          <p:cNvSpPr/>
          <p:nvPr/>
        </p:nvSpPr>
        <p:spPr>
          <a:xfrm>
            <a:off x="1280160" y="4270415"/>
            <a:ext cx="1645920"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Help prevent overfitting.</a:t>
            </a:r>
            <a:endParaRPr lang="en-US" sz="1140" dirty="0"/>
          </a:p>
        </p:txBody>
      </p:sp>
      <p:sp>
        <p:nvSpPr>
          <p:cNvPr id="13" name="static:11:arrow"/>
          <p:cNvSpPr/>
          <p:nvPr/>
        </p:nvSpPr>
        <p:spPr>
          <a:xfrm>
            <a:off x="3603308" y="3376136"/>
            <a:ext cx="160020" cy="0"/>
          </a:xfrm>
          <a:prstGeom prst="line">
            <a:avLst/>
          </a:prstGeom>
          <a:noFill/>
          <a:ln w="15240">
            <a:solidFill>
              <a:srgbClr val="B0B0B0"/>
            </a:solidFill>
            <a:prstDash val="solid"/>
            <a:headEnd type="none"/>
            <a:tailEnd type="triangle"/>
          </a:ln>
        </p:spPr>
      </p:sp>
      <p:sp>
        <p:nvSpPr>
          <p:cNvPr id="14" name="static:12:shape"/>
          <p:cNvSpPr/>
          <p:nvPr/>
        </p:nvSpPr>
        <p:spPr>
          <a:xfrm>
            <a:off x="3824288" y="1768316"/>
            <a:ext cx="4543425" cy="3002280"/>
          </a:xfrm>
          <a:prstGeom prst="roundRect">
            <a:avLst>
              <a:gd name="adj" fmla="val 4061"/>
            </a:avLst>
          </a:prstGeom>
          <a:solidFill>
            <a:srgbClr val="292929"/>
          </a:solidFill>
          <a:ln w="7620">
            <a:solidFill>
              <a:srgbClr val="474747"/>
            </a:solidFill>
            <a:prstDash val="solid"/>
          </a:ln>
        </p:spPr>
      </p:sp>
      <p:sp>
        <p:nvSpPr>
          <p:cNvPr id="15" name="static:13:text"/>
          <p:cNvSpPr/>
          <p:nvPr/>
        </p:nvSpPr>
        <p:spPr>
          <a:xfrm>
            <a:off x="3984308" y="1920716"/>
            <a:ext cx="1386483" cy="137160"/>
          </a:xfrm>
          <a:prstGeom prst="rect">
            <a:avLst/>
          </a:prstGeom>
          <a:noFill/>
          <a:ln/>
        </p:spPr>
        <p:txBody>
          <a:bodyPr wrap="none" lIns="0" tIns="0" rIns="0" bIns="0" rtlCol="0" anchor="ctr"/>
          <a:lstStyle/>
          <a:p>
            <a:pPr algn="l" indent="0" marL="0">
              <a:buNone/>
            </a:pPr>
            <a:r>
              <a:rPr lang="en-US" sz="780" b="1" spc="62" kern="0" dirty="0">
                <a:solidFill>
                  <a:srgbClr val="4ADE80"/>
                </a:solidFill>
                <a:latin typeface="Arial" pitchFamily="34" charset="0"/>
                <a:ea typeface="Arial" pitchFamily="34" charset="-122"/>
                <a:cs typeface="Arial" pitchFamily="34" charset="-120"/>
              </a:rPr>
              <a:t>PATH TO PRODUCTION</a:t>
            </a:r>
            <a:endParaRPr lang="en-US" sz="780" dirty="0"/>
          </a:p>
        </p:txBody>
      </p:sp>
      <p:sp>
        <p:nvSpPr>
          <p:cNvPr id="16" name="static:14:shape"/>
          <p:cNvSpPr/>
          <p:nvPr/>
        </p:nvSpPr>
        <p:spPr>
          <a:xfrm>
            <a:off x="3984308" y="2172176"/>
            <a:ext cx="4223385" cy="426720"/>
          </a:xfrm>
          <a:prstGeom prst="roundRect">
            <a:avLst>
              <a:gd name="adj" fmla="val 14286"/>
            </a:avLst>
          </a:prstGeom>
          <a:solidFill>
            <a:srgbClr val="2E2E2E"/>
          </a:solidFill>
          <a:ln w="12700">
            <a:solidFill>
              <a:srgbClr val="333333">
                <a:alpha val="0"/>
              </a:srgbClr>
            </a:solidFill>
            <a:prstDash val="solid"/>
          </a:ln>
        </p:spPr>
      </p:sp>
      <p:sp>
        <p:nvSpPr>
          <p:cNvPr id="17" name="static:15:text"/>
          <p:cNvSpPr/>
          <p:nvPr/>
        </p:nvSpPr>
        <p:spPr>
          <a:xfrm>
            <a:off x="4075748" y="2286476"/>
            <a:ext cx="167164"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1</a:t>
            </a:r>
            <a:endParaRPr lang="en-US" sz="1200" dirty="0"/>
          </a:p>
        </p:txBody>
      </p:sp>
      <p:sp>
        <p:nvSpPr>
          <p:cNvPr id="18" name="static:16:text"/>
          <p:cNvSpPr/>
          <p:nvPr/>
        </p:nvSpPr>
        <p:spPr>
          <a:xfrm>
            <a:off x="4380548" y="2291001"/>
            <a:ext cx="1715095"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Pull request + dev evals</a:t>
            </a:r>
            <a:endParaRPr lang="en-US" sz="1140" dirty="0"/>
          </a:p>
        </p:txBody>
      </p:sp>
      <p:sp>
        <p:nvSpPr>
          <p:cNvPr id="19" name="static:17:arrow"/>
          <p:cNvSpPr/>
          <p:nvPr/>
        </p:nvSpPr>
        <p:spPr>
          <a:xfrm>
            <a:off x="4212908" y="2606516"/>
            <a:ext cx="0" cy="60960"/>
          </a:xfrm>
          <a:prstGeom prst="line">
            <a:avLst/>
          </a:prstGeom>
          <a:noFill/>
          <a:ln w="7620">
            <a:solidFill>
              <a:srgbClr val="B0B0B0"/>
            </a:solidFill>
            <a:prstDash val="solid"/>
            <a:headEnd type="none"/>
            <a:tailEnd type="triangle"/>
          </a:ln>
        </p:spPr>
      </p:sp>
      <p:sp>
        <p:nvSpPr>
          <p:cNvPr id="20" name="static:18:shape"/>
          <p:cNvSpPr/>
          <p:nvPr/>
        </p:nvSpPr>
        <p:spPr>
          <a:xfrm>
            <a:off x="3984308" y="2675096"/>
            <a:ext cx="4223385" cy="426720"/>
          </a:xfrm>
          <a:prstGeom prst="roundRect">
            <a:avLst>
              <a:gd name="adj" fmla="val 14286"/>
            </a:avLst>
          </a:prstGeom>
          <a:solidFill>
            <a:srgbClr val="2E2E2E"/>
          </a:solidFill>
          <a:ln w="12700">
            <a:solidFill>
              <a:srgbClr val="333333">
                <a:alpha val="0"/>
              </a:srgbClr>
            </a:solidFill>
            <a:prstDash val="solid"/>
          </a:ln>
        </p:spPr>
      </p:sp>
      <p:sp>
        <p:nvSpPr>
          <p:cNvPr id="21" name="static:19:text"/>
          <p:cNvSpPr/>
          <p:nvPr/>
        </p:nvSpPr>
        <p:spPr>
          <a:xfrm>
            <a:off x="4075748" y="2789396"/>
            <a:ext cx="186571"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2</a:t>
            </a:r>
            <a:endParaRPr lang="en-US" sz="1200" dirty="0"/>
          </a:p>
        </p:txBody>
      </p:sp>
      <p:sp>
        <p:nvSpPr>
          <p:cNvPr id="22" name="static:20:text"/>
          <p:cNvSpPr/>
          <p:nvPr/>
        </p:nvSpPr>
        <p:spPr>
          <a:xfrm>
            <a:off x="4380548" y="2793921"/>
            <a:ext cx="1074301"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Merge to main</a:t>
            </a:r>
            <a:endParaRPr lang="en-US" sz="1140" dirty="0"/>
          </a:p>
        </p:txBody>
      </p:sp>
      <p:sp>
        <p:nvSpPr>
          <p:cNvPr id="23" name="static:21:arrow"/>
          <p:cNvSpPr/>
          <p:nvPr/>
        </p:nvSpPr>
        <p:spPr>
          <a:xfrm>
            <a:off x="4212908" y="3109436"/>
            <a:ext cx="0" cy="60960"/>
          </a:xfrm>
          <a:prstGeom prst="line">
            <a:avLst/>
          </a:prstGeom>
          <a:noFill/>
          <a:ln w="7620">
            <a:solidFill>
              <a:srgbClr val="B0B0B0"/>
            </a:solidFill>
            <a:prstDash val="solid"/>
            <a:headEnd type="none"/>
            <a:tailEnd type="triangle"/>
          </a:ln>
        </p:spPr>
      </p:sp>
      <p:sp>
        <p:nvSpPr>
          <p:cNvPr id="24" name="static:22:shape"/>
          <p:cNvSpPr/>
          <p:nvPr/>
        </p:nvSpPr>
        <p:spPr>
          <a:xfrm>
            <a:off x="3984308" y="3178016"/>
            <a:ext cx="4223385" cy="426720"/>
          </a:xfrm>
          <a:prstGeom prst="roundRect">
            <a:avLst>
              <a:gd name="adj" fmla="val 14286"/>
            </a:avLst>
          </a:prstGeom>
          <a:solidFill>
            <a:srgbClr val="2E2E2E"/>
          </a:solidFill>
          <a:ln w="12700">
            <a:solidFill>
              <a:srgbClr val="333333">
                <a:alpha val="0"/>
              </a:srgbClr>
            </a:solidFill>
            <a:prstDash val="solid"/>
          </a:ln>
        </p:spPr>
      </p:sp>
      <p:sp>
        <p:nvSpPr>
          <p:cNvPr id="25" name="static:23:text"/>
          <p:cNvSpPr/>
          <p:nvPr/>
        </p:nvSpPr>
        <p:spPr>
          <a:xfrm>
            <a:off x="4075748" y="3292316"/>
            <a:ext cx="190738"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3</a:t>
            </a:r>
            <a:endParaRPr lang="en-US" sz="1200" dirty="0"/>
          </a:p>
        </p:txBody>
      </p:sp>
      <p:sp>
        <p:nvSpPr>
          <p:cNvPr id="26" name="static:24:text"/>
          <p:cNvSpPr/>
          <p:nvPr/>
        </p:nvSpPr>
        <p:spPr>
          <a:xfrm>
            <a:off x="4380548" y="3296841"/>
            <a:ext cx="1032986"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Holdout evals</a:t>
            </a:r>
            <a:endParaRPr lang="en-US" sz="1140" dirty="0"/>
          </a:p>
        </p:txBody>
      </p:sp>
      <p:sp>
        <p:nvSpPr>
          <p:cNvPr id="27" name="static:25:arrow"/>
          <p:cNvSpPr/>
          <p:nvPr/>
        </p:nvSpPr>
        <p:spPr>
          <a:xfrm>
            <a:off x="4212908" y="3612356"/>
            <a:ext cx="0" cy="60960"/>
          </a:xfrm>
          <a:prstGeom prst="line">
            <a:avLst/>
          </a:prstGeom>
          <a:noFill/>
          <a:ln w="7620">
            <a:solidFill>
              <a:srgbClr val="B0B0B0"/>
            </a:solidFill>
            <a:prstDash val="solid"/>
            <a:headEnd type="none"/>
            <a:tailEnd type="triangle"/>
          </a:ln>
        </p:spPr>
      </p:sp>
      <p:sp>
        <p:nvSpPr>
          <p:cNvPr id="28" name="static:26:shape"/>
          <p:cNvSpPr/>
          <p:nvPr/>
        </p:nvSpPr>
        <p:spPr>
          <a:xfrm>
            <a:off x="3984308" y="3680936"/>
            <a:ext cx="4223385" cy="426720"/>
          </a:xfrm>
          <a:prstGeom prst="roundRect">
            <a:avLst>
              <a:gd name="adj" fmla="val 14286"/>
            </a:avLst>
          </a:prstGeom>
          <a:solidFill>
            <a:srgbClr val="2E2E2E"/>
          </a:solidFill>
          <a:ln w="12700">
            <a:solidFill>
              <a:srgbClr val="333333">
                <a:alpha val="0"/>
              </a:srgbClr>
            </a:solidFill>
            <a:prstDash val="solid"/>
          </a:ln>
        </p:spPr>
      </p:sp>
      <p:sp>
        <p:nvSpPr>
          <p:cNvPr id="29" name="static:27:text"/>
          <p:cNvSpPr/>
          <p:nvPr/>
        </p:nvSpPr>
        <p:spPr>
          <a:xfrm>
            <a:off x="4075748" y="3795236"/>
            <a:ext cx="193477"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4</a:t>
            </a:r>
            <a:endParaRPr lang="en-US" sz="1200" dirty="0"/>
          </a:p>
        </p:txBody>
      </p:sp>
      <p:sp>
        <p:nvSpPr>
          <p:cNvPr id="30" name="static:28:text"/>
          <p:cNvSpPr/>
          <p:nvPr/>
        </p:nvSpPr>
        <p:spPr>
          <a:xfrm>
            <a:off x="4380548" y="3799761"/>
            <a:ext cx="792837"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Drift evals</a:t>
            </a:r>
            <a:endParaRPr lang="en-US" sz="1140" dirty="0"/>
          </a:p>
        </p:txBody>
      </p:sp>
      <p:sp>
        <p:nvSpPr>
          <p:cNvPr id="31" name="static:29:arrow"/>
          <p:cNvSpPr/>
          <p:nvPr/>
        </p:nvSpPr>
        <p:spPr>
          <a:xfrm>
            <a:off x="4212908" y="4115276"/>
            <a:ext cx="0" cy="60960"/>
          </a:xfrm>
          <a:prstGeom prst="line">
            <a:avLst/>
          </a:prstGeom>
          <a:noFill/>
          <a:ln w="7620">
            <a:solidFill>
              <a:srgbClr val="B0B0B0"/>
            </a:solidFill>
            <a:prstDash val="solid"/>
            <a:headEnd type="none"/>
            <a:tailEnd type="triangle"/>
          </a:ln>
        </p:spPr>
      </p:sp>
      <p:sp>
        <p:nvSpPr>
          <p:cNvPr id="32" name="static:30:shape"/>
          <p:cNvSpPr/>
          <p:nvPr/>
        </p:nvSpPr>
        <p:spPr>
          <a:xfrm>
            <a:off x="3984308" y="4183856"/>
            <a:ext cx="4223385" cy="426720"/>
          </a:xfrm>
          <a:prstGeom prst="roundRect">
            <a:avLst>
              <a:gd name="adj" fmla="val 14286"/>
            </a:avLst>
          </a:prstGeom>
          <a:solidFill>
            <a:srgbClr val="2E2E2E"/>
          </a:solidFill>
          <a:ln w="12700">
            <a:solidFill>
              <a:srgbClr val="333333">
                <a:alpha val="0"/>
              </a:srgbClr>
            </a:solidFill>
            <a:prstDash val="solid"/>
          </a:ln>
        </p:spPr>
      </p:sp>
      <p:sp>
        <p:nvSpPr>
          <p:cNvPr id="33" name="static:31:text"/>
          <p:cNvSpPr/>
          <p:nvPr/>
        </p:nvSpPr>
        <p:spPr>
          <a:xfrm>
            <a:off x="4075748" y="4298156"/>
            <a:ext cx="190024" cy="190500"/>
          </a:xfrm>
          <a:prstGeom prst="rect">
            <a:avLst/>
          </a:prstGeom>
          <a:noFill/>
          <a:ln/>
        </p:spPr>
        <p:txBody>
          <a:bodyPr wrap="none" lIns="0" tIns="0" rIns="0" bIns="0" rtlCol="0" anchor="ctr"/>
          <a:lstStyle/>
          <a:p>
            <a:pPr algn="l" indent="0" marL="0">
              <a:buNone/>
            </a:pPr>
            <a:r>
              <a:rPr lang="en-US" sz="1200" b="1" dirty="0">
                <a:solidFill>
                  <a:srgbClr val="4ADE80"/>
                </a:solidFill>
                <a:latin typeface="Arial" pitchFamily="34" charset="0"/>
                <a:ea typeface="Arial" pitchFamily="34" charset="-122"/>
                <a:cs typeface="Arial" pitchFamily="34" charset="-120"/>
              </a:rPr>
              <a:t>5</a:t>
            </a:r>
            <a:endParaRPr lang="en-US" sz="1200" dirty="0"/>
          </a:p>
        </p:txBody>
      </p:sp>
      <p:sp>
        <p:nvSpPr>
          <p:cNvPr id="34" name="static:32:text"/>
          <p:cNvSpPr/>
          <p:nvPr/>
        </p:nvSpPr>
        <p:spPr>
          <a:xfrm>
            <a:off x="4380548" y="4302681"/>
            <a:ext cx="571738" cy="182880"/>
          </a:xfrm>
          <a:prstGeom prst="rect">
            <a:avLst/>
          </a:prstGeom>
          <a:noFill/>
          <a:ln/>
        </p:spPr>
        <p:txBody>
          <a:bodyPr wrap="none" lIns="0" tIns="0" rIns="0" bIns="0" rtlCol="0" anchor="ctr"/>
          <a:lstStyle/>
          <a:p>
            <a:pPr algn="l" indent="0" marL="0">
              <a:buNone/>
            </a:pPr>
            <a:r>
              <a:rPr lang="en-US" sz="1140" b="1" dirty="0">
                <a:solidFill>
                  <a:srgbClr val="DEDEDE"/>
                </a:solidFill>
                <a:latin typeface="Arial" pitchFamily="34" charset="0"/>
                <a:ea typeface="Arial" pitchFamily="34" charset="-122"/>
                <a:cs typeface="Arial" pitchFamily="34" charset="-120"/>
              </a:rPr>
              <a:t>Deploy</a:t>
            </a:r>
            <a:endParaRPr lang="en-US" sz="1140" dirty="0"/>
          </a:p>
        </p:txBody>
      </p:sp>
      <p:sp>
        <p:nvSpPr>
          <p:cNvPr id="35" name="static:33:arrow"/>
          <p:cNvSpPr/>
          <p:nvPr/>
        </p:nvSpPr>
        <p:spPr>
          <a:xfrm>
            <a:off x="8421053" y="3376136"/>
            <a:ext cx="160020" cy="0"/>
          </a:xfrm>
          <a:prstGeom prst="line">
            <a:avLst/>
          </a:prstGeom>
          <a:noFill/>
          <a:ln w="15240">
            <a:solidFill>
              <a:srgbClr val="B0B0B0"/>
            </a:solidFill>
            <a:prstDash val="solid"/>
            <a:headEnd type="none"/>
            <a:tailEnd type="triangle"/>
          </a:ln>
        </p:spPr>
      </p:sp>
      <p:sp>
        <p:nvSpPr>
          <p:cNvPr id="36" name="static:34:shape"/>
          <p:cNvSpPr/>
          <p:nvPr/>
        </p:nvSpPr>
        <p:spPr>
          <a:xfrm>
            <a:off x="8642033" y="1768316"/>
            <a:ext cx="2574608" cy="3002280"/>
          </a:xfrm>
          <a:prstGeom prst="roundRect">
            <a:avLst>
              <a:gd name="adj" fmla="val 4735"/>
            </a:avLst>
          </a:prstGeom>
          <a:solidFill>
            <a:srgbClr val="292929"/>
          </a:solidFill>
          <a:ln w="7620">
            <a:solidFill>
              <a:srgbClr val="474747"/>
            </a:solidFill>
            <a:prstDash val="solid"/>
          </a:ln>
        </p:spPr>
      </p:sp>
      <p:sp>
        <p:nvSpPr>
          <p:cNvPr id="37" name="static:35:text"/>
          <p:cNvSpPr/>
          <p:nvPr/>
        </p:nvSpPr>
        <p:spPr>
          <a:xfrm>
            <a:off x="8802053" y="1920716"/>
            <a:ext cx="1017270" cy="137160"/>
          </a:xfrm>
          <a:prstGeom prst="rect">
            <a:avLst/>
          </a:prstGeom>
          <a:noFill/>
          <a:ln/>
        </p:spPr>
        <p:txBody>
          <a:bodyPr wrap="none" lIns="0" tIns="0" rIns="0" bIns="0" rtlCol="0" anchor="ctr"/>
          <a:lstStyle/>
          <a:p>
            <a:pPr algn="l" indent="0" marL="0">
              <a:buNone/>
            </a:pPr>
            <a:r>
              <a:rPr lang="en-US" sz="780" b="1" spc="62" kern="0" dirty="0">
                <a:solidFill>
                  <a:srgbClr val="FBBF24"/>
                </a:solidFill>
                <a:latin typeface="Arial" pitchFamily="34" charset="0"/>
                <a:ea typeface="Arial" pitchFamily="34" charset="-122"/>
                <a:cs typeface="Arial" pitchFamily="34" charset="-120"/>
              </a:rPr>
              <a:t>IN PRODUCTION</a:t>
            </a:r>
            <a:endParaRPr lang="en-US" sz="780" dirty="0"/>
          </a:p>
        </p:txBody>
      </p:sp>
      <p:sp>
        <p:nvSpPr>
          <p:cNvPr id="38" name="static:36:text"/>
          <p:cNvSpPr/>
          <p:nvPr/>
        </p:nvSpPr>
        <p:spPr>
          <a:xfrm>
            <a:off x="8802053" y="2149316"/>
            <a:ext cx="1368266"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Agent traces</a:t>
            </a:r>
            <a:endParaRPr lang="en-US" sz="1680" dirty="0"/>
          </a:p>
        </p:txBody>
      </p:sp>
      <p:sp>
        <p:nvSpPr>
          <p:cNvPr id="39" name="static:37:text"/>
          <p:cNvSpPr/>
          <p:nvPr/>
        </p:nvSpPr>
        <p:spPr>
          <a:xfrm>
            <a:off x="8802053" y="2528768"/>
            <a:ext cx="1715214"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Sample behaviour on real</a:t>
            </a:r>
            <a:endParaRPr lang="en-US" sz="1140" dirty="0"/>
          </a:p>
        </p:txBody>
      </p:sp>
      <p:sp>
        <p:nvSpPr>
          <p:cNvPr id="40" name="static:38:text"/>
          <p:cNvSpPr/>
          <p:nvPr/>
        </p:nvSpPr>
        <p:spPr>
          <a:xfrm>
            <a:off x="8802053" y="2724150"/>
            <a:ext cx="689610" cy="182880"/>
          </a:xfrm>
          <a:prstGeom prst="rect">
            <a:avLst/>
          </a:prstGeom>
          <a:noFill/>
          <a:ln/>
        </p:spPr>
        <p:txBody>
          <a:bodyPr wrap="none" lIns="0" tIns="0" rIns="0" bIns="0" rtlCol="0" anchor="ctr"/>
          <a:lstStyle/>
          <a:p>
            <a:pPr algn="l" indent="0" marL="0">
              <a:buNone/>
            </a:pPr>
            <a:r>
              <a:rPr lang="en-US" sz="1140" dirty="0">
                <a:solidFill>
                  <a:srgbClr val="B0B0B0"/>
                </a:solidFill>
                <a:latin typeface="Arial" pitchFamily="34" charset="0"/>
                <a:ea typeface="Arial" pitchFamily="34" charset="-122"/>
                <a:cs typeface="Arial" pitchFamily="34" charset="-120"/>
              </a:rPr>
              <a:t>requests.</a:t>
            </a:r>
            <a:endParaRPr lang="en-US" sz="1140" dirty="0"/>
          </a:p>
        </p:txBody>
      </p:sp>
      <p:sp>
        <p:nvSpPr>
          <p:cNvPr id="41" name="static:39:shape"/>
          <p:cNvSpPr/>
          <p:nvPr/>
        </p:nvSpPr>
        <p:spPr>
          <a:xfrm>
            <a:off x="3824288" y="5075396"/>
            <a:ext cx="7392353" cy="739140"/>
          </a:xfrm>
          <a:prstGeom prst="roundRect">
            <a:avLst>
              <a:gd name="adj" fmla="val 14433"/>
            </a:avLst>
          </a:prstGeom>
          <a:solidFill>
            <a:srgbClr val="000000">
              <a:alpha val="0"/>
            </a:srgbClr>
          </a:solidFill>
          <a:ln w="7620">
            <a:solidFill>
              <a:srgbClr val="FD8EA1"/>
            </a:solidFill>
            <a:prstDash val="solid"/>
          </a:ln>
        </p:spPr>
      </p:sp>
      <p:sp>
        <p:nvSpPr>
          <p:cNvPr id="42" name="static:40:text"/>
          <p:cNvSpPr/>
          <p:nvPr/>
        </p:nvSpPr>
        <p:spPr>
          <a:xfrm>
            <a:off x="3984308" y="5368766"/>
            <a:ext cx="1812250" cy="152400"/>
          </a:xfrm>
          <a:prstGeom prst="rect">
            <a:avLst/>
          </a:prstGeom>
          <a:noFill/>
          <a:ln/>
        </p:spPr>
        <p:txBody>
          <a:bodyPr wrap="none" lIns="0" tIns="0" rIns="0" bIns="0" rtlCol="0" anchor="ctr"/>
          <a:lstStyle/>
          <a:p>
            <a:pPr algn="l" indent="0" marL="0">
              <a:buNone/>
            </a:pPr>
            <a:r>
              <a:rPr lang="en-US" sz="900" b="1" spc="72" kern="0" dirty="0">
                <a:solidFill>
                  <a:srgbClr val="FD8EA1"/>
                </a:solidFill>
                <a:latin typeface="Arial" pitchFamily="34" charset="0"/>
                <a:ea typeface="Arial" pitchFamily="34" charset="-122"/>
                <a:cs typeface="Arial" pitchFamily="34" charset="-120"/>
              </a:rPr>
              <a:t>BACK TO A PULL REQUEST</a:t>
            </a:r>
            <a:endParaRPr lang="en-US" sz="900" dirty="0"/>
          </a:p>
        </p:txBody>
      </p:sp>
      <p:sp>
        <p:nvSpPr>
          <p:cNvPr id="43" name="static:41:shape"/>
          <p:cNvSpPr/>
          <p:nvPr/>
        </p:nvSpPr>
        <p:spPr>
          <a:xfrm>
            <a:off x="7581900" y="5189696"/>
            <a:ext cx="1676400" cy="510540"/>
          </a:xfrm>
          <a:prstGeom prst="roundRect">
            <a:avLst>
              <a:gd name="adj" fmla="val 14925"/>
            </a:avLst>
          </a:prstGeom>
          <a:solidFill>
            <a:srgbClr val="292929"/>
          </a:solidFill>
          <a:ln w="7620">
            <a:solidFill>
              <a:srgbClr val="FD8EA1"/>
            </a:solidFill>
            <a:prstDash val="solid"/>
          </a:ln>
        </p:spPr>
      </p:sp>
      <p:sp>
        <p:nvSpPr>
          <p:cNvPr id="44" name="static:42:text"/>
          <p:cNvSpPr/>
          <p:nvPr/>
        </p:nvSpPr>
        <p:spPr>
          <a:xfrm>
            <a:off x="7711440" y="5265896"/>
            <a:ext cx="738426" cy="190500"/>
          </a:xfrm>
          <a:prstGeom prst="rect">
            <a:avLst/>
          </a:prstGeom>
          <a:noFill/>
          <a:ln/>
        </p:spPr>
        <p:txBody>
          <a:bodyPr wrap="none" lIns="0" tIns="0" rIns="0" bIns="0" rtlCol="0" anchor="ctr"/>
          <a:lstStyle/>
          <a:p>
            <a:pPr algn="l" indent="0" marL="0">
              <a:buNone/>
            </a:pPr>
            <a:r>
              <a:rPr lang="en-US" sz="1200" b="1" dirty="0">
                <a:solidFill>
                  <a:srgbClr val="FD8EA1"/>
                </a:solidFill>
                <a:latin typeface="Arial" pitchFamily="34" charset="0"/>
                <a:ea typeface="Arial" pitchFamily="34" charset="-122"/>
                <a:cs typeface="Arial" pitchFamily="34" charset="-120"/>
              </a:rPr>
              <a:t>Optimise</a:t>
            </a:r>
            <a:endParaRPr lang="en-US" sz="1200" dirty="0"/>
          </a:p>
        </p:txBody>
      </p:sp>
      <p:sp>
        <p:nvSpPr>
          <p:cNvPr id="45" name="static:43:text"/>
          <p:cNvSpPr/>
          <p:nvPr/>
        </p:nvSpPr>
        <p:spPr>
          <a:xfrm>
            <a:off x="7711440" y="5471636"/>
            <a:ext cx="1234916" cy="152400"/>
          </a:xfrm>
          <a:prstGeom prst="rect">
            <a:avLst/>
          </a:prstGeom>
          <a:noFill/>
          <a:ln/>
        </p:spPr>
        <p:txBody>
          <a:bodyPr wrap="none" lIns="0" tIns="0" rIns="0" bIns="0" rtlCol="0" anchor="ctr"/>
          <a:lstStyle/>
          <a:p>
            <a:pPr algn="l" indent="0" marL="0">
              <a:buNone/>
            </a:pPr>
            <a:r>
              <a:rPr lang="en-US" sz="960" dirty="0">
                <a:solidFill>
                  <a:srgbClr val="B0B0B0"/>
                </a:solidFill>
                <a:latin typeface="Arial" pitchFamily="34" charset="0"/>
                <a:ea typeface="Arial" pitchFamily="34" charset="-122"/>
                <a:cs typeface="Arial" pitchFamily="34" charset="-120"/>
              </a:rPr>
              <a:t>Compare candidates</a:t>
            </a:r>
            <a:endParaRPr lang="en-US" sz="960" dirty="0"/>
          </a:p>
        </p:txBody>
      </p:sp>
      <p:sp>
        <p:nvSpPr>
          <p:cNvPr id="46" name="static:44:shape"/>
          <p:cNvSpPr/>
          <p:nvPr/>
        </p:nvSpPr>
        <p:spPr>
          <a:xfrm>
            <a:off x="9380220" y="5189696"/>
            <a:ext cx="1676400" cy="510540"/>
          </a:xfrm>
          <a:prstGeom prst="roundRect">
            <a:avLst>
              <a:gd name="adj" fmla="val 14925"/>
            </a:avLst>
          </a:prstGeom>
          <a:solidFill>
            <a:srgbClr val="292929"/>
          </a:solidFill>
          <a:ln w="7620">
            <a:solidFill>
              <a:srgbClr val="FD8EA1"/>
            </a:solidFill>
            <a:prstDash val="solid"/>
          </a:ln>
        </p:spPr>
      </p:sp>
      <p:sp>
        <p:nvSpPr>
          <p:cNvPr id="47" name="static:45:text"/>
          <p:cNvSpPr/>
          <p:nvPr/>
        </p:nvSpPr>
        <p:spPr>
          <a:xfrm>
            <a:off x="9509760" y="5265896"/>
            <a:ext cx="816293" cy="190500"/>
          </a:xfrm>
          <a:prstGeom prst="rect">
            <a:avLst/>
          </a:prstGeom>
          <a:noFill/>
          <a:ln/>
        </p:spPr>
        <p:txBody>
          <a:bodyPr wrap="none" lIns="0" tIns="0" rIns="0" bIns="0" rtlCol="0" anchor="ctr"/>
          <a:lstStyle/>
          <a:p>
            <a:pPr algn="l" indent="0" marL="0">
              <a:buNone/>
            </a:pPr>
            <a:r>
              <a:rPr lang="en-US" sz="1200" b="1" dirty="0">
                <a:solidFill>
                  <a:srgbClr val="FD8EA1"/>
                </a:solidFill>
                <a:latin typeface="Arial" pitchFamily="34" charset="0"/>
                <a:ea typeface="Arial" pitchFamily="34" charset="-122"/>
                <a:cs typeface="Arial" pitchFamily="34" charset="-120"/>
              </a:rPr>
              <a:t>New evals</a:t>
            </a:r>
            <a:endParaRPr lang="en-US" sz="1200" dirty="0"/>
          </a:p>
        </p:txBody>
      </p:sp>
      <p:sp>
        <p:nvSpPr>
          <p:cNvPr id="48" name="static:46:text"/>
          <p:cNvSpPr/>
          <p:nvPr/>
        </p:nvSpPr>
        <p:spPr>
          <a:xfrm>
            <a:off x="9509760" y="5471636"/>
            <a:ext cx="849630" cy="152400"/>
          </a:xfrm>
          <a:prstGeom prst="rect">
            <a:avLst/>
          </a:prstGeom>
          <a:noFill/>
          <a:ln/>
        </p:spPr>
        <p:txBody>
          <a:bodyPr wrap="none" lIns="0" tIns="0" rIns="0" bIns="0" rtlCol="0" anchor="ctr"/>
          <a:lstStyle/>
          <a:p>
            <a:pPr algn="l" indent="0" marL="0">
              <a:buNone/>
            </a:pPr>
            <a:r>
              <a:rPr lang="en-US" sz="960" dirty="0">
                <a:solidFill>
                  <a:srgbClr val="B0B0B0"/>
                </a:solidFill>
                <a:latin typeface="Arial" pitchFamily="34" charset="0"/>
                <a:ea typeface="Arial" pitchFamily="34" charset="-122"/>
                <a:cs typeface="Arial" pitchFamily="34" charset="-120"/>
              </a:rPr>
              <a:t>Improve evals</a:t>
            </a:r>
            <a:endParaRPr lang="en-US" sz="960" dirty="0"/>
          </a:p>
        </p:txBody>
      </p:sp>
      <p:sp>
        <p:nvSpPr>
          <p:cNvPr id="49" name="static:47:text"/>
          <p:cNvSpPr/>
          <p:nvPr/>
        </p:nvSpPr>
        <p:spPr>
          <a:xfrm>
            <a:off x="4281488" y="4778216"/>
            <a:ext cx="228600" cy="228600"/>
          </a:xfrm>
          <a:prstGeom prst="rect">
            <a:avLst/>
          </a:prstGeom>
          <a:noFill/>
          <a:ln/>
        </p:spPr>
        <p:txBody>
          <a:bodyPr wrap="none" lIns="0" tIns="0" rIns="0" bIns="0" rtlCol="0" anchor="ctr"/>
          <a:lstStyle/>
          <a:p>
            <a:pPr algn="l" indent="0" marL="0">
              <a:buNone/>
            </a:pPr>
            <a:r>
              <a:rPr lang="en-US" sz="1680" dirty="0">
                <a:solidFill>
                  <a:srgbClr val="FD8EA1"/>
                </a:solidFill>
                <a:latin typeface="Arial" pitchFamily="34" charset="0"/>
                <a:ea typeface="Arial" pitchFamily="34" charset="-122"/>
                <a:cs typeface="Arial" pitchFamily="34" charset="-120"/>
              </a:rPr>
              <a:t>↑</a:t>
            </a:r>
            <a:endParaRPr lang="en-US" sz="1680" dirty="0"/>
          </a:p>
        </p:txBody>
      </p:sp>
      <p:sp>
        <p:nvSpPr>
          <p:cNvPr id="50" name="static:48:text"/>
          <p:cNvSpPr/>
          <p:nvPr/>
        </p:nvSpPr>
        <p:spPr>
          <a:xfrm>
            <a:off x="9860280" y="4778216"/>
            <a:ext cx="228600" cy="228600"/>
          </a:xfrm>
          <a:prstGeom prst="rect">
            <a:avLst/>
          </a:prstGeom>
          <a:noFill/>
          <a:ln/>
        </p:spPr>
        <p:txBody>
          <a:bodyPr wrap="none" lIns="0" tIns="0" rIns="0" bIns="0" rtlCol="0" anchor="ctr"/>
          <a:lstStyle/>
          <a:p>
            <a:pPr algn="l" indent="0" marL="0">
              <a:buNone/>
            </a:pPr>
            <a:r>
              <a:rPr lang="en-US" sz="1680" dirty="0">
                <a:solidFill>
                  <a:srgbClr val="FD8EA1"/>
                </a:solidFill>
                <a:latin typeface="Arial" pitchFamily="34" charset="0"/>
                <a:ea typeface="Arial" pitchFamily="34" charset="-122"/>
                <a:cs typeface="Arial" pitchFamily="34" charset="-120"/>
              </a:rPr>
              <a:t>↓</a:t>
            </a:r>
            <a:endParaRPr lang="en-US" sz="1680" dirty="0"/>
          </a:p>
        </p:txBody>
      </p:sp>
      <p:sp>
        <p:nvSpPr>
          <p:cNvPr id="51" name="static:49: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52" name="static:50:text"/>
          <p:cNvSpPr/>
          <p:nvPr/>
        </p:nvSpPr>
        <p:spPr>
          <a:xfrm>
            <a:off x="10463927" y="6461760"/>
            <a:ext cx="1209913"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17</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One agent, one question">
    <p:spTree>
      <p:nvGrpSpPr>
        <p:cNvPr id="1" name=""/>
        <p:cNvGrpSpPr/>
        <p:nvPr/>
      </p:nvGrpSpPr>
      <p:grpSpPr>
        <a:xfrm>
          <a:off x="0" y="0"/>
          <a:ext cx="0" cy="0"/>
          <a:chOff x="0" y="0"/>
          <a:chExt cx="0" cy="0"/>
        </a:xfrm>
      </p:grpSpPr>
      <p:sp>
        <p:nvSpPr>
          <p:cNvPr id="2" name="static:0:text"/>
          <p:cNvSpPr/>
          <p:nvPr/>
        </p:nvSpPr>
        <p:spPr>
          <a:xfrm>
            <a:off x="2727960" y="870109"/>
            <a:ext cx="2226469"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ONE AGENT, ONE QUESTION</a:t>
            </a:r>
            <a:endParaRPr lang="en-US" sz="960" dirty="0"/>
          </a:p>
        </p:txBody>
      </p:sp>
      <p:sp>
        <p:nvSpPr>
          <p:cNvPr id="3" name="static:1:text"/>
          <p:cNvSpPr/>
          <p:nvPr/>
        </p:nvSpPr>
        <p:spPr>
          <a:xfrm>
            <a:off x="975360" y="1068229"/>
            <a:ext cx="2760202"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Can I book dinner?</a:t>
            </a:r>
            <a:endParaRPr lang="en-US" sz="2640" dirty="0"/>
          </a:p>
        </p:txBody>
      </p:sp>
      <p:sp>
        <p:nvSpPr>
          <p:cNvPr id="4" name="static:2:shape"/>
          <p:cNvSpPr/>
          <p:nvPr/>
        </p:nvSpPr>
        <p:spPr>
          <a:xfrm>
            <a:off x="975360" y="1814036"/>
            <a:ext cx="3032760" cy="1433989"/>
          </a:xfrm>
          <a:prstGeom prst="roundRect">
            <a:avLst>
              <a:gd name="adj" fmla="val 8502"/>
            </a:avLst>
          </a:prstGeom>
          <a:solidFill>
            <a:srgbClr val="292929"/>
          </a:solidFill>
          <a:ln w="7620">
            <a:solidFill>
              <a:srgbClr val="474747"/>
            </a:solidFill>
            <a:prstDash val="solid"/>
          </a:ln>
        </p:spPr>
      </p:sp>
      <p:sp>
        <p:nvSpPr>
          <p:cNvPr id="5" name="static:2:shape:border-0"/>
          <p:cNvSpPr/>
          <p:nvPr/>
        </p:nvSpPr>
        <p:spPr>
          <a:xfrm>
            <a:off x="1066800" y="1829276"/>
            <a:ext cx="2849880" cy="0"/>
          </a:xfrm>
          <a:prstGeom prst="line">
            <a:avLst/>
          </a:prstGeom>
          <a:noFill/>
          <a:ln w="30480">
            <a:solidFill>
              <a:srgbClr val="4DA6FF"/>
            </a:solidFill>
            <a:prstDash val="solid"/>
            <a:headEnd type="none"/>
            <a:tailEnd type="none"/>
          </a:ln>
        </p:spPr>
      </p:sp>
      <p:sp>
        <p:nvSpPr>
          <p:cNvPr id="6" name="static:3:shape"/>
          <p:cNvSpPr/>
          <p:nvPr/>
        </p:nvSpPr>
        <p:spPr>
          <a:xfrm>
            <a:off x="1181100" y="2012156"/>
            <a:ext cx="411480" cy="411480"/>
          </a:xfrm>
          <a:prstGeom prst="roundRect">
            <a:avLst>
              <a:gd name="adj" fmla="val 25926"/>
            </a:avLst>
          </a:prstGeom>
          <a:solidFill>
            <a:srgbClr val="000000">
              <a:alpha val="0"/>
            </a:srgbClr>
          </a:solidFill>
          <a:ln w="15240">
            <a:solidFill>
              <a:srgbClr val="4DA6FF"/>
            </a:solidFill>
            <a:prstDash val="solid"/>
          </a:ln>
        </p:spPr>
      </p:sp>
      <p:sp>
        <p:nvSpPr>
          <p:cNvPr id="7" name="static:4:text"/>
          <p:cNvSpPr/>
          <p:nvPr/>
        </p:nvSpPr>
        <p:spPr>
          <a:xfrm>
            <a:off x="1349812" y="2122646"/>
            <a:ext cx="165378"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1</a:t>
            </a:r>
            <a:endParaRPr lang="en-US" sz="1200" dirty="0"/>
          </a:p>
        </p:txBody>
      </p:sp>
      <p:sp>
        <p:nvSpPr>
          <p:cNvPr id="8" name="static:5:text"/>
          <p:cNvSpPr/>
          <p:nvPr/>
        </p:nvSpPr>
        <p:spPr>
          <a:xfrm>
            <a:off x="1181100" y="2553176"/>
            <a:ext cx="1888450"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We chose a model</a:t>
            </a:r>
            <a:endParaRPr lang="en-US" sz="1680" dirty="0"/>
          </a:p>
        </p:txBody>
      </p:sp>
      <p:sp>
        <p:nvSpPr>
          <p:cNvPr id="9" name="static:6:shape"/>
          <p:cNvSpPr/>
          <p:nvPr/>
        </p:nvSpPr>
        <p:spPr>
          <a:xfrm>
            <a:off x="4160520" y="1814036"/>
            <a:ext cx="3032760" cy="1433989"/>
          </a:xfrm>
          <a:prstGeom prst="roundRect">
            <a:avLst>
              <a:gd name="adj" fmla="val 8502"/>
            </a:avLst>
          </a:prstGeom>
          <a:solidFill>
            <a:srgbClr val="292929"/>
          </a:solidFill>
          <a:ln w="7620">
            <a:solidFill>
              <a:srgbClr val="474747"/>
            </a:solidFill>
            <a:prstDash val="solid"/>
          </a:ln>
        </p:spPr>
      </p:sp>
      <p:sp>
        <p:nvSpPr>
          <p:cNvPr id="10" name="static:6:shape:border-0"/>
          <p:cNvSpPr/>
          <p:nvPr/>
        </p:nvSpPr>
        <p:spPr>
          <a:xfrm>
            <a:off x="4251960" y="1829276"/>
            <a:ext cx="2849880" cy="0"/>
          </a:xfrm>
          <a:prstGeom prst="line">
            <a:avLst/>
          </a:prstGeom>
          <a:noFill/>
          <a:ln w="30480">
            <a:solidFill>
              <a:srgbClr val="FBBF24"/>
            </a:solidFill>
            <a:prstDash val="solid"/>
            <a:headEnd type="none"/>
            <a:tailEnd type="none"/>
          </a:ln>
        </p:spPr>
      </p:sp>
      <p:sp>
        <p:nvSpPr>
          <p:cNvPr id="11" name="static:7:shape"/>
          <p:cNvSpPr/>
          <p:nvPr/>
        </p:nvSpPr>
        <p:spPr>
          <a:xfrm>
            <a:off x="4366260" y="2012156"/>
            <a:ext cx="411480" cy="411480"/>
          </a:xfrm>
          <a:prstGeom prst="roundRect">
            <a:avLst>
              <a:gd name="adj" fmla="val 25926"/>
            </a:avLst>
          </a:prstGeom>
          <a:solidFill>
            <a:srgbClr val="000000">
              <a:alpha val="0"/>
            </a:srgbClr>
          </a:solidFill>
          <a:ln w="15240">
            <a:solidFill>
              <a:srgbClr val="FBBF24"/>
            </a:solidFill>
            <a:prstDash val="solid"/>
          </a:ln>
        </p:spPr>
      </p:sp>
      <p:sp>
        <p:nvSpPr>
          <p:cNvPr id="12" name="static:8:text"/>
          <p:cNvSpPr/>
          <p:nvPr/>
        </p:nvSpPr>
        <p:spPr>
          <a:xfrm>
            <a:off x="4525447" y="2122646"/>
            <a:ext cx="184547"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2</a:t>
            </a:r>
            <a:endParaRPr lang="en-US" sz="1200" dirty="0"/>
          </a:p>
        </p:txBody>
      </p:sp>
      <p:sp>
        <p:nvSpPr>
          <p:cNvPr id="13" name="static:9:text"/>
          <p:cNvSpPr/>
          <p:nvPr/>
        </p:nvSpPr>
        <p:spPr>
          <a:xfrm>
            <a:off x="4366260" y="2553176"/>
            <a:ext cx="2246114"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Gave it organisational</a:t>
            </a:r>
            <a:endParaRPr lang="en-US" sz="1680" dirty="0"/>
          </a:p>
        </p:txBody>
      </p:sp>
      <p:sp>
        <p:nvSpPr>
          <p:cNvPr id="14" name="static:10:text"/>
          <p:cNvSpPr/>
          <p:nvPr/>
        </p:nvSpPr>
        <p:spPr>
          <a:xfrm>
            <a:off x="4366260" y="2809161"/>
            <a:ext cx="852964"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context</a:t>
            </a:r>
            <a:endParaRPr lang="en-US" sz="1680" dirty="0"/>
          </a:p>
        </p:txBody>
      </p:sp>
      <p:sp>
        <p:nvSpPr>
          <p:cNvPr id="15" name="static:11:shape"/>
          <p:cNvSpPr/>
          <p:nvPr/>
        </p:nvSpPr>
        <p:spPr>
          <a:xfrm>
            <a:off x="7345680" y="1814036"/>
            <a:ext cx="3032760" cy="1433989"/>
          </a:xfrm>
          <a:prstGeom prst="roundRect">
            <a:avLst>
              <a:gd name="adj" fmla="val 8502"/>
            </a:avLst>
          </a:prstGeom>
          <a:solidFill>
            <a:srgbClr val="292929"/>
          </a:solidFill>
          <a:ln w="7620">
            <a:solidFill>
              <a:srgbClr val="474747"/>
            </a:solidFill>
            <a:prstDash val="solid"/>
          </a:ln>
        </p:spPr>
      </p:sp>
      <p:sp>
        <p:nvSpPr>
          <p:cNvPr id="16" name="static:11:shape:border-0"/>
          <p:cNvSpPr/>
          <p:nvPr/>
        </p:nvSpPr>
        <p:spPr>
          <a:xfrm>
            <a:off x="7437120" y="1829276"/>
            <a:ext cx="2849880" cy="0"/>
          </a:xfrm>
          <a:prstGeom prst="line">
            <a:avLst/>
          </a:prstGeom>
          <a:noFill/>
          <a:ln w="30480">
            <a:solidFill>
              <a:srgbClr val="4ADE80"/>
            </a:solidFill>
            <a:prstDash val="solid"/>
            <a:headEnd type="none"/>
            <a:tailEnd type="none"/>
          </a:ln>
        </p:spPr>
      </p:sp>
      <p:sp>
        <p:nvSpPr>
          <p:cNvPr id="17" name="static:12:shape"/>
          <p:cNvSpPr/>
          <p:nvPr/>
        </p:nvSpPr>
        <p:spPr>
          <a:xfrm>
            <a:off x="7551420" y="2012156"/>
            <a:ext cx="411480" cy="411480"/>
          </a:xfrm>
          <a:prstGeom prst="roundRect">
            <a:avLst>
              <a:gd name="adj" fmla="val 25926"/>
            </a:avLst>
          </a:prstGeom>
          <a:solidFill>
            <a:srgbClr val="000000">
              <a:alpha val="0"/>
            </a:srgbClr>
          </a:solidFill>
          <a:ln w="15240">
            <a:solidFill>
              <a:srgbClr val="4ADE80"/>
            </a:solidFill>
            <a:prstDash val="solid"/>
          </a:ln>
        </p:spPr>
      </p:sp>
      <p:sp>
        <p:nvSpPr>
          <p:cNvPr id="18" name="static:13:text"/>
          <p:cNvSpPr/>
          <p:nvPr/>
        </p:nvSpPr>
        <p:spPr>
          <a:xfrm>
            <a:off x="7708463" y="2122646"/>
            <a:ext cx="188714"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3</a:t>
            </a:r>
            <a:endParaRPr lang="en-US" sz="1200" dirty="0"/>
          </a:p>
        </p:txBody>
      </p:sp>
      <p:sp>
        <p:nvSpPr>
          <p:cNvPr id="19" name="static:14:text"/>
          <p:cNvSpPr/>
          <p:nvPr/>
        </p:nvSpPr>
        <p:spPr>
          <a:xfrm>
            <a:off x="7551420" y="2553176"/>
            <a:ext cx="1599962"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Saw what it did</a:t>
            </a:r>
            <a:endParaRPr lang="en-US" sz="1680" dirty="0"/>
          </a:p>
        </p:txBody>
      </p:sp>
      <p:sp>
        <p:nvSpPr>
          <p:cNvPr id="20" name="static:15:shape"/>
          <p:cNvSpPr/>
          <p:nvPr/>
        </p:nvSpPr>
        <p:spPr>
          <a:xfrm>
            <a:off x="975360" y="3400425"/>
            <a:ext cx="3032760" cy="1433989"/>
          </a:xfrm>
          <a:prstGeom prst="roundRect">
            <a:avLst>
              <a:gd name="adj" fmla="val 8502"/>
            </a:avLst>
          </a:prstGeom>
          <a:solidFill>
            <a:srgbClr val="292929"/>
          </a:solidFill>
          <a:ln w="7620">
            <a:solidFill>
              <a:srgbClr val="474747"/>
            </a:solidFill>
            <a:prstDash val="solid"/>
          </a:ln>
        </p:spPr>
      </p:sp>
      <p:sp>
        <p:nvSpPr>
          <p:cNvPr id="21" name="static:15:shape:border-0"/>
          <p:cNvSpPr/>
          <p:nvPr/>
        </p:nvSpPr>
        <p:spPr>
          <a:xfrm>
            <a:off x="1066800" y="3415665"/>
            <a:ext cx="2849880" cy="0"/>
          </a:xfrm>
          <a:prstGeom prst="line">
            <a:avLst/>
          </a:prstGeom>
          <a:noFill/>
          <a:ln w="30480">
            <a:solidFill>
              <a:srgbClr val="4DA6FF"/>
            </a:solidFill>
            <a:prstDash val="solid"/>
            <a:headEnd type="none"/>
            <a:tailEnd type="none"/>
          </a:ln>
        </p:spPr>
      </p:sp>
      <p:sp>
        <p:nvSpPr>
          <p:cNvPr id="22" name="static:16:shape"/>
          <p:cNvSpPr/>
          <p:nvPr/>
        </p:nvSpPr>
        <p:spPr>
          <a:xfrm>
            <a:off x="1181100" y="3598545"/>
            <a:ext cx="411480" cy="411480"/>
          </a:xfrm>
          <a:prstGeom prst="roundRect">
            <a:avLst>
              <a:gd name="adj" fmla="val 25926"/>
            </a:avLst>
          </a:prstGeom>
          <a:solidFill>
            <a:srgbClr val="000000">
              <a:alpha val="0"/>
            </a:srgbClr>
          </a:solidFill>
          <a:ln w="15240">
            <a:solidFill>
              <a:srgbClr val="4DA6FF"/>
            </a:solidFill>
            <a:prstDash val="solid"/>
          </a:ln>
        </p:spPr>
      </p:sp>
      <p:sp>
        <p:nvSpPr>
          <p:cNvPr id="23" name="static:17:text"/>
          <p:cNvSpPr/>
          <p:nvPr/>
        </p:nvSpPr>
        <p:spPr>
          <a:xfrm>
            <a:off x="1336715" y="3709035"/>
            <a:ext cx="191572" cy="190500"/>
          </a:xfrm>
          <a:prstGeom prst="rect">
            <a:avLst/>
          </a:prstGeom>
          <a:noFill/>
          <a:ln/>
        </p:spPr>
        <p:txBody>
          <a:bodyPr wrap="none" lIns="0" tIns="0" rIns="0" bIns="0" rtlCol="0" anchor="ctr"/>
          <a:lstStyle/>
          <a:p>
            <a:pPr algn="l" indent="0" marL="0">
              <a:buNone/>
            </a:pPr>
            <a:r>
              <a:rPr lang="en-US" sz="1200" b="1" spc="-24" kern="0" dirty="0">
                <a:solidFill>
                  <a:srgbClr val="4DA6FF"/>
                </a:solidFill>
                <a:latin typeface="Arial" pitchFamily="34" charset="0"/>
                <a:ea typeface="Arial" pitchFamily="34" charset="-122"/>
                <a:cs typeface="Arial" pitchFamily="34" charset="-120"/>
              </a:rPr>
              <a:t>4</a:t>
            </a:r>
            <a:endParaRPr lang="en-US" sz="1200" dirty="0"/>
          </a:p>
        </p:txBody>
      </p:sp>
      <p:sp>
        <p:nvSpPr>
          <p:cNvPr id="24" name="static:18:text"/>
          <p:cNvSpPr/>
          <p:nvPr/>
        </p:nvSpPr>
        <p:spPr>
          <a:xfrm>
            <a:off x="1181100" y="4139565"/>
            <a:ext cx="2583418"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Measured whether it was</a:t>
            </a:r>
            <a:endParaRPr lang="en-US" sz="1680" dirty="0"/>
          </a:p>
        </p:txBody>
      </p:sp>
      <p:sp>
        <p:nvSpPr>
          <p:cNvPr id="25" name="static:19:text"/>
          <p:cNvSpPr/>
          <p:nvPr/>
        </p:nvSpPr>
        <p:spPr>
          <a:xfrm>
            <a:off x="1181100" y="4395549"/>
            <a:ext cx="562213"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right</a:t>
            </a:r>
            <a:endParaRPr lang="en-US" sz="1680" dirty="0"/>
          </a:p>
        </p:txBody>
      </p:sp>
      <p:sp>
        <p:nvSpPr>
          <p:cNvPr id="26" name="static:20:shape"/>
          <p:cNvSpPr/>
          <p:nvPr/>
        </p:nvSpPr>
        <p:spPr>
          <a:xfrm>
            <a:off x="4160520" y="3400425"/>
            <a:ext cx="3032760" cy="1433989"/>
          </a:xfrm>
          <a:prstGeom prst="roundRect">
            <a:avLst>
              <a:gd name="adj" fmla="val 8502"/>
            </a:avLst>
          </a:prstGeom>
          <a:solidFill>
            <a:srgbClr val="292929"/>
          </a:solidFill>
          <a:ln w="7620">
            <a:solidFill>
              <a:srgbClr val="474747"/>
            </a:solidFill>
            <a:prstDash val="solid"/>
          </a:ln>
        </p:spPr>
      </p:sp>
      <p:sp>
        <p:nvSpPr>
          <p:cNvPr id="27" name="static:20:shape:border-0"/>
          <p:cNvSpPr/>
          <p:nvPr/>
        </p:nvSpPr>
        <p:spPr>
          <a:xfrm>
            <a:off x="4251960" y="3415665"/>
            <a:ext cx="2849880" cy="0"/>
          </a:xfrm>
          <a:prstGeom prst="line">
            <a:avLst/>
          </a:prstGeom>
          <a:noFill/>
          <a:ln w="30480">
            <a:solidFill>
              <a:srgbClr val="FBBF24"/>
            </a:solidFill>
            <a:prstDash val="solid"/>
            <a:headEnd type="none"/>
            <a:tailEnd type="none"/>
          </a:ln>
        </p:spPr>
      </p:sp>
      <p:sp>
        <p:nvSpPr>
          <p:cNvPr id="28" name="static:21:shape"/>
          <p:cNvSpPr/>
          <p:nvPr/>
        </p:nvSpPr>
        <p:spPr>
          <a:xfrm>
            <a:off x="4366260" y="3598545"/>
            <a:ext cx="411480" cy="411480"/>
          </a:xfrm>
          <a:prstGeom prst="roundRect">
            <a:avLst>
              <a:gd name="adj" fmla="val 25926"/>
            </a:avLst>
          </a:prstGeom>
          <a:solidFill>
            <a:srgbClr val="000000">
              <a:alpha val="0"/>
            </a:srgbClr>
          </a:solidFill>
          <a:ln w="15240">
            <a:solidFill>
              <a:srgbClr val="FBBF24"/>
            </a:solidFill>
            <a:prstDash val="solid"/>
          </a:ln>
        </p:spPr>
      </p:sp>
      <p:sp>
        <p:nvSpPr>
          <p:cNvPr id="29" name="static:22:text"/>
          <p:cNvSpPr/>
          <p:nvPr/>
        </p:nvSpPr>
        <p:spPr>
          <a:xfrm>
            <a:off x="4523661" y="3709035"/>
            <a:ext cx="188119" cy="190500"/>
          </a:xfrm>
          <a:prstGeom prst="rect">
            <a:avLst/>
          </a:prstGeom>
          <a:noFill/>
          <a:ln/>
        </p:spPr>
        <p:txBody>
          <a:bodyPr wrap="none" lIns="0" tIns="0" rIns="0" bIns="0" rtlCol="0" anchor="ctr"/>
          <a:lstStyle/>
          <a:p>
            <a:pPr algn="l" indent="0" marL="0">
              <a:buNone/>
            </a:pPr>
            <a:r>
              <a:rPr lang="en-US" sz="1200" b="1" spc="-24" kern="0" dirty="0">
                <a:solidFill>
                  <a:srgbClr val="FBBF24"/>
                </a:solidFill>
                <a:latin typeface="Arial" pitchFamily="34" charset="0"/>
                <a:ea typeface="Arial" pitchFamily="34" charset="-122"/>
                <a:cs typeface="Arial" pitchFamily="34" charset="-120"/>
              </a:rPr>
              <a:t>5</a:t>
            </a:r>
            <a:endParaRPr lang="en-US" sz="1200" dirty="0"/>
          </a:p>
        </p:txBody>
      </p:sp>
      <p:sp>
        <p:nvSpPr>
          <p:cNvPr id="30" name="static:23:text"/>
          <p:cNvSpPr/>
          <p:nvPr/>
        </p:nvSpPr>
        <p:spPr>
          <a:xfrm>
            <a:off x="4366260" y="4139565"/>
            <a:ext cx="2586038"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Optimised from evidence</a:t>
            </a:r>
            <a:endParaRPr lang="en-US" sz="1680" dirty="0"/>
          </a:p>
        </p:txBody>
      </p:sp>
      <p:sp>
        <p:nvSpPr>
          <p:cNvPr id="31" name="static:24:shape"/>
          <p:cNvSpPr/>
          <p:nvPr/>
        </p:nvSpPr>
        <p:spPr>
          <a:xfrm>
            <a:off x="7345680" y="3400425"/>
            <a:ext cx="3032760" cy="1433989"/>
          </a:xfrm>
          <a:prstGeom prst="roundRect">
            <a:avLst>
              <a:gd name="adj" fmla="val 8502"/>
            </a:avLst>
          </a:prstGeom>
          <a:solidFill>
            <a:srgbClr val="292929"/>
          </a:solidFill>
          <a:ln w="7620">
            <a:solidFill>
              <a:srgbClr val="474747"/>
            </a:solidFill>
            <a:prstDash val="solid"/>
          </a:ln>
        </p:spPr>
      </p:sp>
      <p:sp>
        <p:nvSpPr>
          <p:cNvPr id="32" name="static:24:shape:border-0"/>
          <p:cNvSpPr/>
          <p:nvPr/>
        </p:nvSpPr>
        <p:spPr>
          <a:xfrm>
            <a:off x="7437120" y="3415665"/>
            <a:ext cx="2849880" cy="0"/>
          </a:xfrm>
          <a:prstGeom prst="line">
            <a:avLst/>
          </a:prstGeom>
          <a:noFill/>
          <a:ln w="30480">
            <a:solidFill>
              <a:srgbClr val="4ADE80"/>
            </a:solidFill>
            <a:prstDash val="solid"/>
            <a:headEnd type="none"/>
            <a:tailEnd type="none"/>
          </a:ln>
        </p:spPr>
      </p:sp>
      <p:sp>
        <p:nvSpPr>
          <p:cNvPr id="33" name="static:25:shape"/>
          <p:cNvSpPr/>
          <p:nvPr/>
        </p:nvSpPr>
        <p:spPr>
          <a:xfrm>
            <a:off x="7551420" y="3598545"/>
            <a:ext cx="411480" cy="411480"/>
          </a:xfrm>
          <a:prstGeom prst="roundRect">
            <a:avLst>
              <a:gd name="adj" fmla="val 25926"/>
            </a:avLst>
          </a:prstGeom>
          <a:solidFill>
            <a:srgbClr val="000000">
              <a:alpha val="0"/>
            </a:srgbClr>
          </a:solidFill>
          <a:ln w="15240">
            <a:solidFill>
              <a:srgbClr val="4ADE80"/>
            </a:solidFill>
            <a:prstDash val="solid"/>
          </a:ln>
        </p:spPr>
      </p:sp>
      <p:sp>
        <p:nvSpPr>
          <p:cNvPr id="34" name="static:26:text"/>
          <p:cNvSpPr/>
          <p:nvPr/>
        </p:nvSpPr>
        <p:spPr>
          <a:xfrm>
            <a:off x="7707154" y="3709035"/>
            <a:ext cx="191453" cy="190500"/>
          </a:xfrm>
          <a:prstGeom prst="rect">
            <a:avLst/>
          </a:prstGeom>
          <a:noFill/>
          <a:ln/>
        </p:spPr>
        <p:txBody>
          <a:bodyPr wrap="none" lIns="0" tIns="0" rIns="0" bIns="0" rtlCol="0" anchor="ctr"/>
          <a:lstStyle/>
          <a:p>
            <a:pPr algn="l" indent="0" marL="0">
              <a:buNone/>
            </a:pPr>
            <a:r>
              <a:rPr lang="en-US" sz="1200" b="1" spc="-24" kern="0" dirty="0">
                <a:solidFill>
                  <a:srgbClr val="4ADE80"/>
                </a:solidFill>
                <a:latin typeface="Arial" pitchFamily="34" charset="0"/>
                <a:ea typeface="Arial" pitchFamily="34" charset="-122"/>
                <a:cs typeface="Arial" pitchFamily="34" charset="-120"/>
              </a:rPr>
              <a:t>6</a:t>
            </a:r>
            <a:endParaRPr lang="en-US" sz="1200" dirty="0"/>
          </a:p>
        </p:txBody>
      </p:sp>
      <p:sp>
        <p:nvSpPr>
          <p:cNvPr id="35" name="static:27:text"/>
          <p:cNvSpPr/>
          <p:nvPr/>
        </p:nvSpPr>
        <p:spPr>
          <a:xfrm>
            <a:off x="7551420" y="4139565"/>
            <a:ext cx="2082641"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Gated every change</a:t>
            </a:r>
            <a:endParaRPr lang="en-US" sz="1680" dirty="0"/>
          </a:p>
        </p:txBody>
      </p:sp>
      <p:sp>
        <p:nvSpPr>
          <p:cNvPr id="36" name="static:28:text"/>
          <p:cNvSpPr/>
          <p:nvPr/>
        </p:nvSpPr>
        <p:spPr>
          <a:xfrm>
            <a:off x="975360" y="5139214"/>
            <a:ext cx="5381506" cy="266700"/>
          </a:xfrm>
          <a:prstGeom prst="rect">
            <a:avLst/>
          </a:prstGeom>
          <a:noFill/>
          <a:ln/>
        </p:spPr>
        <p:txBody>
          <a:bodyPr wrap="none" lIns="0" tIns="0" rIns="0" bIns="0" rtlCol="0" anchor="ctr"/>
          <a:lstStyle/>
          <a:p>
            <a:pPr algn="l" indent="0" marL="0">
              <a:buNone/>
            </a:pPr>
            <a:r>
              <a:rPr lang="en-US" sz="1680" b="1" spc="-17" kern="0" dirty="0">
                <a:solidFill>
                  <a:srgbClr val="DEDEDE"/>
                </a:solidFill>
                <a:latin typeface="Arial" pitchFamily="34" charset="0"/>
                <a:ea typeface="Arial" pitchFamily="34" charset="-122"/>
                <a:cs typeface="Arial" pitchFamily="34" charset="-120"/>
              </a:rPr>
              <a:t>Production isn't the end of building an agent. </a:t>
            </a:r>
            <a:r>
              <a:rPr lang="en-US" sz="1680" b="1" spc="-17" kern="0" dirty="0">
                <a:solidFill>
                  <a:srgbClr val="4DA6FF"/>
                </a:solidFill>
                <a:latin typeface="Arial" pitchFamily="34" charset="0"/>
                <a:ea typeface="Arial" pitchFamily="34" charset="-122"/>
                <a:cs typeface="Arial" pitchFamily="34" charset="-120"/>
              </a:rPr>
              <a:t>Build the</a:t>
            </a:r>
            <a:endParaRPr lang="en-US" sz="1680" dirty="0"/>
          </a:p>
        </p:txBody>
      </p:sp>
      <p:sp>
        <p:nvSpPr>
          <p:cNvPr id="37" name="static:29:text"/>
          <p:cNvSpPr/>
          <p:nvPr/>
        </p:nvSpPr>
        <p:spPr>
          <a:xfrm>
            <a:off x="975360" y="5416510"/>
            <a:ext cx="5840730" cy="266700"/>
          </a:xfrm>
          <a:prstGeom prst="rect">
            <a:avLst/>
          </a:prstGeom>
          <a:noFill/>
          <a:ln/>
        </p:spPr>
        <p:txBody>
          <a:bodyPr wrap="none" lIns="0" tIns="0" rIns="0" bIns="0" rtlCol="0" anchor="ctr"/>
          <a:lstStyle/>
          <a:p>
            <a:pPr algn="l" indent="0" marL="0">
              <a:buNone/>
            </a:pPr>
            <a:r>
              <a:rPr lang="en-US" sz="1680" b="1" spc="-17" kern="0" dirty="0">
                <a:solidFill>
                  <a:srgbClr val="4DA6FF"/>
                </a:solidFill>
                <a:latin typeface="Arial" pitchFamily="34" charset="0"/>
                <a:ea typeface="Arial" pitchFamily="34" charset="-122"/>
                <a:cs typeface="Arial" pitchFamily="34" charset="-120"/>
              </a:rPr>
              <a:t>measurement system that lets you keep changing it safely.</a:t>
            </a:r>
            <a:endParaRPr lang="en-US" sz="1680" dirty="0"/>
          </a:p>
        </p:txBody>
      </p:sp>
      <p:sp>
        <p:nvSpPr>
          <p:cNvPr id="38" name="static:30: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39" name="static:31:text"/>
          <p:cNvSpPr/>
          <p:nvPr/>
        </p:nvSpPr>
        <p:spPr>
          <a:xfrm>
            <a:off x="10457617" y="6461760"/>
            <a:ext cx="1216223"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18</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Worth exploring next">
    <p:spTree>
      <p:nvGrpSpPr>
        <p:cNvPr id="1" name=""/>
        <p:cNvGrpSpPr/>
        <p:nvPr/>
      </p:nvGrpSpPr>
      <p:grpSpPr>
        <a:xfrm>
          <a:off x="0" y="0"/>
          <a:ext cx="0" cy="0"/>
          <a:chOff x="0" y="0"/>
          <a:chExt cx="0" cy="0"/>
        </a:xfrm>
      </p:grpSpPr>
      <p:sp>
        <p:nvSpPr>
          <p:cNvPr id="2" name="static:0:text"/>
          <p:cNvSpPr/>
          <p:nvPr/>
        </p:nvSpPr>
        <p:spPr>
          <a:xfrm>
            <a:off x="2727960" y="870109"/>
            <a:ext cx="2479715"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MORE IN MICROSOFT FOUNDRY</a:t>
            </a:r>
            <a:endParaRPr lang="en-US" sz="960" dirty="0"/>
          </a:p>
        </p:txBody>
      </p:sp>
      <p:sp>
        <p:nvSpPr>
          <p:cNvPr id="3" name="static:1:text"/>
          <p:cNvSpPr/>
          <p:nvPr/>
        </p:nvSpPr>
        <p:spPr>
          <a:xfrm>
            <a:off x="975360" y="1068229"/>
            <a:ext cx="3094530"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Worth exploring next</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962507"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Human Annotation</a:t>
            </a:r>
            <a:endParaRPr lang="en-US" sz="1680" dirty="0"/>
          </a:p>
        </p:txBody>
      </p:sp>
      <p:sp>
        <p:nvSpPr>
          <p:cNvPr id="6" name="static:4:text"/>
          <p:cNvSpPr/>
          <p:nvPr/>
        </p:nvSpPr>
        <p:spPr>
          <a:xfrm>
            <a:off x="975360" y="2912626"/>
            <a:ext cx="2510076"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Bring domain experts into evaluation</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algn="l" indent="0" marL="0">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2031682"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Synthetic Test Data</a:t>
            </a:r>
            <a:endParaRPr lang="en-US" sz="1680" dirty="0"/>
          </a:p>
        </p:txBody>
      </p:sp>
      <p:sp>
        <p:nvSpPr>
          <p:cNvPr id="9" name="static:7:text"/>
          <p:cNvSpPr/>
          <p:nvPr/>
        </p:nvSpPr>
        <p:spPr>
          <a:xfrm>
            <a:off x="4256961" y="2912626"/>
            <a:ext cx="1836182"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Expand the cases you test</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algn="l" indent="0" marL="0">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1626156"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AI Red Teaming</a:t>
            </a:r>
            <a:endParaRPr lang="en-US" sz="1680" dirty="0"/>
          </a:p>
        </p:txBody>
      </p:sp>
      <p:sp>
        <p:nvSpPr>
          <p:cNvPr id="12" name="static:10:text"/>
          <p:cNvSpPr/>
          <p:nvPr/>
        </p:nvSpPr>
        <p:spPr>
          <a:xfrm>
            <a:off x="7538680" y="2912626"/>
            <a:ext cx="1828681"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Test adversarial behaviour</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algn="l" indent="0" marL="0">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1121212"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Guardrails</a:t>
            </a:r>
            <a:endParaRPr lang="en-US" sz="1680" dirty="0"/>
          </a:p>
        </p:txBody>
      </p:sp>
      <p:sp>
        <p:nvSpPr>
          <p:cNvPr id="15" name="static:13:text"/>
          <p:cNvSpPr/>
          <p:nvPr/>
        </p:nvSpPr>
        <p:spPr>
          <a:xfrm>
            <a:off x="975360" y="4284226"/>
            <a:ext cx="2325291"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Protect inputs and tool responses</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algn="l" indent="0" marL="0">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2318385"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Identity &amp; Permissions</a:t>
            </a:r>
            <a:endParaRPr lang="en-US" sz="1680" dirty="0"/>
          </a:p>
        </p:txBody>
      </p:sp>
      <p:sp>
        <p:nvSpPr>
          <p:cNvPr id="18" name="static:16:text"/>
          <p:cNvSpPr/>
          <p:nvPr/>
        </p:nvSpPr>
        <p:spPr>
          <a:xfrm>
            <a:off x="4256961" y="4284226"/>
            <a:ext cx="2229922"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Limit what the agent can access</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algn="l" indent="0" marL="0">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861423" cy="266700"/>
          </a:xfrm>
          <a:prstGeom prst="rect">
            <a:avLst/>
          </a:prstGeom>
          <a:noFill/>
          <a:ln/>
        </p:spPr>
        <p:txBody>
          <a:bodyPr wrap="none" lIns="0" tIns="0" rIns="0" bIns="0" rtlCol="0" anchor="ctr"/>
          <a:lstStyle/>
          <a:p>
            <a:pPr algn="l" indent="0" marL="0">
              <a:buNone/>
            </a:pPr>
            <a:r>
              <a:rPr lang="en-US" sz="1680" b="1" dirty="0">
                <a:solidFill>
                  <a:srgbClr val="DEDEDE"/>
                </a:solidFill>
                <a:latin typeface="Arial" pitchFamily="34" charset="0"/>
                <a:ea typeface="Arial" pitchFamily="34" charset="-122"/>
                <a:cs typeface="Arial" pitchFamily="34" charset="-120"/>
              </a:rPr>
              <a:t>Human Approvals</a:t>
            </a:r>
            <a:endParaRPr lang="en-US" sz="1680" dirty="0"/>
          </a:p>
        </p:txBody>
      </p:sp>
      <p:sp>
        <p:nvSpPr>
          <p:cNvPr id="21" name="static:19:text"/>
          <p:cNvSpPr/>
          <p:nvPr/>
        </p:nvSpPr>
        <p:spPr>
          <a:xfrm>
            <a:off x="7538680" y="4284226"/>
            <a:ext cx="2269450" cy="190500"/>
          </a:xfrm>
          <a:prstGeom prst="rect">
            <a:avLst/>
          </a:prstGeom>
          <a:noFill/>
          <a:ln/>
        </p:spPr>
        <p:txBody>
          <a:bodyPr wrap="none" lIns="0" tIns="0" rIns="0" bIns="0" rtlCol="0" anchor="ctr"/>
          <a:lstStyle/>
          <a:p>
            <a:pPr algn="l" indent="0" marL="0">
              <a:buNone/>
            </a:pPr>
            <a:r>
              <a:rPr lang="en-US" sz="1200" dirty="0">
                <a:solidFill>
                  <a:srgbClr val="B0B0B0"/>
                </a:solidFill>
                <a:latin typeface="Arial" pitchFamily="34" charset="0"/>
                <a:ea typeface="Arial" pitchFamily="34" charset="-122"/>
                <a:cs typeface="Arial" pitchFamily="34" charset="-120"/>
              </a:rPr>
              <a:t>Keep people in control of actions</a:t>
            </a:r>
            <a:endParaRPr lang="en-US" sz="1200" dirty="0"/>
          </a:p>
        </p:txBody>
      </p:sp>
      <p:sp>
        <p:nvSpPr>
          <p:cNvPr id="22" name="static:20: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23" name="static:21:text"/>
          <p:cNvSpPr/>
          <p:nvPr/>
        </p:nvSpPr>
        <p:spPr>
          <a:xfrm>
            <a:off x="10457736" y="6461760"/>
            <a:ext cx="1216104"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19</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Build measure improve repeat">
    <p:spTree>
      <p:nvGrpSpPr>
        <p:cNvPr id="1" name=""/>
        <p:cNvGrpSpPr/>
        <p:nvPr/>
      </p:nvGrpSpPr>
      <p:grpSpPr>
        <a:xfrm>
          <a:off x="0" y="0"/>
          <a:ext cx="0" cy="0"/>
          <a:chOff x="0" y="0"/>
          <a:chExt cx="0" cy="0"/>
        </a:xfrm>
      </p:grpSpPr>
      <p:sp>
        <p:nvSpPr>
          <p:cNvPr id="2" name="static:0:text"/>
          <p:cNvSpPr/>
          <p:nvPr/>
        </p:nvSpPr>
        <p:spPr>
          <a:xfrm>
            <a:off x="975360" y="2343626"/>
            <a:ext cx="496133" cy="190500"/>
          </a:xfrm>
          <a:prstGeom prst="rect">
            <a:avLst/>
          </a:prstGeom>
          <a:noFill/>
          <a:ln/>
        </p:spPr>
        <p:txBody>
          <a:bodyPr wrap="none" lIns="0" tIns="0" rIns="0" bIns="0" rtlCol="0" anchor="ctr"/>
          <a:lstStyle/>
          <a:p>
            <a:pPr algn="l" indent="0" marL="0">
              <a:buNone/>
            </a:pPr>
            <a:r>
              <a:rPr lang="en-US" sz="1200" b="1" spc="180" kern="0" dirty="0">
                <a:solidFill>
                  <a:srgbClr val="4DA6FF"/>
                </a:solidFill>
                <a:latin typeface="Arial" pitchFamily="34" charset="0"/>
                <a:ea typeface="Arial" pitchFamily="34" charset="-122"/>
                <a:cs typeface="Arial" pitchFamily="34" charset="-120"/>
              </a:rPr>
              <a:t>Q&amp;A</a:t>
            </a:r>
            <a:endParaRPr lang="en-US" sz="1200" dirty="0"/>
          </a:p>
        </p:txBody>
      </p:sp>
      <p:sp>
        <p:nvSpPr>
          <p:cNvPr id="3" name="static:1:text"/>
          <p:cNvSpPr/>
          <p:nvPr/>
        </p:nvSpPr>
        <p:spPr>
          <a:xfrm>
            <a:off x="975360" y="2640806"/>
            <a:ext cx="8494705" cy="624840"/>
          </a:xfrm>
          <a:prstGeom prst="rect">
            <a:avLst/>
          </a:prstGeom>
          <a:noFill/>
          <a:ln/>
        </p:spPr>
        <p:txBody>
          <a:bodyPr wrap="none" lIns="0" tIns="0" rIns="0" bIns="0" rtlCol="0" anchor="ctr"/>
          <a:lstStyle/>
          <a:p>
            <a:pPr algn="l" indent="0" marL="0">
              <a:buNone/>
            </a:pPr>
            <a:r>
              <a:rPr lang="en-US" sz="4080" b="1" spc="-143" kern="0" dirty="0">
                <a:solidFill>
                  <a:srgbClr val="DEDEDE"/>
                </a:solidFill>
                <a:latin typeface="Arial" pitchFamily="34" charset="0"/>
                <a:ea typeface="Arial" pitchFamily="34" charset="-122"/>
                <a:cs typeface="Arial" pitchFamily="34" charset="-120"/>
              </a:rPr>
              <a:t>Build → Measure → Improve → Repeat</a:t>
            </a:r>
            <a:endParaRPr lang="en-US" sz="4080" dirty="0"/>
          </a:p>
        </p:txBody>
      </p:sp>
      <p:sp>
        <p:nvSpPr>
          <p:cNvPr id="4" name="static:2:text"/>
          <p:cNvSpPr/>
          <p:nvPr/>
        </p:nvSpPr>
        <p:spPr>
          <a:xfrm>
            <a:off x="975360" y="3387566"/>
            <a:ext cx="5526524"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One working agent. Consistent answers. Measured trade-offs.</a:t>
            </a:r>
            <a:endParaRPr lang="en-US" sz="1620" dirty="0"/>
          </a:p>
        </p:txBody>
      </p:sp>
      <p:sp>
        <p:nvSpPr>
          <p:cNvPr id="5" name="static:3:text"/>
          <p:cNvSpPr/>
          <p:nvPr/>
        </p:nvSpPr>
        <p:spPr>
          <a:xfrm>
            <a:off x="975360" y="3665220"/>
            <a:ext cx="2498288" cy="259080"/>
          </a:xfrm>
          <a:prstGeom prst="rect">
            <a:avLst/>
          </a:prstGeom>
          <a:noFill/>
          <a:ln/>
        </p:spPr>
        <p:txBody>
          <a:bodyPr wrap="none" lIns="0" tIns="0" rIns="0" bIns="0" rtlCol="0" anchor="ctr"/>
          <a:lstStyle/>
          <a:p>
            <a:pPr algn="l" indent="0" marL="0">
              <a:buNone/>
            </a:pPr>
            <a:r>
              <a:rPr lang="en-US" sz="1620" dirty="0">
                <a:solidFill>
                  <a:srgbClr val="B0B0B0"/>
                </a:solidFill>
                <a:latin typeface="Arial" pitchFamily="34" charset="0"/>
                <a:ea typeface="Arial" pitchFamily="34" charset="-122"/>
                <a:cs typeface="Arial" pitchFamily="34" charset="-120"/>
              </a:rPr>
              <a:t>Repeatable release checks.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45591" y="6461760"/>
            <a:ext cx="122824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20</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References">
    <p:spTree>
      <p:nvGrpSpPr>
        <p:cNvPr id="1" name=""/>
        <p:cNvGrpSpPr/>
        <p:nvPr/>
      </p:nvGrpSpPr>
      <p:grpSpPr>
        <a:xfrm>
          <a:off x="0" y="0"/>
          <a:ext cx="0" cy="0"/>
          <a:chOff x="0" y="0"/>
          <a:chExt cx="0" cy="0"/>
        </a:xfrm>
      </p:grpSpPr>
      <p:sp>
        <p:nvSpPr>
          <p:cNvPr id="2" name="static:0:text"/>
          <p:cNvSpPr/>
          <p:nvPr/>
        </p:nvSpPr>
        <p:spPr>
          <a:xfrm>
            <a:off x="2727960" y="870109"/>
            <a:ext cx="1532573" cy="152400"/>
          </a:xfrm>
          <a:prstGeom prst="rect">
            <a:avLst/>
          </a:prstGeom>
          <a:noFill/>
          <a:ln/>
        </p:spPr>
        <p:txBody>
          <a:bodyPr wrap="none" lIns="0" tIns="0" rIns="0" bIns="0" rtlCol="0" anchor="ctr"/>
          <a:lstStyle/>
          <a:p>
            <a:pPr algn="l" indent="0" marL="0">
              <a:buNone/>
            </a:pPr>
            <a:r>
              <a:rPr lang="en-US" sz="960" b="1" spc="154" kern="0" dirty="0">
                <a:solidFill>
                  <a:srgbClr val="4DA6FF"/>
                </a:solidFill>
                <a:latin typeface="Arial" pitchFamily="34" charset="0"/>
                <a:ea typeface="Arial" pitchFamily="34" charset="-122"/>
                <a:cs typeface="Arial" pitchFamily="34" charset="-120"/>
              </a:rPr>
              <a:t>FURTHER READING</a:t>
            </a:r>
            <a:endParaRPr lang="en-US" sz="960" dirty="0"/>
          </a:p>
        </p:txBody>
      </p:sp>
      <p:sp>
        <p:nvSpPr>
          <p:cNvPr id="3" name="static:1:text"/>
          <p:cNvSpPr/>
          <p:nvPr/>
        </p:nvSpPr>
        <p:spPr>
          <a:xfrm>
            <a:off x="975360" y="1068229"/>
            <a:ext cx="1740432" cy="411480"/>
          </a:xfrm>
          <a:prstGeom prst="rect">
            <a:avLst/>
          </a:prstGeom>
          <a:noFill/>
          <a:ln/>
        </p:spPr>
        <p:txBody>
          <a:bodyPr wrap="none" lIns="0" tIns="0" rIns="0" bIns="0" rtlCol="0" anchor="ctr"/>
          <a:lstStyle/>
          <a:p>
            <a:pPr algn="l" indent="0" marL="0">
              <a:buNone/>
            </a:pPr>
            <a:r>
              <a:rPr lang="en-US" sz="2640" b="1" spc="-92" kern="0" dirty="0">
                <a:solidFill>
                  <a:srgbClr val="DEDEDE"/>
                </a:solidFill>
                <a:latin typeface="Arial" pitchFamily="34" charset="0"/>
                <a:ea typeface="Arial" pitchFamily="34" charset="-122"/>
                <a:cs typeface="Arial" pitchFamily="34" charset="-120"/>
              </a:rPr>
              <a:t>References</a:t>
            </a:r>
            <a:endParaRPr lang="en-US" sz="2640" dirty="0"/>
          </a:p>
        </p:txBody>
      </p:sp>
      <p:sp>
        <p:nvSpPr>
          <p:cNvPr id="4" name="static:2:shape"/>
          <p:cNvSpPr/>
          <p:nvPr/>
        </p:nvSpPr>
        <p:spPr>
          <a:xfrm>
            <a:off x="975360" y="1798796"/>
            <a:ext cx="2141220" cy="300157"/>
          </a:xfrm>
          <a:prstGeom prst="rect">
            <a:avLst/>
          </a:prstGeom>
          <a:solidFill>
            <a:srgbClr val="000000">
              <a:alpha val="0"/>
            </a:srgbClr>
          </a:solidFill>
          <a:ln w="12700">
            <a:solidFill>
              <a:srgbClr val="333333">
                <a:alpha val="0"/>
              </a:srgbClr>
            </a:solidFill>
            <a:prstDash val="solid"/>
          </a:ln>
        </p:spPr>
      </p:sp>
      <p:sp>
        <p:nvSpPr>
          <p:cNvPr id="5" name="static:2:shape:border-2"/>
          <p:cNvSpPr/>
          <p:nvPr/>
        </p:nvSpPr>
        <p:spPr>
          <a:xfrm>
            <a:off x="975360" y="2098953"/>
            <a:ext cx="2141220" cy="0"/>
          </a:xfrm>
          <a:prstGeom prst="line">
            <a:avLst/>
          </a:prstGeom>
          <a:noFill/>
          <a:ln w="22860">
            <a:solidFill>
              <a:srgbClr val="4DA6FF"/>
            </a:solidFill>
            <a:prstDash val="solid"/>
            <a:headEnd type="none"/>
            <a:tailEnd type="none"/>
          </a:ln>
        </p:spPr>
      </p:sp>
      <p:sp>
        <p:nvSpPr>
          <p:cNvPr id="6" name="static:3:text"/>
          <p:cNvSpPr/>
          <p:nvPr/>
        </p:nvSpPr>
        <p:spPr>
          <a:xfrm>
            <a:off x="975360" y="1783556"/>
            <a:ext cx="522327" cy="228600"/>
          </a:xfrm>
          <a:prstGeom prst="rect">
            <a:avLst/>
          </a:prstGeom>
          <a:noFill/>
          <a:ln/>
        </p:spPr>
        <p:txBody>
          <a:bodyPr wrap="none" lIns="0" tIns="0" rIns="0" bIns="0" rtlCol="0" anchor="ctr"/>
          <a:lstStyle/>
          <a:p>
            <a:pPr algn="l" indent="0" marL="0">
              <a:buNone/>
            </a:pPr>
            <a:r>
              <a:rPr lang="en-US" sz="1440" b="1" dirty="0">
                <a:solidFill>
                  <a:srgbClr val="4DA6FF"/>
                </a:solidFill>
                <a:latin typeface="Arial" pitchFamily="34" charset="0"/>
                <a:ea typeface="Arial" pitchFamily="34" charset="-122"/>
                <a:cs typeface="Arial" pitchFamily="34" charset="-120"/>
              </a:rPr>
              <a:t>Build</a:t>
            </a:r>
            <a:endParaRPr lang="en-US" sz="1440" dirty="0"/>
          </a:p>
        </p:txBody>
      </p:sp>
      <p:sp>
        <p:nvSpPr>
          <p:cNvPr id="7" name="static:4:text"/>
          <p:cNvSpPr/>
          <p:nvPr/>
        </p:nvSpPr>
        <p:spPr>
          <a:xfrm>
            <a:off x="975360" y="2236113"/>
            <a:ext cx="1873329"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Microsoft Agent Framework</a:t>
            </a:r>
            <a:endParaRPr lang="en-US" sz="1140" dirty="0"/>
          </a:p>
        </p:txBody>
      </p:sp>
      <p:sp>
        <p:nvSpPr>
          <p:cNvPr id="8" name="static:5:text"/>
          <p:cNvSpPr/>
          <p:nvPr/>
        </p:nvSpPr>
        <p:spPr>
          <a:xfrm>
            <a:off x="975360" y="2416612"/>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9" name="static:6:text"/>
          <p:cNvSpPr/>
          <p:nvPr/>
        </p:nvSpPr>
        <p:spPr>
          <a:xfrm>
            <a:off x="975360" y="2684740"/>
            <a:ext cx="2173843"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Compare models with the model</a:t>
            </a:r>
            <a:endParaRPr lang="en-US" sz="1140" dirty="0"/>
          </a:p>
        </p:txBody>
      </p:sp>
      <p:sp>
        <p:nvSpPr>
          <p:cNvPr id="10" name="static:7:text"/>
          <p:cNvSpPr/>
          <p:nvPr/>
        </p:nvSpPr>
        <p:spPr>
          <a:xfrm>
            <a:off x="975360" y="2872859"/>
            <a:ext cx="867847"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leaderboard</a:t>
            </a:r>
            <a:endParaRPr lang="en-US" sz="1140" dirty="0"/>
          </a:p>
        </p:txBody>
      </p:sp>
      <p:sp>
        <p:nvSpPr>
          <p:cNvPr id="11" name="static:8:text"/>
          <p:cNvSpPr/>
          <p:nvPr/>
        </p:nvSpPr>
        <p:spPr>
          <a:xfrm>
            <a:off x="975360" y="3053358"/>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12" name="static:9:text"/>
          <p:cNvSpPr/>
          <p:nvPr/>
        </p:nvSpPr>
        <p:spPr>
          <a:xfrm>
            <a:off x="975360" y="3321487"/>
            <a:ext cx="914400"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Model router</a:t>
            </a:r>
            <a:endParaRPr lang="en-US" sz="1140" dirty="0"/>
          </a:p>
        </p:txBody>
      </p:sp>
      <p:sp>
        <p:nvSpPr>
          <p:cNvPr id="13" name="static:10:text"/>
          <p:cNvSpPr/>
          <p:nvPr/>
        </p:nvSpPr>
        <p:spPr>
          <a:xfrm>
            <a:off x="975360" y="3501985"/>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14" name="static:11:text"/>
          <p:cNvSpPr/>
          <p:nvPr/>
        </p:nvSpPr>
        <p:spPr>
          <a:xfrm>
            <a:off x="975360" y="3770114"/>
            <a:ext cx="1390055"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What is Foundry IQ?</a:t>
            </a:r>
            <a:endParaRPr lang="en-US" sz="1140" dirty="0"/>
          </a:p>
        </p:txBody>
      </p:sp>
      <p:sp>
        <p:nvSpPr>
          <p:cNvPr id="15" name="static:12:text"/>
          <p:cNvSpPr/>
          <p:nvPr/>
        </p:nvSpPr>
        <p:spPr>
          <a:xfrm>
            <a:off x="975360" y="3950613"/>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16" name="static:13:text"/>
          <p:cNvSpPr/>
          <p:nvPr/>
        </p:nvSpPr>
        <p:spPr>
          <a:xfrm>
            <a:off x="975360" y="4218742"/>
            <a:ext cx="1215152"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Work IQ overview</a:t>
            </a:r>
            <a:endParaRPr lang="en-US" sz="1140" dirty="0"/>
          </a:p>
        </p:txBody>
      </p:sp>
      <p:sp>
        <p:nvSpPr>
          <p:cNvPr id="17" name="static:14:text"/>
          <p:cNvSpPr/>
          <p:nvPr/>
        </p:nvSpPr>
        <p:spPr>
          <a:xfrm>
            <a:off x="975360" y="4399240"/>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18" name="static:15:shape"/>
          <p:cNvSpPr/>
          <p:nvPr/>
        </p:nvSpPr>
        <p:spPr>
          <a:xfrm>
            <a:off x="3421380" y="1798796"/>
            <a:ext cx="2141220" cy="300157"/>
          </a:xfrm>
          <a:prstGeom prst="rect">
            <a:avLst/>
          </a:prstGeom>
          <a:solidFill>
            <a:srgbClr val="000000">
              <a:alpha val="0"/>
            </a:srgbClr>
          </a:solidFill>
          <a:ln w="12700">
            <a:solidFill>
              <a:srgbClr val="333333">
                <a:alpha val="0"/>
              </a:srgbClr>
            </a:solidFill>
            <a:prstDash val="solid"/>
          </a:ln>
        </p:spPr>
      </p:sp>
      <p:sp>
        <p:nvSpPr>
          <p:cNvPr id="19" name="static:15:shape:border-2"/>
          <p:cNvSpPr/>
          <p:nvPr/>
        </p:nvSpPr>
        <p:spPr>
          <a:xfrm>
            <a:off x="3421380" y="2098953"/>
            <a:ext cx="2141220" cy="0"/>
          </a:xfrm>
          <a:prstGeom prst="line">
            <a:avLst/>
          </a:prstGeom>
          <a:noFill/>
          <a:ln w="22860">
            <a:solidFill>
              <a:srgbClr val="FD8EA1"/>
            </a:solidFill>
            <a:prstDash val="solid"/>
            <a:headEnd type="none"/>
            <a:tailEnd type="none"/>
          </a:ln>
        </p:spPr>
      </p:sp>
      <p:sp>
        <p:nvSpPr>
          <p:cNvPr id="20" name="static:16:text"/>
          <p:cNvSpPr/>
          <p:nvPr/>
        </p:nvSpPr>
        <p:spPr>
          <a:xfrm>
            <a:off x="3421380" y="1783556"/>
            <a:ext cx="1745933" cy="228600"/>
          </a:xfrm>
          <a:prstGeom prst="rect">
            <a:avLst/>
          </a:prstGeom>
          <a:noFill/>
          <a:ln/>
        </p:spPr>
        <p:txBody>
          <a:bodyPr wrap="none" lIns="0" tIns="0" rIns="0" bIns="0" rtlCol="0" anchor="ctr"/>
          <a:lstStyle/>
          <a:p>
            <a:pPr algn="l" indent="0" marL="0">
              <a:buNone/>
            </a:pPr>
            <a:r>
              <a:rPr lang="en-US" sz="1440" b="1" dirty="0">
                <a:solidFill>
                  <a:srgbClr val="FD8EA1"/>
                </a:solidFill>
                <a:latin typeface="Arial" pitchFamily="34" charset="0"/>
                <a:ea typeface="Arial" pitchFamily="34" charset="-122"/>
                <a:cs typeface="Arial" pitchFamily="34" charset="-120"/>
              </a:rPr>
              <a:t>Observe &amp; evaluate</a:t>
            </a:r>
            <a:endParaRPr lang="en-US" sz="1440" dirty="0"/>
          </a:p>
        </p:txBody>
      </p:sp>
      <p:sp>
        <p:nvSpPr>
          <p:cNvPr id="21" name="static:17:text"/>
          <p:cNvSpPr/>
          <p:nvPr/>
        </p:nvSpPr>
        <p:spPr>
          <a:xfrm>
            <a:off x="3421380" y="2236113"/>
            <a:ext cx="1565672"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Agent tracing overview</a:t>
            </a:r>
            <a:endParaRPr lang="en-US" sz="1140" dirty="0"/>
          </a:p>
        </p:txBody>
      </p:sp>
      <p:sp>
        <p:nvSpPr>
          <p:cNvPr id="22" name="static:18:text"/>
          <p:cNvSpPr/>
          <p:nvPr/>
        </p:nvSpPr>
        <p:spPr>
          <a:xfrm>
            <a:off x="3421380" y="2416612"/>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23" name="static:19:text"/>
          <p:cNvSpPr/>
          <p:nvPr/>
        </p:nvSpPr>
        <p:spPr>
          <a:xfrm>
            <a:off x="3421380" y="2684740"/>
            <a:ext cx="1205627"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8" invalidUrl="" action="" tgtFrame="" tooltip="" history="1" highlightClick="0" endSnd="0">
                  <a:extLst>
                    <a:ext uri="{A12FA001-AC4F-418D-AE19-62706E023703}">
                      <ahyp:hlinkClr xmlns:ahyp="http://schemas.microsoft.com/office/drawing/2018/hyperlinkcolor" val="tx"/>
                    </a:ext>
                  </a:extLst>
                </a:hlinkClick>
              </a:rPr>
              <a:t>Rubric evaluators</a:t>
            </a:r>
            <a:endParaRPr lang="en-US" sz="1140" dirty="0"/>
          </a:p>
        </p:txBody>
      </p:sp>
      <p:sp>
        <p:nvSpPr>
          <p:cNvPr id="24" name="static:20:text"/>
          <p:cNvSpPr/>
          <p:nvPr/>
        </p:nvSpPr>
        <p:spPr>
          <a:xfrm>
            <a:off x="3421380" y="2865239"/>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25" name="static:21:text"/>
          <p:cNvSpPr/>
          <p:nvPr/>
        </p:nvSpPr>
        <p:spPr>
          <a:xfrm>
            <a:off x="3421380" y="3133368"/>
            <a:ext cx="1161693"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9" invalidUrl="" action="" tgtFrame="" tooltip="" history="1" highlightClick="0" endSnd="0">
                  <a:extLst>
                    <a:ext uri="{A12FA001-AC4F-418D-AE19-62706E023703}">
                      <ahyp:hlinkClr xmlns:ahyp="http://schemas.microsoft.com/office/drawing/2018/hyperlinkcolor" val="tx"/>
                    </a:ext>
                  </a:extLst>
                </a:hlinkClick>
              </a:rPr>
              <a:t>Cloud evaluation</a:t>
            </a:r>
            <a:endParaRPr lang="en-US" sz="1140" dirty="0"/>
          </a:p>
        </p:txBody>
      </p:sp>
      <p:sp>
        <p:nvSpPr>
          <p:cNvPr id="26" name="static:22:text"/>
          <p:cNvSpPr/>
          <p:nvPr/>
        </p:nvSpPr>
        <p:spPr>
          <a:xfrm>
            <a:off x="3421380" y="3313867"/>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27" name="static:23:text"/>
          <p:cNvSpPr/>
          <p:nvPr/>
        </p:nvSpPr>
        <p:spPr>
          <a:xfrm>
            <a:off x="3421380" y="3581995"/>
            <a:ext cx="1685806"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0" invalidUrl="" action="" tgtFrame="" tooltip="" history="1" highlightClick="0" endSnd="0">
                  <a:extLst>
                    <a:ext uri="{A12FA001-AC4F-418D-AE19-62706E023703}">
                      <ahyp:hlinkClr xmlns:ahyp="http://schemas.microsoft.com/office/drawing/2018/hyperlinkcolor" val="tx"/>
                    </a:ext>
                  </a:extLst>
                </a:hlinkClick>
              </a:rPr>
              <a:t>Turn traces into datasets</a:t>
            </a:r>
            <a:endParaRPr lang="en-US" sz="1140" dirty="0"/>
          </a:p>
        </p:txBody>
      </p:sp>
      <p:sp>
        <p:nvSpPr>
          <p:cNvPr id="28" name="static:24:text"/>
          <p:cNvSpPr/>
          <p:nvPr/>
        </p:nvSpPr>
        <p:spPr>
          <a:xfrm>
            <a:off x="3421380" y="3762494"/>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29" name="static:25:shape"/>
          <p:cNvSpPr/>
          <p:nvPr/>
        </p:nvSpPr>
        <p:spPr>
          <a:xfrm>
            <a:off x="5867400" y="1798796"/>
            <a:ext cx="2141220" cy="300157"/>
          </a:xfrm>
          <a:prstGeom prst="rect">
            <a:avLst/>
          </a:prstGeom>
          <a:solidFill>
            <a:srgbClr val="000000">
              <a:alpha val="0"/>
            </a:srgbClr>
          </a:solidFill>
          <a:ln w="12700">
            <a:solidFill>
              <a:srgbClr val="333333">
                <a:alpha val="0"/>
              </a:srgbClr>
            </a:solidFill>
            <a:prstDash val="solid"/>
          </a:ln>
        </p:spPr>
      </p:sp>
      <p:sp>
        <p:nvSpPr>
          <p:cNvPr id="30" name="static:25:shape:border-2"/>
          <p:cNvSpPr/>
          <p:nvPr/>
        </p:nvSpPr>
        <p:spPr>
          <a:xfrm>
            <a:off x="5867400" y="2098953"/>
            <a:ext cx="2141220" cy="0"/>
          </a:xfrm>
          <a:prstGeom prst="line">
            <a:avLst/>
          </a:prstGeom>
          <a:noFill/>
          <a:ln w="22860">
            <a:solidFill>
              <a:srgbClr val="FBBF24"/>
            </a:solidFill>
            <a:prstDash val="solid"/>
            <a:headEnd type="none"/>
            <a:tailEnd type="none"/>
          </a:ln>
        </p:spPr>
      </p:sp>
      <p:sp>
        <p:nvSpPr>
          <p:cNvPr id="31" name="static:26:text"/>
          <p:cNvSpPr/>
          <p:nvPr/>
        </p:nvSpPr>
        <p:spPr>
          <a:xfrm>
            <a:off x="5867400" y="1783556"/>
            <a:ext cx="861893" cy="228600"/>
          </a:xfrm>
          <a:prstGeom prst="rect">
            <a:avLst/>
          </a:prstGeom>
          <a:noFill/>
          <a:ln/>
        </p:spPr>
        <p:txBody>
          <a:bodyPr wrap="none" lIns="0" tIns="0" rIns="0" bIns="0" rtlCol="0" anchor="ctr"/>
          <a:lstStyle/>
          <a:p>
            <a:pPr algn="l" indent="0" marL="0">
              <a:buNone/>
            </a:pPr>
            <a:r>
              <a:rPr lang="en-US" sz="1440" b="1" dirty="0">
                <a:solidFill>
                  <a:srgbClr val="FBBF24"/>
                </a:solidFill>
                <a:latin typeface="Arial" pitchFamily="34" charset="0"/>
                <a:ea typeface="Arial" pitchFamily="34" charset="-122"/>
                <a:cs typeface="Arial" pitchFamily="34" charset="-120"/>
              </a:rPr>
              <a:t>Optimise</a:t>
            </a:r>
            <a:endParaRPr lang="en-US" sz="1440" dirty="0"/>
          </a:p>
        </p:txBody>
      </p:sp>
      <p:sp>
        <p:nvSpPr>
          <p:cNvPr id="32" name="static:27:text"/>
          <p:cNvSpPr/>
          <p:nvPr/>
        </p:nvSpPr>
        <p:spPr>
          <a:xfrm>
            <a:off x="5867400" y="2236113"/>
            <a:ext cx="1717953"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Agent optimizer overview</a:t>
            </a:r>
            <a:endParaRPr lang="en-US" sz="1140" dirty="0"/>
          </a:p>
        </p:txBody>
      </p:sp>
      <p:sp>
        <p:nvSpPr>
          <p:cNvPr id="33" name="static:28:text"/>
          <p:cNvSpPr/>
          <p:nvPr/>
        </p:nvSpPr>
        <p:spPr>
          <a:xfrm>
            <a:off x="5867400" y="2416612"/>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34" name="static:29:text"/>
          <p:cNvSpPr/>
          <p:nvPr/>
        </p:nvSpPr>
        <p:spPr>
          <a:xfrm>
            <a:off x="5867400" y="2684740"/>
            <a:ext cx="1884521"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Optimize instructions, skills,</a:t>
            </a:r>
            <a:endParaRPr lang="en-US" sz="1140" dirty="0"/>
          </a:p>
        </p:txBody>
      </p:sp>
      <p:sp>
        <p:nvSpPr>
          <p:cNvPr id="35" name="static:30:text"/>
          <p:cNvSpPr/>
          <p:nvPr/>
        </p:nvSpPr>
        <p:spPr>
          <a:xfrm>
            <a:off x="5867400" y="2872859"/>
            <a:ext cx="1189792"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3" invalidUrl="" action="" tgtFrame="" tooltip="" history="1" highlightClick="0" endSnd="0">
                  <a:extLst>
                    <a:ext uri="{A12FA001-AC4F-418D-AE19-62706E023703}">
                      <ahyp:hlinkClr xmlns:ahyp="http://schemas.microsoft.com/office/drawing/2018/hyperlinkcolor" val="tx"/>
                    </a:ext>
                  </a:extLst>
                </a:hlinkClick>
              </a:rPr>
              <a:t>tools and models</a:t>
            </a:r>
            <a:endParaRPr lang="en-US" sz="1140" dirty="0"/>
          </a:p>
        </p:txBody>
      </p:sp>
      <p:sp>
        <p:nvSpPr>
          <p:cNvPr id="36" name="static:31:text"/>
          <p:cNvSpPr/>
          <p:nvPr/>
        </p:nvSpPr>
        <p:spPr>
          <a:xfrm>
            <a:off x="5867400" y="3053358"/>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37" name="static:32:text"/>
          <p:cNvSpPr/>
          <p:nvPr/>
        </p:nvSpPr>
        <p:spPr>
          <a:xfrm>
            <a:off x="5867400" y="3321487"/>
            <a:ext cx="1936075"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4" invalidUrl="" action="" tgtFrame="" tooltip="" history="1" highlightClick="0" endSnd="0">
                  <a:extLst>
                    <a:ext uri="{A12FA001-AC4F-418D-AE19-62706E023703}">
                      <ahyp:hlinkClr xmlns:ahyp="http://schemas.microsoft.com/office/drawing/2018/hyperlinkcolor" val="tx"/>
                    </a:ext>
                  </a:extLst>
                </a:hlinkClick>
              </a:rPr>
              <a:t>Six lessons for reliable Agent</a:t>
            </a:r>
            <a:endParaRPr lang="en-US" sz="1140" dirty="0"/>
          </a:p>
        </p:txBody>
      </p:sp>
      <p:sp>
        <p:nvSpPr>
          <p:cNvPr id="38" name="static:33:text"/>
          <p:cNvSpPr/>
          <p:nvPr/>
        </p:nvSpPr>
        <p:spPr>
          <a:xfrm>
            <a:off x="5867400" y="3509605"/>
            <a:ext cx="1097994"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5" invalidUrl="" action="" tgtFrame="" tooltip="" history="1" highlightClick="0" endSnd="0">
                  <a:extLst>
                    <a:ext uri="{A12FA001-AC4F-418D-AE19-62706E023703}">
                      <ahyp:hlinkClr xmlns:ahyp="http://schemas.microsoft.com/office/drawing/2018/hyperlinkcolor" val="tx"/>
                    </a:ext>
                  </a:extLst>
                </a:hlinkClick>
              </a:rPr>
              <a:t>Optimizer gains</a:t>
            </a:r>
            <a:endParaRPr lang="en-US" sz="1140" dirty="0"/>
          </a:p>
        </p:txBody>
      </p:sp>
      <p:sp>
        <p:nvSpPr>
          <p:cNvPr id="39" name="static:34:text"/>
          <p:cNvSpPr/>
          <p:nvPr/>
        </p:nvSpPr>
        <p:spPr>
          <a:xfrm>
            <a:off x="5867400" y="3690104"/>
            <a:ext cx="1414820"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Tech Community</a:t>
            </a:r>
            <a:endParaRPr lang="en-US" sz="840" dirty="0"/>
          </a:p>
        </p:txBody>
      </p:sp>
      <p:sp>
        <p:nvSpPr>
          <p:cNvPr id="40" name="static:35:shape"/>
          <p:cNvSpPr/>
          <p:nvPr/>
        </p:nvSpPr>
        <p:spPr>
          <a:xfrm>
            <a:off x="8313420" y="1798796"/>
            <a:ext cx="2141220" cy="300157"/>
          </a:xfrm>
          <a:prstGeom prst="rect">
            <a:avLst/>
          </a:prstGeom>
          <a:solidFill>
            <a:srgbClr val="000000">
              <a:alpha val="0"/>
            </a:srgbClr>
          </a:solidFill>
          <a:ln w="12700">
            <a:solidFill>
              <a:srgbClr val="333333">
                <a:alpha val="0"/>
              </a:srgbClr>
            </a:solidFill>
            <a:prstDash val="solid"/>
          </a:ln>
        </p:spPr>
      </p:sp>
      <p:sp>
        <p:nvSpPr>
          <p:cNvPr id="41" name="static:35:shape:border-2"/>
          <p:cNvSpPr/>
          <p:nvPr/>
        </p:nvSpPr>
        <p:spPr>
          <a:xfrm>
            <a:off x="8313420" y="2098953"/>
            <a:ext cx="2141220" cy="0"/>
          </a:xfrm>
          <a:prstGeom prst="line">
            <a:avLst/>
          </a:prstGeom>
          <a:noFill/>
          <a:ln w="22860">
            <a:solidFill>
              <a:srgbClr val="4ADE80"/>
            </a:solidFill>
            <a:prstDash val="solid"/>
            <a:headEnd type="none"/>
            <a:tailEnd type="none"/>
          </a:ln>
        </p:spPr>
      </p:sp>
      <p:sp>
        <p:nvSpPr>
          <p:cNvPr id="42" name="static:36:text"/>
          <p:cNvSpPr/>
          <p:nvPr/>
        </p:nvSpPr>
        <p:spPr>
          <a:xfrm>
            <a:off x="8313420" y="1783556"/>
            <a:ext cx="474702" cy="228600"/>
          </a:xfrm>
          <a:prstGeom prst="rect">
            <a:avLst/>
          </a:prstGeom>
          <a:noFill/>
          <a:ln/>
        </p:spPr>
        <p:txBody>
          <a:bodyPr wrap="none" lIns="0" tIns="0" rIns="0" bIns="0" rtlCol="0" anchor="ctr"/>
          <a:lstStyle/>
          <a:p>
            <a:pPr algn="l" indent="0" marL="0">
              <a:buNone/>
            </a:pPr>
            <a:r>
              <a:rPr lang="en-US" sz="1440" b="1" dirty="0">
                <a:solidFill>
                  <a:srgbClr val="4ADE80"/>
                </a:solidFill>
                <a:latin typeface="Arial" pitchFamily="34" charset="0"/>
                <a:ea typeface="Arial" pitchFamily="34" charset="-122"/>
                <a:cs typeface="Arial" pitchFamily="34" charset="-120"/>
              </a:rPr>
              <a:t>Ship</a:t>
            </a:r>
            <a:endParaRPr lang="en-US" sz="1440" dirty="0"/>
          </a:p>
        </p:txBody>
      </p:sp>
      <p:sp>
        <p:nvSpPr>
          <p:cNvPr id="43" name="static:37:text"/>
          <p:cNvSpPr/>
          <p:nvPr/>
        </p:nvSpPr>
        <p:spPr>
          <a:xfrm>
            <a:off x="8313420" y="2236113"/>
            <a:ext cx="1518404"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6" invalidUrl="" action="" tgtFrame="" tooltip="" history="1" highlightClick="0" endSnd="0">
                  <a:extLst>
                    <a:ext uri="{A12FA001-AC4F-418D-AE19-62706E023703}">
                      <ahyp:hlinkClr xmlns:ahyp="http://schemas.microsoft.com/office/drawing/2018/hyperlinkcolor" val="tx"/>
                    </a:ext>
                  </a:extLst>
                </a:hlinkClick>
              </a:rPr>
              <a:t>Continuous evaluation</a:t>
            </a:r>
            <a:endParaRPr lang="en-US" sz="1140" dirty="0"/>
          </a:p>
        </p:txBody>
      </p:sp>
      <p:sp>
        <p:nvSpPr>
          <p:cNvPr id="44" name="static:38:text"/>
          <p:cNvSpPr/>
          <p:nvPr/>
        </p:nvSpPr>
        <p:spPr>
          <a:xfrm>
            <a:off x="8313420" y="2416612"/>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45" name="static:39:text"/>
          <p:cNvSpPr/>
          <p:nvPr/>
        </p:nvSpPr>
        <p:spPr>
          <a:xfrm>
            <a:off x="8313420" y="2684740"/>
            <a:ext cx="1743313"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7" invalidUrl="" action="" tgtFrame="" tooltip="" history="1" highlightClick="0" endSnd="0">
                  <a:extLst>
                    <a:ext uri="{A12FA001-AC4F-418D-AE19-62706E023703}">
                      <ahyp:hlinkClr xmlns:ahyp="http://schemas.microsoft.com/office/drawing/2018/hyperlinkcolor" val="tx"/>
                    </a:ext>
                  </a:extLst>
                </a:hlinkClick>
              </a:rPr>
              <a:t>Run evaluations in GitHub</a:t>
            </a:r>
            <a:endParaRPr lang="en-US" sz="1140" dirty="0"/>
          </a:p>
        </p:txBody>
      </p:sp>
      <p:sp>
        <p:nvSpPr>
          <p:cNvPr id="46" name="static:40:text"/>
          <p:cNvSpPr/>
          <p:nvPr/>
        </p:nvSpPr>
        <p:spPr>
          <a:xfrm>
            <a:off x="8313420" y="2872859"/>
            <a:ext cx="572810"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8" invalidUrl="" action="" tgtFrame="" tooltip="" history="1" highlightClick="0" endSnd="0">
                  <a:extLst>
                    <a:ext uri="{A12FA001-AC4F-418D-AE19-62706E023703}">
                      <ahyp:hlinkClr xmlns:ahyp="http://schemas.microsoft.com/office/drawing/2018/hyperlinkcolor" val="tx"/>
                    </a:ext>
                  </a:extLst>
                </a:hlinkClick>
              </a:rPr>
              <a:t>Actions</a:t>
            </a:r>
            <a:endParaRPr lang="en-US" sz="1140" dirty="0"/>
          </a:p>
        </p:txBody>
      </p:sp>
      <p:sp>
        <p:nvSpPr>
          <p:cNvPr id="47" name="static:41:text"/>
          <p:cNvSpPr/>
          <p:nvPr/>
        </p:nvSpPr>
        <p:spPr>
          <a:xfrm>
            <a:off x="8313420" y="3053358"/>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48" name="static:42:text"/>
          <p:cNvSpPr/>
          <p:nvPr/>
        </p:nvSpPr>
        <p:spPr>
          <a:xfrm>
            <a:off x="8313420" y="3321487"/>
            <a:ext cx="2208728" cy="182880"/>
          </a:xfrm>
          <a:prstGeom prst="rect">
            <a:avLst/>
          </a:prstGeom>
          <a:noFill/>
          <a:ln/>
        </p:spPr>
        <p:txBody>
          <a:bodyPr wrap="none" lIns="0" tIns="0" rIns="0" bIns="0" rtlCol="0" anchor="ctr"/>
          <a:lstStyle/>
          <a:p>
            <a:pPr algn="l" indent="0" marL="0">
              <a:buNone/>
            </a:pPr>
            <a:r>
              <a:rPr lang="en-US" sz="1140" u="sng" dirty="0">
                <a:solidFill>
                  <a:srgbClr val="DEDEDE"/>
                </a:solidFill>
                <a:latin typeface="Arial" pitchFamily="34" charset="0"/>
                <a:ea typeface="Arial" pitchFamily="34" charset="-122"/>
                <a:cs typeface="Arial" pitchFamily="34" charset="-120"/>
                <a:hlinkClick r:id="rId19" invalidUrl="" action="" tgtFrame="" tooltip="" history="1" highlightClick="0" endSnd="0">
                  <a:extLst>
                    <a:ext uri="{A12FA001-AC4F-418D-AE19-62706E023703}">
                      <ahyp:hlinkClr xmlns:ahyp="http://schemas.microsoft.com/office/drawing/2018/hyperlinkcolor" val="tx"/>
                    </a:ext>
                  </a:extLst>
                </a:hlinkClick>
              </a:rPr>
              <a:t>CI/CD for hosted agents with azd</a:t>
            </a:r>
            <a:endParaRPr lang="en-US" sz="1140" dirty="0"/>
          </a:p>
        </p:txBody>
      </p:sp>
      <p:sp>
        <p:nvSpPr>
          <p:cNvPr id="49" name="static:43:text"/>
          <p:cNvSpPr/>
          <p:nvPr/>
        </p:nvSpPr>
        <p:spPr>
          <a:xfrm>
            <a:off x="8313420" y="3501985"/>
            <a:ext cx="863679" cy="144780"/>
          </a:xfrm>
          <a:prstGeom prst="rect">
            <a:avLst/>
          </a:prstGeom>
          <a:noFill/>
          <a:ln/>
        </p:spPr>
        <p:txBody>
          <a:bodyPr wrap="none" lIns="0" tIns="0" rIns="0" bIns="0" rtlCol="0" anchor="ctr"/>
          <a:lstStyle/>
          <a:p>
            <a:pPr algn="l" indent="0" marL="0">
              <a:buNone/>
            </a:pPr>
            <a:r>
              <a:rPr lang="en-US" sz="840" dirty="0">
                <a:solidFill>
                  <a:srgbClr val="B0B0B0"/>
                </a:solidFill>
                <a:latin typeface="Arial" pitchFamily="34" charset="0"/>
                <a:ea typeface="Arial" pitchFamily="34" charset="-122"/>
                <a:cs typeface="Arial" pitchFamily="34" charset="-120"/>
              </a:rPr>
              <a:t>Microsoft Learn</a:t>
            </a:r>
            <a:endParaRPr lang="en-US" sz="840" dirty="0"/>
          </a:p>
        </p:txBody>
      </p:sp>
      <p:sp>
        <p:nvSpPr>
          <p:cNvPr id="50" name="static:44:text"/>
          <p:cNvSpPr/>
          <p:nvPr/>
        </p:nvSpPr>
        <p:spPr>
          <a:xfrm>
            <a:off x="609600" y="6461760"/>
            <a:ext cx="1539240"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FY27 AI GENIUS</a:t>
            </a:r>
            <a:endParaRPr lang="en-US" sz="720" dirty="0"/>
          </a:p>
        </p:txBody>
      </p:sp>
      <p:sp>
        <p:nvSpPr>
          <p:cNvPr id="51" name="static:45:text"/>
          <p:cNvSpPr/>
          <p:nvPr/>
        </p:nvSpPr>
        <p:spPr>
          <a:xfrm>
            <a:off x="10460831" y="6461760"/>
            <a:ext cx="1213009" cy="129540"/>
          </a:xfrm>
          <a:prstGeom prst="rect">
            <a:avLst/>
          </a:prstGeom>
          <a:noFill/>
          <a:ln/>
        </p:spPr>
        <p:txBody>
          <a:bodyPr wrap="none" lIns="0" tIns="0" rIns="0" bIns="0" rtlCol="0" anchor="ctr"/>
          <a:lstStyle/>
          <a:p>
            <a:pPr algn="l" indent="0" marL="0">
              <a:buNone/>
            </a:pPr>
            <a:r>
              <a:rPr lang="en-US" sz="720" spc="58" kern="0" dirty="0">
                <a:solidFill>
                  <a:srgbClr val="919191"/>
                </a:solidFill>
                <a:latin typeface="Arial" pitchFamily="34" charset="0"/>
                <a:ea typeface="Arial" pitchFamily="34" charset="-122"/>
                <a:cs typeface="Arial" pitchFamily="34" charset="-120"/>
              </a:rPr>
              <a:t>AI GENIUS / S6 E2 / 21</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Feedback">
    <p:spTree>
      <p:nvGrpSpPr>
        <p:cNvPr id="1" name=""/>
        <p:cNvGrpSpPr/>
        <p:nvPr/>
      </p:nvGrpSpPr>
      <p:grpSpPr>
        <a:xfrm>
          <a:off x="0" y="0"/>
          <a:ext cx="0" cy="0"/>
          <a:chOff x="0" y="0"/>
          <a:chExt cx="0" cy="0"/>
        </a:xfrm>
      </p:grpSpPr>
      <p:sp>
        <p:nvSpPr>
          <p:cNvPr id="2" name="static:0:text"/>
          <p:cNvSpPr/>
          <p:nvPr/>
        </p:nvSpPr>
        <p:spPr>
          <a:xfrm>
            <a:off x="9061013" y="449580"/>
            <a:ext cx="2231827" cy="114300"/>
          </a:xfrm>
          <a:prstGeom prst="rect">
            <a:avLst/>
          </a:prstGeom>
          <a:noFill/>
          <a:ln/>
        </p:spPr>
        <p:txBody>
          <a:bodyPr wrap="none" lIns="0" tIns="0" rIns="0" bIns="0" rtlCol="0" anchor="ctr"/>
          <a:lstStyle/>
          <a:p>
            <a:pPr algn="l" indent="0" marL="0">
              <a:buNone/>
            </a:pPr>
            <a:r>
              <a:rPr lang="en-US" sz="660" dirty="0">
                <a:solidFill>
                  <a:srgbClr val="FFFFFF"/>
                </a:solidFill>
                <a:latin typeface="Arial" pitchFamily="34" charset="0"/>
                <a:ea typeface="Arial" pitchFamily="34" charset="-122"/>
                <a:cs typeface="Arial" pitchFamily="34" charset="-120"/>
              </a:rPr>
              <a:t>FY27 AI Genius  |  Classified as Microsoft Confidential</a:t>
            </a:r>
            <a:endParaRPr lang="en-US" sz="660" dirty="0"/>
          </a:p>
        </p:txBody>
      </p:sp>
      <p:sp>
        <p:nvSpPr>
          <p:cNvPr id="3" name="static:1:text"/>
          <p:cNvSpPr/>
          <p:nvPr/>
        </p:nvSpPr>
        <p:spPr>
          <a:xfrm>
            <a:off x="464820" y="2141220"/>
            <a:ext cx="4720661" cy="670560"/>
          </a:xfrm>
          <a:prstGeom prst="rect">
            <a:avLst/>
          </a:prstGeom>
          <a:noFill/>
          <a:ln/>
        </p:spPr>
        <p:txBody>
          <a:bodyPr wrap="none" lIns="0" tIns="0" rIns="0" bIns="0" rtlCol="0" anchor="ctr"/>
          <a:lstStyle/>
          <a:p>
            <a:pPr algn="l" indent="0" marL="0">
              <a:buNone/>
            </a:pPr>
            <a:r>
              <a:rPr lang="en-US" sz="4380" b="1" dirty="0">
                <a:solidFill>
                  <a:srgbClr val="DEDEDE"/>
                </a:solidFill>
                <a:latin typeface="Arial" pitchFamily="34" charset="0"/>
                <a:ea typeface="Arial" pitchFamily="34" charset="-122"/>
                <a:cs typeface="Arial" pitchFamily="34" charset="-120"/>
              </a:rPr>
              <a:t>Scan to share your</a:t>
            </a:r>
            <a:endParaRPr lang="en-US" sz="4380" dirty="0"/>
          </a:p>
        </p:txBody>
      </p:sp>
      <p:sp>
        <p:nvSpPr>
          <p:cNvPr id="4" name="static:2:text"/>
          <p:cNvSpPr/>
          <p:nvPr/>
        </p:nvSpPr>
        <p:spPr>
          <a:xfrm>
            <a:off x="464820" y="2808684"/>
            <a:ext cx="5028200" cy="670560"/>
          </a:xfrm>
          <a:prstGeom prst="rect">
            <a:avLst/>
          </a:prstGeom>
          <a:noFill/>
          <a:ln/>
        </p:spPr>
        <p:txBody>
          <a:bodyPr wrap="none" lIns="0" tIns="0" rIns="0" bIns="0" rtlCol="0" anchor="ctr"/>
          <a:lstStyle/>
          <a:p>
            <a:pPr algn="l" indent="0" marL="0">
              <a:buNone/>
            </a:pPr>
            <a:r>
              <a:rPr lang="en-US" sz="4380" b="1" dirty="0">
                <a:solidFill>
                  <a:srgbClr val="FFB900"/>
                </a:solidFill>
                <a:latin typeface="Arial" pitchFamily="34" charset="0"/>
                <a:ea typeface="Arial" pitchFamily="34" charset="-122"/>
                <a:cs typeface="Arial" pitchFamily="34" charset="-120"/>
              </a:rPr>
              <a:t>feedback</a:t>
            </a:r>
            <a:r>
              <a:rPr lang="en-US" sz="4380" b="1" dirty="0">
                <a:solidFill>
                  <a:srgbClr val="DEDEDE"/>
                </a:solidFill>
                <a:latin typeface="Arial" pitchFamily="34" charset="0"/>
                <a:ea typeface="Arial" pitchFamily="34" charset="-122"/>
                <a:cs typeface="Arial" pitchFamily="34" charset="-120"/>
              </a:rPr>
              <a:t> of today's</a:t>
            </a:r>
            <a:endParaRPr lang="en-US" sz="4380" dirty="0"/>
          </a:p>
        </p:txBody>
      </p:sp>
      <p:sp>
        <p:nvSpPr>
          <p:cNvPr id="5" name="static:3:text"/>
          <p:cNvSpPr/>
          <p:nvPr/>
        </p:nvSpPr>
        <p:spPr>
          <a:xfrm>
            <a:off x="464820" y="3476149"/>
            <a:ext cx="2183797" cy="670560"/>
          </a:xfrm>
          <a:prstGeom prst="rect">
            <a:avLst/>
          </a:prstGeom>
          <a:noFill/>
          <a:ln/>
        </p:spPr>
        <p:txBody>
          <a:bodyPr wrap="none" lIns="0" tIns="0" rIns="0" bIns="0" rtlCol="0" anchor="ctr"/>
          <a:lstStyle/>
          <a:p>
            <a:pPr algn="l" indent="0" marL="0">
              <a:buNone/>
            </a:pPr>
            <a:r>
              <a:rPr lang="en-US" sz="4380" b="1" dirty="0">
                <a:solidFill>
                  <a:srgbClr val="DEDEDE"/>
                </a:solidFill>
                <a:latin typeface="Arial" pitchFamily="34" charset="0"/>
                <a:ea typeface="Arial" pitchFamily="34" charset="-122"/>
                <a:cs typeface="Arial" pitchFamily="34" charset="-120"/>
              </a:rPr>
              <a:t>session:</a:t>
            </a:r>
            <a:endParaRPr lang="en-US" sz="4380" dirty="0"/>
          </a:p>
        </p:txBody>
      </p:sp>
      <p:pic>
        <p:nvPicPr>
          <p:cNvPr id="6" name="static:4:image" descr="QR code for session feedback">    </p:cNvPr>
          <p:cNvPicPr>
            <a:picLocks noChangeAspect="1"/>
          </p:cNvPicPr>
          <p:nvPr/>
        </p:nvPicPr>
        <p:blipFill>
          <a:blip r:embed="rId1"/>
          <a:stretch>
            <a:fillRect/>
          </a:stretch>
        </p:blipFill>
        <p:spPr>
          <a:xfrm>
            <a:off x="7018020" y="1714500"/>
            <a:ext cx="3764280" cy="376428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eries page">
    <p:spTree>
      <p:nvGrpSpPr>
        <p:cNvPr id="1" name=""/>
        <p:cNvGrpSpPr/>
        <p:nvPr/>
      </p:nvGrpSpPr>
      <p:grpSpPr>
        <a:xfrm>
          <a:off x="0" y="0"/>
          <a:ext cx="0" cy="0"/>
          <a:chOff x="0" y="0"/>
          <a:chExt cx="0" cy="0"/>
        </a:xfrm>
      </p:grpSpPr>
      <p:sp>
        <p:nvSpPr>
          <p:cNvPr id="2" name="static:0:text"/>
          <p:cNvSpPr/>
          <p:nvPr/>
        </p:nvSpPr>
        <p:spPr>
          <a:xfrm>
            <a:off x="9061013" y="449580"/>
            <a:ext cx="2231827" cy="114300"/>
          </a:xfrm>
          <a:prstGeom prst="rect">
            <a:avLst/>
          </a:prstGeom>
          <a:noFill/>
          <a:ln/>
        </p:spPr>
        <p:txBody>
          <a:bodyPr wrap="none" lIns="0" tIns="0" rIns="0" bIns="0" rtlCol="0" anchor="ctr"/>
          <a:lstStyle/>
          <a:p>
            <a:pPr algn="l" indent="0" marL="0">
              <a:buNone/>
            </a:pPr>
            <a:r>
              <a:rPr lang="en-US" sz="660" dirty="0">
                <a:solidFill>
                  <a:srgbClr val="FFFFFF"/>
                </a:solidFill>
                <a:latin typeface="Arial" pitchFamily="34" charset="0"/>
                <a:ea typeface="Arial" pitchFamily="34" charset="-122"/>
                <a:cs typeface="Arial" pitchFamily="34" charset="-120"/>
              </a:rPr>
              <a:t>FY27 AI Genius  |  Classified as Microsoft Confidential</a:t>
            </a:r>
            <a:endParaRPr lang="en-US" sz="660" dirty="0"/>
          </a:p>
        </p:txBody>
      </p:sp>
      <p:sp>
        <p:nvSpPr>
          <p:cNvPr id="3" name="static:1:text"/>
          <p:cNvSpPr/>
          <p:nvPr/>
        </p:nvSpPr>
        <p:spPr>
          <a:xfrm>
            <a:off x="464820" y="2141220"/>
            <a:ext cx="4720661" cy="670560"/>
          </a:xfrm>
          <a:prstGeom prst="rect">
            <a:avLst/>
          </a:prstGeom>
          <a:noFill/>
          <a:ln/>
        </p:spPr>
        <p:txBody>
          <a:bodyPr wrap="none" lIns="0" tIns="0" rIns="0" bIns="0" rtlCol="0" anchor="ctr"/>
          <a:lstStyle/>
          <a:p>
            <a:pPr algn="l" indent="0" marL="0">
              <a:buNone/>
            </a:pPr>
            <a:r>
              <a:rPr lang="en-US" sz="4380" b="1" dirty="0">
                <a:solidFill>
                  <a:srgbClr val="DEDEDE"/>
                </a:solidFill>
                <a:latin typeface="Arial" pitchFamily="34" charset="0"/>
                <a:ea typeface="Arial" pitchFamily="34" charset="-122"/>
                <a:cs typeface="Arial" pitchFamily="34" charset="-120"/>
              </a:rPr>
              <a:t>Scan to share your</a:t>
            </a:r>
            <a:endParaRPr lang="en-US" sz="4380" dirty="0"/>
          </a:p>
        </p:txBody>
      </p:sp>
      <p:sp>
        <p:nvSpPr>
          <p:cNvPr id="4" name="static:2:text"/>
          <p:cNvSpPr/>
          <p:nvPr/>
        </p:nvSpPr>
        <p:spPr>
          <a:xfrm>
            <a:off x="464820" y="2808684"/>
            <a:ext cx="5028200" cy="670560"/>
          </a:xfrm>
          <a:prstGeom prst="rect">
            <a:avLst/>
          </a:prstGeom>
          <a:noFill/>
          <a:ln/>
        </p:spPr>
        <p:txBody>
          <a:bodyPr wrap="none" lIns="0" tIns="0" rIns="0" bIns="0" rtlCol="0" anchor="ctr"/>
          <a:lstStyle/>
          <a:p>
            <a:pPr algn="l" indent="0" marL="0">
              <a:buNone/>
            </a:pPr>
            <a:r>
              <a:rPr lang="en-US" sz="4380" b="1" dirty="0">
                <a:solidFill>
                  <a:srgbClr val="FFB900"/>
                </a:solidFill>
                <a:latin typeface="Arial" pitchFamily="34" charset="0"/>
                <a:ea typeface="Arial" pitchFamily="34" charset="-122"/>
                <a:cs typeface="Arial" pitchFamily="34" charset="-120"/>
              </a:rPr>
              <a:t>feedback</a:t>
            </a:r>
            <a:r>
              <a:rPr lang="en-US" sz="4380" b="1" dirty="0">
                <a:solidFill>
                  <a:srgbClr val="DEDEDE"/>
                </a:solidFill>
                <a:latin typeface="Arial" pitchFamily="34" charset="0"/>
                <a:ea typeface="Arial" pitchFamily="34" charset="-122"/>
                <a:cs typeface="Arial" pitchFamily="34" charset="-120"/>
              </a:rPr>
              <a:t> of today's</a:t>
            </a:r>
            <a:endParaRPr lang="en-US" sz="4380" dirty="0"/>
          </a:p>
        </p:txBody>
      </p:sp>
      <p:sp>
        <p:nvSpPr>
          <p:cNvPr id="5" name="static:3:text"/>
          <p:cNvSpPr/>
          <p:nvPr/>
        </p:nvSpPr>
        <p:spPr>
          <a:xfrm>
            <a:off x="464820" y="3476149"/>
            <a:ext cx="2183797" cy="670560"/>
          </a:xfrm>
          <a:prstGeom prst="rect">
            <a:avLst/>
          </a:prstGeom>
          <a:noFill/>
          <a:ln/>
        </p:spPr>
        <p:txBody>
          <a:bodyPr wrap="none" lIns="0" tIns="0" rIns="0" bIns="0" rtlCol="0" anchor="ctr"/>
          <a:lstStyle/>
          <a:p>
            <a:pPr algn="l" indent="0" marL="0">
              <a:buNone/>
            </a:pPr>
            <a:r>
              <a:rPr lang="en-US" sz="4380" b="1" dirty="0">
                <a:solidFill>
                  <a:srgbClr val="DEDEDE"/>
                </a:solidFill>
                <a:latin typeface="Arial" pitchFamily="34" charset="0"/>
                <a:ea typeface="Arial" pitchFamily="34" charset="-122"/>
                <a:cs typeface="Arial" pitchFamily="34" charset="-120"/>
              </a:rPr>
              <a:t>session:</a:t>
            </a:r>
            <a:endParaRPr lang="en-US" sz="4380" dirty="0"/>
          </a:p>
        </p:txBody>
      </p:sp>
      <p:sp>
        <p:nvSpPr>
          <p:cNvPr id="6" name="static:4:shape"/>
          <p:cNvSpPr/>
          <p:nvPr/>
        </p:nvSpPr>
        <p:spPr>
          <a:xfrm>
            <a:off x="7018020" y="1714500"/>
            <a:ext cx="3764280" cy="3764280"/>
          </a:xfrm>
          <a:prstGeom prst="rect">
            <a:avLst/>
          </a:prstGeom>
          <a:solidFill>
            <a:srgbClr val="E3E3E3"/>
          </a:solidFill>
          <a:ln w="12700">
            <a:solidFill>
              <a:srgbClr val="333333">
                <a:alpha val="0"/>
              </a:srgbClr>
            </a:solidFill>
            <a:prstDash val="solid"/>
          </a:ln>
        </p:spPr>
      </p:sp>
      <p:sp>
        <p:nvSpPr>
          <p:cNvPr id="7" name="static:5:text"/>
          <p:cNvSpPr/>
          <p:nvPr/>
        </p:nvSpPr>
        <p:spPr>
          <a:xfrm>
            <a:off x="7886224" y="3322320"/>
            <a:ext cx="2119074" cy="281940"/>
          </a:xfrm>
          <a:prstGeom prst="rect">
            <a:avLst/>
          </a:prstGeom>
          <a:noFill/>
          <a:ln/>
        </p:spPr>
        <p:txBody>
          <a:bodyPr wrap="none" lIns="0" tIns="0" rIns="0" bIns="0" rtlCol="0" anchor="ctr"/>
          <a:lstStyle/>
          <a:p>
            <a:pPr algn="l" indent="0" marL="0">
              <a:buNone/>
            </a:pPr>
            <a:r>
              <a:rPr lang="en-US" sz="1800" dirty="0">
                <a:solidFill>
                  <a:srgbClr val="1F2A44"/>
                </a:solidFill>
                <a:latin typeface="Arial" pitchFamily="34" charset="0"/>
                <a:ea typeface="Arial" pitchFamily="34" charset="-122"/>
                <a:cs typeface="Arial" pitchFamily="34" charset="-120"/>
              </a:rPr>
              <a:t>Please input the new</a:t>
            </a:r>
            <a:endParaRPr lang="en-US" sz="1800" dirty="0"/>
          </a:p>
        </p:txBody>
      </p:sp>
      <p:sp>
        <p:nvSpPr>
          <p:cNvPr id="8" name="static:6:text"/>
          <p:cNvSpPr/>
          <p:nvPr/>
        </p:nvSpPr>
        <p:spPr>
          <a:xfrm>
            <a:off x="7885628" y="3589020"/>
            <a:ext cx="2120384" cy="281940"/>
          </a:xfrm>
          <a:prstGeom prst="rect">
            <a:avLst/>
          </a:prstGeom>
          <a:noFill/>
          <a:ln/>
        </p:spPr>
        <p:txBody>
          <a:bodyPr wrap="none" lIns="0" tIns="0" rIns="0" bIns="0" rtlCol="0" anchor="ctr"/>
          <a:lstStyle/>
          <a:p>
            <a:pPr algn="l" indent="0" marL="0">
              <a:buNone/>
            </a:pPr>
            <a:r>
              <a:rPr lang="en-US" sz="1800" dirty="0">
                <a:solidFill>
                  <a:srgbClr val="1F2A44"/>
                </a:solidFill>
                <a:latin typeface="Arial" pitchFamily="34" charset="0"/>
                <a:ea typeface="Arial" pitchFamily="34" charset="-122"/>
                <a:cs typeface="Arial" pitchFamily="34" charset="-120"/>
              </a:rPr>
              <a:t>series page QR code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AI Genius badge">
    <p:spTree>
      <p:nvGrpSpPr>
        <p:cNvPr id="1" name=""/>
        <p:cNvGrpSpPr/>
        <p:nvPr/>
      </p:nvGrpSpPr>
      <p:grpSpPr>
        <a:xfrm>
          <a:off x="0" y="0"/>
          <a:ext cx="0" cy="0"/>
          <a:chOff x="0" y="0"/>
          <a:chExt cx="0" cy="0"/>
        </a:xfrm>
      </p:grpSpPr>
      <p:pic>
        <p:nvPicPr>
          <p:cNvPr id="2" name="static:0:image" descr="Microsoft AI Genius Builder Certified badge">    </p:cNvPr>
          <p:cNvPicPr>
            <a:picLocks noChangeAspect="1"/>
          </p:cNvPicPr>
          <p:nvPr/>
        </p:nvPicPr>
        <p:blipFill>
          <a:blip r:embed="rId1"/>
          <a:stretch>
            <a:fillRect/>
          </a:stretch>
        </p:blipFill>
        <p:spPr>
          <a:xfrm>
            <a:off x="1645920" y="1661160"/>
            <a:ext cx="2727960" cy="2434233"/>
          </a:xfrm>
          <a:prstGeom prst="rect">
            <a:avLst/>
          </a:prstGeom>
        </p:spPr>
      </p:pic>
      <p:sp>
        <p:nvSpPr>
          <p:cNvPr id="3" name="static:1:text"/>
          <p:cNvSpPr/>
          <p:nvPr/>
        </p:nvSpPr>
        <p:spPr>
          <a:xfrm>
            <a:off x="906780" y="4472940"/>
            <a:ext cx="4588312" cy="556260"/>
          </a:xfrm>
          <a:prstGeom prst="rect">
            <a:avLst/>
          </a:prstGeom>
          <a:noFill/>
          <a:ln/>
        </p:spPr>
        <p:txBody>
          <a:bodyPr wrap="none" lIns="0" tIns="0" rIns="0" bIns="0" rtlCol="0" anchor="ctr"/>
          <a:lstStyle/>
          <a:p>
            <a:pPr algn="l" indent="0" marL="0">
              <a:buNone/>
            </a:pPr>
            <a:r>
              <a:rPr lang="en-US" sz="3600" b="1" dirty="0">
                <a:solidFill>
                  <a:srgbClr val="DEDEDE"/>
                </a:solidFill>
                <a:latin typeface="Arial" pitchFamily="34" charset="0"/>
                <a:ea typeface="Arial" pitchFamily="34" charset="-122"/>
                <a:cs typeface="Arial" pitchFamily="34" charset="-120"/>
              </a:rPr>
              <a:t>An </a:t>
            </a:r>
            <a:r>
              <a:rPr lang="en-US" sz="3600" b="1" dirty="0">
                <a:solidFill>
                  <a:srgbClr val="FFB900"/>
                </a:solidFill>
                <a:latin typeface="Arial" pitchFamily="34" charset="0"/>
                <a:ea typeface="Arial" pitchFamily="34" charset="-122"/>
                <a:cs typeface="Arial" pitchFamily="34" charset="-120"/>
              </a:rPr>
              <a:t>exclusive</a:t>
            </a:r>
            <a:r>
              <a:rPr lang="en-US" sz="3600" b="1" dirty="0">
                <a:solidFill>
                  <a:srgbClr val="DEDEDE"/>
                </a:solidFill>
                <a:latin typeface="Arial" pitchFamily="34" charset="0"/>
                <a:ea typeface="Arial" pitchFamily="34" charset="-122"/>
                <a:cs typeface="Arial" pitchFamily="34" charset="-120"/>
              </a:rPr>
              <a:t> badge to</a:t>
            </a:r>
            <a:endParaRPr lang="en-US" sz="3600" dirty="0"/>
          </a:p>
        </p:txBody>
      </p:sp>
      <p:sp>
        <p:nvSpPr>
          <p:cNvPr id="4" name="static:2:text"/>
          <p:cNvSpPr/>
          <p:nvPr/>
        </p:nvSpPr>
        <p:spPr>
          <a:xfrm>
            <a:off x="906780" y="5021580"/>
            <a:ext cx="4601647" cy="556260"/>
          </a:xfrm>
          <a:prstGeom prst="rect">
            <a:avLst/>
          </a:prstGeom>
          <a:noFill/>
          <a:ln/>
        </p:spPr>
        <p:txBody>
          <a:bodyPr wrap="none" lIns="0" tIns="0" rIns="0" bIns="0" rtlCol="0" anchor="ctr"/>
          <a:lstStyle/>
          <a:p>
            <a:pPr algn="l" indent="0" marL="0">
              <a:buNone/>
            </a:pPr>
            <a:r>
              <a:rPr lang="en-US" sz="3600" b="1" dirty="0">
                <a:solidFill>
                  <a:srgbClr val="DEDEDE"/>
                </a:solidFill>
                <a:latin typeface="Arial" pitchFamily="34" charset="0"/>
                <a:ea typeface="Arial" pitchFamily="34" charset="-122"/>
                <a:cs typeface="Arial" pitchFamily="34" charset="-120"/>
              </a:rPr>
              <a:t>display on your </a:t>
            </a:r>
            <a:r>
              <a:rPr lang="en-US" sz="3600" b="1" dirty="0">
                <a:solidFill>
                  <a:srgbClr val="FFB900"/>
                </a:solidFill>
                <a:latin typeface="Arial" pitchFamily="34" charset="0"/>
                <a:ea typeface="Arial" pitchFamily="34" charset="-122"/>
                <a:cs typeface="Arial" pitchFamily="34" charset="-120"/>
              </a:rPr>
              <a:t>social</a:t>
            </a:r>
            <a:r>
              <a:rPr lang="en-US" sz="3600" b="1" dirty="0">
                <a:solidFill>
                  <a:srgbClr val="DEDEDE"/>
                </a:solidFill>
                <a:latin typeface="Arial" pitchFamily="34" charset="0"/>
                <a:ea typeface="Arial" pitchFamily="34" charset="-122"/>
                <a:cs typeface="Arial" pitchFamily="34" charset="-120"/>
              </a:rPr>
              <a:t>.</a:t>
            </a:r>
            <a:endParaRPr lang="en-US" sz="3600" dirty="0"/>
          </a:p>
        </p:txBody>
      </p:sp>
      <p:sp>
        <p:nvSpPr>
          <p:cNvPr id="5" name="static:3:text"/>
          <p:cNvSpPr/>
          <p:nvPr/>
        </p:nvSpPr>
        <p:spPr>
          <a:xfrm>
            <a:off x="6097310" y="1135380"/>
            <a:ext cx="4868085" cy="411480"/>
          </a:xfrm>
          <a:prstGeom prst="rect">
            <a:avLst/>
          </a:prstGeom>
          <a:noFill/>
          <a:ln/>
        </p:spPr>
        <p:txBody>
          <a:bodyPr wrap="none" lIns="0" tIns="0" rIns="0" bIns="0" rtlCol="0" anchor="ctr"/>
          <a:lstStyle/>
          <a:p>
            <a:pPr algn="l" indent="0" marL="0">
              <a:buNone/>
            </a:pPr>
            <a:r>
              <a:rPr lang="en-US" sz="2640" b="1" dirty="0">
                <a:solidFill>
                  <a:srgbClr val="DEDEDE"/>
                </a:solidFill>
                <a:latin typeface="Arial" pitchFamily="34" charset="0"/>
                <a:ea typeface="Arial" pitchFamily="34" charset="-122"/>
                <a:cs typeface="Arial" pitchFamily="34" charset="-120"/>
              </a:rPr>
              <a:t>Scan to download the AI Genius</a:t>
            </a:r>
            <a:endParaRPr lang="en-US" sz="2640" dirty="0"/>
          </a:p>
        </p:txBody>
      </p:sp>
      <p:sp>
        <p:nvSpPr>
          <p:cNvPr id="6" name="static:4:text"/>
          <p:cNvSpPr/>
          <p:nvPr/>
        </p:nvSpPr>
        <p:spPr>
          <a:xfrm>
            <a:off x="7214949" y="1554480"/>
            <a:ext cx="2632686" cy="411480"/>
          </a:xfrm>
          <a:prstGeom prst="rect">
            <a:avLst/>
          </a:prstGeom>
          <a:noFill/>
          <a:ln/>
        </p:spPr>
        <p:txBody>
          <a:bodyPr wrap="none" lIns="0" tIns="0" rIns="0" bIns="0" rtlCol="0" anchor="ctr"/>
          <a:lstStyle/>
          <a:p>
            <a:pPr algn="l" indent="0" marL="0">
              <a:buNone/>
            </a:pPr>
            <a:r>
              <a:rPr lang="en-US" sz="2640" b="1" dirty="0">
                <a:solidFill>
                  <a:srgbClr val="DEDEDE"/>
                </a:solidFill>
                <a:latin typeface="Arial" pitchFamily="34" charset="0"/>
                <a:ea typeface="Arial" pitchFamily="34" charset="-122"/>
                <a:cs typeface="Arial" pitchFamily="34" charset="-120"/>
              </a:rPr>
              <a:t>'Certified' badge</a:t>
            </a:r>
            <a:endParaRPr lang="en-US" sz="2640" dirty="0"/>
          </a:p>
        </p:txBody>
      </p:sp>
      <p:pic>
        <p:nvPicPr>
          <p:cNvPr id="7" name="static:5:image" descr="QR code to download the AI Genius Certified badge">    </p:cNvPr>
          <p:cNvPicPr>
            <a:picLocks noChangeAspect="1"/>
          </p:cNvPicPr>
          <p:nvPr/>
        </p:nvPicPr>
        <p:blipFill>
          <a:blip r:embed="rId2"/>
          <a:stretch>
            <a:fillRect/>
          </a:stretch>
        </p:blipFill>
        <p:spPr>
          <a:xfrm>
            <a:off x="7200900" y="2057400"/>
            <a:ext cx="2781300" cy="2727960"/>
          </a:xfrm>
          <a:prstGeom prst="rect">
            <a:avLst/>
          </a:prstGeom>
        </p:spPr>
      </p:pic>
      <p:sp>
        <p:nvSpPr>
          <p:cNvPr id="8" name="static:6:text"/>
          <p:cNvSpPr/>
          <p:nvPr/>
        </p:nvSpPr>
        <p:spPr>
          <a:xfrm>
            <a:off x="7200900" y="5120640"/>
            <a:ext cx="1046798" cy="213360"/>
          </a:xfrm>
          <a:prstGeom prst="rect">
            <a:avLst/>
          </a:prstGeom>
          <a:noFill/>
          <a:ln/>
        </p:spPr>
        <p:txBody>
          <a:bodyPr wrap="none" lIns="0" tIns="0" rIns="0" bIns="0" rtlCol="0" anchor="ctr"/>
          <a:lstStyle/>
          <a:p>
            <a:pPr algn="l" indent="0" marL="0">
              <a:buNone/>
            </a:pPr>
            <a:r>
              <a:rPr lang="en-US" sz="1320" b="1" dirty="0">
                <a:solidFill>
                  <a:srgbClr val="FFB900"/>
                </a:solidFill>
                <a:latin typeface="Arial" pitchFamily="34" charset="0"/>
                <a:ea typeface="Arial" pitchFamily="34" charset="-122"/>
                <a:cs typeface="Arial" pitchFamily="34" charset="-120"/>
              </a:rPr>
              <a:t>Instructions:</a:t>
            </a:r>
            <a:endParaRPr lang="en-US" sz="1320" dirty="0"/>
          </a:p>
        </p:txBody>
      </p:sp>
      <p:sp>
        <p:nvSpPr>
          <p:cNvPr id="9" name="static:7:text"/>
          <p:cNvSpPr/>
          <p:nvPr/>
        </p:nvSpPr>
        <p:spPr>
          <a:xfrm>
            <a:off x="7429500" y="5338524"/>
            <a:ext cx="1446014"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Scan the QR code</a:t>
            </a:r>
            <a:endParaRPr lang="en-US" sz="1320" dirty="0"/>
          </a:p>
        </p:txBody>
      </p:sp>
      <p:sp>
        <p:nvSpPr>
          <p:cNvPr id="10" name="static:8:text"/>
          <p:cNvSpPr/>
          <p:nvPr/>
        </p:nvSpPr>
        <p:spPr>
          <a:xfrm>
            <a:off x="7211568" y="5330904"/>
            <a:ext cx="275844" cy="233172"/>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1.</a:t>
            </a:r>
            <a:endParaRPr lang="en-US" sz="1320" dirty="0"/>
          </a:p>
        </p:txBody>
      </p:sp>
      <p:sp>
        <p:nvSpPr>
          <p:cNvPr id="11" name="static:9:text"/>
          <p:cNvSpPr/>
          <p:nvPr/>
        </p:nvSpPr>
        <p:spPr>
          <a:xfrm>
            <a:off x="7429500" y="5556409"/>
            <a:ext cx="2065973"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Download/save the badge</a:t>
            </a:r>
            <a:endParaRPr lang="en-US" sz="1320" dirty="0"/>
          </a:p>
        </p:txBody>
      </p:sp>
      <p:sp>
        <p:nvSpPr>
          <p:cNvPr id="12" name="static:10:text"/>
          <p:cNvSpPr/>
          <p:nvPr/>
        </p:nvSpPr>
        <p:spPr>
          <a:xfrm>
            <a:off x="7211568" y="5548789"/>
            <a:ext cx="275844" cy="233172"/>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2.</a:t>
            </a:r>
            <a:endParaRPr lang="en-US" sz="1320" dirty="0"/>
          </a:p>
        </p:txBody>
      </p:sp>
      <p:sp>
        <p:nvSpPr>
          <p:cNvPr id="13" name="static:11:text"/>
          <p:cNvSpPr/>
          <p:nvPr/>
        </p:nvSpPr>
        <p:spPr>
          <a:xfrm>
            <a:off x="7429500" y="5774293"/>
            <a:ext cx="4088487"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Add to your LinkedIn profile as a '</a:t>
            </a:r>
            <a:r>
              <a:rPr lang="en-US" sz="1320" b="1" u="sng" dirty="0">
                <a:solidFill>
                  <a:srgbClr val="FFB900"/>
                </a:solidFill>
                <a:latin typeface="Arial" pitchFamily="34" charset="0"/>
                <a:ea typeface="Arial" pitchFamily="34" charset="-122"/>
                <a:cs typeface="Arial" pitchFamily="34" charset="-120"/>
              </a:rPr>
              <a:t>Post</a:t>
            </a:r>
            <a:r>
              <a:rPr lang="en-US" sz="1320" b="1" dirty="0">
                <a:solidFill>
                  <a:srgbClr val="DEDEDE"/>
                </a:solidFill>
                <a:latin typeface="Arial" pitchFamily="34" charset="0"/>
                <a:ea typeface="Arial" pitchFamily="34" charset="-122"/>
                <a:cs typeface="Arial" pitchFamily="34" charset="-120"/>
              </a:rPr>
              <a:t>' with your own</a:t>
            </a:r>
            <a:endParaRPr lang="en-US" sz="1320" dirty="0"/>
          </a:p>
        </p:txBody>
      </p:sp>
      <p:sp>
        <p:nvSpPr>
          <p:cNvPr id="14" name="static:12:text"/>
          <p:cNvSpPr/>
          <p:nvPr/>
        </p:nvSpPr>
        <p:spPr>
          <a:xfrm>
            <a:off x="7429500" y="5992178"/>
            <a:ext cx="663535"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caption</a:t>
            </a:r>
            <a:endParaRPr lang="en-US" sz="1320" dirty="0"/>
          </a:p>
        </p:txBody>
      </p:sp>
      <p:sp>
        <p:nvSpPr>
          <p:cNvPr id="15" name="static:13:text"/>
          <p:cNvSpPr/>
          <p:nvPr/>
        </p:nvSpPr>
        <p:spPr>
          <a:xfrm>
            <a:off x="7211568" y="5766673"/>
            <a:ext cx="275844" cy="233172"/>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3.</a:t>
            </a:r>
            <a:endParaRPr lang="en-US" sz="1320" dirty="0"/>
          </a:p>
        </p:txBody>
      </p:sp>
      <p:sp>
        <p:nvSpPr>
          <p:cNvPr id="16" name="static:14:text"/>
          <p:cNvSpPr/>
          <p:nvPr/>
        </p:nvSpPr>
        <p:spPr>
          <a:xfrm>
            <a:off x="7429500" y="6210062"/>
            <a:ext cx="3545562" cy="213360"/>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Don't forget to add the </a:t>
            </a:r>
            <a:r>
              <a:rPr lang="en-US" sz="1320" b="1" dirty="0">
                <a:solidFill>
                  <a:srgbClr val="FFB900"/>
                </a:solidFill>
                <a:latin typeface="Arial" pitchFamily="34" charset="0"/>
                <a:ea typeface="Arial" pitchFamily="34" charset="-122"/>
                <a:cs typeface="Arial" pitchFamily="34" charset="-120"/>
              </a:rPr>
              <a:t>#MSAIGenius</a:t>
            </a:r>
            <a:r>
              <a:rPr lang="en-US" sz="1320" b="1" dirty="0">
                <a:solidFill>
                  <a:srgbClr val="DEDEDE"/>
                </a:solidFill>
                <a:latin typeface="Arial" pitchFamily="34" charset="0"/>
                <a:ea typeface="Arial" pitchFamily="34" charset="-122"/>
                <a:cs typeface="Arial" pitchFamily="34" charset="-120"/>
              </a:rPr>
              <a:t> hashtag</a:t>
            </a:r>
            <a:endParaRPr lang="en-US" sz="1320" dirty="0"/>
          </a:p>
        </p:txBody>
      </p:sp>
      <p:sp>
        <p:nvSpPr>
          <p:cNvPr id="17" name="static:15:text"/>
          <p:cNvSpPr/>
          <p:nvPr/>
        </p:nvSpPr>
        <p:spPr>
          <a:xfrm>
            <a:off x="7211568" y="6202442"/>
            <a:ext cx="275844" cy="233172"/>
          </a:xfrm>
          <a:prstGeom prst="rect">
            <a:avLst/>
          </a:prstGeom>
          <a:noFill/>
          <a:ln/>
        </p:spPr>
        <p:txBody>
          <a:bodyPr wrap="none" lIns="0" tIns="0" rIns="0" bIns="0" rtlCol="0" anchor="ctr"/>
          <a:lstStyle/>
          <a:p>
            <a:pPr algn="l" indent="0" marL="0">
              <a:buNone/>
            </a:pPr>
            <a:r>
              <a:rPr lang="en-US" sz="1320" b="1" dirty="0">
                <a:solidFill>
                  <a:srgbClr val="DEDEDE"/>
                </a:solidFill>
                <a:latin typeface="Arial" pitchFamily="34" charset="0"/>
                <a:ea typeface="Arial" pitchFamily="34" charset="-122"/>
                <a:cs typeface="Arial" pitchFamily="34" charset="-120"/>
              </a:rPr>
              <a:t>4.</a:t>
            </a:r>
            <a:endParaRPr lang="en-US" sz="1320" dirty="0"/>
          </a:p>
        </p:txBody>
      </p:sp>
      <p:sp>
        <p:nvSpPr>
          <p:cNvPr id="18" name="static:16:text"/>
          <p:cNvSpPr/>
          <p:nvPr/>
        </p:nvSpPr>
        <p:spPr>
          <a:xfrm>
            <a:off x="396240" y="6385560"/>
            <a:ext cx="2231827" cy="114300"/>
          </a:xfrm>
          <a:prstGeom prst="rect">
            <a:avLst/>
          </a:prstGeom>
          <a:noFill/>
          <a:ln/>
        </p:spPr>
        <p:txBody>
          <a:bodyPr wrap="none" lIns="0" tIns="0" rIns="0" bIns="0" rtlCol="0" anchor="ctr"/>
          <a:lstStyle/>
          <a:p>
            <a:pPr algn="l" indent="0" marL="0">
              <a:buNone/>
            </a:pPr>
            <a:r>
              <a:rPr lang="en-US" sz="660" dirty="0">
                <a:solidFill>
                  <a:srgbClr val="FFFFFF"/>
                </a:solidFill>
                <a:latin typeface="Arial" pitchFamily="34" charset="0"/>
                <a:ea typeface="Arial" pitchFamily="34" charset="-122"/>
                <a:cs typeface="Arial" pitchFamily="34" charset="-120"/>
              </a:rPr>
              <a:t>FY27 AI Genius  |  Classified as Microsoft Confidential</a:t>
            </a:r>
            <a:endParaRPr lang="en-US" sz="6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Thank you">
    <p:spTree>
      <p:nvGrpSpPr>
        <p:cNvPr id="1" name=""/>
        <p:cNvGrpSpPr/>
        <p:nvPr/>
      </p:nvGrpSpPr>
      <p:grpSpPr>
        <a:xfrm>
          <a:off x="0" y="0"/>
          <a:ext cx="0" cy="0"/>
          <a:chOff x="0" y="0"/>
          <a:chExt cx="0" cy="0"/>
        </a:xfrm>
      </p:grpSpPr>
      <p:sp>
        <p:nvSpPr>
          <p:cNvPr id="2" name="static:0:text"/>
          <p:cNvSpPr/>
          <p:nvPr/>
        </p:nvSpPr>
        <p:spPr>
          <a:xfrm>
            <a:off x="9061013" y="182880"/>
            <a:ext cx="2231827" cy="114300"/>
          </a:xfrm>
          <a:prstGeom prst="rect">
            <a:avLst/>
          </a:prstGeom>
          <a:noFill/>
          <a:ln/>
        </p:spPr>
        <p:txBody>
          <a:bodyPr wrap="none" lIns="0" tIns="0" rIns="0" bIns="0" rtlCol="0" anchor="ctr"/>
          <a:lstStyle/>
          <a:p>
            <a:pPr algn="l" indent="0" marL="0">
              <a:buNone/>
            </a:pPr>
            <a:r>
              <a:rPr lang="en-US" sz="660" dirty="0">
                <a:solidFill>
                  <a:srgbClr val="FFFFFF"/>
                </a:solidFill>
                <a:latin typeface="Arial" pitchFamily="34" charset="0"/>
                <a:ea typeface="Arial" pitchFamily="34" charset="-122"/>
                <a:cs typeface="Arial" pitchFamily="34" charset="-120"/>
              </a:rPr>
              <a:t>FY27 AI Genius  |  Classified as Microsoft Confidential</a:t>
            </a:r>
            <a:endParaRPr lang="en-US" sz="660" dirty="0"/>
          </a:p>
        </p:txBody>
      </p:sp>
      <p:sp>
        <p:nvSpPr>
          <p:cNvPr id="3" name="static:1:text"/>
          <p:cNvSpPr/>
          <p:nvPr/>
        </p:nvSpPr>
        <p:spPr>
          <a:xfrm>
            <a:off x="6454140" y="2872740"/>
            <a:ext cx="2420826" cy="617220"/>
          </a:xfrm>
          <a:prstGeom prst="rect">
            <a:avLst/>
          </a:prstGeom>
          <a:noFill/>
          <a:ln/>
        </p:spPr>
        <p:txBody>
          <a:bodyPr wrap="none" lIns="0" tIns="0" rIns="0" bIns="0" rtlCol="0" anchor="ctr"/>
          <a:lstStyle/>
          <a:p>
            <a:pPr algn="l" indent="0" marL="0">
              <a:buNone/>
            </a:pPr>
            <a:r>
              <a:rPr lang="en-US" sz="4020" dirty="0">
                <a:solidFill>
                  <a:srgbClr val="DEDEDE"/>
                </a:solidFill>
                <a:latin typeface="Arial" pitchFamily="34" charset="0"/>
                <a:ea typeface="Arial" pitchFamily="34" charset="-122"/>
                <a:cs typeface="Arial" pitchFamily="34" charset="-120"/>
              </a:rPr>
              <a:t>Thank You</a:t>
            </a:r>
            <a:endParaRPr lang="en-US" sz="40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 to Production</dc:title>
  <dc:subject>AI Genius S6 E2 - From Prompt to Production</dc:subject>
  <dc:creator>Graeme Foster</dc:creator>
  <cp:lastModifiedBy>Graeme Foster</cp:lastModifiedBy>
  <cp:revision>1</cp:revision>
  <dcterms:created xsi:type="dcterms:W3CDTF">2026-10-19T02:41:15Z</dcterms:created>
  <dcterms:modified xsi:type="dcterms:W3CDTF">2026-10-19T02:41:15Z</dcterms:modified>
</cp:coreProperties>
</file>